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8" r:id="rId2"/>
    <p:sldId id="263" r:id="rId3"/>
    <p:sldId id="259" r:id="rId4"/>
    <p:sldId id="260" r:id="rId5"/>
    <p:sldId id="264" r:id="rId6"/>
    <p:sldId id="261" r:id="rId7"/>
    <p:sldId id="262" r:id="rId8"/>
    <p:sldId id="266" r:id="rId9"/>
    <p:sldId id="267" r:id="rId10"/>
    <p:sldId id="268" r:id="rId11"/>
    <p:sldId id="269" r:id="rId12"/>
    <p:sldId id="270" r:id="rId13"/>
    <p:sldId id="271" r:id="rId14"/>
    <p:sldId id="272" r:id="rId15"/>
    <p:sldId id="273" r:id="rId16"/>
    <p:sldId id="274"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p:cViewPr varScale="1">
        <p:scale>
          <a:sx n="152" d="100"/>
          <a:sy n="152" d="100"/>
        </p:scale>
        <p:origin x="576" y="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5C9404D-5292-442F-BA83-81BD2A305DEC}" type="datetimeFigureOut">
              <a:rPr lang="en-US" smtClean="0"/>
              <a:t>1/27/2026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60E2D2E-6863-49D2-8DE1-9997295ED14A}" type="slidenum">
              <a:rPr lang="en-US" smtClean="0"/>
              <a:t>‹#›</a:t>
            </a:fld>
            <a:endParaRPr lang="en-US"/>
          </a:p>
        </p:txBody>
      </p:sp>
    </p:spTree>
    <p:extLst>
      <p:ext uri="{BB962C8B-B14F-4D97-AF65-F5344CB8AC3E}">
        <p14:creationId xmlns:p14="http://schemas.microsoft.com/office/powerpoint/2010/main" val="1569524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1F3863"/>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rgbClr val="1F386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3863"/>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rgbClr val="1F386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3863"/>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3863"/>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47548" y="609676"/>
            <a:ext cx="11296903" cy="697230"/>
          </a:xfrm>
          <a:prstGeom prst="rect">
            <a:avLst/>
          </a:prstGeom>
        </p:spPr>
        <p:txBody>
          <a:bodyPr wrap="square" lIns="0" tIns="0" rIns="0" bIns="0">
            <a:spAutoFit/>
          </a:bodyPr>
          <a:lstStyle>
            <a:lvl1pPr>
              <a:defRPr sz="4400" b="0" i="0">
                <a:solidFill>
                  <a:srgbClr val="1F3863"/>
                </a:solidFill>
                <a:latin typeface="Calibri Light"/>
                <a:cs typeface="Calibri Light"/>
              </a:defRPr>
            </a:lvl1pPr>
          </a:lstStyle>
          <a:p>
            <a:endParaRPr/>
          </a:p>
        </p:txBody>
      </p:sp>
      <p:sp>
        <p:nvSpPr>
          <p:cNvPr id="3" name="Holder 3"/>
          <p:cNvSpPr>
            <a:spLocks noGrp="1"/>
          </p:cNvSpPr>
          <p:nvPr>
            <p:ph type="body" idx="1"/>
          </p:nvPr>
        </p:nvSpPr>
        <p:spPr>
          <a:xfrm>
            <a:off x="916939" y="1793493"/>
            <a:ext cx="10235565" cy="2500629"/>
          </a:xfrm>
          <a:prstGeom prst="rect">
            <a:avLst/>
          </a:prstGeom>
        </p:spPr>
        <p:txBody>
          <a:bodyPr wrap="square" lIns="0" tIns="0" rIns="0" bIns="0">
            <a:spAutoFit/>
          </a:bodyPr>
          <a:lstStyle>
            <a:lvl1pPr>
              <a:defRPr sz="2800" b="0" i="0">
                <a:solidFill>
                  <a:srgbClr val="1F3863"/>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171681"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3</a:t>
            </a:r>
            <a:endParaRPr sz="120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2941643204"/>
              </p:ext>
            </p:extLst>
          </p:nvPr>
        </p:nvGraphicFramePr>
        <p:xfrm>
          <a:off x="141135" y="713358"/>
          <a:ext cx="11910059" cy="3473450"/>
        </p:xfrm>
        <a:graphic>
          <a:graphicData uri="http://schemas.openxmlformats.org/drawingml/2006/table">
            <a:tbl>
              <a:tblPr firstRow="1" bandRow="1">
                <a:tableStyleId>{2D5ABB26-0587-4C30-8999-92F81FD0307C}</a:tableStyleId>
              </a:tblPr>
              <a:tblGrid>
                <a:gridCol w="1002665">
                  <a:extLst>
                    <a:ext uri="{9D8B030D-6E8A-4147-A177-3AD203B41FA5}">
                      <a16:colId xmlns:a16="http://schemas.microsoft.com/office/drawing/2014/main" val="20000"/>
                    </a:ext>
                  </a:extLst>
                </a:gridCol>
                <a:gridCol w="1356360">
                  <a:extLst>
                    <a:ext uri="{9D8B030D-6E8A-4147-A177-3AD203B41FA5}">
                      <a16:colId xmlns:a16="http://schemas.microsoft.com/office/drawing/2014/main" val="20001"/>
                    </a:ext>
                  </a:extLst>
                </a:gridCol>
                <a:gridCol w="1695450">
                  <a:extLst>
                    <a:ext uri="{9D8B030D-6E8A-4147-A177-3AD203B41FA5}">
                      <a16:colId xmlns:a16="http://schemas.microsoft.com/office/drawing/2014/main" val="20002"/>
                    </a:ext>
                  </a:extLst>
                </a:gridCol>
                <a:gridCol w="1240154">
                  <a:extLst>
                    <a:ext uri="{9D8B030D-6E8A-4147-A177-3AD203B41FA5}">
                      <a16:colId xmlns:a16="http://schemas.microsoft.com/office/drawing/2014/main" val="20003"/>
                    </a:ext>
                  </a:extLst>
                </a:gridCol>
                <a:gridCol w="1323340">
                  <a:extLst>
                    <a:ext uri="{9D8B030D-6E8A-4147-A177-3AD203B41FA5}">
                      <a16:colId xmlns:a16="http://schemas.microsoft.com/office/drawing/2014/main" val="20004"/>
                    </a:ext>
                  </a:extLst>
                </a:gridCol>
                <a:gridCol w="1323340">
                  <a:extLst>
                    <a:ext uri="{9D8B030D-6E8A-4147-A177-3AD203B41FA5}">
                      <a16:colId xmlns:a16="http://schemas.microsoft.com/office/drawing/2014/main" val="20005"/>
                    </a:ext>
                  </a:extLst>
                </a:gridCol>
                <a:gridCol w="1036320">
                  <a:extLst>
                    <a:ext uri="{9D8B030D-6E8A-4147-A177-3AD203B41FA5}">
                      <a16:colId xmlns:a16="http://schemas.microsoft.com/office/drawing/2014/main" val="20006"/>
                    </a:ext>
                  </a:extLst>
                </a:gridCol>
                <a:gridCol w="1237615">
                  <a:extLst>
                    <a:ext uri="{9D8B030D-6E8A-4147-A177-3AD203B41FA5}">
                      <a16:colId xmlns:a16="http://schemas.microsoft.com/office/drawing/2014/main" val="20007"/>
                    </a:ext>
                  </a:extLst>
                </a:gridCol>
                <a:gridCol w="1694815">
                  <a:extLst>
                    <a:ext uri="{9D8B030D-6E8A-4147-A177-3AD203B41FA5}">
                      <a16:colId xmlns:a16="http://schemas.microsoft.com/office/drawing/2014/main" val="20008"/>
                    </a:ext>
                  </a:extLst>
                </a:gridCol>
              </a:tblGrid>
              <a:tr h="191579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45"/>
                        </a:spcBef>
                      </a:pPr>
                      <a:endParaRPr sz="1800">
                        <a:latin typeface="Times New Roman"/>
                        <a:cs typeface="Times New Roman"/>
                      </a:endParaRPr>
                    </a:p>
                    <a:p>
                      <a:pPr marL="95250" marR="177165">
                        <a:lnSpc>
                          <a:spcPct val="100000"/>
                        </a:lnSpc>
                      </a:pPr>
                      <a:r>
                        <a:rPr sz="1800" b="1" dirty="0">
                          <a:solidFill>
                            <a:srgbClr val="1F3863"/>
                          </a:solidFill>
                          <a:latin typeface="Calibri"/>
                          <a:cs typeface="Calibri"/>
                        </a:rPr>
                        <a:t>Fully</a:t>
                      </a:r>
                      <a:r>
                        <a:rPr sz="1800" b="1" spc="-20" dirty="0">
                          <a:solidFill>
                            <a:srgbClr val="1F3863"/>
                          </a:solidFill>
                          <a:latin typeface="Calibri"/>
                          <a:cs typeface="Calibri"/>
                        </a:rPr>
                        <a:t> </a:t>
                      </a:r>
                      <a:r>
                        <a:rPr sz="1800" b="1" spc="-25" dirty="0">
                          <a:solidFill>
                            <a:srgbClr val="1F3863"/>
                          </a:solidFill>
                          <a:latin typeface="Calibri"/>
                          <a:cs typeface="Calibri"/>
                        </a:rPr>
                        <a:t>vs </a:t>
                      </a:r>
                      <a:r>
                        <a:rPr sz="1800" b="1" spc="-10" dirty="0">
                          <a:solidFill>
                            <a:srgbClr val="1F3863"/>
                          </a:solidFill>
                          <a:latin typeface="Calibri"/>
                          <a:cs typeface="Calibri"/>
                        </a:rPr>
                        <a:t>Partially Observable</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5"/>
                        </a:spcBef>
                      </a:pPr>
                      <a:endParaRPr sz="1800">
                        <a:latin typeface="Times New Roman"/>
                        <a:cs typeface="Times New Roman"/>
                      </a:endParaRPr>
                    </a:p>
                    <a:p>
                      <a:pPr marL="95250" marR="321945">
                        <a:lnSpc>
                          <a:spcPct val="100000"/>
                        </a:lnSpc>
                      </a:pPr>
                      <a:r>
                        <a:rPr sz="1800" b="1" spc="-10" dirty="0">
                          <a:solidFill>
                            <a:srgbClr val="1F3863"/>
                          </a:solidFill>
                          <a:latin typeface="Calibri"/>
                          <a:cs typeface="Calibri"/>
                        </a:rPr>
                        <a:t>Deterministic </a:t>
                      </a:r>
                      <a:r>
                        <a:rPr sz="1800" b="1" dirty="0">
                          <a:solidFill>
                            <a:srgbClr val="1F3863"/>
                          </a:solidFill>
                          <a:latin typeface="Calibri"/>
                          <a:cs typeface="Calibri"/>
                        </a:rPr>
                        <a:t>vs</a:t>
                      </a:r>
                      <a:r>
                        <a:rPr sz="1800" b="1" spc="-10" dirty="0">
                          <a:solidFill>
                            <a:srgbClr val="1F3863"/>
                          </a:solidFill>
                          <a:latin typeface="Calibri"/>
                          <a:cs typeface="Calibri"/>
                        </a:rPr>
                        <a:t> Stochastic</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5"/>
                        </a:spcBef>
                      </a:pPr>
                      <a:endParaRPr sz="1800">
                        <a:latin typeface="Times New Roman"/>
                        <a:cs typeface="Times New Roman"/>
                      </a:endParaRPr>
                    </a:p>
                    <a:p>
                      <a:pPr marL="95250" marR="107950">
                        <a:lnSpc>
                          <a:spcPct val="100000"/>
                        </a:lnSpc>
                      </a:pPr>
                      <a:r>
                        <a:rPr sz="1800" b="1" dirty="0">
                          <a:solidFill>
                            <a:srgbClr val="1F3863"/>
                          </a:solidFill>
                          <a:latin typeface="Calibri"/>
                          <a:cs typeface="Calibri"/>
                        </a:rPr>
                        <a:t>Episodic</a:t>
                      </a:r>
                      <a:r>
                        <a:rPr sz="1800" b="1" spc="-40" dirty="0">
                          <a:solidFill>
                            <a:srgbClr val="1F3863"/>
                          </a:solidFill>
                          <a:latin typeface="Calibri"/>
                          <a:cs typeface="Calibri"/>
                        </a:rPr>
                        <a:t> </a:t>
                      </a:r>
                      <a:r>
                        <a:rPr sz="1800" b="1" spc="-25" dirty="0">
                          <a:solidFill>
                            <a:srgbClr val="1F3863"/>
                          </a:solidFill>
                          <a:latin typeface="Calibri"/>
                          <a:cs typeface="Calibri"/>
                        </a:rPr>
                        <a:t>vs </a:t>
                      </a:r>
                      <a:r>
                        <a:rPr sz="1800" b="1" spc="-10" dirty="0">
                          <a:solidFill>
                            <a:srgbClr val="1F3863"/>
                          </a:solidFill>
                          <a:latin typeface="Calibri"/>
                          <a:cs typeface="Calibri"/>
                        </a:rPr>
                        <a:t>Sequential</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5"/>
                        </a:spcBef>
                      </a:pPr>
                      <a:endParaRPr sz="1800">
                        <a:latin typeface="Times New Roman"/>
                        <a:cs typeface="Times New Roman"/>
                      </a:endParaRPr>
                    </a:p>
                    <a:p>
                      <a:pPr marL="95885" marR="394970">
                        <a:lnSpc>
                          <a:spcPct val="100000"/>
                        </a:lnSpc>
                      </a:pPr>
                      <a:r>
                        <a:rPr sz="1800" b="1" dirty="0">
                          <a:solidFill>
                            <a:srgbClr val="1F3863"/>
                          </a:solidFill>
                          <a:latin typeface="Calibri"/>
                          <a:cs typeface="Calibri"/>
                        </a:rPr>
                        <a:t>Static</a:t>
                      </a:r>
                      <a:r>
                        <a:rPr sz="1800" b="1" spc="-75" dirty="0">
                          <a:solidFill>
                            <a:srgbClr val="1F3863"/>
                          </a:solidFill>
                          <a:latin typeface="Calibri"/>
                          <a:cs typeface="Calibri"/>
                        </a:rPr>
                        <a:t> </a:t>
                      </a:r>
                      <a:r>
                        <a:rPr sz="1800" b="1" spc="-35" dirty="0">
                          <a:solidFill>
                            <a:srgbClr val="1F3863"/>
                          </a:solidFill>
                          <a:latin typeface="Calibri"/>
                          <a:cs typeface="Calibri"/>
                        </a:rPr>
                        <a:t>vs </a:t>
                      </a:r>
                      <a:r>
                        <a:rPr sz="1800" b="1" spc="-10" dirty="0">
                          <a:solidFill>
                            <a:srgbClr val="1F3863"/>
                          </a:solidFill>
                          <a:latin typeface="Calibri"/>
                          <a:cs typeface="Calibri"/>
                        </a:rPr>
                        <a:t>Dynamic</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5"/>
                        </a:spcBef>
                      </a:pPr>
                      <a:endParaRPr sz="1800">
                        <a:latin typeface="Times New Roman"/>
                        <a:cs typeface="Times New Roman"/>
                      </a:endParaRPr>
                    </a:p>
                    <a:p>
                      <a:pPr marL="95885" marR="135255">
                        <a:lnSpc>
                          <a:spcPct val="100000"/>
                        </a:lnSpc>
                      </a:pPr>
                      <a:r>
                        <a:rPr sz="1800" b="1" dirty="0">
                          <a:solidFill>
                            <a:srgbClr val="1F3863"/>
                          </a:solidFill>
                          <a:latin typeface="Calibri"/>
                          <a:cs typeface="Calibri"/>
                        </a:rPr>
                        <a:t>Discrete</a:t>
                      </a:r>
                      <a:r>
                        <a:rPr sz="1800" b="1" spc="-100" dirty="0">
                          <a:solidFill>
                            <a:srgbClr val="1F3863"/>
                          </a:solidFill>
                          <a:latin typeface="Calibri"/>
                          <a:cs typeface="Calibri"/>
                        </a:rPr>
                        <a:t> </a:t>
                      </a:r>
                      <a:r>
                        <a:rPr sz="1800" b="1" spc="-25" dirty="0">
                          <a:solidFill>
                            <a:srgbClr val="1F3863"/>
                          </a:solidFill>
                          <a:latin typeface="Calibri"/>
                          <a:cs typeface="Calibri"/>
                        </a:rPr>
                        <a:t>vs </a:t>
                      </a:r>
                      <a:r>
                        <a:rPr sz="1800" b="1" spc="-10" dirty="0">
                          <a:solidFill>
                            <a:srgbClr val="1F3863"/>
                          </a:solidFill>
                          <a:latin typeface="Calibri"/>
                          <a:cs typeface="Calibri"/>
                        </a:rPr>
                        <a:t>Continuous</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45"/>
                        </a:spcBef>
                      </a:pPr>
                      <a:endParaRPr sz="1800">
                        <a:latin typeface="Times New Roman"/>
                        <a:cs typeface="Times New Roman"/>
                      </a:endParaRPr>
                    </a:p>
                    <a:p>
                      <a:pPr marL="95885" marR="118745">
                        <a:lnSpc>
                          <a:spcPct val="100000"/>
                        </a:lnSpc>
                      </a:pPr>
                      <a:r>
                        <a:rPr sz="1800" b="1" dirty="0">
                          <a:solidFill>
                            <a:srgbClr val="1F3863"/>
                          </a:solidFill>
                          <a:latin typeface="Calibri"/>
                          <a:cs typeface="Calibri"/>
                        </a:rPr>
                        <a:t>Single</a:t>
                      </a:r>
                      <a:r>
                        <a:rPr sz="1800" b="1" spc="-35" dirty="0">
                          <a:solidFill>
                            <a:srgbClr val="1F3863"/>
                          </a:solidFill>
                          <a:latin typeface="Calibri"/>
                          <a:cs typeface="Calibri"/>
                        </a:rPr>
                        <a:t> </a:t>
                      </a:r>
                      <a:r>
                        <a:rPr sz="1800" b="1" spc="-25" dirty="0">
                          <a:solidFill>
                            <a:srgbClr val="1F3863"/>
                          </a:solidFill>
                          <a:latin typeface="Calibri"/>
                          <a:cs typeface="Calibri"/>
                        </a:rPr>
                        <a:t>vs </a:t>
                      </a:r>
                      <a:r>
                        <a:rPr sz="1800" b="1" spc="-10" dirty="0">
                          <a:solidFill>
                            <a:srgbClr val="1F3863"/>
                          </a:solidFill>
                          <a:latin typeface="Calibri"/>
                          <a:cs typeface="Calibri"/>
                        </a:rPr>
                        <a:t>Multi Agents</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1125"/>
                        </a:spcBef>
                      </a:pPr>
                      <a:endParaRPr sz="1800">
                        <a:latin typeface="Times New Roman"/>
                        <a:cs typeface="Times New Roman"/>
                      </a:endParaRPr>
                    </a:p>
                    <a:p>
                      <a:pPr marL="95885" marR="224154">
                        <a:lnSpc>
                          <a:spcPct val="100000"/>
                        </a:lnSpc>
                      </a:pPr>
                      <a:r>
                        <a:rPr sz="1800" b="1" dirty="0">
                          <a:solidFill>
                            <a:srgbClr val="1F3863"/>
                          </a:solidFill>
                          <a:latin typeface="Calibri"/>
                          <a:cs typeface="Calibri"/>
                        </a:rPr>
                        <a:t>Known</a:t>
                      </a:r>
                      <a:r>
                        <a:rPr sz="1800" b="1" spc="-55" dirty="0">
                          <a:solidFill>
                            <a:srgbClr val="1F3863"/>
                          </a:solidFill>
                          <a:latin typeface="Calibri"/>
                          <a:cs typeface="Calibri"/>
                        </a:rPr>
                        <a:t> </a:t>
                      </a:r>
                      <a:r>
                        <a:rPr sz="1800" b="1" spc="-35" dirty="0">
                          <a:solidFill>
                            <a:srgbClr val="1F3863"/>
                          </a:solidFill>
                          <a:latin typeface="Calibri"/>
                          <a:cs typeface="Calibri"/>
                        </a:rPr>
                        <a:t>vs </a:t>
                      </a:r>
                      <a:r>
                        <a:rPr sz="1800" b="1" spc="-10" dirty="0">
                          <a:solidFill>
                            <a:srgbClr val="1F3863"/>
                          </a:solidFill>
                          <a:latin typeface="Calibri"/>
                          <a:cs typeface="Calibri"/>
                        </a:rPr>
                        <a:t>unknown</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p>
                      <a:pPr>
                        <a:lnSpc>
                          <a:spcPct val="100000"/>
                        </a:lnSpc>
                        <a:spcBef>
                          <a:spcPts val="420"/>
                        </a:spcBef>
                      </a:pPr>
                      <a:endParaRPr sz="1800">
                        <a:latin typeface="Times New Roman"/>
                        <a:cs typeface="Times New Roman"/>
                      </a:endParaRPr>
                    </a:p>
                    <a:p>
                      <a:pPr marL="92075">
                        <a:lnSpc>
                          <a:spcPct val="100000"/>
                        </a:lnSpc>
                      </a:pPr>
                      <a:r>
                        <a:rPr sz="1800" b="1" dirty="0">
                          <a:solidFill>
                            <a:srgbClr val="1F3863"/>
                          </a:solidFill>
                          <a:latin typeface="Calibri"/>
                          <a:cs typeface="Calibri"/>
                        </a:rPr>
                        <a:t>Competitive</a:t>
                      </a:r>
                      <a:r>
                        <a:rPr sz="1800" b="1" spc="-95" dirty="0">
                          <a:solidFill>
                            <a:srgbClr val="1F3863"/>
                          </a:solidFill>
                          <a:latin typeface="Calibri"/>
                          <a:cs typeface="Calibri"/>
                        </a:rPr>
                        <a:t> </a:t>
                      </a:r>
                      <a:r>
                        <a:rPr sz="1800" b="1" spc="-25" dirty="0">
                          <a:solidFill>
                            <a:srgbClr val="1F3863"/>
                          </a:solidFill>
                          <a:latin typeface="Calibri"/>
                          <a:cs typeface="Calibri"/>
                        </a:rPr>
                        <a:t>vs</a:t>
                      </a:r>
                      <a:endParaRPr sz="1800">
                        <a:latin typeface="Calibri"/>
                        <a:cs typeface="Calibri"/>
                      </a:endParaRPr>
                    </a:p>
                    <a:p>
                      <a:pPr marL="92075">
                        <a:lnSpc>
                          <a:spcPct val="100000"/>
                        </a:lnSpc>
                      </a:pPr>
                      <a:r>
                        <a:rPr sz="1800" b="1" spc="-10" dirty="0">
                          <a:solidFill>
                            <a:srgbClr val="1F3863"/>
                          </a:solidFill>
                          <a:latin typeface="Calibri"/>
                          <a:cs typeface="Calibri"/>
                        </a:rPr>
                        <a:t>Cooperative</a:t>
                      </a:r>
                      <a:endParaRPr sz="18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557655">
                <a:tc>
                  <a:txBody>
                    <a:bodyPr/>
                    <a:lstStyle/>
                    <a:p>
                      <a:pPr marL="91440" marR="153035">
                        <a:lnSpc>
                          <a:spcPct val="100000"/>
                        </a:lnSpc>
                        <a:spcBef>
                          <a:spcPts val="245"/>
                        </a:spcBef>
                      </a:pPr>
                      <a:r>
                        <a:rPr lang="en-US" sz="1800" spc="-10" dirty="0">
                          <a:solidFill>
                            <a:srgbClr val="1F3863"/>
                          </a:solidFill>
                          <a:latin typeface="Calibri"/>
                          <a:cs typeface="Calibri"/>
                        </a:rPr>
                        <a:t>Agents from Book</a:t>
                      </a:r>
                      <a:endParaRPr sz="1800" dirty="0">
                        <a:latin typeface="Calibri"/>
                        <a:cs typeface="Calibri"/>
                      </a:endParaRPr>
                    </a:p>
                  </a:txBody>
                  <a:tcPr marL="0" marR="0" marT="31115" marB="0">
                    <a:lnL w="12700">
                      <a:solidFill>
                        <a:srgbClr val="000000"/>
                      </a:solidFill>
                      <a:prstDash val="soli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a:lnSpc>
                          <a:spcPct val="100000"/>
                        </a:lnSpc>
                      </a:pPr>
                      <a:endParaRPr sz="1700" dirty="0">
                        <a:latin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2461895" cy="697230"/>
          </a:xfrm>
          <a:prstGeom prst="rect">
            <a:avLst/>
          </a:prstGeom>
        </p:spPr>
        <p:txBody>
          <a:bodyPr vert="horz" wrap="square" lIns="0" tIns="13335" rIns="0" bIns="0" rtlCol="0">
            <a:spAutoFit/>
          </a:bodyPr>
          <a:lstStyle/>
          <a:p>
            <a:pPr marL="12700">
              <a:lnSpc>
                <a:spcPct val="100000"/>
              </a:lnSpc>
              <a:spcBef>
                <a:spcPts val="105"/>
              </a:spcBef>
            </a:pPr>
            <a:r>
              <a:rPr dirty="0"/>
              <a:t>MDP </a:t>
            </a:r>
            <a:r>
              <a:rPr spc="-55" dirty="0"/>
              <a:t>Tuple</a:t>
            </a:r>
          </a:p>
        </p:txBody>
      </p:sp>
      <p:sp>
        <p:nvSpPr>
          <p:cNvPr id="3" name="object 3"/>
          <p:cNvSpPr txBox="1"/>
          <p:nvPr/>
        </p:nvSpPr>
        <p:spPr>
          <a:xfrm>
            <a:off x="916939" y="1707918"/>
            <a:ext cx="5619750" cy="3093720"/>
          </a:xfrm>
          <a:prstGeom prst="rect">
            <a:avLst/>
          </a:prstGeom>
        </p:spPr>
        <p:txBody>
          <a:bodyPr vert="horz" wrap="square" lIns="0" tIns="97790" rIns="0" bIns="0" rtlCol="0">
            <a:spAutoFit/>
          </a:bodyPr>
          <a:lstStyle/>
          <a:p>
            <a:pPr marL="12700">
              <a:lnSpc>
                <a:spcPct val="100000"/>
              </a:lnSpc>
              <a:spcBef>
                <a:spcPts val="770"/>
              </a:spcBef>
            </a:pPr>
            <a:r>
              <a:rPr sz="2800" spc="-10" dirty="0">
                <a:solidFill>
                  <a:srgbClr val="1F3863"/>
                </a:solidFill>
                <a:latin typeface="Calibri"/>
                <a:cs typeface="Calibri"/>
              </a:rPr>
              <a:t>M=(S,A,P,R)</a:t>
            </a:r>
            <a:endParaRPr sz="2800" dirty="0">
              <a:latin typeface="Calibri"/>
              <a:cs typeface="Calibri"/>
            </a:endParaRPr>
          </a:p>
          <a:p>
            <a:pPr marL="271780" indent="-259079">
              <a:lnSpc>
                <a:spcPct val="100000"/>
              </a:lnSpc>
              <a:spcBef>
                <a:spcPts val="670"/>
              </a:spcBef>
              <a:buChar char="•"/>
              <a:tabLst>
                <a:tab pos="271780" algn="l"/>
              </a:tabLst>
            </a:pPr>
            <a:r>
              <a:rPr sz="2800" dirty="0">
                <a:solidFill>
                  <a:srgbClr val="1F3863"/>
                </a:solidFill>
                <a:latin typeface="Calibri"/>
                <a:cs typeface="Calibri"/>
              </a:rPr>
              <a:t>S</a:t>
            </a:r>
            <a:r>
              <a:rPr sz="2800" spc="-45" dirty="0">
                <a:solidFill>
                  <a:srgbClr val="1F3863"/>
                </a:solidFill>
                <a:latin typeface="Calibri"/>
                <a:cs typeface="Calibri"/>
              </a:rPr>
              <a:t> </a:t>
            </a:r>
            <a:r>
              <a:rPr sz="2800" dirty="0">
                <a:solidFill>
                  <a:srgbClr val="1F3863"/>
                </a:solidFill>
                <a:latin typeface="Calibri"/>
                <a:cs typeface="Calibri"/>
              </a:rPr>
              <a:t>=</a:t>
            </a:r>
            <a:r>
              <a:rPr sz="2800" spc="-30" dirty="0">
                <a:solidFill>
                  <a:srgbClr val="1F3863"/>
                </a:solidFill>
                <a:latin typeface="Calibri"/>
                <a:cs typeface="Calibri"/>
              </a:rPr>
              <a:t> </a:t>
            </a:r>
            <a:r>
              <a:rPr sz="2800" dirty="0">
                <a:solidFill>
                  <a:srgbClr val="1F3863"/>
                </a:solidFill>
                <a:latin typeface="Calibri"/>
                <a:cs typeface="Calibri"/>
              </a:rPr>
              <a:t>set</a:t>
            </a:r>
            <a:r>
              <a:rPr sz="2800" spc="-40" dirty="0">
                <a:solidFill>
                  <a:srgbClr val="1F3863"/>
                </a:solidFill>
                <a:latin typeface="Calibri"/>
                <a:cs typeface="Calibri"/>
              </a:rPr>
              <a:t> </a:t>
            </a:r>
            <a:r>
              <a:rPr sz="2800" dirty="0">
                <a:solidFill>
                  <a:srgbClr val="1F3863"/>
                </a:solidFill>
                <a:latin typeface="Calibri"/>
                <a:cs typeface="Calibri"/>
              </a:rPr>
              <a:t>of</a:t>
            </a:r>
            <a:r>
              <a:rPr sz="2800" spc="-45" dirty="0">
                <a:solidFill>
                  <a:srgbClr val="1F3863"/>
                </a:solidFill>
                <a:latin typeface="Calibri"/>
                <a:cs typeface="Calibri"/>
              </a:rPr>
              <a:t> </a:t>
            </a:r>
            <a:r>
              <a:rPr sz="2800" dirty="0">
                <a:solidFill>
                  <a:srgbClr val="1F3863"/>
                </a:solidFill>
                <a:latin typeface="Calibri"/>
                <a:cs typeface="Calibri"/>
              </a:rPr>
              <a:t>possible</a:t>
            </a:r>
            <a:r>
              <a:rPr sz="2800" spc="-5" dirty="0">
                <a:solidFill>
                  <a:srgbClr val="1F3863"/>
                </a:solidFill>
                <a:latin typeface="Calibri"/>
                <a:cs typeface="Calibri"/>
              </a:rPr>
              <a:t> </a:t>
            </a:r>
            <a:r>
              <a:rPr sz="2800" spc="-10" dirty="0">
                <a:solidFill>
                  <a:srgbClr val="1F3863"/>
                </a:solidFill>
                <a:latin typeface="Calibri"/>
                <a:cs typeface="Calibri"/>
              </a:rPr>
              <a:t>states</a:t>
            </a:r>
            <a:endParaRPr sz="2800" dirty="0">
              <a:latin typeface="Calibri"/>
              <a:cs typeface="Calibri"/>
            </a:endParaRPr>
          </a:p>
          <a:p>
            <a:pPr marL="271780" indent="-259079">
              <a:lnSpc>
                <a:spcPct val="100000"/>
              </a:lnSpc>
              <a:spcBef>
                <a:spcPts val="665"/>
              </a:spcBef>
              <a:buChar char="•"/>
              <a:tabLst>
                <a:tab pos="271780" algn="l"/>
              </a:tabLst>
            </a:pPr>
            <a:r>
              <a:rPr sz="2800" dirty="0">
                <a:solidFill>
                  <a:srgbClr val="1F3863"/>
                </a:solidFill>
                <a:latin typeface="Calibri"/>
                <a:cs typeface="Calibri"/>
              </a:rPr>
              <a:t>A</a:t>
            </a:r>
            <a:r>
              <a:rPr sz="2800" spc="-40" dirty="0">
                <a:solidFill>
                  <a:srgbClr val="1F3863"/>
                </a:solidFill>
                <a:latin typeface="Calibri"/>
                <a:cs typeface="Calibri"/>
              </a:rPr>
              <a:t> </a:t>
            </a:r>
            <a:r>
              <a:rPr sz="2800" dirty="0">
                <a:solidFill>
                  <a:srgbClr val="1F3863"/>
                </a:solidFill>
                <a:latin typeface="Calibri"/>
                <a:cs typeface="Calibri"/>
              </a:rPr>
              <a:t>=</a:t>
            </a:r>
            <a:r>
              <a:rPr sz="2800" spc="-20" dirty="0">
                <a:solidFill>
                  <a:srgbClr val="1F3863"/>
                </a:solidFill>
                <a:latin typeface="Calibri"/>
                <a:cs typeface="Calibri"/>
              </a:rPr>
              <a:t> </a:t>
            </a:r>
            <a:r>
              <a:rPr sz="2800" dirty="0">
                <a:solidFill>
                  <a:srgbClr val="1F3863"/>
                </a:solidFill>
                <a:latin typeface="Calibri"/>
                <a:cs typeface="Calibri"/>
              </a:rPr>
              <a:t>set</a:t>
            </a:r>
            <a:r>
              <a:rPr sz="2800" spc="-40" dirty="0">
                <a:solidFill>
                  <a:srgbClr val="1F3863"/>
                </a:solidFill>
                <a:latin typeface="Calibri"/>
                <a:cs typeface="Calibri"/>
              </a:rPr>
              <a:t> </a:t>
            </a:r>
            <a:r>
              <a:rPr sz="2800" dirty="0">
                <a:solidFill>
                  <a:srgbClr val="1F3863"/>
                </a:solidFill>
                <a:latin typeface="Calibri"/>
                <a:cs typeface="Calibri"/>
              </a:rPr>
              <a:t>of</a:t>
            </a:r>
            <a:r>
              <a:rPr sz="2800" spc="-40" dirty="0">
                <a:solidFill>
                  <a:srgbClr val="1F3863"/>
                </a:solidFill>
                <a:latin typeface="Calibri"/>
                <a:cs typeface="Calibri"/>
              </a:rPr>
              <a:t> </a:t>
            </a:r>
            <a:r>
              <a:rPr sz="2800" dirty="0">
                <a:solidFill>
                  <a:srgbClr val="1F3863"/>
                </a:solidFill>
                <a:latin typeface="Calibri"/>
                <a:cs typeface="Calibri"/>
              </a:rPr>
              <a:t>possible </a:t>
            </a:r>
            <a:r>
              <a:rPr sz="2800" spc="-10" dirty="0">
                <a:solidFill>
                  <a:srgbClr val="1F3863"/>
                </a:solidFill>
                <a:latin typeface="Calibri"/>
                <a:cs typeface="Calibri"/>
              </a:rPr>
              <a:t>actions</a:t>
            </a:r>
            <a:endParaRPr sz="2800" dirty="0">
              <a:latin typeface="Calibri"/>
              <a:cs typeface="Calibri"/>
            </a:endParaRPr>
          </a:p>
          <a:p>
            <a:pPr marL="271780" indent="-259079">
              <a:lnSpc>
                <a:spcPct val="100000"/>
              </a:lnSpc>
              <a:spcBef>
                <a:spcPts val="660"/>
              </a:spcBef>
              <a:buChar char="•"/>
              <a:tabLst>
                <a:tab pos="271780" algn="l"/>
              </a:tabLst>
            </a:pPr>
            <a:r>
              <a:rPr sz="2800" dirty="0">
                <a:solidFill>
                  <a:srgbClr val="1F3863"/>
                </a:solidFill>
                <a:latin typeface="Calibri"/>
                <a:cs typeface="Calibri"/>
              </a:rPr>
              <a:t>P(sʼ|s,a)</a:t>
            </a:r>
            <a:r>
              <a:rPr sz="2800" spc="-65" dirty="0">
                <a:solidFill>
                  <a:srgbClr val="1F3863"/>
                </a:solidFill>
                <a:latin typeface="Calibri"/>
                <a:cs typeface="Calibri"/>
              </a:rPr>
              <a:t> </a:t>
            </a:r>
            <a:r>
              <a:rPr sz="2800" dirty="0">
                <a:solidFill>
                  <a:srgbClr val="1F3863"/>
                </a:solidFill>
                <a:latin typeface="Calibri"/>
                <a:cs typeface="Calibri"/>
              </a:rPr>
              <a:t>gives</a:t>
            </a:r>
            <a:r>
              <a:rPr sz="2800" spc="-85" dirty="0">
                <a:solidFill>
                  <a:srgbClr val="1F3863"/>
                </a:solidFill>
                <a:latin typeface="Calibri"/>
                <a:cs typeface="Calibri"/>
              </a:rPr>
              <a:t> </a:t>
            </a:r>
            <a:r>
              <a:rPr sz="2800" spc="-10" dirty="0">
                <a:solidFill>
                  <a:srgbClr val="1F3863"/>
                </a:solidFill>
                <a:latin typeface="Calibri"/>
                <a:cs typeface="Calibri"/>
              </a:rPr>
              <a:t>transition</a:t>
            </a:r>
            <a:r>
              <a:rPr sz="2800" spc="-60" dirty="0">
                <a:solidFill>
                  <a:srgbClr val="1F3863"/>
                </a:solidFill>
                <a:latin typeface="Calibri"/>
                <a:cs typeface="Calibri"/>
              </a:rPr>
              <a:t> </a:t>
            </a:r>
            <a:r>
              <a:rPr sz="2800" spc="-10" dirty="0">
                <a:solidFill>
                  <a:srgbClr val="1F3863"/>
                </a:solidFill>
                <a:latin typeface="Calibri"/>
                <a:cs typeface="Calibri"/>
              </a:rPr>
              <a:t>probabilities</a:t>
            </a:r>
            <a:endParaRPr sz="2800" dirty="0">
              <a:latin typeface="Calibri"/>
              <a:cs typeface="Calibri"/>
            </a:endParaRPr>
          </a:p>
          <a:p>
            <a:pPr marL="271780" indent="-259079">
              <a:lnSpc>
                <a:spcPct val="100000"/>
              </a:lnSpc>
              <a:spcBef>
                <a:spcPts val="670"/>
              </a:spcBef>
              <a:buChar char="•"/>
              <a:tabLst>
                <a:tab pos="271780" algn="l"/>
              </a:tabLst>
            </a:pPr>
            <a:r>
              <a:rPr sz="2800" dirty="0">
                <a:solidFill>
                  <a:srgbClr val="1F3863"/>
                </a:solidFill>
                <a:latin typeface="Calibri"/>
                <a:cs typeface="Calibri"/>
              </a:rPr>
              <a:t>R</a:t>
            </a:r>
            <a:r>
              <a:rPr sz="2800" spc="-40" dirty="0">
                <a:solidFill>
                  <a:srgbClr val="1F3863"/>
                </a:solidFill>
                <a:latin typeface="Calibri"/>
                <a:cs typeface="Calibri"/>
              </a:rPr>
              <a:t> </a:t>
            </a:r>
            <a:r>
              <a:rPr sz="2800" dirty="0">
                <a:solidFill>
                  <a:srgbClr val="1F3863"/>
                </a:solidFill>
                <a:latin typeface="Calibri"/>
                <a:cs typeface="Calibri"/>
              </a:rPr>
              <a:t>=</a:t>
            </a:r>
            <a:r>
              <a:rPr sz="2800" spc="-35" dirty="0">
                <a:solidFill>
                  <a:srgbClr val="1F3863"/>
                </a:solidFill>
                <a:latin typeface="Calibri"/>
                <a:cs typeface="Calibri"/>
              </a:rPr>
              <a:t> </a:t>
            </a:r>
            <a:r>
              <a:rPr sz="2800" spc="-10" dirty="0">
                <a:solidFill>
                  <a:srgbClr val="1F3863"/>
                </a:solidFill>
                <a:latin typeface="Calibri"/>
                <a:cs typeface="Calibri"/>
              </a:rPr>
              <a:t>reward</a:t>
            </a:r>
            <a:r>
              <a:rPr sz="2800" spc="-50" dirty="0">
                <a:solidFill>
                  <a:srgbClr val="1F3863"/>
                </a:solidFill>
                <a:latin typeface="Calibri"/>
                <a:cs typeface="Calibri"/>
              </a:rPr>
              <a:t> </a:t>
            </a:r>
            <a:r>
              <a:rPr sz="2800" spc="-10" dirty="0">
                <a:solidFill>
                  <a:srgbClr val="1F3863"/>
                </a:solidFill>
                <a:latin typeface="Calibri"/>
                <a:cs typeface="Calibri"/>
              </a:rPr>
              <a:t>function</a:t>
            </a:r>
            <a:endParaRPr sz="2800" dirty="0">
              <a:latin typeface="Calibri"/>
              <a:cs typeface="Calibri"/>
            </a:endParaRPr>
          </a:p>
          <a:p>
            <a:pPr marL="271780" indent="-259079">
              <a:lnSpc>
                <a:spcPct val="100000"/>
              </a:lnSpc>
              <a:spcBef>
                <a:spcPts val="660"/>
              </a:spcBef>
              <a:buChar char="•"/>
              <a:tabLst>
                <a:tab pos="271780" algn="l"/>
              </a:tabLst>
            </a:pPr>
            <a:r>
              <a:rPr sz="2800" dirty="0">
                <a:solidFill>
                  <a:srgbClr val="1F3863"/>
                </a:solidFill>
                <a:latin typeface="Calibri"/>
                <a:cs typeface="Calibri"/>
              </a:rPr>
              <a:t>Goal:</a:t>
            </a:r>
            <a:r>
              <a:rPr sz="2800" spc="-55" dirty="0">
                <a:solidFill>
                  <a:srgbClr val="1F3863"/>
                </a:solidFill>
                <a:latin typeface="Calibri"/>
                <a:cs typeface="Calibri"/>
              </a:rPr>
              <a:t> </a:t>
            </a:r>
            <a:r>
              <a:rPr sz="2800" dirty="0">
                <a:solidFill>
                  <a:srgbClr val="1F3863"/>
                </a:solidFill>
                <a:latin typeface="Calibri"/>
                <a:cs typeface="Calibri"/>
              </a:rPr>
              <a:t>find</a:t>
            </a:r>
            <a:r>
              <a:rPr sz="2800" spc="-45" dirty="0">
                <a:solidFill>
                  <a:srgbClr val="1F3863"/>
                </a:solidFill>
                <a:latin typeface="Calibri"/>
                <a:cs typeface="Calibri"/>
              </a:rPr>
              <a:t> </a:t>
            </a:r>
            <a:r>
              <a:rPr sz="2800" dirty="0">
                <a:solidFill>
                  <a:srgbClr val="1F3863"/>
                </a:solidFill>
                <a:latin typeface="Calibri"/>
                <a:cs typeface="Calibri"/>
              </a:rPr>
              <a:t>an</a:t>
            </a:r>
            <a:r>
              <a:rPr sz="2800" spc="-55" dirty="0">
                <a:solidFill>
                  <a:srgbClr val="1F3863"/>
                </a:solidFill>
                <a:latin typeface="Calibri"/>
                <a:cs typeface="Calibri"/>
              </a:rPr>
              <a:t> </a:t>
            </a:r>
            <a:r>
              <a:rPr sz="2800" dirty="0">
                <a:solidFill>
                  <a:srgbClr val="1F3863"/>
                </a:solidFill>
                <a:latin typeface="Calibri"/>
                <a:cs typeface="Calibri"/>
              </a:rPr>
              <a:t>optimal</a:t>
            </a:r>
            <a:r>
              <a:rPr sz="2800" spc="-50" dirty="0">
                <a:solidFill>
                  <a:srgbClr val="1F3863"/>
                </a:solidFill>
                <a:latin typeface="Calibri"/>
                <a:cs typeface="Calibri"/>
              </a:rPr>
              <a:t> </a:t>
            </a:r>
            <a:r>
              <a:rPr sz="2800" spc="-20" dirty="0">
                <a:solidFill>
                  <a:srgbClr val="1F3863"/>
                </a:solidFill>
                <a:latin typeface="Calibri"/>
                <a:cs typeface="Calibri"/>
              </a:rPr>
              <a:t>policy,</a:t>
            </a:r>
            <a:r>
              <a:rPr sz="2800" spc="-25" dirty="0">
                <a:solidFill>
                  <a:srgbClr val="1F3863"/>
                </a:solidFill>
                <a:latin typeface="Calibri"/>
                <a:cs typeface="Calibri"/>
              </a:rPr>
              <a:t> π*</a:t>
            </a:r>
            <a:endParaRPr sz="2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9086850" cy="1300480"/>
          </a:xfrm>
          <a:prstGeom prst="rect">
            <a:avLst/>
          </a:prstGeom>
        </p:spPr>
        <p:txBody>
          <a:bodyPr vert="horz" wrap="square" lIns="0" tIns="88900" rIns="0" bIns="0" rtlCol="0">
            <a:spAutoFit/>
          </a:bodyPr>
          <a:lstStyle/>
          <a:p>
            <a:pPr marL="12700" marR="5080">
              <a:lnSpc>
                <a:spcPts val="4750"/>
              </a:lnSpc>
              <a:spcBef>
                <a:spcPts val="700"/>
              </a:spcBef>
            </a:pPr>
            <a:r>
              <a:rPr dirty="0"/>
              <a:t>State,</a:t>
            </a:r>
            <a:r>
              <a:rPr spc="-140" dirty="0"/>
              <a:t> </a:t>
            </a:r>
            <a:r>
              <a:rPr dirty="0"/>
              <a:t>Action,</a:t>
            </a:r>
            <a:r>
              <a:rPr spc="-140" dirty="0"/>
              <a:t> </a:t>
            </a:r>
            <a:r>
              <a:rPr spc="-35" dirty="0"/>
              <a:t>Transition</a:t>
            </a:r>
            <a:r>
              <a:rPr spc="-140" dirty="0"/>
              <a:t> </a:t>
            </a:r>
            <a:r>
              <a:rPr dirty="0"/>
              <a:t>Function,</a:t>
            </a:r>
            <a:r>
              <a:rPr spc="-135" dirty="0"/>
              <a:t> </a:t>
            </a:r>
            <a:r>
              <a:rPr spc="-10" dirty="0"/>
              <a:t>Policy, Reward</a:t>
            </a:r>
          </a:p>
        </p:txBody>
      </p:sp>
      <p:sp>
        <p:nvSpPr>
          <p:cNvPr id="3" name="object 3"/>
          <p:cNvSpPr txBox="1"/>
          <p:nvPr/>
        </p:nvSpPr>
        <p:spPr>
          <a:xfrm>
            <a:off x="916939" y="2305253"/>
            <a:ext cx="10354945" cy="3009900"/>
          </a:xfrm>
          <a:prstGeom prst="rect">
            <a:avLst/>
          </a:prstGeom>
        </p:spPr>
        <p:txBody>
          <a:bodyPr vert="horz" wrap="square" lIns="0" tIns="55244" rIns="0" bIns="0" rtlCol="0">
            <a:spAutoFit/>
          </a:bodyPr>
          <a:lstStyle/>
          <a:p>
            <a:pPr marL="240029" marR="5080" indent="-227329">
              <a:lnSpc>
                <a:spcPct val="90000"/>
              </a:lnSpc>
              <a:spcBef>
                <a:spcPts val="434"/>
              </a:spcBef>
              <a:buFont typeface="Arial MT"/>
              <a:buChar char="•"/>
              <a:tabLst>
                <a:tab pos="241300" algn="l"/>
              </a:tabLst>
            </a:pPr>
            <a:r>
              <a:rPr sz="2800" dirty="0">
                <a:solidFill>
                  <a:srgbClr val="1F3863"/>
                </a:solidFill>
                <a:latin typeface="Calibri"/>
                <a:cs typeface="Calibri"/>
              </a:rPr>
              <a:t>Policy:</a:t>
            </a:r>
            <a:r>
              <a:rPr sz="2800" spc="-50" dirty="0">
                <a:solidFill>
                  <a:srgbClr val="1F3863"/>
                </a:solidFill>
                <a:latin typeface="Calibri"/>
                <a:cs typeface="Calibri"/>
              </a:rPr>
              <a:t> </a:t>
            </a:r>
            <a:r>
              <a:rPr sz="2800" dirty="0">
                <a:solidFill>
                  <a:srgbClr val="1F3863"/>
                </a:solidFill>
                <a:latin typeface="Calibri"/>
                <a:cs typeface="Calibri"/>
              </a:rPr>
              <a:t>What</a:t>
            </a:r>
            <a:r>
              <a:rPr sz="2800" spc="-55" dirty="0">
                <a:solidFill>
                  <a:srgbClr val="1F3863"/>
                </a:solidFill>
                <a:latin typeface="Calibri"/>
                <a:cs typeface="Calibri"/>
              </a:rPr>
              <a:t> </a:t>
            </a:r>
            <a:r>
              <a:rPr sz="2800" dirty="0">
                <a:solidFill>
                  <a:srgbClr val="1F3863"/>
                </a:solidFill>
                <a:latin typeface="Calibri"/>
                <a:cs typeface="Calibri"/>
              </a:rPr>
              <a:t>action</a:t>
            </a:r>
            <a:r>
              <a:rPr sz="2800" spc="-65" dirty="0">
                <a:solidFill>
                  <a:srgbClr val="1F3863"/>
                </a:solidFill>
                <a:latin typeface="Calibri"/>
                <a:cs typeface="Calibri"/>
              </a:rPr>
              <a:t> </a:t>
            </a:r>
            <a:r>
              <a:rPr sz="2800" dirty="0">
                <a:solidFill>
                  <a:srgbClr val="1F3863"/>
                </a:solidFill>
                <a:latin typeface="Calibri"/>
                <a:cs typeface="Calibri"/>
              </a:rPr>
              <a:t>to</a:t>
            </a:r>
            <a:r>
              <a:rPr sz="2800" spc="-75" dirty="0">
                <a:solidFill>
                  <a:srgbClr val="1F3863"/>
                </a:solidFill>
                <a:latin typeface="Calibri"/>
                <a:cs typeface="Calibri"/>
              </a:rPr>
              <a:t> </a:t>
            </a:r>
            <a:r>
              <a:rPr sz="2800" dirty="0">
                <a:solidFill>
                  <a:srgbClr val="1F3863"/>
                </a:solidFill>
                <a:latin typeface="Calibri"/>
                <a:cs typeface="Calibri"/>
              </a:rPr>
              <a:t>take</a:t>
            </a:r>
            <a:r>
              <a:rPr sz="2800" spc="-70" dirty="0">
                <a:solidFill>
                  <a:srgbClr val="1F3863"/>
                </a:solidFill>
                <a:latin typeface="Calibri"/>
                <a:cs typeface="Calibri"/>
              </a:rPr>
              <a:t> </a:t>
            </a:r>
            <a:r>
              <a:rPr sz="2800" dirty="0">
                <a:solidFill>
                  <a:srgbClr val="1F3863"/>
                </a:solidFill>
                <a:latin typeface="Calibri"/>
                <a:cs typeface="Calibri"/>
              </a:rPr>
              <a:t>based</a:t>
            </a:r>
            <a:r>
              <a:rPr sz="2800" spc="-65" dirty="0">
                <a:solidFill>
                  <a:srgbClr val="1F3863"/>
                </a:solidFill>
                <a:latin typeface="Calibri"/>
                <a:cs typeface="Calibri"/>
              </a:rPr>
              <a:t> </a:t>
            </a:r>
            <a:r>
              <a:rPr sz="2800" dirty="0">
                <a:solidFill>
                  <a:srgbClr val="1F3863"/>
                </a:solidFill>
                <a:latin typeface="Calibri"/>
                <a:cs typeface="Calibri"/>
              </a:rPr>
              <a:t>on</a:t>
            </a:r>
            <a:r>
              <a:rPr sz="2800" spc="-60" dirty="0">
                <a:solidFill>
                  <a:srgbClr val="1F3863"/>
                </a:solidFill>
                <a:latin typeface="Calibri"/>
                <a:cs typeface="Calibri"/>
              </a:rPr>
              <a:t> </a:t>
            </a:r>
            <a:r>
              <a:rPr sz="2800" dirty="0">
                <a:solidFill>
                  <a:srgbClr val="1F3863"/>
                </a:solidFill>
                <a:latin typeface="Calibri"/>
                <a:cs typeface="Calibri"/>
              </a:rPr>
              <a:t>the</a:t>
            </a:r>
            <a:r>
              <a:rPr sz="2800" spc="-60" dirty="0">
                <a:solidFill>
                  <a:srgbClr val="1F3863"/>
                </a:solidFill>
                <a:latin typeface="Calibri"/>
                <a:cs typeface="Calibri"/>
              </a:rPr>
              <a:t> </a:t>
            </a:r>
            <a:r>
              <a:rPr sz="2800" dirty="0">
                <a:solidFill>
                  <a:srgbClr val="1F3863"/>
                </a:solidFill>
                <a:latin typeface="Calibri"/>
                <a:cs typeface="Calibri"/>
              </a:rPr>
              <a:t>current</a:t>
            </a:r>
            <a:r>
              <a:rPr sz="2800" spc="-45" dirty="0">
                <a:solidFill>
                  <a:srgbClr val="1F3863"/>
                </a:solidFill>
                <a:latin typeface="Calibri"/>
                <a:cs typeface="Calibri"/>
              </a:rPr>
              <a:t> </a:t>
            </a:r>
            <a:r>
              <a:rPr sz="2800" dirty="0">
                <a:solidFill>
                  <a:srgbClr val="1F3863"/>
                </a:solidFill>
                <a:latin typeface="Calibri"/>
                <a:cs typeface="Calibri"/>
              </a:rPr>
              <a:t>state</a:t>
            </a:r>
            <a:r>
              <a:rPr sz="2800" spc="-70" dirty="0">
                <a:solidFill>
                  <a:srgbClr val="1F3863"/>
                </a:solidFill>
                <a:latin typeface="Calibri"/>
                <a:cs typeface="Calibri"/>
              </a:rPr>
              <a:t> </a:t>
            </a:r>
            <a:r>
              <a:rPr sz="2800" dirty="0">
                <a:solidFill>
                  <a:srgbClr val="1F3863"/>
                </a:solidFill>
                <a:latin typeface="Calibri"/>
                <a:cs typeface="Calibri"/>
              </a:rPr>
              <a:t>or</a:t>
            </a:r>
            <a:r>
              <a:rPr sz="2800" spc="-65" dirty="0">
                <a:solidFill>
                  <a:srgbClr val="1F3863"/>
                </a:solidFill>
                <a:latin typeface="Calibri"/>
                <a:cs typeface="Calibri"/>
              </a:rPr>
              <a:t> </a:t>
            </a:r>
            <a:r>
              <a:rPr sz="2800" dirty="0">
                <a:solidFill>
                  <a:srgbClr val="1F3863"/>
                </a:solidFill>
                <a:latin typeface="Calibri"/>
                <a:cs typeface="Calibri"/>
              </a:rPr>
              <a:t>location.</a:t>
            </a:r>
            <a:r>
              <a:rPr sz="2800" spc="-60" dirty="0">
                <a:solidFill>
                  <a:srgbClr val="1F3863"/>
                </a:solidFill>
                <a:latin typeface="Calibri"/>
                <a:cs typeface="Calibri"/>
              </a:rPr>
              <a:t> </a:t>
            </a:r>
            <a:r>
              <a:rPr sz="2800" spc="-25" dirty="0">
                <a:solidFill>
                  <a:srgbClr val="1F3863"/>
                </a:solidFill>
                <a:latin typeface="Calibri"/>
                <a:cs typeface="Calibri"/>
              </a:rPr>
              <a:t>The 	</a:t>
            </a:r>
            <a:r>
              <a:rPr sz="2800" dirty="0">
                <a:solidFill>
                  <a:srgbClr val="1F3863"/>
                </a:solidFill>
                <a:latin typeface="Calibri"/>
                <a:cs typeface="Calibri"/>
              </a:rPr>
              <a:t>policy</a:t>
            </a:r>
            <a:r>
              <a:rPr sz="2800" spc="-75" dirty="0">
                <a:solidFill>
                  <a:srgbClr val="1F3863"/>
                </a:solidFill>
                <a:latin typeface="Calibri"/>
                <a:cs typeface="Calibri"/>
              </a:rPr>
              <a:t> </a:t>
            </a:r>
            <a:r>
              <a:rPr sz="2800" spc="-10" dirty="0">
                <a:solidFill>
                  <a:srgbClr val="1F3863"/>
                </a:solidFill>
                <a:latin typeface="Calibri"/>
                <a:cs typeface="Calibri"/>
              </a:rPr>
              <a:t>(strategy)</a:t>
            </a:r>
            <a:r>
              <a:rPr sz="2800" spc="-80" dirty="0">
                <a:solidFill>
                  <a:srgbClr val="1F3863"/>
                </a:solidFill>
                <a:latin typeface="Calibri"/>
                <a:cs typeface="Calibri"/>
              </a:rPr>
              <a:t> </a:t>
            </a:r>
            <a:r>
              <a:rPr sz="2800" dirty="0">
                <a:solidFill>
                  <a:srgbClr val="1F3863"/>
                </a:solidFill>
                <a:latin typeface="Calibri"/>
                <a:cs typeface="Calibri"/>
              </a:rPr>
              <a:t>maps</a:t>
            </a:r>
            <a:r>
              <a:rPr sz="2800" spc="-70" dirty="0">
                <a:solidFill>
                  <a:srgbClr val="1F3863"/>
                </a:solidFill>
                <a:latin typeface="Calibri"/>
                <a:cs typeface="Calibri"/>
              </a:rPr>
              <a:t> </a:t>
            </a:r>
            <a:r>
              <a:rPr sz="2800" dirty="0">
                <a:solidFill>
                  <a:srgbClr val="1F3863"/>
                </a:solidFill>
                <a:latin typeface="Calibri"/>
                <a:cs typeface="Calibri"/>
              </a:rPr>
              <a:t>the</a:t>
            </a:r>
            <a:r>
              <a:rPr sz="2800" spc="-75" dirty="0">
                <a:solidFill>
                  <a:srgbClr val="1F3863"/>
                </a:solidFill>
                <a:latin typeface="Calibri"/>
                <a:cs typeface="Calibri"/>
              </a:rPr>
              <a:t> </a:t>
            </a:r>
            <a:r>
              <a:rPr sz="2800" dirty="0">
                <a:solidFill>
                  <a:srgbClr val="1F3863"/>
                </a:solidFill>
                <a:latin typeface="Calibri"/>
                <a:cs typeface="Calibri"/>
              </a:rPr>
              <a:t>current</a:t>
            </a:r>
            <a:r>
              <a:rPr sz="2800" spc="-60" dirty="0">
                <a:solidFill>
                  <a:srgbClr val="1F3863"/>
                </a:solidFill>
                <a:latin typeface="Calibri"/>
                <a:cs typeface="Calibri"/>
              </a:rPr>
              <a:t> </a:t>
            </a:r>
            <a:r>
              <a:rPr sz="2800" spc="-10" dirty="0">
                <a:solidFill>
                  <a:srgbClr val="1F3863"/>
                </a:solidFill>
                <a:latin typeface="Calibri"/>
                <a:cs typeface="Calibri"/>
              </a:rPr>
              <a:t>environment</a:t>
            </a:r>
            <a:r>
              <a:rPr sz="2800" spc="-45" dirty="0">
                <a:solidFill>
                  <a:srgbClr val="1F3863"/>
                </a:solidFill>
                <a:latin typeface="Calibri"/>
                <a:cs typeface="Calibri"/>
              </a:rPr>
              <a:t> </a:t>
            </a:r>
            <a:r>
              <a:rPr sz="2800" spc="-10" dirty="0">
                <a:solidFill>
                  <a:srgbClr val="1F3863"/>
                </a:solidFill>
                <a:latin typeface="Calibri"/>
                <a:cs typeface="Calibri"/>
              </a:rPr>
              <a:t>observation</a:t>
            </a:r>
            <a:r>
              <a:rPr sz="2800" spc="-75" dirty="0">
                <a:solidFill>
                  <a:srgbClr val="1F3863"/>
                </a:solidFill>
                <a:latin typeface="Calibri"/>
                <a:cs typeface="Calibri"/>
              </a:rPr>
              <a:t> </a:t>
            </a:r>
            <a:r>
              <a:rPr sz="2800" dirty="0">
                <a:solidFill>
                  <a:srgbClr val="1F3863"/>
                </a:solidFill>
                <a:latin typeface="Calibri"/>
                <a:cs typeface="Calibri"/>
              </a:rPr>
              <a:t>to</a:t>
            </a:r>
            <a:r>
              <a:rPr sz="2800" spc="-85" dirty="0">
                <a:solidFill>
                  <a:srgbClr val="1F3863"/>
                </a:solidFill>
                <a:latin typeface="Calibri"/>
                <a:cs typeface="Calibri"/>
              </a:rPr>
              <a:t> </a:t>
            </a:r>
            <a:r>
              <a:rPr sz="2800" spc="-50" dirty="0">
                <a:solidFill>
                  <a:srgbClr val="1F3863"/>
                </a:solidFill>
                <a:latin typeface="Calibri"/>
                <a:cs typeface="Calibri"/>
              </a:rPr>
              <a:t>a 	</a:t>
            </a:r>
            <a:r>
              <a:rPr sz="2800" dirty="0">
                <a:solidFill>
                  <a:srgbClr val="1F3863"/>
                </a:solidFill>
                <a:latin typeface="Calibri"/>
                <a:cs typeface="Calibri"/>
              </a:rPr>
              <a:t>probability</a:t>
            </a:r>
            <a:r>
              <a:rPr sz="2800" spc="-55" dirty="0">
                <a:solidFill>
                  <a:srgbClr val="1F3863"/>
                </a:solidFill>
                <a:latin typeface="Calibri"/>
                <a:cs typeface="Calibri"/>
              </a:rPr>
              <a:t> </a:t>
            </a:r>
            <a:r>
              <a:rPr sz="2800" dirty="0">
                <a:solidFill>
                  <a:srgbClr val="1F3863"/>
                </a:solidFill>
                <a:latin typeface="Calibri"/>
                <a:cs typeface="Calibri"/>
              </a:rPr>
              <a:t>distribution</a:t>
            </a:r>
            <a:r>
              <a:rPr sz="2800" spc="-35" dirty="0">
                <a:solidFill>
                  <a:srgbClr val="1F3863"/>
                </a:solidFill>
                <a:latin typeface="Calibri"/>
                <a:cs typeface="Calibri"/>
              </a:rPr>
              <a:t> </a:t>
            </a:r>
            <a:r>
              <a:rPr sz="2800" dirty="0">
                <a:solidFill>
                  <a:srgbClr val="1F3863"/>
                </a:solidFill>
                <a:latin typeface="Calibri"/>
                <a:cs typeface="Calibri"/>
              </a:rPr>
              <a:t>of</a:t>
            </a:r>
            <a:r>
              <a:rPr sz="2800" spc="-80" dirty="0">
                <a:solidFill>
                  <a:srgbClr val="1F3863"/>
                </a:solidFill>
                <a:latin typeface="Calibri"/>
                <a:cs typeface="Calibri"/>
              </a:rPr>
              <a:t> </a:t>
            </a:r>
            <a:r>
              <a:rPr sz="2800" dirty="0">
                <a:solidFill>
                  <a:srgbClr val="1F3863"/>
                </a:solidFill>
                <a:latin typeface="Calibri"/>
                <a:cs typeface="Calibri"/>
              </a:rPr>
              <a:t>actions</a:t>
            </a:r>
            <a:r>
              <a:rPr sz="2800" spc="-75" dirty="0">
                <a:solidFill>
                  <a:srgbClr val="1F3863"/>
                </a:solidFill>
                <a:latin typeface="Calibri"/>
                <a:cs typeface="Calibri"/>
              </a:rPr>
              <a:t> </a:t>
            </a:r>
            <a:r>
              <a:rPr sz="2800" dirty="0">
                <a:solidFill>
                  <a:srgbClr val="1F3863"/>
                </a:solidFill>
                <a:latin typeface="Calibri"/>
                <a:cs typeface="Calibri"/>
              </a:rPr>
              <a:t>to</a:t>
            </a:r>
            <a:r>
              <a:rPr sz="2800" spc="-80" dirty="0">
                <a:solidFill>
                  <a:srgbClr val="1F3863"/>
                </a:solidFill>
                <a:latin typeface="Calibri"/>
                <a:cs typeface="Calibri"/>
              </a:rPr>
              <a:t> </a:t>
            </a:r>
            <a:r>
              <a:rPr sz="2800" dirty="0">
                <a:solidFill>
                  <a:srgbClr val="1F3863"/>
                </a:solidFill>
                <a:latin typeface="Calibri"/>
                <a:cs typeface="Calibri"/>
              </a:rPr>
              <a:t>be</a:t>
            </a:r>
            <a:r>
              <a:rPr sz="2800" spc="-70" dirty="0">
                <a:solidFill>
                  <a:srgbClr val="1F3863"/>
                </a:solidFill>
                <a:latin typeface="Calibri"/>
                <a:cs typeface="Calibri"/>
              </a:rPr>
              <a:t> </a:t>
            </a:r>
            <a:r>
              <a:rPr sz="2800" spc="-10" dirty="0">
                <a:solidFill>
                  <a:srgbClr val="1F3863"/>
                </a:solidFill>
                <a:latin typeface="Calibri"/>
                <a:cs typeface="Calibri"/>
              </a:rPr>
              <a:t>taken.</a:t>
            </a:r>
            <a:endParaRPr sz="2800">
              <a:latin typeface="Calibri"/>
              <a:cs typeface="Calibri"/>
            </a:endParaRPr>
          </a:p>
          <a:p>
            <a:pPr>
              <a:lnSpc>
                <a:spcPct val="100000"/>
              </a:lnSpc>
              <a:spcBef>
                <a:spcPts val="1645"/>
              </a:spcBef>
              <a:buClr>
                <a:srgbClr val="1F3863"/>
              </a:buClr>
              <a:buFont typeface="Arial MT"/>
              <a:buChar char="•"/>
            </a:pPr>
            <a:endParaRPr sz="2800">
              <a:latin typeface="Calibri"/>
              <a:cs typeface="Calibri"/>
            </a:endParaRPr>
          </a:p>
          <a:p>
            <a:pPr marL="240029" marR="394335" indent="-227329">
              <a:lnSpc>
                <a:spcPts val="3020"/>
              </a:lnSpc>
              <a:buFont typeface="Arial MT"/>
              <a:buChar char="•"/>
              <a:tabLst>
                <a:tab pos="241300" algn="l"/>
              </a:tabLst>
            </a:pPr>
            <a:r>
              <a:rPr sz="2800" spc="-10" dirty="0">
                <a:solidFill>
                  <a:srgbClr val="1F3863"/>
                </a:solidFill>
                <a:latin typeface="Calibri"/>
                <a:cs typeface="Calibri"/>
              </a:rPr>
              <a:t>Reward</a:t>
            </a:r>
            <a:r>
              <a:rPr sz="2800" spc="-75" dirty="0">
                <a:solidFill>
                  <a:srgbClr val="1F3863"/>
                </a:solidFill>
                <a:latin typeface="Calibri"/>
                <a:cs typeface="Calibri"/>
              </a:rPr>
              <a:t> </a:t>
            </a:r>
            <a:r>
              <a:rPr sz="2800" dirty="0">
                <a:solidFill>
                  <a:srgbClr val="1F3863"/>
                </a:solidFill>
                <a:latin typeface="Calibri"/>
                <a:cs typeface="Calibri"/>
              </a:rPr>
              <a:t>:</a:t>
            </a:r>
            <a:r>
              <a:rPr sz="2800" spc="-65"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spc="-10" dirty="0">
                <a:solidFill>
                  <a:srgbClr val="1F3863"/>
                </a:solidFill>
                <a:latin typeface="Calibri"/>
                <a:cs typeface="Calibri"/>
              </a:rPr>
              <a:t>reward</a:t>
            </a:r>
            <a:r>
              <a:rPr sz="2800" spc="-70" dirty="0">
                <a:solidFill>
                  <a:srgbClr val="1F3863"/>
                </a:solidFill>
                <a:latin typeface="Calibri"/>
                <a:cs typeface="Calibri"/>
              </a:rPr>
              <a:t> </a:t>
            </a:r>
            <a:r>
              <a:rPr sz="2800" dirty="0">
                <a:solidFill>
                  <a:srgbClr val="1F3863"/>
                </a:solidFill>
                <a:latin typeface="Calibri"/>
                <a:cs typeface="Calibri"/>
              </a:rPr>
              <a:t>signal</a:t>
            </a:r>
            <a:r>
              <a:rPr sz="2800" spc="-60" dirty="0">
                <a:solidFill>
                  <a:srgbClr val="1F3863"/>
                </a:solidFill>
                <a:latin typeface="Calibri"/>
                <a:cs typeface="Calibri"/>
              </a:rPr>
              <a:t> </a:t>
            </a:r>
            <a:r>
              <a:rPr sz="2800" dirty="0">
                <a:solidFill>
                  <a:srgbClr val="1F3863"/>
                </a:solidFill>
                <a:latin typeface="Calibri"/>
                <a:cs typeface="Calibri"/>
              </a:rPr>
              <a:t>measures</a:t>
            </a:r>
            <a:r>
              <a:rPr sz="2800" spc="-50"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spc="-10" dirty="0">
                <a:solidFill>
                  <a:srgbClr val="1F3863"/>
                </a:solidFill>
                <a:latin typeface="Calibri"/>
                <a:cs typeface="Calibri"/>
              </a:rPr>
              <a:t>performance</a:t>
            </a:r>
            <a:r>
              <a:rPr sz="2800" spc="-45" dirty="0">
                <a:solidFill>
                  <a:srgbClr val="1F3863"/>
                </a:solidFill>
                <a:latin typeface="Calibri"/>
                <a:cs typeface="Calibri"/>
              </a:rPr>
              <a:t> </a:t>
            </a:r>
            <a:r>
              <a:rPr sz="2800" dirty="0">
                <a:solidFill>
                  <a:srgbClr val="1F3863"/>
                </a:solidFill>
                <a:latin typeface="Calibri"/>
                <a:cs typeface="Calibri"/>
              </a:rPr>
              <a:t>of</a:t>
            </a:r>
            <a:r>
              <a:rPr sz="2800" spc="-70" dirty="0">
                <a:solidFill>
                  <a:srgbClr val="1F3863"/>
                </a:solidFill>
                <a:latin typeface="Calibri"/>
                <a:cs typeface="Calibri"/>
              </a:rPr>
              <a:t> </a:t>
            </a:r>
            <a:r>
              <a:rPr sz="2800" dirty="0">
                <a:solidFill>
                  <a:srgbClr val="1F3863"/>
                </a:solidFill>
                <a:latin typeface="Calibri"/>
                <a:cs typeface="Calibri"/>
              </a:rPr>
              <a:t>the</a:t>
            </a:r>
            <a:r>
              <a:rPr sz="2800" spc="-55" dirty="0">
                <a:solidFill>
                  <a:srgbClr val="1F3863"/>
                </a:solidFill>
                <a:latin typeface="Calibri"/>
                <a:cs typeface="Calibri"/>
              </a:rPr>
              <a:t> </a:t>
            </a:r>
            <a:r>
              <a:rPr sz="2800" spc="-10" dirty="0">
                <a:solidFill>
                  <a:srgbClr val="1F3863"/>
                </a:solidFill>
                <a:latin typeface="Calibri"/>
                <a:cs typeface="Calibri"/>
              </a:rPr>
              <a:t>agent 	</a:t>
            </a:r>
            <a:r>
              <a:rPr sz="2800" dirty="0">
                <a:solidFill>
                  <a:srgbClr val="1F3863"/>
                </a:solidFill>
                <a:latin typeface="Calibri"/>
                <a:cs typeface="Calibri"/>
              </a:rPr>
              <a:t>with</a:t>
            </a:r>
            <a:r>
              <a:rPr sz="2800" spc="-60" dirty="0">
                <a:solidFill>
                  <a:srgbClr val="1F3863"/>
                </a:solidFill>
                <a:latin typeface="Calibri"/>
                <a:cs typeface="Calibri"/>
              </a:rPr>
              <a:t> </a:t>
            </a:r>
            <a:r>
              <a:rPr sz="2800" dirty="0">
                <a:solidFill>
                  <a:srgbClr val="1F3863"/>
                </a:solidFill>
                <a:latin typeface="Calibri"/>
                <a:cs typeface="Calibri"/>
              </a:rPr>
              <a:t>respect</a:t>
            </a:r>
            <a:r>
              <a:rPr sz="2800" spc="-55" dirty="0">
                <a:solidFill>
                  <a:srgbClr val="1F3863"/>
                </a:solidFill>
                <a:latin typeface="Calibri"/>
                <a:cs typeface="Calibri"/>
              </a:rPr>
              <a:t> </a:t>
            </a:r>
            <a:r>
              <a:rPr sz="2800" dirty="0">
                <a:solidFill>
                  <a:srgbClr val="1F3863"/>
                </a:solidFill>
                <a:latin typeface="Calibri"/>
                <a:cs typeface="Calibri"/>
              </a:rPr>
              <a:t>to</a:t>
            </a:r>
            <a:r>
              <a:rPr sz="2800" spc="-70" dirty="0">
                <a:solidFill>
                  <a:srgbClr val="1F3863"/>
                </a:solidFill>
                <a:latin typeface="Calibri"/>
                <a:cs typeface="Calibri"/>
              </a:rPr>
              <a:t> </a:t>
            </a:r>
            <a:r>
              <a:rPr sz="2800" dirty="0">
                <a:solidFill>
                  <a:srgbClr val="1F3863"/>
                </a:solidFill>
                <a:latin typeface="Calibri"/>
                <a:cs typeface="Calibri"/>
              </a:rPr>
              <a:t>the</a:t>
            </a:r>
            <a:r>
              <a:rPr sz="2800" spc="-50" dirty="0">
                <a:solidFill>
                  <a:srgbClr val="1F3863"/>
                </a:solidFill>
                <a:latin typeface="Calibri"/>
                <a:cs typeface="Calibri"/>
              </a:rPr>
              <a:t> </a:t>
            </a:r>
            <a:r>
              <a:rPr sz="2800" dirty="0">
                <a:solidFill>
                  <a:srgbClr val="1F3863"/>
                </a:solidFill>
                <a:latin typeface="Calibri"/>
                <a:cs typeface="Calibri"/>
              </a:rPr>
              <a:t>task</a:t>
            </a:r>
            <a:r>
              <a:rPr sz="2800" spc="-45" dirty="0">
                <a:solidFill>
                  <a:srgbClr val="1F3863"/>
                </a:solidFill>
                <a:latin typeface="Calibri"/>
                <a:cs typeface="Calibri"/>
              </a:rPr>
              <a:t> </a:t>
            </a:r>
            <a:r>
              <a:rPr sz="2800" dirty="0">
                <a:solidFill>
                  <a:srgbClr val="1F3863"/>
                </a:solidFill>
                <a:latin typeface="Calibri"/>
                <a:cs typeface="Calibri"/>
              </a:rPr>
              <a:t>goals.</a:t>
            </a:r>
            <a:r>
              <a:rPr sz="2800" spc="-105" dirty="0">
                <a:solidFill>
                  <a:srgbClr val="1F3863"/>
                </a:solidFill>
                <a:latin typeface="Calibri"/>
                <a:cs typeface="Calibri"/>
              </a:rPr>
              <a:t> </a:t>
            </a:r>
            <a:r>
              <a:rPr sz="2800" dirty="0">
                <a:solidFill>
                  <a:srgbClr val="1F3863"/>
                </a:solidFill>
                <a:latin typeface="Calibri"/>
                <a:cs typeface="Calibri"/>
              </a:rPr>
              <a:t>For</a:t>
            </a:r>
            <a:r>
              <a:rPr sz="2800" spc="-70" dirty="0">
                <a:solidFill>
                  <a:srgbClr val="1F3863"/>
                </a:solidFill>
                <a:latin typeface="Calibri"/>
                <a:cs typeface="Calibri"/>
              </a:rPr>
              <a:t> </a:t>
            </a:r>
            <a:r>
              <a:rPr sz="2800" dirty="0">
                <a:solidFill>
                  <a:srgbClr val="1F3863"/>
                </a:solidFill>
                <a:latin typeface="Calibri"/>
                <a:cs typeface="Calibri"/>
              </a:rPr>
              <a:t>a</a:t>
            </a:r>
            <a:r>
              <a:rPr sz="2800" spc="-65" dirty="0">
                <a:solidFill>
                  <a:srgbClr val="1F3863"/>
                </a:solidFill>
                <a:latin typeface="Calibri"/>
                <a:cs typeface="Calibri"/>
              </a:rPr>
              <a:t> </a:t>
            </a:r>
            <a:r>
              <a:rPr sz="2800" dirty="0">
                <a:solidFill>
                  <a:srgbClr val="1F3863"/>
                </a:solidFill>
                <a:latin typeface="Calibri"/>
                <a:cs typeface="Calibri"/>
              </a:rPr>
              <a:t>given</a:t>
            </a:r>
            <a:r>
              <a:rPr sz="2800" spc="-70" dirty="0">
                <a:solidFill>
                  <a:srgbClr val="1F3863"/>
                </a:solidFill>
                <a:latin typeface="Calibri"/>
                <a:cs typeface="Calibri"/>
              </a:rPr>
              <a:t> </a:t>
            </a:r>
            <a:r>
              <a:rPr sz="2800" spc="-10" dirty="0">
                <a:solidFill>
                  <a:srgbClr val="1F3863"/>
                </a:solidFill>
                <a:latin typeface="Calibri"/>
                <a:cs typeface="Calibri"/>
              </a:rPr>
              <a:t>observation</a:t>
            </a:r>
            <a:r>
              <a:rPr sz="2800" spc="-60" dirty="0">
                <a:solidFill>
                  <a:srgbClr val="1F3863"/>
                </a:solidFill>
                <a:latin typeface="Calibri"/>
                <a:cs typeface="Calibri"/>
              </a:rPr>
              <a:t> </a:t>
            </a:r>
            <a:r>
              <a:rPr sz="2800" spc="-10" dirty="0">
                <a:solidFill>
                  <a:srgbClr val="1F3863"/>
                </a:solidFill>
                <a:latin typeface="Calibri"/>
                <a:cs typeface="Calibri"/>
              </a:rPr>
              <a:t>(state),</a:t>
            </a:r>
            <a:r>
              <a:rPr sz="2800" spc="-70" dirty="0">
                <a:solidFill>
                  <a:srgbClr val="1F3863"/>
                </a:solidFill>
                <a:latin typeface="Calibri"/>
                <a:cs typeface="Calibri"/>
              </a:rPr>
              <a:t> </a:t>
            </a:r>
            <a:r>
              <a:rPr sz="2800" spc="-25" dirty="0">
                <a:solidFill>
                  <a:srgbClr val="1F3863"/>
                </a:solidFill>
                <a:latin typeface="Calibri"/>
                <a:cs typeface="Calibri"/>
              </a:rPr>
              <a:t>the 	</a:t>
            </a:r>
            <a:r>
              <a:rPr sz="2800" dirty="0">
                <a:solidFill>
                  <a:srgbClr val="1F3863"/>
                </a:solidFill>
                <a:latin typeface="Calibri"/>
                <a:cs typeface="Calibri"/>
              </a:rPr>
              <a:t>reward</a:t>
            </a:r>
            <a:r>
              <a:rPr sz="2800" spc="-65" dirty="0">
                <a:solidFill>
                  <a:srgbClr val="1F3863"/>
                </a:solidFill>
                <a:latin typeface="Calibri"/>
                <a:cs typeface="Calibri"/>
              </a:rPr>
              <a:t> </a:t>
            </a:r>
            <a:r>
              <a:rPr sz="2800" dirty="0">
                <a:solidFill>
                  <a:srgbClr val="1F3863"/>
                </a:solidFill>
                <a:latin typeface="Calibri"/>
                <a:cs typeface="Calibri"/>
              </a:rPr>
              <a:t>measures</a:t>
            </a:r>
            <a:r>
              <a:rPr sz="2800" spc="-30" dirty="0">
                <a:solidFill>
                  <a:srgbClr val="1F3863"/>
                </a:solidFill>
                <a:latin typeface="Calibri"/>
                <a:cs typeface="Calibri"/>
              </a:rPr>
              <a:t> </a:t>
            </a:r>
            <a:r>
              <a:rPr sz="2800" dirty="0">
                <a:solidFill>
                  <a:srgbClr val="1F3863"/>
                </a:solidFill>
                <a:latin typeface="Calibri"/>
                <a:cs typeface="Calibri"/>
              </a:rPr>
              <a:t>the</a:t>
            </a:r>
            <a:r>
              <a:rPr sz="2800" spc="-50" dirty="0">
                <a:solidFill>
                  <a:srgbClr val="1F3863"/>
                </a:solidFill>
                <a:latin typeface="Calibri"/>
                <a:cs typeface="Calibri"/>
              </a:rPr>
              <a:t> </a:t>
            </a:r>
            <a:r>
              <a:rPr sz="2800" spc="-10" dirty="0">
                <a:solidFill>
                  <a:srgbClr val="1F3863"/>
                </a:solidFill>
                <a:latin typeface="Calibri"/>
                <a:cs typeface="Calibri"/>
              </a:rPr>
              <a:t>effectiveness</a:t>
            </a:r>
            <a:r>
              <a:rPr sz="2800" spc="-60" dirty="0">
                <a:solidFill>
                  <a:srgbClr val="1F3863"/>
                </a:solidFill>
                <a:latin typeface="Calibri"/>
                <a:cs typeface="Calibri"/>
              </a:rPr>
              <a:t> </a:t>
            </a:r>
            <a:r>
              <a:rPr sz="2800" dirty="0">
                <a:solidFill>
                  <a:srgbClr val="1F3863"/>
                </a:solidFill>
                <a:latin typeface="Calibri"/>
                <a:cs typeface="Calibri"/>
              </a:rPr>
              <a:t>of</a:t>
            </a:r>
            <a:r>
              <a:rPr sz="2800" spc="-55" dirty="0">
                <a:solidFill>
                  <a:srgbClr val="1F3863"/>
                </a:solidFill>
                <a:latin typeface="Calibri"/>
                <a:cs typeface="Calibri"/>
              </a:rPr>
              <a:t> </a:t>
            </a:r>
            <a:r>
              <a:rPr sz="2800" dirty="0">
                <a:solidFill>
                  <a:srgbClr val="1F3863"/>
                </a:solidFill>
                <a:latin typeface="Calibri"/>
                <a:cs typeface="Calibri"/>
              </a:rPr>
              <a:t>taking</a:t>
            </a:r>
            <a:r>
              <a:rPr sz="2800" spc="-40" dirty="0">
                <a:solidFill>
                  <a:srgbClr val="1F3863"/>
                </a:solidFill>
                <a:latin typeface="Calibri"/>
                <a:cs typeface="Calibri"/>
              </a:rPr>
              <a:t> </a:t>
            </a:r>
            <a:r>
              <a:rPr sz="2800" dirty="0">
                <a:solidFill>
                  <a:srgbClr val="1F3863"/>
                </a:solidFill>
                <a:latin typeface="Calibri"/>
                <a:cs typeface="Calibri"/>
              </a:rPr>
              <a:t>a</a:t>
            </a:r>
            <a:r>
              <a:rPr sz="2800" spc="-60" dirty="0">
                <a:solidFill>
                  <a:srgbClr val="1F3863"/>
                </a:solidFill>
                <a:latin typeface="Calibri"/>
                <a:cs typeface="Calibri"/>
              </a:rPr>
              <a:t> </a:t>
            </a:r>
            <a:r>
              <a:rPr sz="2800" dirty="0">
                <a:solidFill>
                  <a:srgbClr val="1F3863"/>
                </a:solidFill>
                <a:latin typeface="Calibri"/>
                <a:cs typeface="Calibri"/>
              </a:rPr>
              <a:t>particular</a:t>
            </a:r>
            <a:r>
              <a:rPr sz="2800" spc="-30" dirty="0">
                <a:solidFill>
                  <a:srgbClr val="1F3863"/>
                </a:solidFill>
                <a:latin typeface="Calibri"/>
                <a:cs typeface="Calibri"/>
              </a:rPr>
              <a:t> </a:t>
            </a:r>
            <a:r>
              <a:rPr sz="2800" spc="-10" dirty="0">
                <a:solidFill>
                  <a:srgbClr val="1F3863"/>
                </a:solidFill>
                <a:latin typeface="Calibri"/>
                <a:cs typeface="Calibri"/>
              </a:rPr>
              <a:t>action.</a:t>
            </a:r>
            <a:endParaRPr sz="2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0" dirty="0"/>
              <a:t>Reward</a:t>
            </a:r>
            <a:r>
              <a:rPr spc="-114" dirty="0"/>
              <a:t> </a:t>
            </a:r>
            <a:r>
              <a:rPr dirty="0"/>
              <a:t>and</a:t>
            </a:r>
            <a:r>
              <a:rPr spc="-90" dirty="0"/>
              <a:t> </a:t>
            </a:r>
            <a:r>
              <a:rPr spc="-10" dirty="0"/>
              <a:t>Utility</a:t>
            </a:r>
          </a:p>
        </p:txBody>
      </p:sp>
      <p:sp>
        <p:nvSpPr>
          <p:cNvPr id="3" name="object 3"/>
          <p:cNvSpPr txBox="1"/>
          <p:nvPr/>
        </p:nvSpPr>
        <p:spPr>
          <a:xfrm>
            <a:off x="447548" y="1546098"/>
            <a:ext cx="10729595" cy="4418330"/>
          </a:xfrm>
          <a:prstGeom prst="rect">
            <a:avLst/>
          </a:prstGeom>
        </p:spPr>
        <p:txBody>
          <a:bodyPr vert="horz" wrap="square" lIns="0" tIns="54610" rIns="0" bIns="0" rtlCol="0">
            <a:spAutoFit/>
          </a:bodyPr>
          <a:lstStyle/>
          <a:p>
            <a:pPr marL="240029" marR="132715" indent="-227329">
              <a:lnSpc>
                <a:spcPct val="90000"/>
              </a:lnSpc>
              <a:spcBef>
                <a:spcPts val="430"/>
              </a:spcBef>
              <a:buFont typeface="Arial MT"/>
              <a:buChar char="•"/>
              <a:tabLst>
                <a:tab pos="241300" algn="l"/>
              </a:tabLst>
            </a:pPr>
            <a:r>
              <a:rPr sz="2800" dirty="0">
                <a:solidFill>
                  <a:srgbClr val="1F3863"/>
                </a:solidFill>
                <a:latin typeface="Calibri"/>
                <a:cs typeface="Calibri"/>
              </a:rPr>
              <a:t>A</a:t>
            </a:r>
            <a:r>
              <a:rPr sz="2800" spc="-70" dirty="0">
                <a:solidFill>
                  <a:srgbClr val="1F3863"/>
                </a:solidFill>
                <a:latin typeface="Calibri"/>
                <a:cs typeface="Calibri"/>
              </a:rPr>
              <a:t> </a:t>
            </a:r>
            <a:r>
              <a:rPr sz="2800" spc="-10" dirty="0">
                <a:solidFill>
                  <a:srgbClr val="1F3863"/>
                </a:solidFill>
                <a:latin typeface="Calibri"/>
                <a:cs typeface="Calibri"/>
              </a:rPr>
              <a:t>reward</a:t>
            </a:r>
            <a:r>
              <a:rPr sz="2800" spc="-80" dirty="0">
                <a:solidFill>
                  <a:srgbClr val="1F3863"/>
                </a:solidFill>
                <a:latin typeface="Calibri"/>
                <a:cs typeface="Calibri"/>
              </a:rPr>
              <a:t> </a:t>
            </a:r>
            <a:r>
              <a:rPr sz="2800" dirty="0">
                <a:solidFill>
                  <a:srgbClr val="1F3863"/>
                </a:solidFill>
                <a:latin typeface="Calibri"/>
                <a:cs typeface="Calibri"/>
              </a:rPr>
              <a:t>function</a:t>
            </a:r>
            <a:r>
              <a:rPr sz="2800" spc="-50" dirty="0">
                <a:solidFill>
                  <a:srgbClr val="1F3863"/>
                </a:solidFill>
                <a:latin typeface="Calibri"/>
                <a:cs typeface="Calibri"/>
              </a:rPr>
              <a:t> </a:t>
            </a:r>
            <a:r>
              <a:rPr sz="2800" dirty="0">
                <a:solidFill>
                  <a:srgbClr val="1F3863"/>
                </a:solidFill>
                <a:latin typeface="Calibri"/>
                <a:cs typeface="Calibri"/>
              </a:rPr>
              <a:t>is</a:t>
            </a:r>
            <a:r>
              <a:rPr sz="2800" spc="-85" dirty="0">
                <a:solidFill>
                  <a:srgbClr val="1F3863"/>
                </a:solidFill>
                <a:latin typeface="Calibri"/>
                <a:cs typeface="Calibri"/>
              </a:rPr>
              <a:t> </a:t>
            </a:r>
            <a:r>
              <a:rPr sz="2800" dirty="0">
                <a:solidFill>
                  <a:srgbClr val="1F3863"/>
                </a:solidFill>
                <a:latin typeface="Calibri"/>
                <a:cs typeface="Calibri"/>
              </a:rPr>
              <a:t>defined</a:t>
            </a:r>
            <a:r>
              <a:rPr sz="2800" spc="-55" dirty="0">
                <a:solidFill>
                  <a:srgbClr val="1F3863"/>
                </a:solidFill>
                <a:latin typeface="Calibri"/>
                <a:cs typeface="Calibri"/>
              </a:rPr>
              <a:t> </a:t>
            </a:r>
            <a:r>
              <a:rPr sz="2800" dirty="0">
                <a:solidFill>
                  <a:srgbClr val="1F3863"/>
                </a:solidFill>
                <a:latin typeface="Calibri"/>
                <a:cs typeface="Calibri"/>
              </a:rPr>
              <a:t>over</a:t>
            </a:r>
            <a:r>
              <a:rPr sz="2800" spc="-90" dirty="0">
                <a:solidFill>
                  <a:srgbClr val="1F3863"/>
                </a:solidFill>
                <a:latin typeface="Calibri"/>
                <a:cs typeface="Calibri"/>
              </a:rPr>
              <a:t> </a:t>
            </a:r>
            <a:r>
              <a:rPr sz="2800" dirty="0">
                <a:solidFill>
                  <a:srgbClr val="1F3863"/>
                </a:solidFill>
                <a:latin typeface="Calibri"/>
                <a:cs typeface="Calibri"/>
              </a:rPr>
              <a:t>past</a:t>
            </a:r>
            <a:r>
              <a:rPr sz="2800" spc="-60" dirty="0">
                <a:solidFill>
                  <a:srgbClr val="1F3863"/>
                </a:solidFill>
                <a:latin typeface="Calibri"/>
                <a:cs typeface="Calibri"/>
              </a:rPr>
              <a:t> </a:t>
            </a:r>
            <a:r>
              <a:rPr sz="2800" dirty="0">
                <a:solidFill>
                  <a:srgbClr val="1F3863"/>
                </a:solidFill>
                <a:latin typeface="Calibri"/>
                <a:cs typeface="Calibri"/>
              </a:rPr>
              <a:t>sequences</a:t>
            </a:r>
            <a:r>
              <a:rPr sz="2800" spc="-50" dirty="0">
                <a:solidFill>
                  <a:srgbClr val="1F3863"/>
                </a:solidFill>
                <a:latin typeface="Calibri"/>
                <a:cs typeface="Calibri"/>
              </a:rPr>
              <a:t> </a:t>
            </a:r>
            <a:r>
              <a:rPr sz="2800" dirty="0">
                <a:solidFill>
                  <a:srgbClr val="1F3863"/>
                </a:solidFill>
                <a:latin typeface="Calibri"/>
                <a:cs typeface="Calibri"/>
              </a:rPr>
              <a:t>of</a:t>
            </a:r>
            <a:r>
              <a:rPr sz="2800" spc="-80" dirty="0">
                <a:solidFill>
                  <a:srgbClr val="1F3863"/>
                </a:solidFill>
                <a:latin typeface="Calibri"/>
                <a:cs typeface="Calibri"/>
              </a:rPr>
              <a:t> </a:t>
            </a:r>
            <a:r>
              <a:rPr sz="2800" dirty="0">
                <a:solidFill>
                  <a:srgbClr val="1F3863"/>
                </a:solidFill>
                <a:latin typeface="Calibri"/>
                <a:cs typeface="Calibri"/>
              </a:rPr>
              <a:t>actions</a:t>
            </a:r>
            <a:r>
              <a:rPr sz="2800" spc="-75" dirty="0">
                <a:solidFill>
                  <a:srgbClr val="1F3863"/>
                </a:solidFill>
                <a:latin typeface="Calibri"/>
                <a:cs typeface="Calibri"/>
              </a:rPr>
              <a:t> </a:t>
            </a:r>
            <a:r>
              <a:rPr sz="2800" spc="-25" dirty="0">
                <a:solidFill>
                  <a:srgbClr val="1F3863"/>
                </a:solidFill>
                <a:latin typeface="Calibri"/>
                <a:cs typeface="Calibri"/>
              </a:rPr>
              <a:t>and 	</a:t>
            </a:r>
            <a:r>
              <a:rPr sz="2800" spc="-10" dirty="0">
                <a:solidFill>
                  <a:srgbClr val="1F3863"/>
                </a:solidFill>
                <a:latin typeface="Calibri"/>
                <a:cs typeface="Calibri"/>
              </a:rPr>
              <a:t>observations.</a:t>
            </a:r>
            <a:r>
              <a:rPr sz="2800" spc="-40" dirty="0">
                <a:solidFill>
                  <a:srgbClr val="1F3863"/>
                </a:solidFill>
                <a:latin typeface="Calibri"/>
                <a:cs typeface="Calibri"/>
              </a:rPr>
              <a:t> </a:t>
            </a:r>
            <a:r>
              <a:rPr sz="2800" dirty="0">
                <a:solidFill>
                  <a:srgbClr val="1F3863"/>
                </a:solidFill>
                <a:latin typeface="Calibri"/>
                <a:cs typeface="Calibri"/>
              </a:rPr>
              <a:t>When</a:t>
            </a:r>
            <a:r>
              <a:rPr sz="2800" spc="-50"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dirty="0">
                <a:solidFill>
                  <a:srgbClr val="1F3863"/>
                </a:solidFill>
                <a:latin typeface="Calibri"/>
                <a:cs typeface="Calibri"/>
              </a:rPr>
              <a:t>agent</a:t>
            </a:r>
            <a:r>
              <a:rPr sz="2800" spc="-75" dirty="0">
                <a:solidFill>
                  <a:srgbClr val="1F3863"/>
                </a:solidFill>
                <a:latin typeface="Calibri"/>
                <a:cs typeface="Calibri"/>
              </a:rPr>
              <a:t> </a:t>
            </a:r>
            <a:r>
              <a:rPr sz="2800" dirty="0">
                <a:solidFill>
                  <a:srgbClr val="1F3863"/>
                </a:solidFill>
                <a:latin typeface="Calibri"/>
                <a:cs typeface="Calibri"/>
              </a:rPr>
              <a:t>chooses</a:t>
            </a:r>
            <a:r>
              <a:rPr sz="2800" spc="-50" dirty="0">
                <a:solidFill>
                  <a:srgbClr val="1F3863"/>
                </a:solidFill>
                <a:latin typeface="Calibri"/>
                <a:cs typeface="Calibri"/>
              </a:rPr>
              <a:t> </a:t>
            </a:r>
            <a:r>
              <a:rPr sz="2800" dirty="0">
                <a:solidFill>
                  <a:srgbClr val="1F3863"/>
                </a:solidFill>
                <a:latin typeface="Calibri"/>
                <a:cs typeface="Calibri"/>
              </a:rPr>
              <a:t>an</a:t>
            </a:r>
            <a:r>
              <a:rPr sz="2800" spc="-70" dirty="0">
                <a:solidFill>
                  <a:srgbClr val="1F3863"/>
                </a:solidFill>
                <a:latin typeface="Calibri"/>
                <a:cs typeface="Calibri"/>
              </a:rPr>
              <a:t> </a:t>
            </a:r>
            <a:r>
              <a:rPr sz="2800" dirty="0">
                <a:solidFill>
                  <a:srgbClr val="1F3863"/>
                </a:solidFill>
                <a:latin typeface="Calibri"/>
                <a:cs typeface="Calibri"/>
              </a:rPr>
              <a:t>action,</a:t>
            </a:r>
            <a:r>
              <a:rPr sz="2800" spc="-65" dirty="0">
                <a:solidFill>
                  <a:srgbClr val="1F3863"/>
                </a:solidFill>
                <a:latin typeface="Calibri"/>
                <a:cs typeface="Calibri"/>
              </a:rPr>
              <a:t> </a:t>
            </a:r>
            <a:r>
              <a:rPr sz="2800" dirty="0">
                <a:solidFill>
                  <a:srgbClr val="1F3863"/>
                </a:solidFill>
                <a:latin typeface="Calibri"/>
                <a:cs typeface="Calibri"/>
              </a:rPr>
              <a:t>and</a:t>
            </a:r>
            <a:r>
              <a:rPr sz="2800" spc="-50" dirty="0">
                <a:solidFill>
                  <a:srgbClr val="1F3863"/>
                </a:solidFill>
                <a:latin typeface="Calibri"/>
                <a:cs typeface="Calibri"/>
              </a:rPr>
              <a:t> </a:t>
            </a:r>
            <a:r>
              <a:rPr sz="2800" dirty="0">
                <a:solidFill>
                  <a:srgbClr val="1F3863"/>
                </a:solidFill>
                <a:latin typeface="Calibri"/>
                <a:cs typeface="Calibri"/>
              </a:rPr>
              <a:t>gets</a:t>
            </a:r>
            <a:r>
              <a:rPr sz="2800" spc="-80" dirty="0">
                <a:solidFill>
                  <a:srgbClr val="1F3863"/>
                </a:solidFill>
                <a:latin typeface="Calibri"/>
                <a:cs typeface="Calibri"/>
              </a:rPr>
              <a:t> </a:t>
            </a:r>
            <a:r>
              <a:rPr sz="2800" spc="-25" dirty="0">
                <a:solidFill>
                  <a:srgbClr val="1F3863"/>
                </a:solidFill>
                <a:latin typeface="Calibri"/>
                <a:cs typeface="Calibri"/>
              </a:rPr>
              <a:t>an 	</a:t>
            </a:r>
            <a:r>
              <a:rPr sz="2800" spc="-10" dirty="0">
                <a:solidFill>
                  <a:srgbClr val="1F3863"/>
                </a:solidFill>
                <a:latin typeface="Calibri"/>
                <a:cs typeface="Calibri"/>
              </a:rPr>
              <a:t>observation,</a:t>
            </a:r>
            <a:r>
              <a:rPr sz="2800" spc="-45" dirty="0">
                <a:solidFill>
                  <a:srgbClr val="1F3863"/>
                </a:solidFill>
                <a:latin typeface="Calibri"/>
                <a:cs typeface="Calibri"/>
              </a:rPr>
              <a:t> </a:t>
            </a:r>
            <a:r>
              <a:rPr sz="2800" dirty="0">
                <a:solidFill>
                  <a:srgbClr val="1F3863"/>
                </a:solidFill>
                <a:latin typeface="Calibri"/>
                <a:cs typeface="Calibri"/>
              </a:rPr>
              <a:t>they</a:t>
            </a:r>
            <a:r>
              <a:rPr sz="2800" spc="-55" dirty="0">
                <a:solidFill>
                  <a:srgbClr val="1F3863"/>
                </a:solidFill>
                <a:latin typeface="Calibri"/>
                <a:cs typeface="Calibri"/>
              </a:rPr>
              <a:t> </a:t>
            </a:r>
            <a:r>
              <a:rPr sz="2800" dirty="0">
                <a:solidFill>
                  <a:srgbClr val="1F3863"/>
                </a:solidFill>
                <a:latin typeface="Calibri"/>
                <a:cs typeface="Calibri"/>
              </a:rPr>
              <a:t>receive</a:t>
            </a:r>
            <a:r>
              <a:rPr sz="2800" spc="-65" dirty="0">
                <a:solidFill>
                  <a:srgbClr val="1F3863"/>
                </a:solidFill>
                <a:latin typeface="Calibri"/>
                <a:cs typeface="Calibri"/>
              </a:rPr>
              <a:t> </a:t>
            </a:r>
            <a:r>
              <a:rPr sz="2800" dirty="0">
                <a:solidFill>
                  <a:srgbClr val="1F3863"/>
                </a:solidFill>
                <a:latin typeface="Calibri"/>
                <a:cs typeface="Calibri"/>
              </a:rPr>
              <a:t>a</a:t>
            </a:r>
            <a:r>
              <a:rPr sz="2800" spc="-60" dirty="0">
                <a:solidFill>
                  <a:srgbClr val="1F3863"/>
                </a:solidFill>
                <a:latin typeface="Calibri"/>
                <a:cs typeface="Calibri"/>
              </a:rPr>
              <a:t> </a:t>
            </a:r>
            <a:r>
              <a:rPr sz="2800" dirty="0">
                <a:solidFill>
                  <a:srgbClr val="1F3863"/>
                </a:solidFill>
                <a:latin typeface="Calibri"/>
                <a:cs typeface="Calibri"/>
              </a:rPr>
              <a:t>reward</a:t>
            </a:r>
            <a:r>
              <a:rPr sz="2800" spc="-50" dirty="0">
                <a:solidFill>
                  <a:srgbClr val="1F3863"/>
                </a:solidFill>
                <a:latin typeface="Calibri"/>
                <a:cs typeface="Calibri"/>
              </a:rPr>
              <a:t> </a:t>
            </a:r>
            <a:r>
              <a:rPr sz="2800" dirty="0">
                <a:solidFill>
                  <a:srgbClr val="1F3863"/>
                </a:solidFill>
                <a:latin typeface="Calibri"/>
                <a:cs typeface="Calibri"/>
              </a:rPr>
              <a:t>that</a:t>
            </a:r>
            <a:r>
              <a:rPr sz="2800" spc="-60" dirty="0">
                <a:solidFill>
                  <a:srgbClr val="1F3863"/>
                </a:solidFill>
                <a:latin typeface="Calibri"/>
                <a:cs typeface="Calibri"/>
              </a:rPr>
              <a:t> </a:t>
            </a:r>
            <a:r>
              <a:rPr sz="2800" dirty="0">
                <a:solidFill>
                  <a:srgbClr val="1F3863"/>
                </a:solidFill>
                <a:latin typeface="Calibri"/>
                <a:cs typeface="Calibri"/>
              </a:rPr>
              <a:t>is</a:t>
            </a:r>
            <a:r>
              <a:rPr sz="2800" spc="-60" dirty="0">
                <a:solidFill>
                  <a:srgbClr val="1F3863"/>
                </a:solidFill>
                <a:latin typeface="Calibri"/>
                <a:cs typeface="Calibri"/>
              </a:rPr>
              <a:t> </a:t>
            </a:r>
            <a:r>
              <a:rPr sz="2800" dirty="0">
                <a:solidFill>
                  <a:srgbClr val="1F3863"/>
                </a:solidFill>
                <a:latin typeface="Calibri"/>
                <a:cs typeface="Calibri"/>
              </a:rPr>
              <a:t>a</a:t>
            </a:r>
            <a:r>
              <a:rPr sz="2800" spc="-50" dirty="0">
                <a:solidFill>
                  <a:srgbClr val="1F3863"/>
                </a:solidFill>
                <a:latin typeface="Calibri"/>
                <a:cs typeface="Calibri"/>
              </a:rPr>
              <a:t> </a:t>
            </a:r>
            <a:r>
              <a:rPr sz="2800" dirty="0">
                <a:solidFill>
                  <a:srgbClr val="1F3863"/>
                </a:solidFill>
                <a:latin typeface="Calibri"/>
                <a:cs typeface="Calibri"/>
              </a:rPr>
              <a:t>function</a:t>
            </a:r>
            <a:r>
              <a:rPr sz="2800" spc="-40" dirty="0">
                <a:solidFill>
                  <a:srgbClr val="1F3863"/>
                </a:solidFill>
                <a:latin typeface="Calibri"/>
                <a:cs typeface="Calibri"/>
              </a:rPr>
              <a:t> </a:t>
            </a:r>
            <a:r>
              <a:rPr sz="2800" dirty="0">
                <a:solidFill>
                  <a:srgbClr val="1F3863"/>
                </a:solidFill>
                <a:latin typeface="Calibri"/>
                <a:cs typeface="Calibri"/>
              </a:rPr>
              <a:t>of</a:t>
            </a:r>
            <a:r>
              <a:rPr sz="2800" spc="-60" dirty="0">
                <a:solidFill>
                  <a:srgbClr val="1F3863"/>
                </a:solidFill>
                <a:latin typeface="Calibri"/>
                <a:cs typeface="Calibri"/>
              </a:rPr>
              <a:t> </a:t>
            </a:r>
            <a:r>
              <a:rPr sz="2800" dirty="0">
                <a:solidFill>
                  <a:srgbClr val="1F3863"/>
                </a:solidFill>
                <a:latin typeface="Calibri"/>
                <a:cs typeface="Calibri"/>
              </a:rPr>
              <a:t>that</a:t>
            </a:r>
            <a:r>
              <a:rPr sz="2800" spc="-45" dirty="0">
                <a:solidFill>
                  <a:srgbClr val="1F3863"/>
                </a:solidFill>
                <a:latin typeface="Calibri"/>
                <a:cs typeface="Calibri"/>
              </a:rPr>
              <a:t> </a:t>
            </a:r>
            <a:r>
              <a:rPr sz="2800" spc="-10" dirty="0">
                <a:solidFill>
                  <a:srgbClr val="1F3863"/>
                </a:solidFill>
                <a:latin typeface="Calibri"/>
                <a:cs typeface="Calibri"/>
              </a:rPr>
              <a:t>observation 	</a:t>
            </a:r>
            <a:r>
              <a:rPr sz="2800" dirty="0">
                <a:solidFill>
                  <a:srgbClr val="1F3863"/>
                </a:solidFill>
                <a:latin typeface="Calibri"/>
                <a:cs typeface="Calibri"/>
              </a:rPr>
              <a:t>and</a:t>
            </a:r>
            <a:r>
              <a:rPr sz="2800" spc="-65" dirty="0">
                <a:solidFill>
                  <a:srgbClr val="1F3863"/>
                </a:solidFill>
                <a:latin typeface="Calibri"/>
                <a:cs typeface="Calibri"/>
              </a:rPr>
              <a:t> </a:t>
            </a:r>
            <a:r>
              <a:rPr sz="2800" dirty="0">
                <a:solidFill>
                  <a:srgbClr val="1F3863"/>
                </a:solidFill>
                <a:latin typeface="Calibri"/>
                <a:cs typeface="Calibri"/>
              </a:rPr>
              <a:t>all</a:t>
            </a:r>
            <a:r>
              <a:rPr sz="2800" spc="-75" dirty="0">
                <a:solidFill>
                  <a:srgbClr val="1F3863"/>
                </a:solidFill>
                <a:latin typeface="Calibri"/>
                <a:cs typeface="Calibri"/>
              </a:rPr>
              <a:t> </a:t>
            </a:r>
            <a:r>
              <a:rPr sz="2800" dirty="0">
                <a:solidFill>
                  <a:srgbClr val="1F3863"/>
                </a:solidFill>
                <a:latin typeface="Calibri"/>
                <a:cs typeface="Calibri"/>
              </a:rPr>
              <a:t>previous</a:t>
            </a:r>
            <a:r>
              <a:rPr sz="2800" spc="-40" dirty="0">
                <a:solidFill>
                  <a:srgbClr val="1F3863"/>
                </a:solidFill>
                <a:latin typeface="Calibri"/>
                <a:cs typeface="Calibri"/>
              </a:rPr>
              <a:t> </a:t>
            </a:r>
            <a:r>
              <a:rPr sz="2800" spc="-10" dirty="0">
                <a:solidFill>
                  <a:srgbClr val="1F3863"/>
                </a:solidFill>
                <a:latin typeface="Calibri"/>
                <a:cs typeface="Calibri"/>
              </a:rPr>
              <a:t>observations</a:t>
            </a:r>
            <a:r>
              <a:rPr sz="2800" spc="-45" dirty="0">
                <a:solidFill>
                  <a:srgbClr val="1F3863"/>
                </a:solidFill>
                <a:latin typeface="Calibri"/>
                <a:cs typeface="Calibri"/>
              </a:rPr>
              <a:t> </a:t>
            </a:r>
            <a:r>
              <a:rPr sz="2800" dirty="0">
                <a:solidFill>
                  <a:srgbClr val="1F3863"/>
                </a:solidFill>
                <a:latin typeface="Calibri"/>
                <a:cs typeface="Calibri"/>
              </a:rPr>
              <a:t>and</a:t>
            </a:r>
            <a:r>
              <a:rPr sz="2800" spc="-50" dirty="0">
                <a:solidFill>
                  <a:srgbClr val="1F3863"/>
                </a:solidFill>
                <a:latin typeface="Calibri"/>
                <a:cs typeface="Calibri"/>
              </a:rPr>
              <a:t> </a:t>
            </a:r>
            <a:r>
              <a:rPr sz="2800" spc="-10" dirty="0">
                <a:solidFill>
                  <a:srgbClr val="1F3863"/>
                </a:solidFill>
                <a:latin typeface="Calibri"/>
                <a:cs typeface="Calibri"/>
              </a:rPr>
              <a:t>actions.</a:t>
            </a:r>
            <a:endParaRPr sz="2800">
              <a:latin typeface="Calibri"/>
              <a:cs typeface="Calibri"/>
            </a:endParaRPr>
          </a:p>
          <a:p>
            <a:pPr>
              <a:lnSpc>
                <a:spcPct val="100000"/>
              </a:lnSpc>
              <a:spcBef>
                <a:spcPts val="1650"/>
              </a:spcBef>
              <a:buClr>
                <a:srgbClr val="1F3863"/>
              </a:buClr>
              <a:buFont typeface="Arial MT"/>
              <a:buChar char="•"/>
            </a:pPr>
            <a:endParaRPr sz="2800">
              <a:latin typeface="Calibri"/>
              <a:cs typeface="Calibri"/>
            </a:endParaRPr>
          </a:p>
          <a:p>
            <a:pPr marL="240029" marR="5080" indent="-227329">
              <a:lnSpc>
                <a:spcPts val="3030"/>
              </a:lnSpc>
              <a:buFont typeface="Arial MT"/>
              <a:buChar char="•"/>
              <a:tabLst>
                <a:tab pos="241300" algn="l"/>
              </a:tabLst>
            </a:pPr>
            <a:r>
              <a:rPr sz="2800" dirty="0">
                <a:solidFill>
                  <a:srgbClr val="1F3863"/>
                </a:solidFill>
                <a:latin typeface="Calibri"/>
                <a:cs typeface="Calibri"/>
              </a:rPr>
              <a:t>A</a:t>
            </a:r>
            <a:r>
              <a:rPr sz="2800" spc="-60" dirty="0">
                <a:solidFill>
                  <a:srgbClr val="1F3863"/>
                </a:solidFill>
                <a:latin typeface="Calibri"/>
                <a:cs typeface="Calibri"/>
              </a:rPr>
              <a:t> </a:t>
            </a:r>
            <a:r>
              <a:rPr sz="2800" dirty="0">
                <a:solidFill>
                  <a:srgbClr val="1F3863"/>
                </a:solidFill>
                <a:latin typeface="Calibri"/>
                <a:cs typeface="Calibri"/>
              </a:rPr>
              <a:t>utility</a:t>
            </a:r>
            <a:r>
              <a:rPr sz="2800" spc="-60" dirty="0">
                <a:solidFill>
                  <a:srgbClr val="1F3863"/>
                </a:solidFill>
                <a:latin typeface="Calibri"/>
                <a:cs typeface="Calibri"/>
              </a:rPr>
              <a:t> </a:t>
            </a:r>
            <a:r>
              <a:rPr sz="2800" dirty="0">
                <a:solidFill>
                  <a:srgbClr val="1F3863"/>
                </a:solidFill>
                <a:latin typeface="Calibri"/>
                <a:cs typeface="Calibri"/>
              </a:rPr>
              <a:t>function</a:t>
            </a:r>
            <a:r>
              <a:rPr sz="2800" spc="-40" dirty="0">
                <a:solidFill>
                  <a:srgbClr val="1F3863"/>
                </a:solidFill>
                <a:latin typeface="Calibri"/>
                <a:cs typeface="Calibri"/>
              </a:rPr>
              <a:t> </a:t>
            </a:r>
            <a:r>
              <a:rPr sz="2800" dirty="0">
                <a:solidFill>
                  <a:srgbClr val="1F3863"/>
                </a:solidFill>
                <a:latin typeface="Calibri"/>
                <a:cs typeface="Calibri"/>
              </a:rPr>
              <a:t>is</a:t>
            </a:r>
            <a:r>
              <a:rPr sz="2800" spc="-65" dirty="0">
                <a:solidFill>
                  <a:srgbClr val="1F3863"/>
                </a:solidFill>
                <a:latin typeface="Calibri"/>
                <a:cs typeface="Calibri"/>
              </a:rPr>
              <a:t> </a:t>
            </a:r>
            <a:r>
              <a:rPr sz="2800" dirty="0">
                <a:solidFill>
                  <a:srgbClr val="1F3863"/>
                </a:solidFill>
                <a:latin typeface="Calibri"/>
                <a:cs typeface="Calibri"/>
              </a:rPr>
              <a:t>defined</a:t>
            </a:r>
            <a:r>
              <a:rPr sz="2800" spc="-55" dirty="0">
                <a:solidFill>
                  <a:srgbClr val="1F3863"/>
                </a:solidFill>
                <a:latin typeface="Calibri"/>
                <a:cs typeface="Calibri"/>
              </a:rPr>
              <a:t> </a:t>
            </a:r>
            <a:r>
              <a:rPr sz="2800" dirty="0">
                <a:solidFill>
                  <a:srgbClr val="1F3863"/>
                </a:solidFill>
                <a:latin typeface="Calibri"/>
                <a:cs typeface="Calibri"/>
              </a:rPr>
              <a:t>over</a:t>
            </a:r>
            <a:r>
              <a:rPr sz="2800" spc="-65" dirty="0">
                <a:solidFill>
                  <a:srgbClr val="1F3863"/>
                </a:solidFill>
                <a:latin typeface="Calibri"/>
                <a:cs typeface="Calibri"/>
              </a:rPr>
              <a:t> </a:t>
            </a:r>
            <a:r>
              <a:rPr sz="2800" spc="-10" dirty="0">
                <a:solidFill>
                  <a:srgbClr val="1F3863"/>
                </a:solidFill>
                <a:latin typeface="Calibri"/>
                <a:cs typeface="Calibri"/>
              </a:rPr>
              <a:t>states</a:t>
            </a:r>
            <a:r>
              <a:rPr sz="2800" spc="-60" dirty="0">
                <a:solidFill>
                  <a:srgbClr val="1F3863"/>
                </a:solidFill>
                <a:latin typeface="Calibri"/>
                <a:cs typeface="Calibri"/>
              </a:rPr>
              <a:t> </a:t>
            </a:r>
            <a:r>
              <a:rPr sz="2800" dirty="0">
                <a:solidFill>
                  <a:srgbClr val="1F3863"/>
                </a:solidFill>
                <a:latin typeface="Calibri"/>
                <a:cs typeface="Calibri"/>
              </a:rPr>
              <a:t>of</a:t>
            </a:r>
            <a:r>
              <a:rPr sz="2800" spc="-70"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dirty="0">
                <a:solidFill>
                  <a:srgbClr val="1F3863"/>
                </a:solidFill>
                <a:latin typeface="Calibri"/>
                <a:cs typeface="Calibri"/>
              </a:rPr>
              <a:t>world.</a:t>
            </a:r>
            <a:r>
              <a:rPr sz="2800" spc="-45" dirty="0">
                <a:solidFill>
                  <a:srgbClr val="1F3863"/>
                </a:solidFill>
                <a:latin typeface="Calibri"/>
                <a:cs typeface="Calibri"/>
              </a:rPr>
              <a:t> </a:t>
            </a:r>
            <a:r>
              <a:rPr sz="2800" spc="-40" dirty="0">
                <a:solidFill>
                  <a:srgbClr val="1F3863"/>
                </a:solidFill>
                <a:latin typeface="Calibri"/>
                <a:cs typeface="Calibri"/>
              </a:rPr>
              <a:t>You</a:t>
            </a:r>
            <a:r>
              <a:rPr sz="2800" spc="-70" dirty="0">
                <a:solidFill>
                  <a:srgbClr val="1F3863"/>
                </a:solidFill>
                <a:latin typeface="Calibri"/>
                <a:cs typeface="Calibri"/>
              </a:rPr>
              <a:t> </a:t>
            </a:r>
            <a:r>
              <a:rPr sz="2800" dirty="0">
                <a:solidFill>
                  <a:srgbClr val="1F3863"/>
                </a:solidFill>
                <a:latin typeface="Calibri"/>
                <a:cs typeface="Calibri"/>
              </a:rPr>
              <a:t>can</a:t>
            </a:r>
            <a:r>
              <a:rPr sz="2800" spc="-65" dirty="0">
                <a:solidFill>
                  <a:srgbClr val="1F3863"/>
                </a:solidFill>
                <a:latin typeface="Calibri"/>
                <a:cs typeface="Calibri"/>
              </a:rPr>
              <a:t> </a:t>
            </a:r>
            <a:r>
              <a:rPr sz="2800" dirty="0">
                <a:solidFill>
                  <a:srgbClr val="1F3863"/>
                </a:solidFill>
                <a:latin typeface="Calibri"/>
                <a:cs typeface="Calibri"/>
              </a:rPr>
              <a:t>take</a:t>
            </a:r>
            <a:r>
              <a:rPr sz="2800" spc="-80" dirty="0">
                <a:solidFill>
                  <a:srgbClr val="1F3863"/>
                </a:solidFill>
                <a:latin typeface="Calibri"/>
                <a:cs typeface="Calibri"/>
              </a:rPr>
              <a:t> </a:t>
            </a:r>
            <a:r>
              <a:rPr sz="2800" spc="-10" dirty="0">
                <a:solidFill>
                  <a:srgbClr val="1F3863"/>
                </a:solidFill>
                <a:latin typeface="Calibri"/>
                <a:cs typeface="Calibri"/>
              </a:rPr>
              <a:t>actions 	</a:t>
            </a:r>
            <a:r>
              <a:rPr sz="2800" dirty="0">
                <a:solidFill>
                  <a:srgbClr val="1F3863"/>
                </a:solidFill>
                <a:latin typeface="Calibri"/>
                <a:cs typeface="Calibri"/>
              </a:rPr>
              <a:t>to</a:t>
            </a:r>
            <a:r>
              <a:rPr sz="2800" spc="-80" dirty="0">
                <a:solidFill>
                  <a:srgbClr val="1F3863"/>
                </a:solidFill>
                <a:latin typeface="Calibri"/>
                <a:cs typeface="Calibri"/>
              </a:rPr>
              <a:t> </a:t>
            </a:r>
            <a:r>
              <a:rPr sz="2800" dirty="0">
                <a:solidFill>
                  <a:srgbClr val="1F3863"/>
                </a:solidFill>
                <a:latin typeface="Calibri"/>
                <a:cs typeface="Calibri"/>
              </a:rPr>
              <a:t>increase</a:t>
            </a:r>
            <a:r>
              <a:rPr sz="2800" spc="-60" dirty="0">
                <a:solidFill>
                  <a:srgbClr val="1F3863"/>
                </a:solidFill>
                <a:latin typeface="Calibri"/>
                <a:cs typeface="Calibri"/>
              </a:rPr>
              <a:t> </a:t>
            </a:r>
            <a:r>
              <a:rPr sz="2800" dirty="0">
                <a:solidFill>
                  <a:srgbClr val="1F3863"/>
                </a:solidFill>
                <a:latin typeface="Calibri"/>
                <a:cs typeface="Calibri"/>
              </a:rPr>
              <a:t>or</a:t>
            </a:r>
            <a:r>
              <a:rPr sz="2800" spc="-80" dirty="0">
                <a:solidFill>
                  <a:srgbClr val="1F3863"/>
                </a:solidFill>
                <a:latin typeface="Calibri"/>
                <a:cs typeface="Calibri"/>
              </a:rPr>
              <a:t> </a:t>
            </a:r>
            <a:r>
              <a:rPr sz="2800" dirty="0">
                <a:solidFill>
                  <a:srgbClr val="1F3863"/>
                </a:solidFill>
                <a:latin typeface="Calibri"/>
                <a:cs typeface="Calibri"/>
              </a:rPr>
              <a:t>decrease</a:t>
            </a:r>
            <a:r>
              <a:rPr sz="2800" spc="-75"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dirty="0">
                <a:solidFill>
                  <a:srgbClr val="1F3863"/>
                </a:solidFill>
                <a:latin typeface="Calibri"/>
                <a:cs typeface="Calibri"/>
              </a:rPr>
              <a:t>probability</a:t>
            </a:r>
            <a:r>
              <a:rPr sz="2800" spc="-55" dirty="0">
                <a:solidFill>
                  <a:srgbClr val="1F3863"/>
                </a:solidFill>
                <a:latin typeface="Calibri"/>
                <a:cs typeface="Calibri"/>
              </a:rPr>
              <a:t> </a:t>
            </a:r>
            <a:r>
              <a:rPr sz="2800" dirty="0">
                <a:solidFill>
                  <a:srgbClr val="1F3863"/>
                </a:solidFill>
                <a:latin typeface="Calibri"/>
                <a:cs typeface="Calibri"/>
              </a:rPr>
              <a:t>of</a:t>
            </a:r>
            <a:r>
              <a:rPr sz="2800" spc="-75" dirty="0">
                <a:solidFill>
                  <a:srgbClr val="1F3863"/>
                </a:solidFill>
                <a:latin typeface="Calibri"/>
                <a:cs typeface="Calibri"/>
              </a:rPr>
              <a:t> </a:t>
            </a:r>
            <a:r>
              <a:rPr sz="2800" dirty="0">
                <a:solidFill>
                  <a:srgbClr val="1F3863"/>
                </a:solidFill>
                <a:latin typeface="Calibri"/>
                <a:cs typeface="Calibri"/>
              </a:rPr>
              <a:t>certain</a:t>
            </a:r>
            <a:r>
              <a:rPr sz="2800" spc="-80" dirty="0">
                <a:solidFill>
                  <a:srgbClr val="1F3863"/>
                </a:solidFill>
                <a:latin typeface="Calibri"/>
                <a:cs typeface="Calibri"/>
              </a:rPr>
              <a:t> </a:t>
            </a:r>
            <a:r>
              <a:rPr sz="2800" spc="-10" dirty="0">
                <a:solidFill>
                  <a:srgbClr val="1F3863"/>
                </a:solidFill>
                <a:latin typeface="Calibri"/>
                <a:cs typeface="Calibri"/>
              </a:rPr>
              <a:t>states,</a:t>
            </a:r>
            <a:r>
              <a:rPr sz="2800" spc="-70" dirty="0">
                <a:solidFill>
                  <a:srgbClr val="1F3863"/>
                </a:solidFill>
                <a:latin typeface="Calibri"/>
                <a:cs typeface="Calibri"/>
              </a:rPr>
              <a:t> </a:t>
            </a:r>
            <a:r>
              <a:rPr sz="2800" dirty="0">
                <a:solidFill>
                  <a:srgbClr val="1F3863"/>
                </a:solidFill>
                <a:latin typeface="Calibri"/>
                <a:cs typeface="Calibri"/>
              </a:rPr>
              <a:t>thus</a:t>
            </a:r>
            <a:r>
              <a:rPr sz="2800" spc="-45" dirty="0">
                <a:solidFill>
                  <a:srgbClr val="1F3863"/>
                </a:solidFill>
                <a:latin typeface="Calibri"/>
                <a:cs typeface="Calibri"/>
              </a:rPr>
              <a:t> </a:t>
            </a:r>
            <a:r>
              <a:rPr sz="2800" spc="-10" dirty="0">
                <a:solidFill>
                  <a:srgbClr val="1F3863"/>
                </a:solidFill>
                <a:latin typeface="Calibri"/>
                <a:cs typeface="Calibri"/>
              </a:rPr>
              <a:t>increasing 	expected</a:t>
            </a:r>
            <a:r>
              <a:rPr sz="2800" spc="-80" dirty="0">
                <a:solidFill>
                  <a:srgbClr val="1F3863"/>
                </a:solidFill>
                <a:latin typeface="Calibri"/>
                <a:cs typeface="Calibri"/>
              </a:rPr>
              <a:t> </a:t>
            </a:r>
            <a:r>
              <a:rPr sz="2800" spc="-20" dirty="0">
                <a:solidFill>
                  <a:srgbClr val="1F3863"/>
                </a:solidFill>
                <a:latin typeface="Calibri"/>
                <a:cs typeface="Calibri"/>
              </a:rPr>
              <a:t>utility,</a:t>
            </a:r>
            <a:r>
              <a:rPr sz="2800" spc="-50" dirty="0">
                <a:solidFill>
                  <a:srgbClr val="1F3863"/>
                </a:solidFill>
                <a:latin typeface="Calibri"/>
                <a:cs typeface="Calibri"/>
              </a:rPr>
              <a:t> </a:t>
            </a:r>
            <a:r>
              <a:rPr sz="2800" dirty="0">
                <a:solidFill>
                  <a:srgbClr val="1F3863"/>
                </a:solidFill>
                <a:latin typeface="Calibri"/>
                <a:cs typeface="Calibri"/>
              </a:rPr>
              <a:t>but</a:t>
            </a:r>
            <a:r>
              <a:rPr sz="2800" spc="-70" dirty="0">
                <a:solidFill>
                  <a:srgbClr val="1F3863"/>
                </a:solidFill>
                <a:latin typeface="Calibri"/>
                <a:cs typeface="Calibri"/>
              </a:rPr>
              <a:t> </a:t>
            </a:r>
            <a:r>
              <a:rPr sz="2800" dirty="0">
                <a:solidFill>
                  <a:srgbClr val="1F3863"/>
                </a:solidFill>
                <a:latin typeface="Calibri"/>
                <a:cs typeface="Calibri"/>
              </a:rPr>
              <a:t>you</a:t>
            </a:r>
            <a:r>
              <a:rPr sz="2800" spc="-75" dirty="0">
                <a:solidFill>
                  <a:srgbClr val="1F3863"/>
                </a:solidFill>
                <a:latin typeface="Calibri"/>
                <a:cs typeface="Calibri"/>
              </a:rPr>
              <a:t> </a:t>
            </a:r>
            <a:r>
              <a:rPr sz="2800" dirty="0">
                <a:solidFill>
                  <a:srgbClr val="1F3863"/>
                </a:solidFill>
                <a:latin typeface="Calibri"/>
                <a:cs typeface="Calibri"/>
              </a:rPr>
              <a:t>don't</a:t>
            </a:r>
            <a:r>
              <a:rPr sz="2800" spc="-60" dirty="0">
                <a:solidFill>
                  <a:srgbClr val="1F3863"/>
                </a:solidFill>
                <a:latin typeface="Calibri"/>
                <a:cs typeface="Calibri"/>
              </a:rPr>
              <a:t> </a:t>
            </a:r>
            <a:r>
              <a:rPr sz="2800" dirty="0">
                <a:solidFill>
                  <a:srgbClr val="1F3863"/>
                </a:solidFill>
                <a:latin typeface="Calibri"/>
                <a:cs typeface="Calibri"/>
              </a:rPr>
              <a:t>actually</a:t>
            </a:r>
            <a:r>
              <a:rPr sz="2800" spc="-80" dirty="0">
                <a:solidFill>
                  <a:srgbClr val="1F3863"/>
                </a:solidFill>
                <a:latin typeface="Calibri"/>
                <a:cs typeface="Calibri"/>
              </a:rPr>
              <a:t> </a:t>
            </a:r>
            <a:r>
              <a:rPr sz="2800" dirty="0">
                <a:solidFill>
                  <a:srgbClr val="1F3863"/>
                </a:solidFill>
                <a:latin typeface="Calibri"/>
                <a:cs typeface="Calibri"/>
              </a:rPr>
              <a:t>"receive"</a:t>
            </a:r>
            <a:r>
              <a:rPr sz="2800" spc="-80" dirty="0">
                <a:solidFill>
                  <a:srgbClr val="1F3863"/>
                </a:solidFill>
                <a:latin typeface="Calibri"/>
                <a:cs typeface="Calibri"/>
              </a:rPr>
              <a:t> </a:t>
            </a:r>
            <a:r>
              <a:rPr sz="2800" dirty="0">
                <a:solidFill>
                  <a:srgbClr val="1F3863"/>
                </a:solidFill>
                <a:latin typeface="Calibri"/>
                <a:cs typeface="Calibri"/>
              </a:rPr>
              <a:t>any</a:t>
            </a:r>
            <a:r>
              <a:rPr sz="2800" spc="-80" dirty="0">
                <a:solidFill>
                  <a:srgbClr val="1F3863"/>
                </a:solidFill>
                <a:latin typeface="Calibri"/>
                <a:cs typeface="Calibri"/>
              </a:rPr>
              <a:t> </a:t>
            </a:r>
            <a:r>
              <a:rPr sz="2800" spc="-10" dirty="0">
                <a:solidFill>
                  <a:srgbClr val="1F3863"/>
                </a:solidFill>
                <a:latin typeface="Calibri"/>
                <a:cs typeface="Calibri"/>
              </a:rPr>
              <a:t>utility.</a:t>
            </a:r>
            <a:endParaRPr sz="2800">
              <a:latin typeface="Calibri"/>
              <a:cs typeface="Calibri"/>
            </a:endParaRPr>
          </a:p>
          <a:p>
            <a:pPr>
              <a:lnSpc>
                <a:spcPct val="100000"/>
              </a:lnSpc>
              <a:spcBef>
                <a:spcPts val="1220"/>
              </a:spcBef>
              <a:buClr>
                <a:srgbClr val="1F3863"/>
              </a:buClr>
              <a:buFont typeface="Arial MT"/>
              <a:buChar char="•"/>
            </a:pPr>
            <a:endParaRPr sz="2800">
              <a:latin typeface="Calibri"/>
              <a:cs typeface="Calibri"/>
            </a:endParaRPr>
          </a:p>
          <a:p>
            <a:pPr marL="240029" indent="-227329">
              <a:lnSpc>
                <a:spcPct val="100000"/>
              </a:lnSpc>
              <a:buFont typeface="Arial MT"/>
              <a:buChar char="•"/>
              <a:tabLst>
                <a:tab pos="240029" algn="l"/>
              </a:tabLst>
            </a:pPr>
            <a:r>
              <a:rPr sz="2800" dirty="0">
                <a:solidFill>
                  <a:srgbClr val="1F3863"/>
                </a:solidFill>
                <a:latin typeface="Calibri"/>
                <a:cs typeface="Calibri"/>
              </a:rPr>
              <a:t>For</a:t>
            </a:r>
            <a:r>
              <a:rPr sz="2800" spc="-75" dirty="0">
                <a:solidFill>
                  <a:srgbClr val="1F3863"/>
                </a:solidFill>
                <a:latin typeface="Calibri"/>
                <a:cs typeface="Calibri"/>
              </a:rPr>
              <a:t> </a:t>
            </a:r>
            <a:r>
              <a:rPr sz="2800" dirty="0">
                <a:solidFill>
                  <a:srgbClr val="1F3863"/>
                </a:solidFill>
                <a:latin typeface="Calibri"/>
                <a:cs typeface="Calibri"/>
              </a:rPr>
              <a:t>finite</a:t>
            </a:r>
            <a:r>
              <a:rPr sz="2800" spc="-60" dirty="0">
                <a:solidFill>
                  <a:srgbClr val="1F3863"/>
                </a:solidFill>
                <a:latin typeface="Calibri"/>
                <a:cs typeface="Calibri"/>
              </a:rPr>
              <a:t> </a:t>
            </a:r>
            <a:r>
              <a:rPr sz="2800" dirty="0">
                <a:solidFill>
                  <a:srgbClr val="1F3863"/>
                </a:solidFill>
                <a:latin typeface="Calibri"/>
                <a:cs typeface="Calibri"/>
              </a:rPr>
              <a:t>horizon</a:t>
            </a:r>
            <a:r>
              <a:rPr sz="2800" spc="-65" dirty="0">
                <a:solidFill>
                  <a:srgbClr val="1F3863"/>
                </a:solidFill>
                <a:latin typeface="Calibri"/>
                <a:cs typeface="Calibri"/>
              </a:rPr>
              <a:t> </a:t>
            </a:r>
            <a:r>
              <a:rPr sz="2800" dirty="0">
                <a:solidFill>
                  <a:srgbClr val="1F3863"/>
                </a:solidFill>
                <a:latin typeface="Calibri"/>
                <a:cs typeface="Calibri"/>
              </a:rPr>
              <a:t>(ends</a:t>
            </a:r>
            <a:r>
              <a:rPr sz="2800" spc="-45" dirty="0">
                <a:solidFill>
                  <a:srgbClr val="1F3863"/>
                </a:solidFill>
                <a:latin typeface="Calibri"/>
                <a:cs typeface="Calibri"/>
              </a:rPr>
              <a:t> </a:t>
            </a:r>
            <a:r>
              <a:rPr sz="2800" dirty="0">
                <a:solidFill>
                  <a:srgbClr val="1F3863"/>
                </a:solidFill>
                <a:latin typeface="Calibri"/>
                <a:cs typeface="Calibri"/>
              </a:rPr>
              <a:t>in</a:t>
            </a:r>
            <a:r>
              <a:rPr sz="2800" spc="-70" dirty="0">
                <a:solidFill>
                  <a:srgbClr val="1F3863"/>
                </a:solidFill>
                <a:latin typeface="Calibri"/>
                <a:cs typeface="Calibri"/>
              </a:rPr>
              <a:t> </a:t>
            </a:r>
            <a:r>
              <a:rPr sz="2800" dirty="0">
                <a:solidFill>
                  <a:srgbClr val="1F3863"/>
                </a:solidFill>
                <a:latin typeface="Calibri"/>
                <a:cs typeface="Calibri"/>
              </a:rPr>
              <a:t>N</a:t>
            </a:r>
            <a:r>
              <a:rPr sz="2800" spc="-65" dirty="0">
                <a:solidFill>
                  <a:srgbClr val="1F3863"/>
                </a:solidFill>
                <a:latin typeface="Calibri"/>
                <a:cs typeface="Calibri"/>
              </a:rPr>
              <a:t> </a:t>
            </a:r>
            <a:r>
              <a:rPr sz="2800" dirty="0">
                <a:solidFill>
                  <a:srgbClr val="1F3863"/>
                </a:solidFill>
                <a:latin typeface="Calibri"/>
                <a:cs typeface="Calibri"/>
              </a:rPr>
              <a:t>steps)</a:t>
            </a:r>
            <a:r>
              <a:rPr sz="2800" spc="-50" dirty="0">
                <a:solidFill>
                  <a:srgbClr val="1F3863"/>
                </a:solidFill>
                <a:latin typeface="Calibri"/>
                <a:cs typeface="Calibri"/>
              </a:rPr>
              <a:t> </a:t>
            </a:r>
            <a:r>
              <a:rPr sz="2800" dirty="0">
                <a:solidFill>
                  <a:srgbClr val="1F3863"/>
                </a:solidFill>
                <a:latin typeface="Calibri"/>
                <a:cs typeface="Calibri"/>
              </a:rPr>
              <a:t>utility</a:t>
            </a:r>
            <a:r>
              <a:rPr sz="2800" spc="-65" dirty="0">
                <a:solidFill>
                  <a:srgbClr val="1F3863"/>
                </a:solidFill>
                <a:latin typeface="Calibri"/>
                <a:cs typeface="Calibri"/>
              </a:rPr>
              <a:t> </a:t>
            </a:r>
            <a:r>
              <a:rPr sz="2800" dirty="0">
                <a:solidFill>
                  <a:srgbClr val="1F3863"/>
                </a:solidFill>
                <a:latin typeface="Calibri"/>
                <a:cs typeface="Calibri"/>
              </a:rPr>
              <a:t>might</a:t>
            </a:r>
            <a:r>
              <a:rPr sz="2800" spc="-60" dirty="0">
                <a:solidFill>
                  <a:srgbClr val="1F3863"/>
                </a:solidFill>
                <a:latin typeface="Calibri"/>
                <a:cs typeface="Calibri"/>
              </a:rPr>
              <a:t> </a:t>
            </a:r>
            <a:r>
              <a:rPr sz="2800" dirty="0">
                <a:solidFill>
                  <a:srgbClr val="1F3863"/>
                </a:solidFill>
                <a:latin typeface="Calibri"/>
                <a:cs typeface="Calibri"/>
              </a:rPr>
              <a:t>be</a:t>
            </a:r>
            <a:r>
              <a:rPr sz="2800" spc="-65" dirty="0">
                <a:solidFill>
                  <a:srgbClr val="1F3863"/>
                </a:solidFill>
                <a:latin typeface="Calibri"/>
                <a:cs typeface="Calibri"/>
              </a:rPr>
              <a:t> </a:t>
            </a:r>
            <a:r>
              <a:rPr sz="2800" dirty="0">
                <a:solidFill>
                  <a:srgbClr val="1F3863"/>
                </a:solidFill>
                <a:latin typeface="Calibri"/>
                <a:cs typeface="Calibri"/>
              </a:rPr>
              <a:t>used</a:t>
            </a:r>
            <a:r>
              <a:rPr sz="2800" spc="-60" dirty="0">
                <a:solidFill>
                  <a:srgbClr val="1F3863"/>
                </a:solidFill>
                <a:latin typeface="Calibri"/>
                <a:cs typeface="Calibri"/>
              </a:rPr>
              <a:t> </a:t>
            </a:r>
            <a:r>
              <a:rPr sz="2800" dirty="0">
                <a:solidFill>
                  <a:srgbClr val="1F3863"/>
                </a:solidFill>
                <a:latin typeface="Calibri"/>
                <a:cs typeface="Calibri"/>
              </a:rPr>
              <a:t>as</a:t>
            </a:r>
            <a:r>
              <a:rPr sz="2800" spc="-55" dirty="0">
                <a:solidFill>
                  <a:srgbClr val="1F3863"/>
                </a:solidFill>
                <a:latin typeface="Calibri"/>
                <a:cs typeface="Calibri"/>
              </a:rPr>
              <a:t> </a:t>
            </a:r>
            <a:r>
              <a:rPr sz="2800" spc="-10" dirty="0">
                <a:solidFill>
                  <a:srgbClr val="1F3863"/>
                </a:solidFill>
                <a:latin typeface="Calibri"/>
                <a:cs typeface="Calibri"/>
              </a:rPr>
              <a:t>reward.</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Reward</a:t>
            </a:r>
            <a:r>
              <a:rPr spc="-135" dirty="0"/>
              <a:t> </a:t>
            </a:r>
            <a:r>
              <a:rPr dirty="0"/>
              <a:t>and</a:t>
            </a:r>
            <a:r>
              <a:rPr spc="-110" dirty="0"/>
              <a:t> </a:t>
            </a:r>
            <a:r>
              <a:rPr spc="-10" dirty="0"/>
              <a:t>Utility</a:t>
            </a:r>
          </a:p>
        </p:txBody>
      </p:sp>
      <p:sp>
        <p:nvSpPr>
          <p:cNvPr id="3" name="object 3"/>
          <p:cNvSpPr txBox="1"/>
          <p:nvPr/>
        </p:nvSpPr>
        <p:spPr>
          <a:xfrm>
            <a:off x="916939" y="2220430"/>
            <a:ext cx="7043420" cy="1047750"/>
          </a:xfrm>
          <a:prstGeom prst="rect">
            <a:avLst/>
          </a:prstGeom>
        </p:spPr>
        <p:txBody>
          <a:bodyPr vert="horz" wrap="square" lIns="0" tIns="97155" rIns="0" bIns="0" rtlCol="0">
            <a:spAutoFit/>
          </a:bodyPr>
          <a:lstStyle/>
          <a:p>
            <a:pPr marL="240029" indent="-227329">
              <a:lnSpc>
                <a:spcPct val="100000"/>
              </a:lnSpc>
              <a:spcBef>
                <a:spcPts val="765"/>
              </a:spcBef>
              <a:buFont typeface="Arial MT"/>
              <a:buChar char="•"/>
              <a:tabLst>
                <a:tab pos="240029" algn="l"/>
              </a:tabLst>
            </a:pPr>
            <a:r>
              <a:rPr sz="2800" dirty="0">
                <a:solidFill>
                  <a:srgbClr val="1F3863"/>
                </a:solidFill>
                <a:latin typeface="Calibri"/>
                <a:cs typeface="Calibri"/>
              </a:rPr>
              <a:t>Utility</a:t>
            </a:r>
            <a:r>
              <a:rPr sz="2800" spc="-45" dirty="0">
                <a:solidFill>
                  <a:srgbClr val="1F3863"/>
                </a:solidFill>
                <a:latin typeface="Calibri"/>
                <a:cs typeface="Calibri"/>
              </a:rPr>
              <a:t> </a:t>
            </a:r>
            <a:r>
              <a:rPr sz="2800" dirty="0">
                <a:solidFill>
                  <a:srgbClr val="1F3863"/>
                </a:solidFill>
                <a:latin typeface="Calibri"/>
                <a:cs typeface="Calibri"/>
              </a:rPr>
              <a:t>=</a:t>
            </a:r>
            <a:r>
              <a:rPr sz="2800" spc="-35" dirty="0">
                <a:solidFill>
                  <a:srgbClr val="1F3863"/>
                </a:solidFill>
                <a:latin typeface="Calibri"/>
                <a:cs typeface="Calibri"/>
              </a:rPr>
              <a:t> </a:t>
            </a:r>
            <a:r>
              <a:rPr sz="2800" dirty="0">
                <a:solidFill>
                  <a:srgbClr val="1F3863"/>
                </a:solidFill>
                <a:latin typeface="Calibri"/>
                <a:cs typeface="Calibri"/>
              </a:rPr>
              <a:t>long</a:t>
            </a:r>
            <a:r>
              <a:rPr sz="2800" spc="-45" dirty="0">
                <a:solidFill>
                  <a:srgbClr val="1F3863"/>
                </a:solidFill>
                <a:latin typeface="Calibri"/>
                <a:cs typeface="Calibri"/>
              </a:rPr>
              <a:t> </a:t>
            </a:r>
            <a:r>
              <a:rPr sz="2800" dirty="0">
                <a:solidFill>
                  <a:srgbClr val="1F3863"/>
                </a:solidFill>
                <a:latin typeface="Calibri"/>
                <a:cs typeface="Calibri"/>
              </a:rPr>
              <a:t>term</a:t>
            </a:r>
            <a:r>
              <a:rPr sz="2800" spc="-45" dirty="0">
                <a:solidFill>
                  <a:srgbClr val="1F3863"/>
                </a:solidFill>
                <a:latin typeface="Calibri"/>
                <a:cs typeface="Calibri"/>
              </a:rPr>
              <a:t> </a:t>
            </a:r>
            <a:r>
              <a:rPr sz="2800" dirty="0">
                <a:solidFill>
                  <a:srgbClr val="1F3863"/>
                </a:solidFill>
                <a:latin typeface="Calibri"/>
                <a:cs typeface="Calibri"/>
              </a:rPr>
              <a:t>total</a:t>
            </a:r>
            <a:r>
              <a:rPr sz="2800" spc="-45" dirty="0">
                <a:solidFill>
                  <a:srgbClr val="1F3863"/>
                </a:solidFill>
                <a:latin typeface="Calibri"/>
                <a:cs typeface="Calibri"/>
              </a:rPr>
              <a:t> </a:t>
            </a:r>
            <a:r>
              <a:rPr sz="2800" dirty="0">
                <a:solidFill>
                  <a:srgbClr val="1F3863"/>
                </a:solidFill>
                <a:latin typeface="Calibri"/>
                <a:cs typeface="Calibri"/>
              </a:rPr>
              <a:t>reward</a:t>
            </a:r>
            <a:r>
              <a:rPr sz="2800" spc="-50" dirty="0">
                <a:solidFill>
                  <a:srgbClr val="1F3863"/>
                </a:solidFill>
                <a:latin typeface="Calibri"/>
                <a:cs typeface="Calibri"/>
              </a:rPr>
              <a:t> </a:t>
            </a:r>
            <a:r>
              <a:rPr sz="2800" dirty="0">
                <a:solidFill>
                  <a:srgbClr val="1F3863"/>
                </a:solidFill>
                <a:latin typeface="Calibri"/>
                <a:cs typeface="Calibri"/>
              </a:rPr>
              <a:t>from</a:t>
            </a:r>
            <a:r>
              <a:rPr sz="2800" spc="-35" dirty="0">
                <a:solidFill>
                  <a:srgbClr val="1F3863"/>
                </a:solidFill>
                <a:latin typeface="Calibri"/>
                <a:cs typeface="Calibri"/>
              </a:rPr>
              <a:t> </a:t>
            </a:r>
            <a:r>
              <a:rPr sz="2800" dirty="0">
                <a:solidFill>
                  <a:srgbClr val="1F3863"/>
                </a:solidFill>
                <a:latin typeface="Calibri"/>
                <a:cs typeface="Calibri"/>
              </a:rPr>
              <a:t>s</a:t>
            </a:r>
            <a:r>
              <a:rPr sz="2800" spc="-35" dirty="0">
                <a:solidFill>
                  <a:srgbClr val="1F3863"/>
                </a:solidFill>
                <a:latin typeface="Calibri"/>
                <a:cs typeface="Calibri"/>
              </a:rPr>
              <a:t> </a:t>
            </a:r>
            <a:r>
              <a:rPr sz="2800" spc="-10" dirty="0">
                <a:solidFill>
                  <a:srgbClr val="1F3863"/>
                </a:solidFill>
                <a:latin typeface="Calibri"/>
                <a:cs typeface="Calibri"/>
              </a:rPr>
              <a:t>onwards</a:t>
            </a:r>
            <a:endParaRPr sz="2800">
              <a:latin typeface="Calibri"/>
              <a:cs typeface="Calibri"/>
            </a:endParaRPr>
          </a:p>
          <a:p>
            <a:pPr marL="240029" indent="-227329">
              <a:lnSpc>
                <a:spcPct val="100000"/>
              </a:lnSpc>
              <a:spcBef>
                <a:spcPts val="665"/>
              </a:spcBef>
              <a:buFont typeface="Arial MT"/>
              <a:buChar char="•"/>
              <a:tabLst>
                <a:tab pos="240029" algn="l"/>
              </a:tabLst>
            </a:pPr>
            <a:r>
              <a:rPr sz="2800" spc="-10" dirty="0">
                <a:solidFill>
                  <a:srgbClr val="1F3863"/>
                </a:solidFill>
                <a:latin typeface="Calibri"/>
                <a:cs typeface="Calibri"/>
              </a:rPr>
              <a:t>Reward</a:t>
            </a:r>
            <a:r>
              <a:rPr sz="2800" spc="-85" dirty="0">
                <a:solidFill>
                  <a:srgbClr val="1F3863"/>
                </a:solidFill>
                <a:latin typeface="Calibri"/>
                <a:cs typeface="Calibri"/>
              </a:rPr>
              <a:t> </a:t>
            </a:r>
            <a:r>
              <a:rPr sz="2800" dirty="0">
                <a:solidFill>
                  <a:srgbClr val="1F3863"/>
                </a:solidFill>
                <a:latin typeface="Calibri"/>
                <a:cs typeface="Calibri"/>
              </a:rPr>
              <a:t>=</a:t>
            </a:r>
            <a:r>
              <a:rPr sz="2800" spc="-70" dirty="0">
                <a:solidFill>
                  <a:srgbClr val="1F3863"/>
                </a:solidFill>
                <a:latin typeface="Calibri"/>
                <a:cs typeface="Calibri"/>
              </a:rPr>
              <a:t> </a:t>
            </a:r>
            <a:r>
              <a:rPr sz="2800" dirty="0">
                <a:solidFill>
                  <a:srgbClr val="1F3863"/>
                </a:solidFill>
                <a:latin typeface="Calibri"/>
                <a:cs typeface="Calibri"/>
              </a:rPr>
              <a:t>short</a:t>
            </a:r>
            <a:r>
              <a:rPr sz="2800" spc="-50" dirty="0">
                <a:solidFill>
                  <a:srgbClr val="1F3863"/>
                </a:solidFill>
                <a:latin typeface="Calibri"/>
                <a:cs typeface="Calibri"/>
              </a:rPr>
              <a:t> </a:t>
            </a:r>
            <a:r>
              <a:rPr sz="2800" dirty="0">
                <a:solidFill>
                  <a:srgbClr val="1F3863"/>
                </a:solidFill>
                <a:latin typeface="Calibri"/>
                <a:cs typeface="Calibri"/>
              </a:rPr>
              <a:t>term</a:t>
            </a:r>
            <a:r>
              <a:rPr sz="2800" spc="-85" dirty="0">
                <a:solidFill>
                  <a:srgbClr val="1F3863"/>
                </a:solidFill>
                <a:latin typeface="Calibri"/>
                <a:cs typeface="Calibri"/>
              </a:rPr>
              <a:t> </a:t>
            </a:r>
            <a:r>
              <a:rPr sz="2800" dirty="0">
                <a:solidFill>
                  <a:srgbClr val="1F3863"/>
                </a:solidFill>
                <a:latin typeface="Calibri"/>
                <a:cs typeface="Calibri"/>
              </a:rPr>
              <a:t>reward</a:t>
            </a:r>
            <a:r>
              <a:rPr sz="2800" spc="-85" dirty="0">
                <a:solidFill>
                  <a:srgbClr val="1F3863"/>
                </a:solidFill>
                <a:latin typeface="Calibri"/>
                <a:cs typeface="Calibri"/>
              </a:rPr>
              <a:t> </a:t>
            </a:r>
            <a:r>
              <a:rPr sz="2800" dirty="0">
                <a:solidFill>
                  <a:srgbClr val="1F3863"/>
                </a:solidFill>
                <a:latin typeface="Calibri"/>
                <a:cs typeface="Calibri"/>
              </a:rPr>
              <a:t>from</a:t>
            </a:r>
            <a:r>
              <a:rPr sz="2800" spc="-65" dirty="0">
                <a:solidFill>
                  <a:srgbClr val="1F3863"/>
                </a:solidFill>
                <a:latin typeface="Calibri"/>
                <a:cs typeface="Calibri"/>
              </a:rPr>
              <a:t> </a:t>
            </a:r>
            <a:r>
              <a:rPr sz="2800" spc="-50" dirty="0">
                <a:solidFill>
                  <a:srgbClr val="1F3863"/>
                </a:solidFill>
                <a:latin typeface="Calibri"/>
                <a:cs typeface="Calibri"/>
              </a:rPr>
              <a:t>s</a:t>
            </a:r>
            <a:endParaRPr sz="2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Agent's</a:t>
            </a:r>
            <a:r>
              <a:rPr spc="-95" dirty="0"/>
              <a:t> </a:t>
            </a:r>
            <a:r>
              <a:rPr dirty="0"/>
              <a:t>Utility</a:t>
            </a:r>
            <a:r>
              <a:rPr spc="-95" dirty="0"/>
              <a:t> </a:t>
            </a:r>
            <a:r>
              <a:rPr spc="-10" dirty="0"/>
              <a:t>Function</a:t>
            </a:r>
          </a:p>
        </p:txBody>
      </p:sp>
      <p:sp>
        <p:nvSpPr>
          <p:cNvPr id="3" name="object 3"/>
          <p:cNvSpPr txBox="1"/>
          <p:nvPr/>
        </p:nvSpPr>
        <p:spPr>
          <a:xfrm>
            <a:off x="916939" y="1444586"/>
            <a:ext cx="10002520" cy="2584450"/>
          </a:xfrm>
          <a:prstGeom prst="rect">
            <a:avLst/>
          </a:prstGeom>
        </p:spPr>
        <p:txBody>
          <a:bodyPr vert="horz" wrap="square" lIns="0" tIns="98425" rIns="0" bIns="0" rtlCol="0">
            <a:spAutoFit/>
          </a:bodyPr>
          <a:lstStyle/>
          <a:p>
            <a:pPr marL="240029" indent="-227329">
              <a:lnSpc>
                <a:spcPct val="100000"/>
              </a:lnSpc>
              <a:spcBef>
                <a:spcPts val="775"/>
              </a:spcBef>
              <a:buFont typeface="Arial MT"/>
              <a:buChar char="•"/>
              <a:tabLst>
                <a:tab pos="240029" algn="l"/>
              </a:tabLst>
            </a:pPr>
            <a:r>
              <a:rPr sz="2800" spc="-10" dirty="0">
                <a:solidFill>
                  <a:srgbClr val="1F3863"/>
                </a:solidFill>
                <a:latin typeface="Calibri"/>
                <a:cs typeface="Calibri"/>
              </a:rPr>
              <a:t>Performance</a:t>
            </a:r>
            <a:r>
              <a:rPr sz="2800" spc="-50" dirty="0">
                <a:solidFill>
                  <a:srgbClr val="1F3863"/>
                </a:solidFill>
                <a:latin typeface="Calibri"/>
                <a:cs typeface="Calibri"/>
              </a:rPr>
              <a:t> </a:t>
            </a:r>
            <a:r>
              <a:rPr sz="2800" dirty="0">
                <a:solidFill>
                  <a:srgbClr val="1F3863"/>
                </a:solidFill>
                <a:latin typeface="Calibri"/>
                <a:cs typeface="Calibri"/>
              </a:rPr>
              <a:t>depends</a:t>
            </a:r>
            <a:r>
              <a:rPr sz="2800" spc="-40" dirty="0">
                <a:solidFill>
                  <a:srgbClr val="1F3863"/>
                </a:solidFill>
                <a:latin typeface="Calibri"/>
                <a:cs typeface="Calibri"/>
              </a:rPr>
              <a:t> </a:t>
            </a:r>
            <a:r>
              <a:rPr sz="2800" dirty="0">
                <a:solidFill>
                  <a:srgbClr val="1F3863"/>
                </a:solidFill>
                <a:latin typeface="Calibri"/>
                <a:cs typeface="Calibri"/>
              </a:rPr>
              <a:t>on</a:t>
            </a:r>
            <a:r>
              <a:rPr sz="2800" spc="-60" dirty="0">
                <a:solidFill>
                  <a:srgbClr val="1F3863"/>
                </a:solidFill>
                <a:latin typeface="Calibri"/>
                <a:cs typeface="Calibri"/>
              </a:rPr>
              <a:t> </a:t>
            </a:r>
            <a:r>
              <a:rPr sz="2800" dirty="0">
                <a:solidFill>
                  <a:srgbClr val="1F3863"/>
                </a:solidFill>
                <a:latin typeface="Calibri"/>
                <a:cs typeface="Calibri"/>
              </a:rPr>
              <a:t>the</a:t>
            </a:r>
            <a:r>
              <a:rPr sz="2800" spc="-60" dirty="0">
                <a:solidFill>
                  <a:srgbClr val="1F3863"/>
                </a:solidFill>
                <a:latin typeface="Calibri"/>
                <a:cs typeface="Calibri"/>
              </a:rPr>
              <a:t> </a:t>
            </a:r>
            <a:r>
              <a:rPr sz="2800" dirty="0">
                <a:solidFill>
                  <a:srgbClr val="1F3863"/>
                </a:solidFill>
                <a:latin typeface="Calibri"/>
                <a:cs typeface="Calibri"/>
              </a:rPr>
              <a:t>entire</a:t>
            </a:r>
            <a:r>
              <a:rPr sz="2800" spc="-60" dirty="0">
                <a:solidFill>
                  <a:srgbClr val="1F3863"/>
                </a:solidFill>
                <a:latin typeface="Calibri"/>
                <a:cs typeface="Calibri"/>
              </a:rPr>
              <a:t> </a:t>
            </a:r>
            <a:r>
              <a:rPr sz="2800" dirty="0">
                <a:solidFill>
                  <a:srgbClr val="1F3863"/>
                </a:solidFill>
                <a:latin typeface="Calibri"/>
                <a:cs typeface="Calibri"/>
              </a:rPr>
              <a:t>sequence</a:t>
            </a:r>
            <a:r>
              <a:rPr sz="2800" spc="-45" dirty="0">
                <a:solidFill>
                  <a:srgbClr val="1F3863"/>
                </a:solidFill>
                <a:latin typeface="Calibri"/>
                <a:cs typeface="Calibri"/>
              </a:rPr>
              <a:t> </a:t>
            </a:r>
            <a:r>
              <a:rPr sz="2800" dirty="0">
                <a:solidFill>
                  <a:srgbClr val="1F3863"/>
                </a:solidFill>
                <a:latin typeface="Calibri"/>
                <a:cs typeface="Calibri"/>
              </a:rPr>
              <a:t>of</a:t>
            </a:r>
            <a:r>
              <a:rPr sz="2800" spc="-75" dirty="0">
                <a:solidFill>
                  <a:srgbClr val="1F3863"/>
                </a:solidFill>
                <a:latin typeface="Calibri"/>
                <a:cs typeface="Calibri"/>
              </a:rPr>
              <a:t> </a:t>
            </a:r>
            <a:r>
              <a:rPr sz="2800" spc="-10" dirty="0">
                <a:solidFill>
                  <a:srgbClr val="1F3863"/>
                </a:solidFill>
                <a:latin typeface="Calibri"/>
                <a:cs typeface="Calibri"/>
              </a:rPr>
              <a:t>states</a:t>
            </a:r>
            <a:r>
              <a:rPr sz="2800" spc="-60" dirty="0">
                <a:solidFill>
                  <a:srgbClr val="1F3863"/>
                </a:solidFill>
                <a:latin typeface="Calibri"/>
                <a:cs typeface="Calibri"/>
              </a:rPr>
              <a:t> </a:t>
            </a:r>
            <a:r>
              <a:rPr sz="2800" dirty="0">
                <a:solidFill>
                  <a:srgbClr val="1F3863"/>
                </a:solidFill>
                <a:latin typeface="Calibri"/>
                <a:cs typeface="Calibri"/>
              </a:rPr>
              <a:t>and</a:t>
            </a:r>
            <a:r>
              <a:rPr sz="2800" spc="-55" dirty="0">
                <a:solidFill>
                  <a:srgbClr val="1F3863"/>
                </a:solidFill>
                <a:latin typeface="Calibri"/>
                <a:cs typeface="Calibri"/>
              </a:rPr>
              <a:t> </a:t>
            </a:r>
            <a:r>
              <a:rPr sz="2800" spc="-10" dirty="0">
                <a:solidFill>
                  <a:srgbClr val="1F3863"/>
                </a:solidFill>
                <a:latin typeface="Calibri"/>
                <a:cs typeface="Calibri"/>
              </a:rPr>
              <a:t>actions.</a:t>
            </a:r>
            <a:endParaRPr sz="2800" dirty="0">
              <a:latin typeface="Calibri"/>
              <a:cs typeface="Calibri"/>
            </a:endParaRPr>
          </a:p>
          <a:p>
            <a:pPr marL="1186180" lvl="1" indent="-259079">
              <a:lnSpc>
                <a:spcPct val="100000"/>
              </a:lnSpc>
              <a:spcBef>
                <a:spcPts val="675"/>
              </a:spcBef>
              <a:buChar char="•"/>
              <a:tabLst>
                <a:tab pos="1186180" algn="l"/>
              </a:tabLst>
            </a:pPr>
            <a:r>
              <a:rPr sz="2800" spc="-20" dirty="0">
                <a:solidFill>
                  <a:srgbClr val="1F3863"/>
                </a:solidFill>
                <a:latin typeface="Calibri"/>
                <a:cs typeface="Calibri"/>
              </a:rPr>
              <a:t>“Environment</a:t>
            </a:r>
            <a:r>
              <a:rPr sz="2800" spc="-40" dirty="0">
                <a:solidFill>
                  <a:srgbClr val="1F3863"/>
                </a:solidFill>
                <a:latin typeface="Calibri"/>
                <a:cs typeface="Calibri"/>
              </a:rPr>
              <a:t> </a:t>
            </a:r>
            <a:r>
              <a:rPr sz="2800" spc="-10" dirty="0">
                <a:solidFill>
                  <a:srgbClr val="1F3863"/>
                </a:solidFill>
                <a:latin typeface="Calibri"/>
                <a:cs typeface="Calibri"/>
              </a:rPr>
              <a:t>history”</a:t>
            </a:r>
            <a:endParaRPr sz="2800" dirty="0">
              <a:latin typeface="Calibri"/>
              <a:cs typeface="Calibri"/>
            </a:endParaRPr>
          </a:p>
          <a:p>
            <a:pPr marL="271780" indent="-259079">
              <a:lnSpc>
                <a:spcPct val="100000"/>
              </a:lnSpc>
              <a:spcBef>
                <a:spcPts val="660"/>
              </a:spcBef>
              <a:buChar char="•"/>
              <a:tabLst>
                <a:tab pos="271780" algn="l"/>
              </a:tabLst>
            </a:pPr>
            <a:r>
              <a:rPr sz="2800" dirty="0">
                <a:solidFill>
                  <a:srgbClr val="1F3863"/>
                </a:solidFill>
                <a:latin typeface="Calibri"/>
                <a:cs typeface="Calibri"/>
              </a:rPr>
              <a:t>In</a:t>
            </a:r>
            <a:r>
              <a:rPr sz="2800" spc="-75" dirty="0">
                <a:solidFill>
                  <a:srgbClr val="1F3863"/>
                </a:solidFill>
                <a:latin typeface="Calibri"/>
                <a:cs typeface="Calibri"/>
              </a:rPr>
              <a:t> </a:t>
            </a:r>
            <a:r>
              <a:rPr sz="2800" dirty="0">
                <a:solidFill>
                  <a:srgbClr val="1F3863"/>
                </a:solidFill>
                <a:latin typeface="Calibri"/>
                <a:cs typeface="Calibri"/>
              </a:rPr>
              <a:t>each</a:t>
            </a:r>
            <a:r>
              <a:rPr sz="2800" spc="-70" dirty="0">
                <a:solidFill>
                  <a:srgbClr val="1F3863"/>
                </a:solidFill>
                <a:latin typeface="Calibri"/>
                <a:cs typeface="Calibri"/>
              </a:rPr>
              <a:t> </a:t>
            </a:r>
            <a:r>
              <a:rPr sz="2800" dirty="0">
                <a:solidFill>
                  <a:srgbClr val="1F3863"/>
                </a:solidFill>
                <a:latin typeface="Calibri"/>
                <a:cs typeface="Calibri"/>
              </a:rPr>
              <a:t>state,</a:t>
            </a:r>
            <a:r>
              <a:rPr sz="2800" spc="-60"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dirty="0">
                <a:solidFill>
                  <a:srgbClr val="1F3863"/>
                </a:solidFill>
                <a:latin typeface="Calibri"/>
                <a:cs typeface="Calibri"/>
              </a:rPr>
              <a:t>agent</a:t>
            </a:r>
            <a:r>
              <a:rPr sz="2800" spc="-75" dirty="0">
                <a:solidFill>
                  <a:srgbClr val="1F3863"/>
                </a:solidFill>
                <a:latin typeface="Calibri"/>
                <a:cs typeface="Calibri"/>
              </a:rPr>
              <a:t> </a:t>
            </a:r>
            <a:r>
              <a:rPr sz="2800" dirty="0">
                <a:solidFill>
                  <a:srgbClr val="1F3863"/>
                </a:solidFill>
                <a:latin typeface="Calibri"/>
                <a:cs typeface="Calibri"/>
              </a:rPr>
              <a:t>receives</a:t>
            </a:r>
            <a:r>
              <a:rPr sz="2800" spc="-70" dirty="0">
                <a:solidFill>
                  <a:srgbClr val="1F3863"/>
                </a:solidFill>
                <a:latin typeface="Calibri"/>
                <a:cs typeface="Calibri"/>
              </a:rPr>
              <a:t> </a:t>
            </a:r>
            <a:r>
              <a:rPr sz="2800" dirty="0">
                <a:solidFill>
                  <a:srgbClr val="1F3863"/>
                </a:solidFill>
                <a:latin typeface="Calibri"/>
                <a:cs typeface="Calibri"/>
              </a:rPr>
              <a:t>a</a:t>
            </a:r>
            <a:r>
              <a:rPr sz="2800" spc="-70" dirty="0">
                <a:solidFill>
                  <a:srgbClr val="1F3863"/>
                </a:solidFill>
                <a:latin typeface="Calibri"/>
                <a:cs typeface="Calibri"/>
              </a:rPr>
              <a:t> </a:t>
            </a:r>
            <a:r>
              <a:rPr sz="2800" spc="-10" dirty="0">
                <a:solidFill>
                  <a:srgbClr val="1F3863"/>
                </a:solidFill>
                <a:latin typeface="Calibri"/>
                <a:cs typeface="Calibri"/>
              </a:rPr>
              <a:t>reward</a:t>
            </a:r>
            <a:r>
              <a:rPr sz="2800" spc="-65" dirty="0">
                <a:solidFill>
                  <a:srgbClr val="1F3863"/>
                </a:solidFill>
                <a:latin typeface="Calibri"/>
                <a:cs typeface="Calibri"/>
              </a:rPr>
              <a:t> </a:t>
            </a:r>
            <a:r>
              <a:rPr sz="2800" spc="-10" dirty="0">
                <a:solidFill>
                  <a:srgbClr val="1F3863"/>
                </a:solidFill>
                <a:latin typeface="Calibri"/>
                <a:cs typeface="Calibri"/>
              </a:rPr>
              <a:t>R(s).</a:t>
            </a:r>
            <a:endParaRPr sz="2800" dirty="0">
              <a:latin typeface="Calibri"/>
              <a:cs typeface="Calibri"/>
            </a:endParaRPr>
          </a:p>
          <a:p>
            <a:pPr marL="271780" indent="-259079">
              <a:lnSpc>
                <a:spcPct val="100000"/>
              </a:lnSpc>
              <a:spcBef>
                <a:spcPts val="660"/>
              </a:spcBef>
              <a:buChar char="•"/>
              <a:tabLst>
                <a:tab pos="271780" algn="l"/>
              </a:tabLst>
            </a:pPr>
            <a:r>
              <a:rPr sz="2800" dirty="0">
                <a:solidFill>
                  <a:srgbClr val="1F3863"/>
                </a:solidFill>
                <a:latin typeface="Calibri"/>
                <a:cs typeface="Calibri"/>
              </a:rPr>
              <a:t>The</a:t>
            </a:r>
            <a:r>
              <a:rPr sz="2800" spc="-55" dirty="0">
                <a:solidFill>
                  <a:srgbClr val="1F3863"/>
                </a:solidFill>
                <a:latin typeface="Calibri"/>
                <a:cs typeface="Calibri"/>
              </a:rPr>
              <a:t> </a:t>
            </a:r>
            <a:r>
              <a:rPr sz="2800" dirty="0">
                <a:solidFill>
                  <a:srgbClr val="1F3863"/>
                </a:solidFill>
                <a:latin typeface="Calibri"/>
                <a:cs typeface="Calibri"/>
              </a:rPr>
              <a:t>reward</a:t>
            </a:r>
            <a:r>
              <a:rPr sz="2800" spc="-50" dirty="0">
                <a:solidFill>
                  <a:srgbClr val="1F3863"/>
                </a:solidFill>
                <a:latin typeface="Calibri"/>
                <a:cs typeface="Calibri"/>
              </a:rPr>
              <a:t> </a:t>
            </a:r>
            <a:r>
              <a:rPr sz="2800" dirty="0">
                <a:solidFill>
                  <a:srgbClr val="1F3863"/>
                </a:solidFill>
                <a:latin typeface="Calibri"/>
                <a:cs typeface="Calibri"/>
              </a:rPr>
              <a:t>is</a:t>
            </a:r>
            <a:r>
              <a:rPr sz="2800" spc="-45" dirty="0">
                <a:solidFill>
                  <a:srgbClr val="1F3863"/>
                </a:solidFill>
                <a:latin typeface="Calibri"/>
                <a:cs typeface="Calibri"/>
              </a:rPr>
              <a:t> </a:t>
            </a:r>
            <a:r>
              <a:rPr sz="2800" spc="-20" dirty="0">
                <a:solidFill>
                  <a:srgbClr val="1F3863"/>
                </a:solidFill>
                <a:latin typeface="Calibri"/>
                <a:cs typeface="Calibri"/>
              </a:rPr>
              <a:t>real-</a:t>
            </a:r>
            <a:r>
              <a:rPr sz="2800" dirty="0">
                <a:solidFill>
                  <a:srgbClr val="1F3863"/>
                </a:solidFill>
                <a:latin typeface="Calibri"/>
                <a:cs typeface="Calibri"/>
              </a:rPr>
              <a:t>valued.</a:t>
            </a:r>
            <a:r>
              <a:rPr sz="2800" spc="-35" dirty="0">
                <a:solidFill>
                  <a:srgbClr val="1F3863"/>
                </a:solidFill>
                <a:latin typeface="Calibri"/>
                <a:cs typeface="Calibri"/>
              </a:rPr>
              <a:t> </a:t>
            </a:r>
            <a:r>
              <a:rPr sz="2800" dirty="0">
                <a:solidFill>
                  <a:srgbClr val="1F3863"/>
                </a:solidFill>
                <a:latin typeface="Calibri"/>
                <a:cs typeface="Calibri"/>
              </a:rPr>
              <a:t>It</a:t>
            </a:r>
            <a:r>
              <a:rPr sz="2800" spc="-55" dirty="0">
                <a:solidFill>
                  <a:srgbClr val="1F3863"/>
                </a:solidFill>
                <a:latin typeface="Calibri"/>
                <a:cs typeface="Calibri"/>
              </a:rPr>
              <a:t> </a:t>
            </a:r>
            <a:r>
              <a:rPr sz="2800" dirty="0">
                <a:solidFill>
                  <a:srgbClr val="1F3863"/>
                </a:solidFill>
                <a:latin typeface="Calibri"/>
                <a:cs typeface="Calibri"/>
              </a:rPr>
              <a:t>may</a:t>
            </a:r>
            <a:r>
              <a:rPr sz="2800" spc="-50" dirty="0">
                <a:solidFill>
                  <a:srgbClr val="1F3863"/>
                </a:solidFill>
                <a:latin typeface="Calibri"/>
                <a:cs typeface="Calibri"/>
              </a:rPr>
              <a:t> </a:t>
            </a:r>
            <a:r>
              <a:rPr sz="2800" dirty="0">
                <a:solidFill>
                  <a:srgbClr val="1F3863"/>
                </a:solidFill>
                <a:latin typeface="Calibri"/>
                <a:cs typeface="Calibri"/>
              </a:rPr>
              <a:t>be</a:t>
            </a:r>
            <a:r>
              <a:rPr sz="2800" spc="-40" dirty="0">
                <a:solidFill>
                  <a:srgbClr val="1F3863"/>
                </a:solidFill>
                <a:latin typeface="Calibri"/>
                <a:cs typeface="Calibri"/>
              </a:rPr>
              <a:t> </a:t>
            </a:r>
            <a:r>
              <a:rPr sz="2800" dirty="0">
                <a:solidFill>
                  <a:srgbClr val="1F3863"/>
                </a:solidFill>
                <a:latin typeface="Calibri"/>
                <a:cs typeface="Calibri"/>
              </a:rPr>
              <a:t>positive</a:t>
            </a:r>
            <a:r>
              <a:rPr sz="2800" spc="-40" dirty="0">
                <a:solidFill>
                  <a:srgbClr val="1F3863"/>
                </a:solidFill>
                <a:latin typeface="Calibri"/>
                <a:cs typeface="Calibri"/>
              </a:rPr>
              <a:t> </a:t>
            </a:r>
            <a:r>
              <a:rPr sz="2800" dirty="0">
                <a:solidFill>
                  <a:srgbClr val="1F3863"/>
                </a:solidFill>
                <a:latin typeface="Calibri"/>
                <a:cs typeface="Calibri"/>
              </a:rPr>
              <a:t>or</a:t>
            </a:r>
            <a:r>
              <a:rPr sz="2800" spc="-45" dirty="0">
                <a:solidFill>
                  <a:srgbClr val="1F3863"/>
                </a:solidFill>
                <a:latin typeface="Calibri"/>
                <a:cs typeface="Calibri"/>
              </a:rPr>
              <a:t> </a:t>
            </a:r>
            <a:r>
              <a:rPr sz="2800" spc="-10" dirty="0">
                <a:solidFill>
                  <a:srgbClr val="1F3863"/>
                </a:solidFill>
                <a:latin typeface="Calibri"/>
                <a:cs typeface="Calibri"/>
              </a:rPr>
              <a:t>negative.</a:t>
            </a:r>
            <a:endParaRPr sz="2800" dirty="0">
              <a:latin typeface="Calibri"/>
              <a:cs typeface="Calibri"/>
            </a:endParaRPr>
          </a:p>
          <a:p>
            <a:pPr marL="271780" indent="-259079">
              <a:lnSpc>
                <a:spcPct val="100000"/>
              </a:lnSpc>
              <a:spcBef>
                <a:spcPts val="675"/>
              </a:spcBef>
              <a:buChar char="•"/>
              <a:tabLst>
                <a:tab pos="271780" algn="l"/>
              </a:tabLst>
            </a:pPr>
            <a:r>
              <a:rPr sz="2800" dirty="0">
                <a:solidFill>
                  <a:srgbClr val="1F3863"/>
                </a:solidFill>
                <a:latin typeface="Calibri"/>
                <a:cs typeface="Calibri"/>
              </a:rPr>
              <a:t>Utility</a:t>
            </a:r>
            <a:r>
              <a:rPr sz="2800" spc="-60" dirty="0">
                <a:solidFill>
                  <a:srgbClr val="1F3863"/>
                </a:solidFill>
                <a:latin typeface="Calibri"/>
                <a:cs typeface="Calibri"/>
              </a:rPr>
              <a:t> </a:t>
            </a:r>
            <a:r>
              <a:rPr sz="2800" dirty="0">
                <a:solidFill>
                  <a:srgbClr val="1F3863"/>
                </a:solidFill>
                <a:latin typeface="Calibri"/>
                <a:cs typeface="Calibri"/>
              </a:rPr>
              <a:t>of</a:t>
            </a:r>
            <a:r>
              <a:rPr sz="2800" spc="-55" dirty="0">
                <a:solidFill>
                  <a:srgbClr val="1F3863"/>
                </a:solidFill>
                <a:latin typeface="Calibri"/>
                <a:cs typeface="Calibri"/>
              </a:rPr>
              <a:t> </a:t>
            </a:r>
            <a:r>
              <a:rPr sz="2800" spc="-20" dirty="0">
                <a:solidFill>
                  <a:srgbClr val="1F3863"/>
                </a:solidFill>
                <a:latin typeface="Calibri"/>
                <a:cs typeface="Calibri"/>
              </a:rPr>
              <a:t>environment</a:t>
            </a:r>
            <a:r>
              <a:rPr sz="2800" spc="-15" dirty="0">
                <a:solidFill>
                  <a:srgbClr val="1F3863"/>
                </a:solidFill>
                <a:latin typeface="Calibri"/>
                <a:cs typeface="Calibri"/>
              </a:rPr>
              <a:t> </a:t>
            </a:r>
            <a:r>
              <a:rPr sz="2800" dirty="0">
                <a:solidFill>
                  <a:srgbClr val="1F3863"/>
                </a:solidFill>
                <a:latin typeface="Calibri"/>
                <a:cs typeface="Calibri"/>
              </a:rPr>
              <a:t>history</a:t>
            </a:r>
            <a:r>
              <a:rPr sz="2800" spc="-25" dirty="0">
                <a:solidFill>
                  <a:srgbClr val="1F3863"/>
                </a:solidFill>
                <a:latin typeface="Calibri"/>
                <a:cs typeface="Calibri"/>
              </a:rPr>
              <a:t> </a:t>
            </a:r>
            <a:r>
              <a:rPr sz="2800" dirty="0">
                <a:solidFill>
                  <a:srgbClr val="1F3863"/>
                </a:solidFill>
                <a:latin typeface="Calibri"/>
                <a:cs typeface="Calibri"/>
              </a:rPr>
              <a:t>=</a:t>
            </a:r>
            <a:r>
              <a:rPr sz="2800" spc="-55" dirty="0">
                <a:solidFill>
                  <a:srgbClr val="1F3863"/>
                </a:solidFill>
                <a:latin typeface="Calibri"/>
                <a:cs typeface="Calibri"/>
              </a:rPr>
              <a:t> </a:t>
            </a:r>
            <a:r>
              <a:rPr sz="2800" dirty="0">
                <a:solidFill>
                  <a:srgbClr val="1F3863"/>
                </a:solidFill>
                <a:latin typeface="Calibri"/>
                <a:cs typeface="Calibri"/>
              </a:rPr>
              <a:t>sum</a:t>
            </a:r>
            <a:r>
              <a:rPr sz="2800" spc="-15" dirty="0">
                <a:solidFill>
                  <a:srgbClr val="1F3863"/>
                </a:solidFill>
                <a:latin typeface="Calibri"/>
                <a:cs typeface="Calibri"/>
              </a:rPr>
              <a:t> </a:t>
            </a:r>
            <a:r>
              <a:rPr sz="2800" dirty="0">
                <a:solidFill>
                  <a:srgbClr val="1F3863"/>
                </a:solidFill>
                <a:latin typeface="Calibri"/>
                <a:cs typeface="Calibri"/>
              </a:rPr>
              <a:t>of</a:t>
            </a:r>
            <a:r>
              <a:rPr sz="2800" spc="-55" dirty="0">
                <a:solidFill>
                  <a:srgbClr val="1F3863"/>
                </a:solidFill>
                <a:latin typeface="Calibri"/>
                <a:cs typeface="Calibri"/>
              </a:rPr>
              <a:t> </a:t>
            </a:r>
            <a:r>
              <a:rPr sz="2800" spc="-10" dirty="0">
                <a:solidFill>
                  <a:srgbClr val="1F3863"/>
                </a:solidFill>
                <a:latin typeface="Calibri"/>
                <a:cs typeface="Calibri"/>
              </a:rPr>
              <a:t>reward</a:t>
            </a:r>
            <a:r>
              <a:rPr sz="2800" spc="-50" dirty="0">
                <a:solidFill>
                  <a:srgbClr val="1F3863"/>
                </a:solidFill>
                <a:latin typeface="Calibri"/>
                <a:cs typeface="Calibri"/>
              </a:rPr>
              <a:t> </a:t>
            </a:r>
            <a:r>
              <a:rPr sz="2800" spc="-10" dirty="0">
                <a:solidFill>
                  <a:srgbClr val="1F3863"/>
                </a:solidFill>
                <a:latin typeface="Calibri"/>
                <a:cs typeface="Calibri"/>
              </a:rPr>
              <a:t>received.</a:t>
            </a:r>
            <a:endParaRPr sz="28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lang="en-US" spc="-20" dirty="0"/>
              <a:t>Goal</a:t>
            </a:r>
            <a:endParaRPr spc="-20" dirty="0"/>
          </a:p>
        </p:txBody>
      </p:sp>
      <p:sp>
        <p:nvSpPr>
          <p:cNvPr id="3" name="object 3"/>
          <p:cNvSpPr txBox="1"/>
          <p:nvPr/>
        </p:nvSpPr>
        <p:spPr>
          <a:xfrm>
            <a:off x="916939" y="1793493"/>
            <a:ext cx="10353675" cy="835660"/>
          </a:xfrm>
          <a:prstGeom prst="rect">
            <a:avLst/>
          </a:prstGeom>
        </p:spPr>
        <p:txBody>
          <a:bodyPr vert="horz" wrap="square" lIns="0" tIns="60960" rIns="0" bIns="0" rtlCol="0">
            <a:spAutoFit/>
          </a:bodyPr>
          <a:lstStyle/>
          <a:p>
            <a:pPr marL="240029" marR="5080" indent="-227329">
              <a:lnSpc>
                <a:spcPts val="3020"/>
              </a:lnSpc>
              <a:spcBef>
                <a:spcPts val="480"/>
              </a:spcBef>
              <a:buFont typeface="Arial MT"/>
              <a:buChar char="•"/>
              <a:tabLst>
                <a:tab pos="241300" algn="l"/>
              </a:tabLst>
            </a:pPr>
            <a:r>
              <a:rPr sz="2800" dirty="0">
                <a:solidFill>
                  <a:srgbClr val="1F3863"/>
                </a:solidFill>
                <a:latin typeface="Calibri"/>
                <a:cs typeface="Calibri"/>
              </a:rPr>
              <a:t>Find</a:t>
            </a:r>
            <a:r>
              <a:rPr sz="2800" spc="-55" dirty="0">
                <a:solidFill>
                  <a:srgbClr val="1F3863"/>
                </a:solidFill>
                <a:latin typeface="Calibri"/>
                <a:cs typeface="Calibri"/>
              </a:rPr>
              <a:t> </a:t>
            </a:r>
            <a:r>
              <a:rPr sz="2800" dirty="0">
                <a:solidFill>
                  <a:srgbClr val="1F3863"/>
                </a:solidFill>
                <a:latin typeface="Calibri"/>
                <a:cs typeface="Calibri"/>
              </a:rPr>
              <a:t>the</a:t>
            </a:r>
            <a:r>
              <a:rPr sz="2800" spc="-55" dirty="0">
                <a:solidFill>
                  <a:srgbClr val="1F3863"/>
                </a:solidFill>
                <a:latin typeface="Calibri"/>
                <a:cs typeface="Calibri"/>
              </a:rPr>
              <a:t> </a:t>
            </a:r>
            <a:r>
              <a:rPr sz="2800" dirty="0">
                <a:solidFill>
                  <a:srgbClr val="1F3863"/>
                </a:solidFill>
                <a:latin typeface="Calibri"/>
                <a:cs typeface="Calibri"/>
              </a:rPr>
              <a:t>policy</a:t>
            </a:r>
            <a:r>
              <a:rPr sz="2800" spc="-40" dirty="0">
                <a:solidFill>
                  <a:srgbClr val="1F3863"/>
                </a:solidFill>
                <a:latin typeface="Calibri"/>
                <a:cs typeface="Calibri"/>
              </a:rPr>
              <a:t> </a:t>
            </a:r>
            <a:r>
              <a:rPr sz="2800" dirty="0">
                <a:solidFill>
                  <a:srgbClr val="1F3863"/>
                </a:solidFill>
                <a:latin typeface="Calibri"/>
                <a:cs typeface="Calibri"/>
              </a:rPr>
              <a:t>that</a:t>
            </a:r>
            <a:r>
              <a:rPr sz="2800" spc="-70" dirty="0">
                <a:solidFill>
                  <a:srgbClr val="1F3863"/>
                </a:solidFill>
                <a:latin typeface="Calibri"/>
                <a:cs typeface="Calibri"/>
              </a:rPr>
              <a:t> </a:t>
            </a:r>
            <a:r>
              <a:rPr sz="2800" dirty="0">
                <a:solidFill>
                  <a:srgbClr val="1F3863"/>
                </a:solidFill>
                <a:latin typeface="Calibri"/>
                <a:cs typeface="Calibri"/>
              </a:rPr>
              <a:t>maximizes</a:t>
            </a:r>
            <a:r>
              <a:rPr sz="2800" spc="-70" dirty="0">
                <a:solidFill>
                  <a:srgbClr val="1F3863"/>
                </a:solidFill>
                <a:latin typeface="Calibri"/>
                <a:cs typeface="Calibri"/>
              </a:rPr>
              <a:t> </a:t>
            </a:r>
            <a:r>
              <a:rPr sz="2800" dirty="0">
                <a:solidFill>
                  <a:srgbClr val="1F3863"/>
                </a:solidFill>
                <a:latin typeface="Calibri"/>
                <a:cs typeface="Calibri"/>
              </a:rPr>
              <a:t>the</a:t>
            </a:r>
            <a:r>
              <a:rPr sz="2800" spc="-55" dirty="0">
                <a:solidFill>
                  <a:srgbClr val="1F3863"/>
                </a:solidFill>
                <a:latin typeface="Calibri"/>
                <a:cs typeface="Calibri"/>
              </a:rPr>
              <a:t> </a:t>
            </a:r>
            <a:r>
              <a:rPr sz="2800" dirty="0">
                <a:solidFill>
                  <a:srgbClr val="1F3863"/>
                </a:solidFill>
                <a:latin typeface="Calibri"/>
                <a:cs typeface="Calibri"/>
              </a:rPr>
              <a:t>expected</a:t>
            </a:r>
            <a:r>
              <a:rPr sz="2800" spc="-55" dirty="0">
                <a:solidFill>
                  <a:srgbClr val="1F3863"/>
                </a:solidFill>
                <a:latin typeface="Calibri"/>
                <a:cs typeface="Calibri"/>
              </a:rPr>
              <a:t> </a:t>
            </a:r>
            <a:r>
              <a:rPr sz="2800" dirty="0">
                <a:solidFill>
                  <a:srgbClr val="1F3863"/>
                </a:solidFill>
                <a:latin typeface="Calibri"/>
                <a:cs typeface="Calibri"/>
              </a:rPr>
              <a:t>sum</a:t>
            </a:r>
            <a:r>
              <a:rPr sz="2800" spc="-45" dirty="0">
                <a:solidFill>
                  <a:srgbClr val="1F3863"/>
                </a:solidFill>
                <a:latin typeface="Calibri"/>
                <a:cs typeface="Calibri"/>
              </a:rPr>
              <a:t> </a:t>
            </a:r>
            <a:r>
              <a:rPr sz="2800" dirty="0">
                <a:solidFill>
                  <a:srgbClr val="1F3863"/>
                </a:solidFill>
                <a:latin typeface="Calibri"/>
                <a:cs typeface="Calibri"/>
              </a:rPr>
              <a:t>of</a:t>
            </a:r>
            <a:r>
              <a:rPr sz="2800" spc="-65" dirty="0">
                <a:solidFill>
                  <a:srgbClr val="1F3863"/>
                </a:solidFill>
                <a:latin typeface="Calibri"/>
                <a:cs typeface="Calibri"/>
              </a:rPr>
              <a:t> </a:t>
            </a:r>
            <a:r>
              <a:rPr sz="2800" spc="-10" dirty="0">
                <a:solidFill>
                  <a:srgbClr val="1F3863"/>
                </a:solidFill>
                <a:latin typeface="Calibri"/>
                <a:cs typeface="Calibri"/>
              </a:rPr>
              <a:t>rewards,</a:t>
            </a:r>
            <a:r>
              <a:rPr sz="2800" spc="-55" dirty="0">
                <a:solidFill>
                  <a:srgbClr val="1F3863"/>
                </a:solidFill>
                <a:latin typeface="Calibri"/>
                <a:cs typeface="Calibri"/>
              </a:rPr>
              <a:t> </a:t>
            </a:r>
            <a:r>
              <a:rPr sz="2800" dirty="0">
                <a:solidFill>
                  <a:srgbClr val="1F3863"/>
                </a:solidFill>
                <a:latin typeface="Calibri"/>
                <a:cs typeface="Calibri"/>
              </a:rPr>
              <a:t>called</a:t>
            </a:r>
            <a:r>
              <a:rPr sz="2800" spc="-60" dirty="0">
                <a:solidFill>
                  <a:srgbClr val="1F3863"/>
                </a:solidFill>
                <a:latin typeface="Calibri"/>
                <a:cs typeface="Calibri"/>
              </a:rPr>
              <a:t> </a:t>
            </a:r>
            <a:r>
              <a:rPr sz="2800" spc="-25" dirty="0">
                <a:solidFill>
                  <a:srgbClr val="1F3863"/>
                </a:solidFill>
                <a:latin typeface="Calibri"/>
                <a:cs typeface="Calibri"/>
              </a:rPr>
              <a:t>an 	</a:t>
            </a:r>
            <a:r>
              <a:rPr sz="2800" dirty="0">
                <a:solidFill>
                  <a:srgbClr val="1F3863"/>
                </a:solidFill>
                <a:latin typeface="Calibri"/>
                <a:cs typeface="Calibri"/>
              </a:rPr>
              <a:t>optimal</a:t>
            </a:r>
            <a:r>
              <a:rPr sz="2800" spc="-50" dirty="0">
                <a:solidFill>
                  <a:srgbClr val="1F3863"/>
                </a:solidFill>
                <a:latin typeface="Calibri"/>
                <a:cs typeface="Calibri"/>
              </a:rPr>
              <a:t> </a:t>
            </a:r>
            <a:r>
              <a:rPr sz="2800" spc="-10" dirty="0">
                <a:solidFill>
                  <a:srgbClr val="1F3863"/>
                </a:solidFill>
                <a:latin typeface="Calibri"/>
                <a:cs typeface="Calibri"/>
              </a:rPr>
              <a:t>policy.</a:t>
            </a:r>
            <a:endParaRPr sz="28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81965">
              <a:lnSpc>
                <a:spcPct val="100000"/>
              </a:lnSpc>
              <a:spcBef>
                <a:spcPts val="105"/>
              </a:spcBef>
            </a:pPr>
            <a:r>
              <a:rPr dirty="0"/>
              <a:t>Policy</a:t>
            </a:r>
            <a:r>
              <a:rPr spc="-125" dirty="0"/>
              <a:t> </a:t>
            </a:r>
            <a:r>
              <a:rPr dirty="0"/>
              <a:t>vs</a:t>
            </a:r>
            <a:r>
              <a:rPr spc="-140" dirty="0"/>
              <a:t> </a:t>
            </a:r>
            <a:r>
              <a:rPr spc="-20" dirty="0"/>
              <a:t>Value</a:t>
            </a:r>
            <a:r>
              <a:rPr spc="-135" dirty="0"/>
              <a:t> </a:t>
            </a:r>
            <a:r>
              <a:rPr spc="-10" dirty="0"/>
              <a:t>Iteration</a:t>
            </a:r>
          </a:p>
        </p:txBody>
      </p:sp>
      <p:sp>
        <p:nvSpPr>
          <p:cNvPr id="3" name="object 3"/>
          <p:cNvSpPr txBox="1">
            <a:spLocks noGrp="1"/>
          </p:cNvSpPr>
          <p:nvPr>
            <p:ph type="body" idx="1"/>
          </p:nvPr>
        </p:nvSpPr>
        <p:spPr>
          <a:prstGeom prst="rect">
            <a:avLst/>
          </a:prstGeom>
        </p:spPr>
        <p:txBody>
          <a:bodyPr vert="horz" wrap="square" lIns="0" tIns="60960" rIns="0" bIns="0" rtlCol="0">
            <a:spAutoFit/>
          </a:bodyPr>
          <a:lstStyle/>
          <a:p>
            <a:pPr marL="240029" marR="5080" indent="-227329">
              <a:lnSpc>
                <a:spcPts val="3020"/>
              </a:lnSpc>
              <a:spcBef>
                <a:spcPts val="480"/>
              </a:spcBef>
              <a:buFont typeface="Arial MT"/>
              <a:buChar char="•"/>
              <a:tabLst>
                <a:tab pos="241300" algn="l"/>
              </a:tabLst>
            </a:pPr>
            <a:r>
              <a:rPr dirty="0"/>
              <a:t>Policy</a:t>
            </a:r>
            <a:r>
              <a:rPr spc="-70" dirty="0"/>
              <a:t> </a:t>
            </a:r>
            <a:r>
              <a:rPr spc="-10" dirty="0"/>
              <a:t>iteration</a:t>
            </a:r>
            <a:r>
              <a:rPr spc="-95" dirty="0"/>
              <a:t> </a:t>
            </a:r>
            <a:r>
              <a:rPr dirty="0"/>
              <a:t>includes:</a:t>
            </a:r>
            <a:r>
              <a:rPr spc="-50" dirty="0"/>
              <a:t> </a:t>
            </a:r>
            <a:r>
              <a:rPr dirty="0"/>
              <a:t>policy</a:t>
            </a:r>
            <a:r>
              <a:rPr spc="-80" dirty="0"/>
              <a:t> </a:t>
            </a:r>
            <a:r>
              <a:rPr dirty="0"/>
              <a:t>evaluation</a:t>
            </a:r>
            <a:r>
              <a:rPr spc="-80" dirty="0"/>
              <a:t> </a:t>
            </a:r>
            <a:r>
              <a:rPr dirty="0"/>
              <a:t>+</a:t>
            </a:r>
            <a:r>
              <a:rPr spc="-100" dirty="0"/>
              <a:t> </a:t>
            </a:r>
            <a:r>
              <a:rPr dirty="0"/>
              <a:t>policy</a:t>
            </a:r>
            <a:r>
              <a:rPr spc="-65" dirty="0"/>
              <a:t> </a:t>
            </a:r>
            <a:r>
              <a:rPr spc="-10" dirty="0"/>
              <a:t>improvement,</a:t>
            </a:r>
            <a:r>
              <a:rPr spc="-60" dirty="0"/>
              <a:t> </a:t>
            </a:r>
            <a:r>
              <a:rPr spc="-25" dirty="0"/>
              <a:t>and 	</a:t>
            </a:r>
            <a:r>
              <a:rPr dirty="0"/>
              <a:t>the</a:t>
            </a:r>
            <a:r>
              <a:rPr spc="-50" dirty="0"/>
              <a:t> </a:t>
            </a:r>
            <a:r>
              <a:rPr dirty="0"/>
              <a:t>two</a:t>
            </a:r>
            <a:r>
              <a:rPr spc="-55" dirty="0"/>
              <a:t> </a:t>
            </a:r>
            <a:r>
              <a:rPr dirty="0"/>
              <a:t>are</a:t>
            </a:r>
            <a:r>
              <a:rPr spc="-45" dirty="0"/>
              <a:t> </a:t>
            </a:r>
            <a:r>
              <a:rPr dirty="0"/>
              <a:t>repeated</a:t>
            </a:r>
            <a:r>
              <a:rPr spc="-55" dirty="0"/>
              <a:t> </a:t>
            </a:r>
            <a:r>
              <a:rPr spc="-10" dirty="0"/>
              <a:t>iteratively</a:t>
            </a:r>
            <a:r>
              <a:rPr spc="-65" dirty="0"/>
              <a:t> </a:t>
            </a:r>
            <a:r>
              <a:rPr dirty="0"/>
              <a:t>until</a:t>
            </a:r>
            <a:r>
              <a:rPr spc="-40" dirty="0"/>
              <a:t> </a:t>
            </a:r>
            <a:r>
              <a:rPr dirty="0"/>
              <a:t>policy</a:t>
            </a:r>
            <a:r>
              <a:rPr spc="-30" dirty="0"/>
              <a:t> </a:t>
            </a:r>
            <a:r>
              <a:rPr spc="-10" dirty="0"/>
              <a:t>converges.</a:t>
            </a:r>
          </a:p>
          <a:p>
            <a:pPr marL="240029" marR="270510" indent="-227329">
              <a:lnSpc>
                <a:spcPct val="90000"/>
              </a:lnSpc>
              <a:spcBef>
                <a:spcPts val="969"/>
              </a:spcBef>
              <a:buFont typeface="Arial MT"/>
              <a:buChar char="•"/>
              <a:tabLst>
                <a:tab pos="241300" algn="l"/>
              </a:tabLst>
            </a:pPr>
            <a:r>
              <a:rPr dirty="0"/>
              <a:t>Value</a:t>
            </a:r>
            <a:r>
              <a:rPr spc="-70" dirty="0"/>
              <a:t> </a:t>
            </a:r>
            <a:r>
              <a:rPr spc="-10" dirty="0"/>
              <a:t>iteration</a:t>
            </a:r>
            <a:r>
              <a:rPr spc="-85" dirty="0"/>
              <a:t> </a:t>
            </a:r>
            <a:r>
              <a:rPr dirty="0"/>
              <a:t>includes:</a:t>
            </a:r>
            <a:r>
              <a:rPr spc="-35" dirty="0"/>
              <a:t> </a:t>
            </a:r>
            <a:r>
              <a:rPr dirty="0"/>
              <a:t>finding</a:t>
            </a:r>
            <a:r>
              <a:rPr spc="-55" dirty="0"/>
              <a:t> </a:t>
            </a:r>
            <a:r>
              <a:rPr dirty="0"/>
              <a:t>optimal</a:t>
            </a:r>
            <a:r>
              <a:rPr spc="-70" dirty="0"/>
              <a:t> </a:t>
            </a:r>
            <a:r>
              <a:rPr dirty="0"/>
              <a:t>value</a:t>
            </a:r>
            <a:r>
              <a:rPr spc="-80" dirty="0"/>
              <a:t> </a:t>
            </a:r>
            <a:r>
              <a:rPr dirty="0"/>
              <a:t>function</a:t>
            </a:r>
            <a:r>
              <a:rPr spc="-50" dirty="0"/>
              <a:t> </a:t>
            </a:r>
            <a:r>
              <a:rPr dirty="0"/>
              <a:t>+</a:t>
            </a:r>
            <a:r>
              <a:rPr spc="-65" dirty="0"/>
              <a:t> </a:t>
            </a:r>
            <a:r>
              <a:rPr dirty="0"/>
              <a:t>one</a:t>
            </a:r>
            <a:r>
              <a:rPr spc="-60" dirty="0"/>
              <a:t> </a:t>
            </a:r>
            <a:r>
              <a:rPr spc="-10" dirty="0"/>
              <a:t>policy 	extraction.</a:t>
            </a:r>
            <a:r>
              <a:rPr spc="-45" dirty="0"/>
              <a:t> </a:t>
            </a:r>
            <a:r>
              <a:rPr dirty="0"/>
              <a:t>There</a:t>
            </a:r>
            <a:r>
              <a:rPr spc="-55" dirty="0"/>
              <a:t> </a:t>
            </a:r>
            <a:r>
              <a:rPr dirty="0"/>
              <a:t>is</a:t>
            </a:r>
            <a:r>
              <a:rPr spc="-40" dirty="0"/>
              <a:t> </a:t>
            </a:r>
            <a:r>
              <a:rPr dirty="0"/>
              <a:t>no</a:t>
            </a:r>
            <a:r>
              <a:rPr spc="-40" dirty="0"/>
              <a:t> </a:t>
            </a:r>
            <a:r>
              <a:rPr dirty="0"/>
              <a:t>repeat</a:t>
            </a:r>
            <a:r>
              <a:rPr spc="-60" dirty="0"/>
              <a:t> </a:t>
            </a:r>
            <a:r>
              <a:rPr dirty="0"/>
              <a:t>of</a:t>
            </a:r>
            <a:r>
              <a:rPr spc="-55" dirty="0"/>
              <a:t> </a:t>
            </a:r>
            <a:r>
              <a:rPr dirty="0"/>
              <a:t>the</a:t>
            </a:r>
            <a:r>
              <a:rPr spc="-40" dirty="0"/>
              <a:t> </a:t>
            </a:r>
            <a:r>
              <a:rPr dirty="0"/>
              <a:t>two</a:t>
            </a:r>
            <a:r>
              <a:rPr spc="-55" dirty="0"/>
              <a:t> </a:t>
            </a:r>
            <a:r>
              <a:rPr dirty="0"/>
              <a:t>because</a:t>
            </a:r>
            <a:r>
              <a:rPr spc="-30" dirty="0"/>
              <a:t> </a:t>
            </a:r>
            <a:r>
              <a:rPr dirty="0"/>
              <a:t>once</a:t>
            </a:r>
            <a:r>
              <a:rPr spc="-55" dirty="0"/>
              <a:t> </a:t>
            </a:r>
            <a:r>
              <a:rPr dirty="0"/>
              <a:t>the</a:t>
            </a:r>
            <a:r>
              <a:rPr spc="-30" dirty="0"/>
              <a:t> </a:t>
            </a:r>
            <a:r>
              <a:rPr spc="-10" dirty="0"/>
              <a:t>value 	</a:t>
            </a:r>
            <a:r>
              <a:rPr dirty="0"/>
              <a:t>function</a:t>
            </a:r>
            <a:r>
              <a:rPr spc="-10" dirty="0"/>
              <a:t> </a:t>
            </a:r>
            <a:r>
              <a:rPr dirty="0"/>
              <a:t>is</a:t>
            </a:r>
            <a:r>
              <a:rPr spc="-35" dirty="0"/>
              <a:t> </a:t>
            </a:r>
            <a:r>
              <a:rPr dirty="0"/>
              <a:t>optimal,</a:t>
            </a:r>
            <a:r>
              <a:rPr spc="-30" dirty="0"/>
              <a:t> </a:t>
            </a:r>
            <a:r>
              <a:rPr dirty="0"/>
              <a:t>then</a:t>
            </a:r>
            <a:r>
              <a:rPr spc="-20" dirty="0"/>
              <a:t> </a:t>
            </a:r>
            <a:r>
              <a:rPr dirty="0"/>
              <a:t>the</a:t>
            </a:r>
            <a:r>
              <a:rPr spc="-30" dirty="0"/>
              <a:t> </a:t>
            </a:r>
            <a:r>
              <a:rPr dirty="0"/>
              <a:t>policy</a:t>
            </a:r>
            <a:r>
              <a:rPr spc="-30" dirty="0"/>
              <a:t> </a:t>
            </a:r>
            <a:r>
              <a:rPr dirty="0"/>
              <a:t>out</a:t>
            </a:r>
            <a:r>
              <a:rPr spc="-25" dirty="0"/>
              <a:t> </a:t>
            </a:r>
            <a:r>
              <a:rPr dirty="0"/>
              <a:t>of</a:t>
            </a:r>
            <a:r>
              <a:rPr spc="-45" dirty="0"/>
              <a:t> </a:t>
            </a:r>
            <a:r>
              <a:rPr dirty="0"/>
              <a:t>it</a:t>
            </a:r>
            <a:r>
              <a:rPr spc="-25" dirty="0"/>
              <a:t> </a:t>
            </a:r>
            <a:r>
              <a:rPr dirty="0"/>
              <a:t>should</a:t>
            </a:r>
            <a:r>
              <a:rPr spc="-10" dirty="0"/>
              <a:t> </a:t>
            </a:r>
            <a:r>
              <a:rPr dirty="0"/>
              <a:t>also</a:t>
            </a:r>
            <a:r>
              <a:rPr spc="-40" dirty="0"/>
              <a:t> </a:t>
            </a:r>
            <a:r>
              <a:rPr dirty="0"/>
              <a:t>be</a:t>
            </a:r>
            <a:r>
              <a:rPr spc="-20" dirty="0"/>
              <a:t> </a:t>
            </a:r>
            <a:r>
              <a:rPr spc="-10" dirty="0"/>
              <a:t>optimal 	</a:t>
            </a:r>
            <a:r>
              <a:rPr dirty="0"/>
              <a:t>(i.e.</a:t>
            </a:r>
            <a:r>
              <a:rPr spc="-60" dirty="0"/>
              <a:t> </a:t>
            </a:r>
            <a:r>
              <a:rPr spc="-10" dirty="0"/>
              <a:t>converged).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768" y="308228"/>
            <a:ext cx="3890645" cy="696595"/>
          </a:xfrm>
          <a:prstGeom prst="rect">
            <a:avLst/>
          </a:prstGeom>
        </p:spPr>
        <p:txBody>
          <a:bodyPr vert="horz" wrap="square" lIns="0" tIns="12700" rIns="0" bIns="0" rtlCol="0">
            <a:spAutoFit/>
          </a:bodyPr>
          <a:lstStyle/>
          <a:p>
            <a:pPr marL="12700">
              <a:lnSpc>
                <a:spcPct val="100000"/>
              </a:lnSpc>
              <a:spcBef>
                <a:spcPts val="100"/>
              </a:spcBef>
            </a:pPr>
            <a:r>
              <a:rPr dirty="0">
                <a:latin typeface="Calibri"/>
                <a:cs typeface="Calibri"/>
              </a:rPr>
              <a:t>Quiz</a:t>
            </a:r>
            <a:r>
              <a:rPr spc="-10" dirty="0">
                <a:latin typeface="Calibri"/>
                <a:cs typeface="Calibri"/>
              </a:rPr>
              <a:t> </a:t>
            </a:r>
            <a:r>
              <a:rPr dirty="0">
                <a:latin typeface="Calibri"/>
                <a:cs typeface="Calibri"/>
              </a:rPr>
              <a:t>Game</a:t>
            </a:r>
            <a:r>
              <a:rPr spc="-5" dirty="0">
                <a:latin typeface="Calibri"/>
                <a:cs typeface="Calibri"/>
              </a:rPr>
              <a:t> </a:t>
            </a:r>
            <a:r>
              <a:rPr spc="-20" dirty="0">
                <a:latin typeface="Calibri"/>
                <a:cs typeface="Calibri"/>
              </a:rPr>
              <a:t>Show</a:t>
            </a:r>
          </a:p>
        </p:txBody>
      </p:sp>
      <p:sp>
        <p:nvSpPr>
          <p:cNvPr id="3" name="object 3"/>
          <p:cNvSpPr txBox="1"/>
          <p:nvPr/>
        </p:nvSpPr>
        <p:spPr>
          <a:xfrm>
            <a:off x="388416" y="1104138"/>
            <a:ext cx="5793740" cy="1184275"/>
          </a:xfrm>
          <a:prstGeom prst="rect">
            <a:avLst/>
          </a:prstGeom>
        </p:spPr>
        <p:txBody>
          <a:bodyPr vert="horz" wrap="square" lIns="0" tIns="13335" rIns="0" bIns="0" rtlCol="0">
            <a:spAutoFit/>
          </a:bodyPr>
          <a:lstStyle/>
          <a:p>
            <a:pPr marL="240665" indent="-227965">
              <a:lnSpc>
                <a:spcPts val="2039"/>
              </a:lnSpc>
              <a:spcBef>
                <a:spcPts val="105"/>
              </a:spcBef>
              <a:buFont typeface="Arial MT"/>
              <a:buChar char="•"/>
              <a:tabLst>
                <a:tab pos="240665" algn="l"/>
              </a:tabLst>
            </a:pPr>
            <a:r>
              <a:rPr sz="2000" dirty="0">
                <a:solidFill>
                  <a:srgbClr val="1F3863"/>
                </a:solidFill>
                <a:latin typeface="Calibri"/>
                <a:cs typeface="Calibri"/>
              </a:rPr>
              <a:t>In</a:t>
            </a:r>
            <a:r>
              <a:rPr sz="2000" spc="-40" dirty="0">
                <a:solidFill>
                  <a:srgbClr val="1F3863"/>
                </a:solidFill>
                <a:latin typeface="Calibri"/>
                <a:cs typeface="Calibri"/>
              </a:rPr>
              <a:t> </a:t>
            </a:r>
            <a:r>
              <a:rPr sz="2000" dirty="0">
                <a:solidFill>
                  <a:srgbClr val="1F3863"/>
                </a:solidFill>
                <a:latin typeface="Calibri"/>
                <a:cs typeface="Calibri"/>
              </a:rPr>
              <a:t>a</a:t>
            </a:r>
            <a:r>
              <a:rPr sz="2000" spc="-55" dirty="0">
                <a:solidFill>
                  <a:srgbClr val="1F3863"/>
                </a:solidFill>
                <a:latin typeface="Calibri"/>
                <a:cs typeface="Calibri"/>
              </a:rPr>
              <a:t> </a:t>
            </a:r>
            <a:r>
              <a:rPr sz="2000" dirty="0">
                <a:solidFill>
                  <a:srgbClr val="1F3863"/>
                </a:solidFill>
                <a:latin typeface="Calibri"/>
                <a:cs typeface="Calibri"/>
              </a:rPr>
              <a:t>quiz</a:t>
            </a:r>
            <a:r>
              <a:rPr sz="2000" spc="-55" dirty="0">
                <a:solidFill>
                  <a:srgbClr val="1F3863"/>
                </a:solidFill>
                <a:latin typeface="Calibri"/>
                <a:cs typeface="Calibri"/>
              </a:rPr>
              <a:t> </a:t>
            </a:r>
            <a:r>
              <a:rPr sz="2000" dirty="0">
                <a:solidFill>
                  <a:srgbClr val="1F3863"/>
                </a:solidFill>
                <a:latin typeface="Calibri"/>
                <a:cs typeface="Calibri"/>
              </a:rPr>
              <a:t>game</a:t>
            </a:r>
            <a:r>
              <a:rPr sz="2000" spc="-50" dirty="0">
                <a:solidFill>
                  <a:srgbClr val="1F3863"/>
                </a:solidFill>
                <a:latin typeface="Calibri"/>
                <a:cs typeface="Calibri"/>
              </a:rPr>
              <a:t> </a:t>
            </a:r>
            <a:r>
              <a:rPr sz="2000" dirty="0">
                <a:solidFill>
                  <a:srgbClr val="1F3863"/>
                </a:solidFill>
                <a:latin typeface="Calibri"/>
                <a:cs typeface="Calibri"/>
              </a:rPr>
              <a:t>show</a:t>
            </a:r>
            <a:r>
              <a:rPr sz="2000" spc="-40" dirty="0">
                <a:solidFill>
                  <a:srgbClr val="1F3863"/>
                </a:solidFill>
                <a:latin typeface="Calibri"/>
                <a:cs typeface="Calibri"/>
              </a:rPr>
              <a:t> </a:t>
            </a:r>
            <a:r>
              <a:rPr sz="2000" dirty="0">
                <a:solidFill>
                  <a:srgbClr val="1F3863"/>
                </a:solidFill>
                <a:latin typeface="Calibri"/>
                <a:cs typeface="Calibri"/>
              </a:rPr>
              <a:t>there</a:t>
            </a:r>
            <a:r>
              <a:rPr sz="2000" spc="-40" dirty="0">
                <a:solidFill>
                  <a:srgbClr val="1F3863"/>
                </a:solidFill>
                <a:latin typeface="Calibri"/>
                <a:cs typeface="Calibri"/>
              </a:rPr>
              <a:t> </a:t>
            </a:r>
            <a:r>
              <a:rPr sz="2000" dirty="0">
                <a:solidFill>
                  <a:srgbClr val="1F3863"/>
                </a:solidFill>
                <a:latin typeface="Calibri"/>
                <a:cs typeface="Calibri"/>
              </a:rPr>
              <a:t>are</a:t>
            </a:r>
            <a:r>
              <a:rPr sz="2000" spc="-40" dirty="0">
                <a:solidFill>
                  <a:srgbClr val="1F3863"/>
                </a:solidFill>
                <a:latin typeface="Calibri"/>
                <a:cs typeface="Calibri"/>
              </a:rPr>
              <a:t> </a:t>
            </a:r>
            <a:r>
              <a:rPr sz="2000" dirty="0">
                <a:solidFill>
                  <a:srgbClr val="1F3863"/>
                </a:solidFill>
                <a:latin typeface="Calibri"/>
                <a:cs typeface="Calibri"/>
              </a:rPr>
              <a:t>10</a:t>
            </a:r>
            <a:r>
              <a:rPr sz="2000" spc="-55" dirty="0">
                <a:solidFill>
                  <a:srgbClr val="1F3863"/>
                </a:solidFill>
                <a:latin typeface="Calibri"/>
                <a:cs typeface="Calibri"/>
              </a:rPr>
              <a:t> </a:t>
            </a:r>
            <a:r>
              <a:rPr sz="2000" dirty="0">
                <a:solidFill>
                  <a:srgbClr val="1F3863"/>
                </a:solidFill>
                <a:latin typeface="Calibri"/>
                <a:cs typeface="Calibri"/>
              </a:rPr>
              <a:t>levels,</a:t>
            </a:r>
            <a:r>
              <a:rPr sz="2000" spc="-15" dirty="0">
                <a:solidFill>
                  <a:srgbClr val="1F3863"/>
                </a:solidFill>
                <a:latin typeface="Calibri"/>
                <a:cs typeface="Calibri"/>
              </a:rPr>
              <a:t> </a:t>
            </a:r>
            <a:r>
              <a:rPr sz="2000" dirty="0">
                <a:solidFill>
                  <a:srgbClr val="1F3863"/>
                </a:solidFill>
                <a:latin typeface="Calibri"/>
                <a:cs typeface="Calibri"/>
              </a:rPr>
              <a:t>at</a:t>
            </a:r>
            <a:r>
              <a:rPr sz="2000" spc="-30" dirty="0">
                <a:solidFill>
                  <a:srgbClr val="1F3863"/>
                </a:solidFill>
                <a:latin typeface="Calibri"/>
                <a:cs typeface="Calibri"/>
              </a:rPr>
              <a:t> </a:t>
            </a:r>
            <a:r>
              <a:rPr sz="2000" dirty="0">
                <a:solidFill>
                  <a:srgbClr val="1F3863"/>
                </a:solidFill>
                <a:latin typeface="Calibri"/>
                <a:cs typeface="Calibri"/>
              </a:rPr>
              <a:t>each</a:t>
            </a:r>
            <a:r>
              <a:rPr sz="2000" spc="-45" dirty="0">
                <a:solidFill>
                  <a:srgbClr val="1F3863"/>
                </a:solidFill>
                <a:latin typeface="Calibri"/>
                <a:cs typeface="Calibri"/>
              </a:rPr>
              <a:t> </a:t>
            </a:r>
            <a:r>
              <a:rPr sz="2000" spc="-10" dirty="0">
                <a:solidFill>
                  <a:srgbClr val="1F3863"/>
                </a:solidFill>
                <a:latin typeface="Calibri"/>
                <a:cs typeface="Calibri"/>
              </a:rPr>
              <a:t>level</a:t>
            </a:r>
            <a:endParaRPr sz="2000">
              <a:latin typeface="Calibri"/>
              <a:cs typeface="Calibri"/>
            </a:endParaRPr>
          </a:p>
          <a:p>
            <a:pPr marL="241300">
              <a:lnSpc>
                <a:spcPts val="1680"/>
              </a:lnSpc>
            </a:pPr>
            <a:r>
              <a:rPr sz="2000" dirty="0">
                <a:solidFill>
                  <a:srgbClr val="1F3863"/>
                </a:solidFill>
                <a:latin typeface="Calibri"/>
                <a:cs typeface="Calibri"/>
              </a:rPr>
              <a:t>one</a:t>
            </a:r>
            <a:r>
              <a:rPr sz="2000" spc="-55" dirty="0">
                <a:solidFill>
                  <a:srgbClr val="1F3863"/>
                </a:solidFill>
                <a:latin typeface="Calibri"/>
                <a:cs typeface="Calibri"/>
              </a:rPr>
              <a:t> </a:t>
            </a:r>
            <a:r>
              <a:rPr sz="2000" dirty="0">
                <a:solidFill>
                  <a:srgbClr val="1F3863"/>
                </a:solidFill>
                <a:latin typeface="Calibri"/>
                <a:cs typeface="Calibri"/>
              </a:rPr>
              <a:t>question</a:t>
            </a:r>
            <a:r>
              <a:rPr sz="2000" spc="-50" dirty="0">
                <a:solidFill>
                  <a:srgbClr val="1F3863"/>
                </a:solidFill>
                <a:latin typeface="Calibri"/>
                <a:cs typeface="Calibri"/>
              </a:rPr>
              <a:t> </a:t>
            </a:r>
            <a:r>
              <a:rPr sz="2000" dirty="0">
                <a:solidFill>
                  <a:srgbClr val="1F3863"/>
                </a:solidFill>
                <a:latin typeface="Calibri"/>
                <a:cs typeface="Calibri"/>
              </a:rPr>
              <a:t>is</a:t>
            </a:r>
            <a:r>
              <a:rPr sz="2000" spc="-40" dirty="0">
                <a:solidFill>
                  <a:srgbClr val="1F3863"/>
                </a:solidFill>
                <a:latin typeface="Calibri"/>
                <a:cs typeface="Calibri"/>
              </a:rPr>
              <a:t> </a:t>
            </a:r>
            <a:r>
              <a:rPr sz="2000" dirty="0">
                <a:solidFill>
                  <a:srgbClr val="1F3863"/>
                </a:solidFill>
                <a:latin typeface="Calibri"/>
                <a:cs typeface="Calibri"/>
              </a:rPr>
              <a:t>asked</a:t>
            </a:r>
            <a:r>
              <a:rPr sz="2000" spc="-40" dirty="0">
                <a:solidFill>
                  <a:srgbClr val="1F3863"/>
                </a:solidFill>
                <a:latin typeface="Calibri"/>
                <a:cs typeface="Calibri"/>
              </a:rPr>
              <a:t> </a:t>
            </a:r>
            <a:r>
              <a:rPr sz="2000" dirty="0">
                <a:solidFill>
                  <a:srgbClr val="1F3863"/>
                </a:solidFill>
                <a:latin typeface="Calibri"/>
                <a:cs typeface="Calibri"/>
              </a:rPr>
              <a:t>and</a:t>
            </a:r>
            <a:r>
              <a:rPr sz="2000" spc="-60" dirty="0">
                <a:solidFill>
                  <a:srgbClr val="1F3863"/>
                </a:solidFill>
                <a:latin typeface="Calibri"/>
                <a:cs typeface="Calibri"/>
              </a:rPr>
              <a:t> </a:t>
            </a:r>
            <a:r>
              <a:rPr sz="2000" dirty="0">
                <a:solidFill>
                  <a:srgbClr val="1F3863"/>
                </a:solidFill>
                <a:latin typeface="Calibri"/>
                <a:cs typeface="Calibri"/>
              </a:rPr>
              <a:t>if</a:t>
            </a:r>
            <a:r>
              <a:rPr sz="2000" spc="-40" dirty="0">
                <a:solidFill>
                  <a:srgbClr val="1F3863"/>
                </a:solidFill>
                <a:latin typeface="Calibri"/>
                <a:cs typeface="Calibri"/>
              </a:rPr>
              <a:t> </a:t>
            </a:r>
            <a:r>
              <a:rPr sz="2000" spc="-10" dirty="0">
                <a:solidFill>
                  <a:srgbClr val="1F3863"/>
                </a:solidFill>
                <a:latin typeface="Calibri"/>
                <a:cs typeface="Calibri"/>
              </a:rPr>
              <a:t>answered</a:t>
            </a:r>
            <a:r>
              <a:rPr sz="2000" spc="-50" dirty="0">
                <a:solidFill>
                  <a:srgbClr val="1F3863"/>
                </a:solidFill>
                <a:latin typeface="Calibri"/>
                <a:cs typeface="Calibri"/>
              </a:rPr>
              <a:t> </a:t>
            </a:r>
            <a:r>
              <a:rPr sz="2000" dirty="0">
                <a:solidFill>
                  <a:srgbClr val="1F3863"/>
                </a:solidFill>
                <a:latin typeface="Calibri"/>
                <a:cs typeface="Calibri"/>
              </a:rPr>
              <a:t>correctly</a:t>
            </a:r>
            <a:r>
              <a:rPr sz="2000" spc="-50" dirty="0">
                <a:solidFill>
                  <a:srgbClr val="1F3863"/>
                </a:solidFill>
                <a:latin typeface="Calibri"/>
                <a:cs typeface="Calibri"/>
              </a:rPr>
              <a:t> a</a:t>
            </a:r>
            <a:endParaRPr sz="2000">
              <a:latin typeface="Calibri"/>
              <a:cs typeface="Calibri"/>
            </a:endParaRPr>
          </a:p>
          <a:p>
            <a:pPr marL="241300">
              <a:lnSpc>
                <a:spcPts val="1680"/>
              </a:lnSpc>
            </a:pPr>
            <a:r>
              <a:rPr sz="2000" dirty="0">
                <a:solidFill>
                  <a:srgbClr val="1F3863"/>
                </a:solidFill>
                <a:latin typeface="Calibri"/>
                <a:cs typeface="Calibri"/>
              </a:rPr>
              <a:t>certain</a:t>
            </a:r>
            <a:r>
              <a:rPr sz="2000" spc="-65" dirty="0">
                <a:solidFill>
                  <a:srgbClr val="1F3863"/>
                </a:solidFill>
                <a:latin typeface="Calibri"/>
                <a:cs typeface="Calibri"/>
              </a:rPr>
              <a:t> </a:t>
            </a:r>
            <a:r>
              <a:rPr sz="2000" dirty="0">
                <a:solidFill>
                  <a:srgbClr val="1F3863"/>
                </a:solidFill>
                <a:latin typeface="Calibri"/>
                <a:cs typeface="Calibri"/>
              </a:rPr>
              <a:t>monetary</a:t>
            </a:r>
            <a:r>
              <a:rPr sz="2000" spc="-60" dirty="0">
                <a:solidFill>
                  <a:srgbClr val="1F3863"/>
                </a:solidFill>
                <a:latin typeface="Calibri"/>
                <a:cs typeface="Calibri"/>
              </a:rPr>
              <a:t> </a:t>
            </a:r>
            <a:r>
              <a:rPr sz="2000" spc="-10" dirty="0">
                <a:solidFill>
                  <a:srgbClr val="1F3863"/>
                </a:solidFill>
                <a:latin typeface="Calibri"/>
                <a:cs typeface="Calibri"/>
              </a:rPr>
              <a:t>reward</a:t>
            </a:r>
            <a:r>
              <a:rPr sz="2000" spc="-60" dirty="0">
                <a:solidFill>
                  <a:srgbClr val="1F3863"/>
                </a:solidFill>
                <a:latin typeface="Calibri"/>
                <a:cs typeface="Calibri"/>
              </a:rPr>
              <a:t> </a:t>
            </a:r>
            <a:r>
              <a:rPr sz="2000" dirty="0">
                <a:solidFill>
                  <a:srgbClr val="1F3863"/>
                </a:solidFill>
                <a:latin typeface="Calibri"/>
                <a:cs typeface="Calibri"/>
              </a:rPr>
              <a:t>based</a:t>
            </a:r>
            <a:r>
              <a:rPr sz="2000" spc="-60" dirty="0">
                <a:solidFill>
                  <a:srgbClr val="1F3863"/>
                </a:solidFill>
                <a:latin typeface="Calibri"/>
                <a:cs typeface="Calibri"/>
              </a:rPr>
              <a:t> </a:t>
            </a:r>
            <a:r>
              <a:rPr sz="2000" dirty="0">
                <a:solidFill>
                  <a:srgbClr val="1F3863"/>
                </a:solidFill>
                <a:latin typeface="Calibri"/>
                <a:cs typeface="Calibri"/>
              </a:rPr>
              <a:t>on</a:t>
            </a:r>
            <a:r>
              <a:rPr sz="2000" spc="-75" dirty="0">
                <a:solidFill>
                  <a:srgbClr val="1F3863"/>
                </a:solidFill>
                <a:latin typeface="Calibri"/>
                <a:cs typeface="Calibri"/>
              </a:rPr>
              <a:t> </a:t>
            </a:r>
            <a:r>
              <a:rPr sz="2000" dirty="0">
                <a:solidFill>
                  <a:srgbClr val="1F3863"/>
                </a:solidFill>
                <a:latin typeface="Calibri"/>
                <a:cs typeface="Calibri"/>
              </a:rPr>
              <a:t>the</a:t>
            </a:r>
            <a:r>
              <a:rPr sz="2000" spc="-60" dirty="0">
                <a:solidFill>
                  <a:srgbClr val="1F3863"/>
                </a:solidFill>
                <a:latin typeface="Calibri"/>
                <a:cs typeface="Calibri"/>
              </a:rPr>
              <a:t> </a:t>
            </a:r>
            <a:r>
              <a:rPr sz="2000" dirty="0">
                <a:solidFill>
                  <a:srgbClr val="1F3863"/>
                </a:solidFill>
                <a:latin typeface="Calibri"/>
                <a:cs typeface="Calibri"/>
              </a:rPr>
              <a:t>current</a:t>
            </a:r>
            <a:r>
              <a:rPr sz="2000" spc="-60" dirty="0">
                <a:solidFill>
                  <a:srgbClr val="1F3863"/>
                </a:solidFill>
                <a:latin typeface="Calibri"/>
                <a:cs typeface="Calibri"/>
              </a:rPr>
              <a:t> </a:t>
            </a:r>
            <a:r>
              <a:rPr sz="2000" dirty="0">
                <a:solidFill>
                  <a:srgbClr val="1F3863"/>
                </a:solidFill>
                <a:latin typeface="Calibri"/>
                <a:cs typeface="Calibri"/>
              </a:rPr>
              <a:t>level</a:t>
            </a:r>
            <a:r>
              <a:rPr sz="2000" spc="-55" dirty="0">
                <a:solidFill>
                  <a:srgbClr val="1F3863"/>
                </a:solidFill>
                <a:latin typeface="Calibri"/>
                <a:cs typeface="Calibri"/>
              </a:rPr>
              <a:t> </a:t>
            </a:r>
            <a:r>
              <a:rPr sz="2000" spc="-25" dirty="0">
                <a:solidFill>
                  <a:srgbClr val="1F3863"/>
                </a:solidFill>
                <a:latin typeface="Calibri"/>
                <a:cs typeface="Calibri"/>
              </a:rPr>
              <a:t>is</a:t>
            </a:r>
            <a:endParaRPr sz="2000">
              <a:latin typeface="Calibri"/>
              <a:cs typeface="Calibri"/>
            </a:endParaRPr>
          </a:p>
          <a:p>
            <a:pPr marL="241300" marR="533400">
              <a:lnSpc>
                <a:spcPct val="70000"/>
              </a:lnSpc>
              <a:spcBef>
                <a:spcPts val="359"/>
              </a:spcBef>
            </a:pPr>
            <a:r>
              <a:rPr sz="2000" dirty="0">
                <a:solidFill>
                  <a:srgbClr val="1F3863"/>
                </a:solidFill>
                <a:latin typeface="Calibri"/>
                <a:cs typeface="Calibri"/>
              </a:rPr>
              <a:t>given.</a:t>
            </a:r>
            <a:r>
              <a:rPr sz="2000" spc="-55" dirty="0">
                <a:solidFill>
                  <a:srgbClr val="1F3863"/>
                </a:solidFill>
                <a:latin typeface="Calibri"/>
                <a:cs typeface="Calibri"/>
              </a:rPr>
              <a:t> </a:t>
            </a:r>
            <a:r>
              <a:rPr sz="2000" dirty="0">
                <a:solidFill>
                  <a:srgbClr val="1F3863"/>
                </a:solidFill>
                <a:latin typeface="Calibri"/>
                <a:cs typeface="Calibri"/>
              </a:rPr>
              <a:t>Higher</a:t>
            </a:r>
            <a:r>
              <a:rPr sz="2000" spc="-45" dirty="0">
                <a:solidFill>
                  <a:srgbClr val="1F3863"/>
                </a:solidFill>
                <a:latin typeface="Calibri"/>
                <a:cs typeface="Calibri"/>
              </a:rPr>
              <a:t> </a:t>
            </a:r>
            <a:r>
              <a:rPr sz="2000" dirty="0">
                <a:solidFill>
                  <a:srgbClr val="1F3863"/>
                </a:solidFill>
                <a:latin typeface="Calibri"/>
                <a:cs typeface="Calibri"/>
              </a:rPr>
              <a:t>the</a:t>
            </a:r>
            <a:r>
              <a:rPr sz="2000" spc="-50" dirty="0">
                <a:solidFill>
                  <a:srgbClr val="1F3863"/>
                </a:solidFill>
                <a:latin typeface="Calibri"/>
                <a:cs typeface="Calibri"/>
              </a:rPr>
              <a:t> </a:t>
            </a:r>
            <a:r>
              <a:rPr sz="2000" dirty="0">
                <a:solidFill>
                  <a:srgbClr val="1F3863"/>
                </a:solidFill>
                <a:latin typeface="Calibri"/>
                <a:cs typeface="Calibri"/>
              </a:rPr>
              <a:t>level,</a:t>
            </a:r>
            <a:r>
              <a:rPr sz="2000" spc="-25" dirty="0">
                <a:solidFill>
                  <a:srgbClr val="1F3863"/>
                </a:solidFill>
                <a:latin typeface="Calibri"/>
                <a:cs typeface="Calibri"/>
              </a:rPr>
              <a:t> </a:t>
            </a:r>
            <a:r>
              <a:rPr sz="2000" dirty="0">
                <a:solidFill>
                  <a:srgbClr val="1F3863"/>
                </a:solidFill>
                <a:latin typeface="Calibri"/>
                <a:cs typeface="Calibri"/>
              </a:rPr>
              <a:t>tougher</a:t>
            </a:r>
            <a:r>
              <a:rPr sz="2000" spc="-65" dirty="0">
                <a:solidFill>
                  <a:srgbClr val="1F3863"/>
                </a:solidFill>
                <a:latin typeface="Calibri"/>
                <a:cs typeface="Calibri"/>
              </a:rPr>
              <a:t> </a:t>
            </a:r>
            <a:r>
              <a:rPr sz="2000" dirty="0">
                <a:solidFill>
                  <a:srgbClr val="1F3863"/>
                </a:solidFill>
                <a:latin typeface="Calibri"/>
                <a:cs typeface="Calibri"/>
              </a:rPr>
              <a:t>the</a:t>
            </a:r>
            <a:r>
              <a:rPr sz="2000" spc="-45" dirty="0">
                <a:solidFill>
                  <a:srgbClr val="1F3863"/>
                </a:solidFill>
                <a:latin typeface="Calibri"/>
                <a:cs typeface="Calibri"/>
              </a:rPr>
              <a:t> </a:t>
            </a:r>
            <a:r>
              <a:rPr sz="2000" dirty="0">
                <a:solidFill>
                  <a:srgbClr val="1F3863"/>
                </a:solidFill>
                <a:latin typeface="Calibri"/>
                <a:cs typeface="Calibri"/>
              </a:rPr>
              <a:t>question</a:t>
            </a:r>
            <a:r>
              <a:rPr sz="2000" spc="-55" dirty="0">
                <a:solidFill>
                  <a:srgbClr val="1F3863"/>
                </a:solidFill>
                <a:latin typeface="Calibri"/>
                <a:cs typeface="Calibri"/>
              </a:rPr>
              <a:t> </a:t>
            </a:r>
            <a:r>
              <a:rPr sz="2000" spc="-25" dirty="0">
                <a:solidFill>
                  <a:srgbClr val="1F3863"/>
                </a:solidFill>
                <a:latin typeface="Calibri"/>
                <a:cs typeface="Calibri"/>
              </a:rPr>
              <a:t>but </a:t>
            </a:r>
            <a:r>
              <a:rPr sz="2000" dirty="0">
                <a:solidFill>
                  <a:srgbClr val="1F3863"/>
                </a:solidFill>
                <a:latin typeface="Calibri"/>
                <a:cs typeface="Calibri"/>
              </a:rPr>
              <a:t>higher</a:t>
            </a:r>
            <a:r>
              <a:rPr sz="2000" spc="-45" dirty="0">
                <a:solidFill>
                  <a:srgbClr val="1F3863"/>
                </a:solidFill>
                <a:latin typeface="Calibri"/>
                <a:cs typeface="Calibri"/>
              </a:rPr>
              <a:t> </a:t>
            </a:r>
            <a:r>
              <a:rPr sz="2000" dirty="0">
                <a:solidFill>
                  <a:srgbClr val="1F3863"/>
                </a:solidFill>
                <a:latin typeface="Calibri"/>
                <a:cs typeface="Calibri"/>
              </a:rPr>
              <a:t>the</a:t>
            </a:r>
            <a:r>
              <a:rPr sz="2000" spc="-35" dirty="0">
                <a:solidFill>
                  <a:srgbClr val="1F3863"/>
                </a:solidFill>
                <a:latin typeface="Calibri"/>
                <a:cs typeface="Calibri"/>
              </a:rPr>
              <a:t> </a:t>
            </a:r>
            <a:r>
              <a:rPr sz="2000" spc="-10" dirty="0">
                <a:solidFill>
                  <a:srgbClr val="1F3863"/>
                </a:solidFill>
                <a:latin typeface="Calibri"/>
                <a:cs typeface="Calibri"/>
              </a:rPr>
              <a:t>reward.</a:t>
            </a:r>
            <a:endParaRPr sz="2000">
              <a:latin typeface="Calibri"/>
              <a:cs typeface="Calibri"/>
            </a:endParaRPr>
          </a:p>
        </p:txBody>
      </p:sp>
      <p:sp>
        <p:nvSpPr>
          <p:cNvPr id="4" name="object 4"/>
          <p:cNvSpPr txBox="1"/>
          <p:nvPr/>
        </p:nvSpPr>
        <p:spPr>
          <a:xfrm>
            <a:off x="388416" y="2639060"/>
            <a:ext cx="5582920" cy="330835"/>
          </a:xfrm>
          <a:prstGeom prst="rect">
            <a:avLst/>
          </a:prstGeom>
        </p:spPr>
        <p:txBody>
          <a:bodyPr vert="horz" wrap="square" lIns="0" tIns="13335" rIns="0" bIns="0" rtlCol="0">
            <a:spAutoFit/>
          </a:bodyPr>
          <a:lstStyle/>
          <a:p>
            <a:pPr marL="240665" indent="-227965">
              <a:lnSpc>
                <a:spcPct val="100000"/>
              </a:lnSpc>
              <a:spcBef>
                <a:spcPts val="105"/>
              </a:spcBef>
              <a:buFont typeface="Arial MT"/>
              <a:buChar char="•"/>
              <a:tabLst>
                <a:tab pos="240665" algn="l"/>
              </a:tabLst>
            </a:pPr>
            <a:r>
              <a:rPr sz="2000" dirty="0">
                <a:solidFill>
                  <a:srgbClr val="1F3863"/>
                </a:solidFill>
                <a:latin typeface="Calibri"/>
                <a:cs typeface="Calibri"/>
              </a:rPr>
              <a:t>At</a:t>
            </a:r>
            <a:r>
              <a:rPr sz="2000" spc="-55" dirty="0">
                <a:solidFill>
                  <a:srgbClr val="1F3863"/>
                </a:solidFill>
                <a:latin typeface="Calibri"/>
                <a:cs typeface="Calibri"/>
              </a:rPr>
              <a:t> </a:t>
            </a:r>
            <a:r>
              <a:rPr sz="2000" dirty="0">
                <a:solidFill>
                  <a:srgbClr val="1F3863"/>
                </a:solidFill>
                <a:latin typeface="Calibri"/>
                <a:cs typeface="Calibri"/>
              </a:rPr>
              <a:t>each</a:t>
            </a:r>
            <a:r>
              <a:rPr sz="2000" spc="-45" dirty="0">
                <a:solidFill>
                  <a:srgbClr val="1F3863"/>
                </a:solidFill>
                <a:latin typeface="Calibri"/>
                <a:cs typeface="Calibri"/>
              </a:rPr>
              <a:t> </a:t>
            </a:r>
            <a:r>
              <a:rPr sz="2000" dirty="0">
                <a:solidFill>
                  <a:srgbClr val="1F3863"/>
                </a:solidFill>
                <a:latin typeface="Calibri"/>
                <a:cs typeface="Calibri"/>
              </a:rPr>
              <a:t>round</a:t>
            </a:r>
            <a:r>
              <a:rPr sz="2000" spc="-60" dirty="0">
                <a:solidFill>
                  <a:srgbClr val="1F3863"/>
                </a:solidFill>
                <a:latin typeface="Calibri"/>
                <a:cs typeface="Calibri"/>
              </a:rPr>
              <a:t> </a:t>
            </a:r>
            <a:r>
              <a:rPr sz="2000" dirty="0">
                <a:solidFill>
                  <a:srgbClr val="1F3863"/>
                </a:solidFill>
                <a:latin typeface="Calibri"/>
                <a:cs typeface="Calibri"/>
              </a:rPr>
              <a:t>of</a:t>
            </a:r>
            <a:r>
              <a:rPr sz="2000" spc="-55" dirty="0">
                <a:solidFill>
                  <a:srgbClr val="1F3863"/>
                </a:solidFill>
                <a:latin typeface="Calibri"/>
                <a:cs typeface="Calibri"/>
              </a:rPr>
              <a:t> </a:t>
            </a:r>
            <a:r>
              <a:rPr sz="2000" spc="-30" dirty="0">
                <a:solidFill>
                  <a:srgbClr val="1F3863"/>
                </a:solidFill>
                <a:latin typeface="Calibri"/>
                <a:cs typeface="Calibri"/>
              </a:rPr>
              <a:t>play,</a:t>
            </a:r>
            <a:r>
              <a:rPr sz="2000" spc="-65" dirty="0">
                <a:solidFill>
                  <a:srgbClr val="1F3863"/>
                </a:solidFill>
                <a:latin typeface="Calibri"/>
                <a:cs typeface="Calibri"/>
              </a:rPr>
              <a:t> </a:t>
            </a:r>
            <a:r>
              <a:rPr sz="2000" dirty="0">
                <a:solidFill>
                  <a:srgbClr val="1F3863"/>
                </a:solidFill>
                <a:latin typeface="Calibri"/>
                <a:cs typeface="Calibri"/>
              </a:rPr>
              <a:t>if</a:t>
            </a:r>
            <a:r>
              <a:rPr sz="2000" spc="-40" dirty="0">
                <a:solidFill>
                  <a:srgbClr val="1F3863"/>
                </a:solidFill>
                <a:latin typeface="Calibri"/>
                <a:cs typeface="Calibri"/>
              </a:rPr>
              <a:t> </a:t>
            </a:r>
            <a:r>
              <a:rPr sz="2000" dirty="0">
                <a:solidFill>
                  <a:srgbClr val="1F3863"/>
                </a:solidFill>
                <a:latin typeface="Calibri"/>
                <a:cs typeface="Calibri"/>
              </a:rPr>
              <a:t>the</a:t>
            </a:r>
            <a:r>
              <a:rPr sz="2000" spc="-45" dirty="0">
                <a:solidFill>
                  <a:srgbClr val="1F3863"/>
                </a:solidFill>
                <a:latin typeface="Calibri"/>
                <a:cs typeface="Calibri"/>
              </a:rPr>
              <a:t> </a:t>
            </a:r>
            <a:r>
              <a:rPr sz="2000" spc="-10" dirty="0">
                <a:solidFill>
                  <a:srgbClr val="1F3863"/>
                </a:solidFill>
                <a:latin typeface="Calibri"/>
                <a:cs typeface="Calibri"/>
              </a:rPr>
              <a:t>participant</a:t>
            </a:r>
            <a:r>
              <a:rPr sz="2000" spc="-35" dirty="0">
                <a:solidFill>
                  <a:srgbClr val="1F3863"/>
                </a:solidFill>
                <a:latin typeface="Calibri"/>
                <a:cs typeface="Calibri"/>
              </a:rPr>
              <a:t> </a:t>
            </a:r>
            <a:r>
              <a:rPr sz="2000" spc="-10" dirty="0">
                <a:solidFill>
                  <a:srgbClr val="1F3863"/>
                </a:solidFill>
                <a:latin typeface="Calibri"/>
                <a:cs typeface="Calibri"/>
              </a:rPr>
              <a:t>answers</a:t>
            </a:r>
            <a:r>
              <a:rPr sz="2000" spc="-45" dirty="0">
                <a:solidFill>
                  <a:srgbClr val="1F3863"/>
                </a:solidFill>
                <a:latin typeface="Calibri"/>
                <a:cs typeface="Calibri"/>
              </a:rPr>
              <a:t> </a:t>
            </a:r>
            <a:r>
              <a:rPr sz="2000" spc="-25" dirty="0">
                <a:solidFill>
                  <a:srgbClr val="1F3863"/>
                </a:solidFill>
                <a:latin typeface="Calibri"/>
                <a:cs typeface="Calibri"/>
              </a:rPr>
              <a:t>the</a:t>
            </a:r>
            <a:endParaRPr sz="2000">
              <a:latin typeface="Calibri"/>
              <a:cs typeface="Calibri"/>
            </a:endParaRPr>
          </a:p>
        </p:txBody>
      </p:sp>
      <p:sp>
        <p:nvSpPr>
          <p:cNvPr id="5" name="object 5"/>
          <p:cNvSpPr txBox="1"/>
          <p:nvPr/>
        </p:nvSpPr>
        <p:spPr>
          <a:xfrm>
            <a:off x="617016" y="3065780"/>
            <a:ext cx="5694680" cy="1611630"/>
          </a:xfrm>
          <a:prstGeom prst="rect">
            <a:avLst/>
          </a:prstGeom>
        </p:spPr>
        <p:txBody>
          <a:bodyPr vert="horz" wrap="square" lIns="0" tIns="104775" rIns="0" bIns="0" rtlCol="0">
            <a:spAutoFit/>
          </a:bodyPr>
          <a:lstStyle/>
          <a:p>
            <a:pPr marL="12700" marR="5080">
              <a:lnSpc>
                <a:spcPct val="70000"/>
              </a:lnSpc>
              <a:spcBef>
                <a:spcPts val="825"/>
              </a:spcBef>
            </a:pPr>
            <a:r>
              <a:rPr sz="2000" dirty="0">
                <a:solidFill>
                  <a:srgbClr val="1F3863"/>
                </a:solidFill>
                <a:latin typeface="Calibri"/>
                <a:cs typeface="Calibri"/>
              </a:rPr>
              <a:t>to</a:t>
            </a:r>
            <a:r>
              <a:rPr sz="2000" spc="-40" dirty="0">
                <a:solidFill>
                  <a:srgbClr val="1F3863"/>
                </a:solidFill>
                <a:latin typeface="Calibri"/>
                <a:cs typeface="Calibri"/>
              </a:rPr>
              <a:t> </a:t>
            </a:r>
            <a:r>
              <a:rPr sz="2000" dirty="0">
                <a:solidFill>
                  <a:srgbClr val="1F3863"/>
                </a:solidFill>
                <a:latin typeface="Calibri"/>
                <a:cs typeface="Calibri"/>
              </a:rPr>
              <a:t>decide</a:t>
            </a:r>
            <a:r>
              <a:rPr sz="2000" spc="-50" dirty="0">
                <a:solidFill>
                  <a:srgbClr val="1F3863"/>
                </a:solidFill>
                <a:latin typeface="Calibri"/>
                <a:cs typeface="Calibri"/>
              </a:rPr>
              <a:t> </a:t>
            </a:r>
            <a:r>
              <a:rPr sz="2000" dirty="0">
                <a:solidFill>
                  <a:srgbClr val="1F3863"/>
                </a:solidFill>
                <a:latin typeface="Calibri"/>
                <a:cs typeface="Calibri"/>
              </a:rPr>
              <a:t>whether</a:t>
            </a:r>
            <a:r>
              <a:rPr sz="2000" spc="-40" dirty="0">
                <a:solidFill>
                  <a:srgbClr val="1F3863"/>
                </a:solidFill>
                <a:latin typeface="Calibri"/>
                <a:cs typeface="Calibri"/>
              </a:rPr>
              <a:t> </a:t>
            </a:r>
            <a:r>
              <a:rPr sz="2000" dirty="0">
                <a:solidFill>
                  <a:srgbClr val="1F3863"/>
                </a:solidFill>
                <a:latin typeface="Calibri"/>
                <a:cs typeface="Calibri"/>
              </a:rPr>
              <a:t>to</a:t>
            </a:r>
            <a:r>
              <a:rPr sz="2000" spc="-50" dirty="0">
                <a:solidFill>
                  <a:srgbClr val="1F3863"/>
                </a:solidFill>
                <a:latin typeface="Calibri"/>
                <a:cs typeface="Calibri"/>
              </a:rPr>
              <a:t> </a:t>
            </a:r>
            <a:r>
              <a:rPr sz="2000" dirty="0">
                <a:solidFill>
                  <a:srgbClr val="1F3863"/>
                </a:solidFill>
                <a:latin typeface="Calibri"/>
                <a:cs typeface="Calibri"/>
              </a:rPr>
              <a:t>play</a:t>
            </a:r>
            <a:r>
              <a:rPr sz="2000" spc="-40" dirty="0">
                <a:solidFill>
                  <a:srgbClr val="1F3863"/>
                </a:solidFill>
                <a:latin typeface="Calibri"/>
                <a:cs typeface="Calibri"/>
              </a:rPr>
              <a:t> </a:t>
            </a:r>
            <a:r>
              <a:rPr sz="2000" dirty="0">
                <a:solidFill>
                  <a:srgbClr val="1F3863"/>
                </a:solidFill>
                <a:latin typeface="Calibri"/>
                <a:cs typeface="Calibri"/>
              </a:rPr>
              <a:t>at</a:t>
            </a:r>
            <a:r>
              <a:rPr sz="2000" spc="-30" dirty="0">
                <a:solidFill>
                  <a:srgbClr val="1F3863"/>
                </a:solidFill>
                <a:latin typeface="Calibri"/>
                <a:cs typeface="Calibri"/>
              </a:rPr>
              <a:t> </a:t>
            </a:r>
            <a:r>
              <a:rPr sz="2000" dirty="0">
                <a:solidFill>
                  <a:srgbClr val="1F3863"/>
                </a:solidFill>
                <a:latin typeface="Calibri"/>
                <a:cs typeface="Calibri"/>
              </a:rPr>
              <a:t>the</a:t>
            </a:r>
            <a:r>
              <a:rPr sz="2000" spc="-45" dirty="0">
                <a:solidFill>
                  <a:srgbClr val="1F3863"/>
                </a:solidFill>
                <a:latin typeface="Calibri"/>
                <a:cs typeface="Calibri"/>
              </a:rPr>
              <a:t> </a:t>
            </a:r>
            <a:r>
              <a:rPr sz="2000" dirty="0">
                <a:solidFill>
                  <a:srgbClr val="1F3863"/>
                </a:solidFill>
                <a:latin typeface="Calibri"/>
                <a:cs typeface="Calibri"/>
              </a:rPr>
              <a:t>next</a:t>
            </a:r>
            <a:r>
              <a:rPr sz="2000" spc="-30" dirty="0">
                <a:solidFill>
                  <a:srgbClr val="1F3863"/>
                </a:solidFill>
                <a:latin typeface="Calibri"/>
                <a:cs typeface="Calibri"/>
              </a:rPr>
              <a:t> </a:t>
            </a:r>
            <a:r>
              <a:rPr sz="2000" dirty="0">
                <a:solidFill>
                  <a:srgbClr val="1F3863"/>
                </a:solidFill>
                <a:latin typeface="Calibri"/>
                <a:cs typeface="Calibri"/>
              </a:rPr>
              <a:t>level</a:t>
            </a:r>
            <a:r>
              <a:rPr sz="2000" spc="-35" dirty="0">
                <a:solidFill>
                  <a:srgbClr val="1F3863"/>
                </a:solidFill>
                <a:latin typeface="Calibri"/>
                <a:cs typeface="Calibri"/>
              </a:rPr>
              <a:t> </a:t>
            </a:r>
            <a:r>
              <a:rPr sz="2000" dirty="0">
                <a:solidFill>
                  <a:srgbClr val="1F3863"/>
                </a:solidFill>
                <a:latin typeface="Calibri"/>
                <a:cs typeface="Calibri"/>
              </a:rPr>
              <a:t>or</a:t>
            </a:r>
            <a:r>
              <a:rPr sz="2000" spc="-40" dirty="0">
                <a:solidFill>
                  <a:srgbClr val="1F3863"/>
                </a:solidFill>
                <a:latin typeface="Calibri"/>
                <a:cs typeface="Calibri"/>
              </a:rPr>
              <a:t> </a:t>
            </a:r>
            <a:r>
              <a:rPr sz="2000" dirty="0">
                <a:solidFill>
                  <a:srgbClr val="1F3863"/>
                </a:solidFill>
                <a:latin typeface="Calibri"/>
                <a:cs typeface="Calibri"/>
              </a:rPr>
              <a:t>quit.</a:t>
            </a:r>
            <a:r>
              <a:rPr sz="2000" spc="-55" dirty="0">
                <a:solidFill>
                  <a:srgbClr val="1F3863"/>
                </a:solidFill>
                <a:latin typeface="Calibri"/>
                <a:cs typeface="Calibri"/>
              </a:rPr>
              <a:t> </a:t>
            </a:r>
            <a:r>
              <a:rPr sz="2000" spc="-25" dirty="0">
                <a:solidFill>
                  <a:srgbClr val="1F3863"/>
                </a:solidFill>
                <a:latin typeface="Calibri"/>
                <a:cs typeface="Calibri"/>
              </a:rPr>
              <a:t>If </a:t>
            </a:r>
            <a:r>
              <a:rPr sz="2000" dirty="0">
                <a:solidFill>
                  <a:srgbClr val="1F3863"/>
                </a:solidFill>
                <a:latin typeface="Calibri"/>
                <a:cs typeface="Calibri"/>
              </a:rPr>
              <a:t>quit</a:t>
            </a:r>
            <a:r>
              <a:rPr sz="2000" spc="-50" dirty="0">
                <a:solidFill>
                  <a:srgbClr val="1F3863"/>
                </a:solidFill>
                <a:latin typeface="Calibri"/>
                <a:cs typeface="Calibri"/>
              </a:rPr>
              <a:t> </a:t>
            </a:r>
            <a:r>
              <a:rPr sz="2000" dirty="0">
                <a:solidFill>
                  <a:srgbClr val="1F3863"/>
                </a:solidFill>
                <a:latin typeface="Calibri"/>
                <a:cs typeface="Calibri"/>
              </a:rPr>
              <a:t>then</a:t>
            </a:r>
            <a:r>
              <a:rPr sz="2000" spc="-40" dirty="0">
                <a:solidFill>
                  <a:srgbClr val="1F3863"/>
                </a:solidFill>
                <a:latin typeface="Calibri"/>
                <a:cs typeface="Calibri"/>
              </a:rPr>
              <a:t> </a:t>
            </a:r>
            <a:r>
              <a:rPr sz="2000" dirty="0">
                <a:solidFill>
                  <a:srgbClr val="1F3863"/>
                </a:solidFill>
                <a:latin typeface="Calibri"/>
                <a:cs typeface="Calibri"/>
              </a:rPr>
              <a:t>the</a:t>
            </a:r>
            <a:r>
              <a:rPr sz="2000" spc="-35" dirty="0">
                <a:solidFill>
                  <a:srgbClr val="1F3863"/>
                </a:solidFill>
                <a:latin typeface="Calibri"/>
                <a:cs typeface="Calibri"/>
              </a:rPr>
              <a:t> </a:t>
            </a:r>
            <a:r>
              <a:rPr sz="2000" spc="-10" dirty="0">
                <a:solidFill>
                  <a:srgbClr val="1F3863"/>
                </a:solidFill>
                <a:latin typeface="Calibri"/>
                <a:cs typeface="Calibri"/>
              </a:rPr>
              <a:t>participant</a:t>
            </a:r>
            <a:r>
              <a:rPr sz="2000" spc="-25" dirty="0">
                <a:solidFill>
                  <a:srgbClr val="1F3863"/>
                </a:solidFill>
                <a:latin typeface="Calibri"/>
                <a:cs typeface="Calibri"/>
              </a:rPr>
              <a:t> </a:t>
            </a:r>
            <a:r>
              <a:rPr sz="2000" dirty="0">
                <a:solidFill>
                  <a:srgbClr val="1F3863"/>
                </a:solidFill>
                <a:latin typeface="Calibri"/>
                <a:cs typeface="Calibri"/>
              </a:rPr>
              <a:t>gets</a:t>
            </a:r>
            <a:r>
              <a:rPr sz="2000" spc="-45" dirty="0">
                <a:solidFill>
                  <a:srgbClr val="1F3863"/>
                </a:solidFill>
                <a:latin typeface="Calibri"/>
                <a:cs typeface="Calibri"/>
              </a:rPr>
              <a:t> </a:t>
            </a:r>
            <a:r>
              <a:rPr sz="2000" dirty="0">
                <a:solidFill>
                  <a:srgbClr val="1F3863"/>
                </a:solidFill>
                <a:latin typeface="Calibri"/>
                <a:cs typeface="Calibri"/>
              </a:rPr>
              <a:t>to</a:t>
            </a:r>
            <a:r>
              <a:rPr sz="2000" spc="-35" dirty="0">
                <a:solidFill>
                  <a:srgbClr val="1F3863"/>
                </a:solidFill>
                <a:latin typeface="Calibri"/>
                <a:cs typeface="Calibri"/>
              </a:rPr>
              <a:t> </a:t>
            </a:r>
            <a:r>
              <a:rPr sz="2000" spc="-10" dirty="0">
                <a:solidFill>
                  <a:srgbClr val="1F3863"/>
                </a:solidFill>
                <a:latin typeface="Calibri"/>
                <a:cs typeface="Calibri"/>
              </a:rPr>
              <a:t>keep</a:t>
            </a:r>
            <a:r>
              <a:rPr sz="2000" spc="-45" dirty="0">
                <a:solidFill>
                  <a:srgbClr val="1F3863"/>
                </a:solidFill>
                <a:latin typeface="Calibri"/>
                <a:cs typeface="Calibri"/>
              </a:rPr>
              <a:t> </a:t>
            </a:r>
            <a:r>
              <a:rPr sz="2000" dirty="0">
                <a:solidFill>
                  <a:srgbClr val="1F3863"/>
                </a:solidFill>
                <a:latin typeface="Calibri"/>
                <a:cs typeface="Calibri"/>
              </a:rPr>
              <a:t>all</a:t>
            </a:r>
            <a:r>
              <a:rPr sz="2000" spc="-30" dirty="0">
                <a:solidFill>
                  <a:srgbClr val="1F3863"/>
                </a:solidFill>
                <a:latin typeface="Calibri"/>
                <a:cs typeface="Calibri"/>
              </a:rPr>
              <a:t> </a:t>
            </a:r>
            <a:r>
              <a:rPr sz="2000" dirty="0">
                <a:solidFill>
                  <a:srgbClr val="1F3863"/>
                </a:solidFill>
                <a:latin typeface="Calibri"/>
                <a:cs typeface="Calibri"/>
              </a:rPr>
              <a:t>the</a:t>
            </a:r>
            <a:r>
              <a:rPr sz="2000" spc="-35" dirty="0">
                <a:solidFill>
                  <a:srgbClr val="1F3863"/>
                </a:solidFill>
                <a:latin typeface="Calibri"/>
                <a:cs typeface="Calibri"/>
              </a:rPr>
              <a:t> </a:t>
            </a:r>
            <a:r>
              <a:rPr sz="2000" spc="-10" dirty="0">
                <a:solidFill>
                  <a:srgbClr val="1F3863"/>
                </a:solidFill>
                <a:latin typeface="Calibri"/>
                <a:cs typeface="Calibri"/>
              </a:rPr>
              <a:t>rewards </a:t>
            </a:r>
            <a:r>
              <a:rPr sz="2000" dirty="0">
                <a:solidFill>
                  <a:srgbClr val="1F3863"/>
                </a:solidFill>
                <a:latin typeface="Calibri"/>
                <a:cs typeface="Calibri"/>
              </a:rPr>
              <a:t>earned</a:t>
            </a:r>
            <a:r>
              <a:rPr sz="2000" spc="-50" dirty="0">
                <a:solidFill>
                  <a:srgbClr val="1F3863"/>
                </a:solidFill>
                <a:latin typeface="Calibri"/>
                <a:cs typeface="Calibri"/>
              </a:rPr>
              <a:t> </a:t>
            </a:r>
            <a:r>
              <a:rPr sz="2000" dirty="0">
                <a:solidFill>
                  <a:srgbClr val="1F3863"/>
                </a:solidFill>
                <a:latin typeface="Calibri"/>
                <a:cs typeface="Calibri"/>
              </a:rPr>
              <a:t>so</a:t>
            </a:r>
            <a:r>
              <a:rPr sz="2000" spc="-55" dirty="0">
                <a:solidFill>
                  <a:srgbClr val="1F3863"/>
                </a:solidFill>
                <a:latin typeface="Calibri"/>
                <a:cs typeface="Calibri"/>
              </a:rPr>
              <a:t> </a:t>
            </a:r>
            <a:r>
              <a:rPr sz="2000" spc="-60" dirty="0">
                <a:solidFill>
                  <a:srgbClr val="1F3863"/>
                </a:solidFill>
                <a:latin typeface="Calibri"/>
                <a:cs typeface="Calibri"/>
              </a:rPr>
              <a:t>far.</a:t>
            </a:r>
            <a:r>
              <a:rPr sz="2000" spc="-55" dirty="0">
                <a:solidFill>
                  <a:srgbClr val="1F3863"/>
                </a:solidFill>
                <a:latin typeface="Calibri"/>
                <a:cs typeface="Calibri"/>
              </a:rPr>
              <a:t> </a:t>
            </a:r>
            <a:r>
              <a:rPr sz="2000" dirty="0">
                <a:solidFill>
                  <a:srgbClr val="1F3863"/>
                </a:solidFill>
                <a:latin typeface="Calibri"/>
                <a:cs typeface="Calibri"/>
              </a:rPr>
              <a:t>At</a:t>
            </a:r>
            <a:r>
              <a:rPr sz="2000" spc="-55" dirty="0">
                <a:solidFill>
                  <a:srgbClr val="1F3863"/>
                </a:solidFill>
                <a:latin typeface="Calibri"/>
                <a:cs typeface="Calibri"/>
              </a:rPr>
              <a:t> </a:t>
            </a:r>
            <a:r>
              <a:rPr sz="2000" dirty="0">
                <a:solidFill>
                  <a:srgbClr val="1F3863"/>
                </a:solidFill>
                <a:latin typeface="Calibri"/>
                <a:cs typeface="Calibri"/>
              </a:rPr>
              <a:t>any</a:t>
            </a:r>
            <a:r>
              <a:rPr sz="2000" spc="-45" dirty="0">
                <a:solidFill>
                  <a:srgbClr val="1F3863"/>
                </a:solidFill>
                <a:latin typeface="Calibri"/>
                <a:cs typeface="Calibri"/>
              </a:rPr>
              <a:t> </a:t>
            </a:r>
            <a:r>
              <a:rPr sz="2000" dirty="0">
                <a:solidFill>
                  <a:srgbClr val="1F3863"/>
                </a:solidFill>
                <a:latin typeface="Calibri"/>
                <a:cs typeface="Calibri"/>
              </a:rPr>
              <a:t>round</a:t>
            </a:r>
            <a:r>
              <a:rPr sz="2000" spc="-65" dirty="0">
                <a:solidFill>
                  <a:srgbClr val="1F3863"/>
                </a:solidFill>
                <a:latin typeface="Calibri"/>
                <a:cs typeface="Calibri"/>
              </a:rPr>
              <a:t> </a:t>
            </a:r>
            <a:r>
              <a:rPr sz="2000" dirty="0">
                <a:solidFill>
                  <a:srgbClr val="1F3863"/>
                </a:solidFill>
                <a:latin typeface="Calibri"/>
                <a:cs typeface="Calibri"/>
              </a:rPr>
              <a:t>if</a:t>
            </a:r>
            <a:r>
              <a:rPr sz="2000" spc="-50" dirty="0">
                <a:solidFill>
                  <a:srgbClr val="1F3863"/>
                </a:solidFill>
                <a:latin typeface="Calibri"/>
                <a:cs typeface="Calibri"/>
              </a:rPr>
              <a:t> </a:t>
            </a:r>
            <a:r>
              <a:rPr sz="2000" spc="-10" dirty="0">
                <a:solidFill>
                  <a:srgbClr val="1F3863"/>
                </a:solidFill>
                <a:latin typeface="Calibri"/>
                <a:cs typeface="Calibri"/>
              </a:rPr>
              <a:t>participants</a:t>
            </a:r>
            <a:r>
              <a:rPr sz="2000" spc="-35" dirty="0">
                <a:solidFill>
                  <a:srgbClr val="1F3863"/>
                </a:solidFill>
                <a:latin typeface="Calibri"/>
                <a:cs typeface="Calibri"/>
              </a:rPr>
              <a:t> </a:t>
            </a:r>
            <a:r>
              <a:rPr sz="2000" dirty="0">
                <a:solidFill>
                  <a:srgbClr val="1F3863"/>
                </a:solidFill>
                <a:latin typeface="Calibri"/>
                <a:cs typeface="Calibri"/>
              </a:rPr>
              <a:t>failed</a:t>
            </a:r>
            <a:r>
              <a:rPr sz="2000" spc="-40" dirty="0">
                <a:solidFill>
                  <a:srgbClr val="1F3863"/>
                </a:solidFill>
                <a:latin typeface="Calibri"/>
                <a:cs typeface="Calibri"/>
              </a:rPr>
              <a:t> </a:t>
            </a:r>
            <a:r>
              <a:rPr sz="2000" spc="-25" dirty="0">
                <a:solidFill>
                  <a:srgbClr val="1F3863"/>
                </a:solidFill>
                <a:latin typeface="Calibri"/>
                <a:cs typeface="Calibri"/>
              </a:rPr>
              <a:t>to </a:t>
            </a:r>
            <a:r>
              <a:rPr sz="2000" dirty="0">
                <a:solidFill>
                  <a:srgbClr val="1F3863"/>
                </a:solidFill>
                <a:latin typeface="Calibri"/>
                <a:cs typeface="Calibri"/>
              </a:rPr>
              <a:t>answer</a:t>
            </a:r>
            <a:r>
              <a:rPr sz="2000" spc="-65" dirty="0">
                <a:solidFill>
                  <a:srgbClr val="1F3863"/>
                </a:solidFill>
                <a:latin typeface="Calibri"/>
                <a:cs typeface="Calibri"/>
              </a:rPr>
              <a:t> </a:t>
            </a:r>
            <a:r>
              <a:rPr sz="2000" dirty="0">
                <a:solidFill>
                  <a:srgbClr val="1F3863"/>
                </a:solidFill>
                <a:latin typeface="Calibri"/>
                <a:cs typeface="Calibri"/>
              </a:rPr>
              <a:t>correctly</a:t>
            </a:r>
            <a:r>
              <a:rPr sz="2000" spc="-65" dirty="0">
                <a:solidFill>
                  <a:srgbClr val="1F3863"/>
                </a:solidFill>
                <a:latin typeface="Calibri"/>
                <a:cs typeface="Calibri"/>
              </a:rPr>
              <a:t> </a:t>
            </a:r>
            <a:r>
              <a:rPr sz="2000" dirty="0">
                <a:solidFill>
                  <a:srgbClr val="1F3863"/>
                </a:solidFill>
                <a:latin typeface="Calibri"/>
                <a:cs typeface="Calibri"/>
              </a:rPr>
              <a:t>then</a:t>
            </a:r>
            <a:r>
              <a:rPr sz="2000" spc="-65" dirty="0">
                <a:solidFill>
                  <a:srgbClr val="1F3863"/>
                </a:solidFill>
                <a:latin typeface="Calibri"/>
                <a:cs typeface="Calibri"/>
              </a:rPr>
              <a:t> </a:t>
            </a:r>
            <a:r>
              <a:rPr sz="2000" dirty="0">
                <a:solidFill>
                  <a:srgbClr val="1F3863"/>
                </a:solidFill>
                <a:latin typeface="Calibri"/>
                <a:cs typeface="Calibri"/>
              </a:rPr>
              <a:t>s/he</a:t>
            </a:r>
            <a:r>
              <a:rPr sz="2000" spc="-60" dirty="0">
                <a:solidFill>
                  <a:srgbClr val="1F3863"/>
                </a:solidFill>
                <a:latin typeface="Calibri"/>
                <a:cs typeface="Calibri"/>
              </a:rPr>
              <a:t> </a:t>
            </a:r>
            <a:r>
              <a:rPr sz="2000" dirty="0">
                <a:solidFill>
                  <a:srgbClr val="1F3863"/>
                </a:solidFill>
                <a:latin typeface="Calibri"/>
                <a:cs typeface="Calibri"/>
              </a:rPr>
              <a:t>looses</a:t>
            </a:r>
            <a:r>
              <a:rPr sz="2000" spc="-50" dirty="0">
                <a:solidFill>
                  <a:srgbClr val="1F3863"/>
                </a:solidFill>
                <a:latin typeface="Calibri"/>
                <a:cs typeface="Calibri"/>
              </a:rPr>
              <a:t> </a:t>
            </a:r>
            <a:r>
              <a:rPr sz="2000" dirty="0">
                <a:solidFill>
                  <a:srgbClr val="1F3863"/>
                </a:solidFill>
                <a:latin typeface="Calibri"/>
                <a:cs typeface="Calibri"/>
              </a:rPr>
              <a:t>“all”</a:t>
            </a:r>
            <a:r>
              <a:rPr sz="2000" spc="-50" dirty="0">
                <a:solidFill>
                  <a:srgbClr val="1F3863"/>
                </a:solidFill>
                <a:latin typeface="Calibri"/>
                <a:cs typeface="Calibri"/>
              </a:rPr>
              <a:t> </a:t>
            </a:r>
            <a:r>
              <a:rPr sz="2000" dirty="0">
                <a:solidFill>
                  <a:srgbClr val="1F3863"/>
                </a:solidFill>
                <a:latin typeface="Calibri"/>
                <a:cs typeface="Calibri"/>
              </a:rPr>
              <a:t>the</a:t>
            </a:r>
            <a:r>
              <a:rPr sz="2000" spc="-55" dirty="0">
                <a:solidFill>
                  <a:srgbClr val="1F3863"/>
                </a:solidFill>
                <a:latin typeface="Calibri"/>
                <a:cs typeface="Calibri"/>
              </a:rPr>
              <a:t> </a:t>
            </a:r>
            <a:r>
              <a:rPr sz="2000" spc="-10" dirty="0">
                <a:solidFill>
                  <a:srgbClr val="1F3863"/>
                </a:solidFill>
                <a:latin typeface="Calibri"/>
                <a:cs typeface="Calibri"/>
              </a:rPr>
              <a:t>rewards </a:t>
            </a:r>
            <a:r>
              <a:rPr sz="2000" dirty="0">
                <a:solidFill>
                  <a:srgbClr val="1F3863"/>
                </a:solidFill>
                <a:latin typeface="Calibri"/>
                <a:cs typeface="Calibri"/>
              </a:rPr>
              <a:t>earned</a:t>
            </a:r>
            <a:r>
              <a:rPr sz="2000" spc="-35" dirty="0">
                <a:solidFill>
                  <a:srgbClr val="1F3863"/>
                </a:solidFill>
                <a:latin typeface="Calibri"/>
                <a:cs typeface="Calibri"/>
              </a:rPr>
              <a:t> </a:t>
            </a:r>
            <a:r>
              <a:rPr sz="2000" dirty="0">
                <a:solidFill>
                  <a:srgbClr val="1F3863"/>
                </a:solidFill>
                <a:latin typeface="Calibri"/>
                <a:cs typeface="Calibri"/>
              </a:rPr>
              <a:t>so</a:t>
            </a:r>
            <a:r>
              <a:rPr sz="2000" spc="-45" dirty="0">
                <a:solidFill>
                  <a:srgbClr val="1F3863"/>
                </a:solidFill>
                <a:latin typeface="Calibri"/>
                <a:cs typeface="Calibri"/>
              </a:rPr>
              <a:t> </a:t>
            </a:r>
            <a:r>
              <a:rPr sz="2000" spc="-60" dirty="0">
                <a:solidFill>
                  <a:srgbClr val="1F3863"/>
                </a:solidFill>
                <a:latin typeface="Calibri"/>
                <a:cs typeface="Calibri"/>
              </a:rPr>
              <a:t>far.</a:t>
            </a:r>
            <a:r>
              <a:rPr sz="2000" spc="-40" dirty="0">
                <a:solidFill>
                  <a:srgbClr val="1F3863"/>
                </a:solidFill>
                <a:latin typeface="Calibri"/>
                <a:cs typeface="Calibri"/>
              </a:rPr>
              <a:t> </a:t>
            </a:r>
            <a:r>
              <a:rPr sz="2000" dirty="0">
                <a:solidFill>
                  <a:srgbClr val="1F3863"/>
                </a:solidFill>
                <a:latin typeface="Calibri"/>
                <a:cs typeface="Calibri"/>
              </a:rPr>
              <a:t>The</a:t>
            </a:r>
            <a:r>
              <a:rPr sz="2000" spc="-35" dirty="0">
                <a:solidFill>
                  <a:srgbClr val="1F3863"/>
                </a:solidFill>
                <a:latin typeface="Calibri"/>
                <a:cs typeface="Calibri"/>
              </a:rPr>
              <a:t> </a:t>
            </a:r>
            <a:r>
              <a:rPr sz="2000" dirty="0">
                <a:solidFill>
                  <a:srgbClr val="1F3863"/>
                </a:solidFill>
                <a:latin typeface="Calibri"/>
                <a:cs typeface="Calibri"/>
              </a:rPr>
              <a:t>game</a:t>
            </a:r>
            <a:r>
              <a:rPr sz="2000" spc="-50" dirty="0">
                <a:solidFill>
                  <a:srgbClr val="1F3863"/>
                </a:solidFill>
                <a:latin typeface="Calibri"/>
                <a:cs typeface="Calibri"/>
              </a:rPr>
              <a:t> </a:t>
            </a:r>
            <a:r>
              <a:rPr sz="2000" dirty="0">
                <a:solidFill>
                  <a:srgbClr val="1F3863"/>
                </a:solidFill>
                <a:latin typeface="Calibri"/>
                <a:cs typeface="Calibri"/>
              </a:rPr>
              <a:t>stops</a:t>
            </a:r>
            <a:r>
              <a:rPr sz="2000" spc="-25" dirty="0">
                <a:solidFill>
                  <a:srgbClr val="1F3863"/>
                </a:solidFill>
                <a:latin typeface="Calibri"/>
                <a:cs typeface="Calibri"/>
              </a:rPr>
              <a:t> </a:t>
            </a:r>
            <a:r>
              <a:rPr sz="2000" dirty="0">
                <a:solidFill>
                  <a:srgbClr val="1F3863"/>
                </a:solidFill>
                <a:latin typeface="Calibri"/>
                <a:cs typeface="Calibri"/>
              </a:rPr>
              <a:t>at</a:t>
            </a:r>
            <a:r>
              <a:rPr sz="2000" spc="-35" dirty="0">
                <a:solidFill>
                  <a:srgbClr val="1F3863"/>
                </a:solidFill>
                <a:latin typeface="Calibri"/>
                <a:cs typeface="Calibri"/>
              </a:rPr>
              <a:t> </a:t>
            </a:r>
            <a:r>
              <a:rPr sz="2000" dirty="0">
                <a:solidFill>
                  <a:srgbClr val="1F3863"/>
                </a:solidFill>
                <a:latin typeface="Calibri"/>
                <a:cs typeface="Calibri"/>
              </a:rPr>
              <a:t>level</a:t>
            </a:r>
            <a:r>
              <a:rPr sz="2000" spc="-15" dirty="0">
                <a:solidFill>
                  <a:srgbClr val="1F3863"/>
                </a:solidFill>
                <a:latin typeface="Calibri"/>
                <a:cs typeface="Calibri"/>
              </a:rPr>
              <a:t> </a:t>
            </a:r>
            <a:r>
              <a:rPr sz="2000" dirty="0">
                <a:solidFill>
                  <a:srgbClr val="1F3863"/>
                </a:solidFill>
                <a:latin typeface="Calibri"/>
                <a:cs typeface="Calibri"/>
              </a:rPr>
              <a:t>10.</a:t>
            </a:r>
            <a:r>
              <a:rPr sz="2000" spc="-55" dirty="0">
                <a:solidFill>
                  <a:srgbClr val="1F3863"/>
                </a:solidFill>
                <a:latin typeface="Calibri"/>
                <a:cs typeface="Calibri"/>
              </a:rPr>
              <a:t> </a:t>
            </a:r>
            <a:r>
              <a:rPr sz="2000" dirty="0">
                <a:solidFill>
                  <a:srgbClr val="1F3863"/>
                </a:solidFill>
                <a:latin typeface="Calibri"/>
                <a:cs typeface="Calibri"/>
              </a:rPr>
              <a:t>The</a:t>
            </a:r>
            <a:r>
              <a:rPr sz="2000" spc="-45" dirty="0">
                <a:solidFill>
                  <a:srgbClr val="1F3863"/>
                </a:solidFill>
                <a:latin typeface="Calibri"/>
                <a:cs typeface="Calibri"/>
              </a:rPr>
              <a:t> </a:t>
            </a:r>
            <a:r>
              <a:rPr sz="2000" dirty="0">
                <a:solidFill>
                  <a:srgbClr val="1F3863"/>
                </a:solidFill>
                <a:latin typeface="Calibri"/>
                <a:cs typeface="Calibri"/>
              </a:rPr>
              <a:t>goal</a:t>
            </a:r>
            <a:r>
              <a:rPr sz="2000" spc="-50" dirty="0">
                <a:solidFill>
                  <a:srgbClr val="1F3863"/>
                </a:solidFill>
                <a:latin typeface="Calibri"/>
                <a:cs typeface="Calibri"/>
              </a:rPr>
              <a:t> </a:t>
            </a:r>
            <a:r>
              <a:rPr sz="2000" dirty="0">
                <a:solidFill>
                  <a:srgbClr val="1F3863"/>
                </a:solidFill>
                <a:latin typeface="Calibri"/>
                <a:cs typeface="Calibri"/>
              </a:rPr>
              <a:t>is</a:t>
            </a:r>
            <a:r>
              <a:rPr sz="2000" spc="-30" dirty="0">
                <a:solidFill>
                  <a:srgbClr val="1F3863"/>
                </a:solidFill>
                <a:latin typeface="Calibri"/>
                <a:cs typeface="Calibri"/>
              </a:rPr>
              <a:t> </a:t>
            </a:r>
            <a:r>
              <a:rPr sz="2000" spc="-25" dirty="0">
                <a:solidFill>
                  <a:srgbClr val="1F3863"/>
                </a:solidFill>
                <a:latin typeface="Calibri"/>
                <a:cs typeface="Calibri"/>
              </a:rPr>
              <a:t>to </a:t>
            </a:r>
            <a:r>
              <a:rPr sz="2000" dirty="0">
                <a:solidFill>
                  <a:srgbClr val="1F3863"/>
                </a:solidFill>
                <a:latin typeface="Calibri"/>
                <a:cs typeface="Calibri"/>
              </a:rPr>
              <a:t>decide</a:t>
            </a:r>
            <a:r>
              <a:rPr sz="2000" spc="-40" dirty="0">
                <a:solidFill>
                  <a:srgbClr val="1F3863"/>
                </a:solidFill>
                <a:latin typeface="Calibri"/>
                <a:cs typeface="Calibri"/>
              </a:rPr>
              <a:t> </a:t>
            </a:r>
            <a:r>
              <a:rPr sz="2000" dirty="0">
                <a:solidFill>
                  <a:srgbClr val="1F3863"/>
                </a:solidFill>
                <a:latin typeface="Calibri"/>
                <a:cs typeface="Calibri"/>
              </a:rPr>
              <a:t>on</a:t>
            </a:r>
            <a:r>
              <a:rPr sz="2000" spc="-60" dirty="0">
                <a:solidFill>
                  <a:srgbClr val="1F3863"/>
                </a:solidFill>
                <a:latin typeface="Calibri"/>
                <a:cs typeface="Calibri"/>
              </a:rPr>
              <a:t> </a:t>
            </a:r>
            <a:r>
              <a:rPr sz="2000" dirty="0">
                <a:solidFill>
                  <a:srgbClr val="1F3863"/>
                </a:solidFill>
                <a:latin typeface="Calibri"/>
                <a:cs typeface="Calibri"/>
              </a:rPr>
              <a:t>the</a:t>
            </a:r>
            <a:r>
              <a:rPr sz="2000" spc="-40" dirty="0">
                <a:solidFill>
                  <a:srgbClr val="1F3863"/>
                </a:solidFill>
                <a:latin typeface="Calibri"/>
                <a:cs typeface="Calibri"/>
              </a:rPr>
              <a:t> </a:t>
            </a:r>
            <a:r>
              <a:rPr sz="2000" dirty="0">
                <a:solidFill>
                  <a:srgbClr val="1F3863"/>
                </a:solidFill>
                <a:latin typeface="Calibri"/>
                <a:cs typeface="Calibri"/>
              </a:rPr>
              <a:t>actions</a:t>
            </a:r>
            <a:r>
              <a:rPr sz="2000" spc="-45" dirty="0">
                <a:solidFill>
                  <a:srgbClr val="1F3863"/>
                </a:solidFill>
                <a:latin typeface="Calibri"/>
                <a:cs typeface="Calibri"/>
              </a:rPr>
              <a:t> </a:t>
            </a:r>
            <a:r>
              <a:rPr sz="2000" dirty="0">
                <a:solidFill>
                  <a:srgbClr val="1F3863"/>
                </a:solidFill>
                <a:latin typeface="Calibri"/>
                <a:cs typeface="Calibri"/>
              </a:rPr>
              <a:t>to</a:t>
            </a:r>
            <a:r>
              <a:rPr sz="2000" spc="-45" dirty="0">
                <a:solidFill>
                  <a:srgbClr val="1F3863"/>
                </a:solidFill>
                <a:latin typeface="Calibri"/>
                <a:cs typeface="Calibri"/>
              </a:rPr>
              <a:t> </a:t>
            </a:r>
            <a:r>
              <a:rPr sz="2000" dirty="0">
                <a:solidFill>
                  <a:srgbClr val="1F3863"/>
                </a:solidFill>
                <a:latin typeface="Calibri"/>
                <a:cs typeface="Calibri"/>
              </a:rPr>
              <a:t>play</a:t>
            </a:r>
            <a:r>
              <a:rPr sz="2000" spc="-40" dirty="0">
                <a:solidFill>
                  <a:srgbClr val="1F3863"/>
                </a:solidFill>
                <a:latin typeface="Calibri"/>
                <a:cs typeface="Calibri"/>
              </a:rPr>
              <a:t> </a:t>
            </a:r>
            <a:r>
              <a:rPr sz="2000" dirty="0">
                <a:solidFill>
                  <a:srgbClr val="1F3863"/>
                </a:solidFill>
                <a:latin typeface="Calibri"/>
                <a:cs typeface="Calibri"/>
              </a:rPr>
              <a:t>or</a:t>
            </a:r>
            <a:r>
              <a:rPr sz="2000" spc="-55" dirty="0">
                <a:solidFill>
                  <a:srgbClr val="1F3863"/>
                </a:solidFill>
                <a:latin typeface="Calibri"/>
                <a:cs typeface="Calibri"/>
              </a:rPr>
              <a:t> </a:t>
            </a:r>
            <a:r>
              <a:rPr sz="2000" dirty="0">
                <a:solidFill>
                  <a:srgbClr val="1F3863"/>
                </a:solidFill>
                <a:latin typeface="Calibri"/>
                <a:cs typeface="Calibri"/>
              </a:rPr>
              <a:t>quit</a:t>
            </a:r>
            <a:r>
              <a:rPr sz="2000" spc="-40" dirty="0">
                <a:solidFill>
                  <a:srgbClr val="1F3863"/>
                </a:solidFill>
                <a:latin typeface="Calibri"/>
                <a:cs typeface="Calibri"/>
              </a:rPr>
              <a:t> </a:t>
            </a:r>
            <a:r>
              <a:rPr sz="2000" dirty="0">
                <a:solidFill>
                  <a:srgbClr val="1F3863"/>
                </a:solidFill>
                <a:latin typeface="Calibri"/>
                <a:cs typeface="Calibri"/>
              </a:rPr>
              <a:t>maximizing</a:t>
            </a:r>
            <a:r>
              <a:rPr sz="2000" spc="-35" dirty="0">
                <a:solidFill>
                  <a:srgbClr val="1F3863"/>
                </a:solidFill>
                <a:latin typeface="Calibri"/>
                <a:cs typeface="Calibri"/>
              </a:rPr>
              <a:t> </a:t>
            </a:r>
            <a:r>
              <a:rPr sz="2000" spc="-10" dirty="0">
                <a:solidFill>
                  <a:srgbClr val="1F3863"/>
                </a:solidFill>
                <a:latin typeface="Calibri"/>
                <a:cs typeface="Calibri"/>
              </a:rPr>
              <a:t>total rewards.</a:t>
            </a:r>
            <a:endParaRPr sz="2000">
              <a:latin typeface="Calibri"/>
              <a:cs typeface="Calibri"/>
            </a:endParaRPr>
          </a:p>
        </p:txBody>
      </p:sp>
      <p:sp>
        <p:nvSpPr>
          <p:cNvPr id="6" name="object 6"/>
          <p:cNvSpPr txBox="1"/>
          <p:nvPr/>
        </p:nvSpPr>
        <p:spPr>
          <a:xfrm>
            <a:off x="591616" y="2802128"/>
            <a:ext cx="10137140" cy="391160"/>
          </a:xfrm>
          <a:prstGeom prst="rect">
            <a:avLst/>
          </a:prstGeom>
        </p:spPr>
        <p:txBody>
          <a:bodyPr vert="horz" wrap="square" lIns="0" tIns="12700" rIns="0" bIns="0" rtlCol="0">
            <a:spAutoFit/>
          </a:bodyPr>
          <a:lstStyle/>
          <a:p>
            <a:pPr marL="38100">
              <a:lnSpc>
                <a:spcPct val="100000"/>
              </a:lnSpc>
              <a:spcBef>
                <a:spcPts val="100"/>
              </a:spcBef>
              <a:tabLst>
                <a:tab pos="7171055" algn="l"/>
              </a:tabLst>
            </a:pPr>
            <a:r>
              <a:rPr sz="2000" dirty="0">
                <a:solidFill>
                  <a:srgbClr val="1F3863"/>
                </a:solidFill>
                <a:latin typeface="Calibri"/>
                <a:cs typeface="Calibri"/>
              </a:rPr>
              <a:t>quiz</a:t>
            </a:r>
            <a:r>
              <a:rPr sz="2000" spc="-50" dirty="0">
                <a:solidFill>
                  <a:srgbClr val="1F3863"/>
                </a:solidFill>
                <a:latin typeface="Calibri"/>
                <a:cs typeface="Calibri"/>
              </a:rPr>
              <a:t> </a:t>
            </a:r>
            <a:r>
              <a:rPr sz="2000" dirty="0">
                <a:solidFill>
                  <a:srgbClr val="1F3863"/>
                </a:solidFill>
                <a:latin typeface="Calibri"/>
                <a:cs typeface="Calibri"/>
              </a:rPr>
              <a:t>correctly</a:t>
            </a:r>
            <a:r>
              <a:rPr sz="2000" spc="-40" dirty="0">
                <a:solidFill>
                  <a:srgbClr val="1F3863"/>
                </a:solidFill>
                <a:latin typeface="Calibri"/>
                <a:cs typeface="Calibri"/>
              </a:rPr>
              <a:t> </a:t>
            </a:r>
            <a:r>
              <a:rPr sz="2000" dirty="0">
                <a:solidFill>
                  <a:srgbClr val="1F3863"/>
                </a:solidFill>
                <a:latin typeface="Calibri"/>
                <a:cs typeface="Calibri"/>
              </a:rPr>
              <a:t>then</a:t>
            </a:r>
            <a:r>
              <a:rPr sz="2000" spc="-40" dirty="0">
                <a:solidFill>
                  <a:srgbClr val="1F3863"/>
                </a:solidFill>
                <a:latin typeface="Calibri"/>
                <a:cs typeface="Calibri"/>
              </a:rPr>
              <a:t> </a:t>
            </a:r>
            <a:r>
              <a:rPr sz="2000" dirty="0">
                <a:solidFill>
                  <a:srgbClr val="1F3863"/>
                </a:solidFill>
                <a:latin typeface="Calibri"/>
                <a:cs typeface="Calibri"/>
              </a:rPr>
              <a:t>s/he</a:t>
            </a:r>
            <a:r>
              <a:rPr sz="2000" spc="-45" dirty="0">
                <a:solidFill>
                  <a:srgbClr val="1F3863"/>
                </a:solidFill>
                <a:latin typeface="Calibri"/>
                <a:cs typeface="Calibri"/>
              </a:rPr>
              <a:t> </a:t>
            </a:r>
            <a:r>
              <a:rPr sz="2000" dirty="0">
                <a:solidFill>
                  <a:srgbClr val="1F3863"/>
                </a:solidFill>
                <a:latin typeface="Calibri"/>
                <a:cs typeface="Calibri"/>
              </a:rPr>
              <a:t>wins</a:t>
            </a:r>
            <a:r>
              <a:rPr sz="2000" spc="-35" dirty="0">
                <a:solidFill>
                  <a:srgbClr val="1F3863"/>
                </a:solidFill>
                <a:latin typeface="Calibri"/>
                <a:cs typeface="Calibri"/>
              </a:rPr>
              <a:t> </a:t>
            </a:r>
            <a:r>
              <a:rPr sz="2000" dirty="0">
                <a:solidFill>
                  <a:srgbClr val="1F3863"/>
                </a:solidFill>
                <a:latin typeface="Calibri"/>
                <a:cs typeface="Calibri"/>
              </a:rPr>
              <a:t>the</a:t>
            </a:r>
            <a:r>
              <a:rPr sz="2000" spc="-35" dirty="0">
                <a:solidFill>
                  <a:srgbClr val="1F3863"/>
                </a:solidFill>
                <a:latin typeface="Calibri"/>
                <a:cs typeface="Calibri"/>
              </a:rPr>
              <a:t> </a:t>
            </a:r>
            <a:r>
              <a:rPr sz="2000" spc="-10" dirty="0">
                <a:solidFill>
                  <a:srgbClr val="1F3863"/>
                </a:solidFill>
                <a:latin typeface="Calibri"/>
                <a:cs typeface="Calibri"/>
              </a:rPr>
              <a:t>reward</a:t>
            </a:r>
            <a:r>
              <a:rPr sz="2000" spc="-35" dirty="0">
                <a:solidFill>
                  <a:srgbClr val="1F3863"/>
                </a:solidFill>
                <a:latin typeface="Calibri"/>
                <a:cs typeface="Calibri"/>
              </a:rPr>
              <a:t> </a:t>
            </a:r>
            <a:r>
              <a:rPr sz="2000" dirty="0">
                <a:solidFill>
                  <a:srgbClr val="1F3863"/>
                </a:solidFill>
                <a:latin typeface="Calibri"/>
                <a:cs typeface="Calibri"/>
              </a:rPr>
              <a:t>and</a:t>
            </a:r>
            <a:r>
              <a:rPr sz="2000" spc="-45" dirty="0">
                <a:solidFill>
                  <a:srgbClr val="1F3863"/>
                </a:solidFill>
                <a:latin typeface="Calibri"/>
                <a:cs typeface="Calibri"/>
              </a:rPr>
              <a:t> </a:t>
            </a:r>
            <a:r>
              <a:rPr sz="2000" dirty="0">
                <a:solidFill>
                  <a:srgbClr val="1F3863"/>
                </a:solidFill>
                <a:latin typeface="Calibri"/>
                <a:cs typeface="Calibri"/>
              </a:rPr>
              <a:t>also</a:t>
            </a:r>
            <a:r>
              <a:rPr sz="2000" spc="-30" dirty="0">
                <a:solidFill>
                  <a:srgbClr val="1F3863"/>
                </a:solidFill>
                <a:latin typeface="Calibri"/>
                <a:cs typeface="Calibri"/>
              </a:rPr>
              <a:t> </a:t>
            </a:r>
            <a:r>
              <a:rPr sz="2000" dirty="0">
                <a:solidFill>
                  <a:srgbClr val="1F3863"/>
                </a:solidFill>
                <a:latin typeface="Calibri"/>
                <a:cs typeface="Calibri"/>
              </a:rPr>
              <a:t>gets</a:t>
            </a:r>
            <a:r>
              <a:rPr sz="2000" spc="45" dirty="0">
                <a:solidFill>
                  <a:srgbClr val="1F3863"/>
                </a:solidFill>
                <a:latin typeface="Calibri"/>
                <a:cs typeface="Calibri"/>
              </a:rPr>
              <a:t> </a:t>
            </a:r>
            <a:r>
              <a:rPr sz="3600" baseline="-15046" dirty="0">
                <a:solidFill>
                  <a:srgbClr val="1F3863"/>
                </a:solidFill>
                <a:latin typeface="Arial MT"/>
                <a:cs typeface="Arial MT"/>
              </a:rPr>
              <a:t>•</a:t>
            </a:r>
            <a:r>
              <a:rPr sz="3600" spc="330" baseline="-15046" dirty="0">
                <a:solidFill>
                  <a:srgbClr val="1F3863"/>
                </a:solidFill>
                <a:latin typeface="Arial MT"/>
                <a:cs typeface="Arial MT"/>
              </a:rPr>
              <a:t> </a:t>
            </a:r>
            <a:r>
              <a:rPr sz="3600" spc="-15" baseline="-15046" dirty="0">
                <a:solidFill>
                  <a:srgbClr val="1F3863"/>
                </a:solidFill>
                <a:latin typeface="Calibri"/>
                <a:cs typeface="Calibri"/>
              </a:rPr>
              <a:t>Rewards:</a:t>
            </a:r>
            <a:r>
              <a:rPr sz="3600" baseline="-15046" dirty="0">
                <a:solidFill>
                  <a:srgbClr val="1F3863"/>
                </a:solidFill>
                <a:latin typeface="Calibri"/>
                <a:cs typeface="Calibri"/>
              </a:rPr>
              <a:t>	Play</a:t>
            </a:r>
            <a:r>
              <a:rPr sz="3600" spc="-120" baseline="-15046" dirty="0">
                <a:solidFill>
                  <a:srgbClr val="1F3863"/>
                </a:solidFill>
                <a:latin typeface="Calibri"/>
                <a:cs typeface="Calibri"/>
              </a:rPr>
              <a:t> </a:t>
            </a:r>
            <a:r>
              <a:rPr sz="3600" baseline="-15046" dirty="0">
                <a:solidFill>
                  <a:srgbClr val="1F3863"/>
                </a:solidFill>
                <a:latin typeface="Calibri"/>
                <a:cs typeface="Calibri"/>
              </a:rPr>
              <a:t>at</a:t>
            </a:r>
            <a:r>
              <a:rPr sz="3600" spc="-135" baseline="-15046" dirty="0">
                <a:solidFill>
                  <a:srgbClr val="1F3863"/>
                </a:solidFill>
                <a:latin typeface="Calibri"/>
                <a:cs typeface="Calibri"/>
              </a:rPr>
              <a:t> </a:t>
            </a:r>
            <a:r>
              <a:rPr sz="3600" baseline="-15046" dirty="0">
                <a:solidFill>
                  <a:srgbClr val="1F3863"/>
                </a:solidFill>
                <a:latin typeface="Calibri"/>
                <a:cs typeface="Calibri"/>
              </a:rPr>
              <a:t>level1,</a:t>
            </a:r>
            <a:r>
              <a:rPr sz="3600" spc="-120" baseline="-15046" dirty="0">
                <a:solidFill>
                  <a:srgbClr val="1F3863"/>
                </a:solidFill>
                <a:latin typeface="Calibri"/>
                <a:cs typeface="Calibri"/>
              </a:rPr>
              <a:t> </a:t>
            </a:r>
            <a:r>
              <a:rPr sz="3600" baseline="-15046" dirty="0">
                <a:solidFill>
                  <a:srgbClr val="1F3863"/>
                </a:solidFill>
                <a:latin typeface="Calibri"/>
                <a:cs typeface="Calibri"/>
              </a:rPr>
              <a:t>level2,</a:t>
            </a:r>
            <a:r>
              <a:rPr sz="3600" spc="-112" baseline="-15046" dirty="0">
                <a:solidFill>
                  <a:srgbClr val="1F3863"/>
                </a:solidFill>
                <a:latin typeface="Calibri"/>
                <a:cs typeface="Calibri"/>
              </a:rPr>
              <a:t> </a:t>
            </a:r>
            <a:r>
              <a:rPr sz="3600" spc="-37" baseline="-15046" dirty="0">
                <a:solidFill>
                  <a:srgbClr val="1F3863"/>
                </a:solidFill>
                <a:latin typeface="Calibri"/>
                <a:cs typeface="Calibri"/>
              </a:rPr>
              <a:t>…,</a:t>
            </a:r>
            <a:endParaRPr sz="3600" baseline="-15046">
              <a:latin typeface="Calibri"/>
              <a:cs typeface="Calibri"/>
            </a:endParaRPr>
          </a:p>
        </p:txBody>
      </p:sp>
      <p:sp>
        <p:nvSpPr>
          <p:cNvPr id="7" name="object 7"/>
          <p:cNvSpPr txBox="1"/>
          <p:nvPr/>
        </p:nvSpPr>
        <p:spPr>
          <a:xfrm>
            <a:off x="6251575" y="1351279"/>
            <a:ext cx="4340225" cy="39116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400" dirty="0">
                <a:solidFill>
                  <a:srgbClr val="1F3863"/>
                </a:solidFill>
                <a:latin typeface="Calibri"/>
                <a:cs typeface="Calibri"/>
              </a:rPr>
              <a:t>States:</a:t>
            </a:r>
            <a:r>
              <a:rPr sz="2400" spc="-114" dirty="0">
                <a:solidFill>
                  <a:srgbClr val="1F3863"/>
                </a:solidFill>
                <a:latin typeface="Calibri"/>
                <a:cs typeface="Calibri"/>
              </a:rPr>
              <a:t> </a:t>
            </a:r>
            <a:r>
              <a:rPr sz="2400" dirty="0">
                <a:solidFill>
                  <a:srgbClr val="1F3863"/>
                </a:solidFill>
                <a:latin typeface="Calibri"/>
                <a:cs typeface="Calibri"/>
              </a:rPr>
              <a:t>{level1,</a:t>
            </a:r>
            <a:r>
              <a:rPr sz="2400" spc="-80" dirty="0">
                <a:solidFill>
                  <a:srgbClr val="1F3863"/>
                </a:solidFill>
                <a:latin typeface="Calibri"/>
                <a:cs typeface="Calibri"/>
              </a:rPr>
              <a:t> </a:t>
            </a:r>
            <a:r>
              <a:rPr sz="2400" dirty="0">
                <a:solidFill>
                  <a:srgbClr val="1F3863"/>
                </a:solidFill>
                <a:latin typeface="Calibri"/>
                <a:cs typeface="Calibri"/>
              </a:rPr>
              <a:t>level2,</a:t>
            </a:r>
            <a:r>
              <a:rPr sz="2400" spc="-80" dirty="0">
                <a:solidFill>
                  <a:srgbClr val="1F3863"/>
                </a:solidFill>
                <a:latin typeface="Calibri"/>
                <a:cs typeface="Calibri"/>
              </a:rPr>
              <a:t> </a:t>
            </a:r>
            <a:r>
              <a:rPr sz="2400" dirty="0">
                <a:solidFill>
                  <a:srgbClr val="1F3863"/>
                </a:solidFill>
                <a:latin typeface="Calibri"/>
                <a:cs typeface="Calibri"/>
              </a:rPr>
              <a:t>…,</a:t>
            </a:r>
            <a:r>
              <a:rPr sz="2400" spc="-75" dirty="0">
                <a:solidFill>
                  <a:srgbClr val="1F3863"/>
                </a:solidFill>
                <a:latin typeface="Calibri"/>
                <a:cs typeface="Calibri"/>
              </a:rPr>
              <a:t> </a:t>
            </a:r>
            <a:r>
              <a:rPr sz="2400" spc="-10" dirty="0">
                <a:solidFill>
                  <a:srgbClr val="1F3863"/>
                </a:solidFill>
                <a:latin typeface="Calibri"/>
                <a:cs typeface="Calibri"/>
              </a:rPr>
              <a:t>level10}</a:t>
            </a:r>
            <a:endParaRPr sz="2400">
              <a:latin typeface="Calibri"/>
              <a:cs typeface="Calibri"/>
            </a:endParaRPr>
          </a:p>
        </p:txBody>
      </p:sp>
      <p:sp>
        <p:nvSpPr>
          <p:cNvPr id="8" name="object 8"/>
          <p:cNvSpPr txBox="1"/>
          <p:nvPr/>
        </p:nvSpPr>
        <p:spPr>
          <a:xfrm>
            <a:off x="6251575" y="2117852"/>
            <a:ext cx="4291330" cy="39116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Lst>
            </a:pPr>
            <a:r>
              <a:rPr sz="2400" dirty="0">
                <a:solidFill>
                  <a:srgbClr val="1F3863"/>
                </a:solidFill>
                <a:latin typeface="Calibri"/>
                <a:cs typeface="Calibri"/>
              </a:rPr>
              <a:t>Actions:</a:t>
            </a:r>
            <a:r>
              <a:rPr sz="2400" spc="-70" dirty="0">
                <a:solidFill>
                  <a:srgbClr val="1F3863"/>
                </a:solidFill>
                <a:latin typeface="Calibri"/>
                <a:cs typeface="Calibri"/>
              </a:rPr>
              <a:t> </a:t>
            </a:r>
            <a:r>
              <a:rPr sz="2400" dirty="0">
                <a:solidFill>
                  <a:srgbClr val="1F3863"/>
                </a:solidFill>
                <a:latin typeface="Calibri"/>
                <a:cs typeface="Calibri"/>
              </a:rPr>
              <a:t>Play</a:t>
            </a:r>
            <a:r>
              <a:rPr sz="2400" spc="-55" dirty="0">
                <a:solidFill>
                  <a:srgbClr val="1F3863"/>
                </a:solidFill>
                <a:latin typeface="Calibri"/>
                <a:cs typeface="Calibri"/>
              </a:rPr>
              <a:t> </a:t>
            </a:r>
            <a:r>
              <a:rPr sz="2400" dirty="0">
                <a:solidFill>
                  <a:srgbClr val="1F3863"/>
                </a:solidFill>
                <a:latin typeface="Calibri"/>
                <a:cs typeface="Calibri"/>
              </a:rPr>
              <a:t>at</a:t>
            </a:r>
            <a:r>
              <a:rPr sz="2400" spc="-50" dirty="0">
                <a:solidFill>
                  <a:srgbClr val="1F3863"/>
                </a:solidFill>
                <a:latin typeface="Calibri"/>
                <a:cs typeface="Calibri"/>
              </a:rPr>
              <a:t> </a:t>
            </a:r>
            <a:r>
              <a:rPr sz="2400" dirty="0">
                <a:solidFill>
                  <a:srgbClr val="1F3863"/>
                </a:solidFill>
                <a:latin typeface="Calibri"/>
                <a:cs typeface="Calibri"/>
              </a:rPr>
              <a:t>next</a:t>
            </a:r>
            <a:r>
              <a:rPr sz="2400" spc="-55" dirty="0">
                <a:solidFill>
                  <a:srgbClr val="1F3863"/>
                </a:solidFill>
                <a:latin typeface="Calibri"/>
                <a:cs typeface="Calibri"/>
              </a:rPr>
              <a:t> </a:t>
            </a:r>
            <a:r>
              <a:rPr sz="2400" dirty="0">
                <a:solidFill>
                  <a:srgbClr val="1F3863"/>
                </a:solidFill>
                <a:latin typeface="Calibri"/>
                <a:cs typeface="Calibri"/>
              </a:rPr>
              <a:t>level</a:t>
            </a:r>
            <a:r>
              <a:rPr sz="2400" spc="-45" dirty="0">
                <a:solidFill>
                  <a:srgbClr val="1F3863"/>
                </a:solidFill>
                <a:latin typeface="Calibri"/>
                <a:cs typeface="Calibri"/>
              </a:rPr>
              <a:t> </a:t>
            </a:r>
            <a:r>
              <a:rPr sz="2400" dirty="0">
                <a:solidFill>
                  <a:srgbClr val="1F3863"/>
                </a:solidFill>
                <a:latin typeface="Calibri"/>
                <a:cs typeface="Calibri"/>
              </a:rPr>
              <a:t>or</a:t>
            </a:r>
            <a:r>
              <a:rPr sz="2400" spc="-45" dirty="0">
                <a:solidFill>
                  <a:srgbClr val="1F3863"/>
                </a:solidFill>
                <a:latin typeface="Calibri"/>
                <a:cs typeface="Calibri"/>
              </a:rPr>
              <a:t> </a:t>
            </a:r>
            <a:r>
              <a:rPr sz="2400" spc="-20" dirty="0">
                <a:solidFill>
                  <a:srgbClr val="1F3863"/>
                </a:solidFill>
                <a:latin typeface="Calibri"/>
                <a:cs typeface="Calibri"/>
              </a:rPr>
              <a:t>quit</a:t>
            </a:r>
            <a:endParaRPr sz="2400">
              <a:latin typeface="Calibri"/>
              <a:cs typeface="Calibri"/>
            </a:endParaRPr>
          </a:p>
        </p:txBody>
      </p:sp>
      <p:sp>
        <p:nvSpPr>
          <p:cNvPr id="9" name="object 9"/>
          <p:cNvSpPr txBox="1"/>
          <p:nvPr/>
        </p:nvSpPr>
        <p:spPr>
          <a:xfrm>
            <a:off x="6480428" y="3139185"/>
            <a:ext cx="4615180" cy="2696210"/>
          </a:xfrm>
          <a:prstGeom prst="rect">
            <a:avLst/>
          </a:prstGeom>
        </p:spPr>
        <p:txBody>
          <a:bodyPr vert="horz" wrap="square" lIns="0" tIns="12700" rIns="0" bIns="0" rtlCol="0">
            <a:spAutoFit/>
          </a:bodyPr>
          <a:lstStyle/>
          <a:p>
            <a:pPr marL="12700">
              <a:lnSpc>
                <a:spcPts val="2450"/>
              </a:lnSpc>
              <a:spcBef>
                <a:spcPts val="100"/>
              </a:spcBef>
            </a:pPr>
            <a:r>
              <a:rPr sz="2400" dirty="0">
                <a:solidFill>
                  <a:srgbClr val="1F3863"/>
                </a:solidFill>
                <a:latin typeface="Calibri"/>
                <a:cs typeface="Calibri"/>
              </a:rPr>
              <a:t>level10</a:t>
            </a:r>
            <a:r>
              <a:rPr sz="2400" spc="-75" dirty="0">
                <a:solidFill>
                  <a:srgbClr val="1F3863"/>
                </a:solidFill>
                <a:latin typeface="Calibri"/>
                <a:cs typeface="Calibri"/>
              </a:rPr>
              <a:t> </a:t>
            </a:r>
            <a:r>
              <a:rPr sz="2400" spc="-10" dirty="0">
                <a:solidFill>
                  <a:srgbClr val="1F3863"/>
                </a:solidFill>
                <a:latin typeface="Calibri"/>
                <a:cs typeface="Calibri"/>
              </a:rPr>
              <a:t>generates</a:t>
            </a:r>
            <a:r>
              <a:rPr sz="2400" spc="-65" dirty="0">
                <a:solidFill>
                  <a:srgbClr val="1F3863"/>
                </a:solidFill>
                <a:latin typeface="Calibri"/>
                <a:cs typeface="Calibri"/>
              </a:rPr>
              <a:t> </a:t>
            </a:r>
            <a:r>
              <a:rPr sz="2400" spc="-20" dirty="0">
                <a:solidFill>
                  <a:srgbClr val="1F3863"/>
                </a:solidFill>
                <a:latin typeface="Calibri"/>
                <a:cs typeface="Calibri"/>
              </a:rPr>
              <a:t>rewards</a:t>
            </a:r>
            <a:r>
              <a:rPr sz="2400" spc="-80" dirty="0">
                <a:solidFill>
                  <a:srgbClr val="1F3863"/>
                </a:solidFill>
                <a:latin typeface="Calibri"/>
                <a:cs typeface="Calibri"/>
              </a:rPr>
              <a:t> </a:t>
            </a:r>
            <a:r>
              <a:rPr sz="2400" dirty="0">
                <a:solidFill>
                  <a:srgbClr val="1F3863"/>
                </a:solidFill>
                <a:latin typeface="Calibri"/>
                <a:cs typeface="Calibri"/>
              </a:rPr>
              <a:t>$10,</a:t>
            </a:r>
            <a:r>
              <a:rPr sz="2400" spc="-70" dirty="0">
                <a:solidFill>
                  <a:srgbClr val="1F3863"/>
                </a:solidFill>
                <a:latin typeface="Calibri"/>
                <a:cs typeface="Calibri"/>
              </a:rPr>
              <a:t> </a:t>
            </a:r>
            <a:r>
              <a:rPr sz="2400" spc="-20" dirty="0">
                <a:solidFill>
                  <a:srgbClr val="1F3863"/>
                </a:solidFill>
                <a:latin typeface="Calibri"/>
                <a:cs typeface="Calibri"/>
              </a:rPr>
              <a:t>$50,</a:t>
            </a:r>
            <a:endParaRPr sz="2400">
              <a:latin typeface="Calibri"/>
              <a:cs typeface="Calibri"/>
            </a:endParaRPr>
          </a:p>
          <a:p>
            <a:pPr marL="12700">
              <a:lnSpc>
                <a:spcPts val="2014"/>
              </a:lnSpc>
            </a:pPr>
            <a:r>
              <a:rPr sz="2400" dirty="0">
                <a:solidFill>
                  <a:srgbClr val="1F3863"/>
                </a:solidFill>
                <a:latin typeface="Calibri"/>
                <a:cs typeface="Calibri"/>
              </a:rPr>
              <a:t>$100,</a:t>
            </a:r>
            <a:r>
              <a:rPr sz="2400" spc="-25" dirty="0">
                <a:solidFill>
                  <a:srgbClr val="1F3863"/>
                </a:solidFill>
                <a:latin typeface="Calibri"/>
                <a:cs typeface="Calibri"/>
              </a:rPr>
              <a:t> </a:t>
            </a:r>
            <a:r>
              <a:rPr sz="2400" dirty="0">
                <a:solidFill>
                  <a:srgbClr val="1F3863"/>
                </a:solidFill>
                <a:latin typeface="Calibri"/>
                <a:cs typeface="Calibri"/>
              </a:rPr>
              <a:t>$500,</a:t>
            </a:r>
            <a:r>
              <a:rPr sz="2400" spc="-30" dirty="0">
                <a:solidFill>
                  <a:srgbClr val="1F3863"/>
                </a:solidFill>
                <a:latin typeface="Calibri"/>
                <a:cs typeface="Calibri"/>
              </a:rPr>
              <a:t> </a:t>
            </a:r>
            <a:r>
              <a:rPr sz="2400" dirty="0">
                <a:solidFill>
                  <a:srgbClr val="1F3863"/>
                </a:solidFill>
                <a:latin typeface="Calibri"/>
                <a:cs typeface="Calibri"/>
              </a:rPr>
              <a:t>$1000,</a:t>
            </a:r>
            <a:r>
              <a:rPr sz="2400" spc="-30" dirty="0">
                <a:solidFill>
                  <a:srgbClr val="1F3863"/>
                </a:solidFill>
                <a:latin typeface="Calibri"/>
                <a:cs typeface="Calibri"/>
              </a:rPr>
              <a:t> </a:t>
            </a:r>
            <a:r>
              <a:rPr sz="2400" dirty="0">
                <a:solidFill>
                  <a:srgbClr val="1F3863"/>
                </a:solidFill>
                <a:latin typeface="Calibri"/>
                <a:cs typeface="Calibri"/>
              </a:rPr>
              <a:t>$5000,</a:t>
            </a:r>
            <a:r>
              <a:rPr sz="2400" spc="-35" dirty="0">
                <a:solidFill>
                  <a:srgbClr val="1F3863"/>
                </a:solidFill>
                <a:latin typeface="Calibri"/>
                <a:cs typeface="Calibri"/>
              </a:rPr>
              <a:t> </a:t>
            </a:r>
            <a:r>
              <a:rPr sz="2400" spc="-10" dirty="0">
                <a:solidFill>
                  <a:srgbClr val="1F3863"/>
                </a:solidFill>
                <a:latin typeface="Calibri"/>
                <a:cs typeface="Calibri"/>
              </a:rPr>
              <a:t>$10000,</a:t>
            </a:r>
            <a:endParaRPr sz="2400">
              <a:latin typeface="Calibri"/>
              <a:cs typeface="Calibri"/>
            </a:endParaRPr>
          </a:p>
          <a:p>
            <a:pPr marL="12700">
              <a:lnSpc>
                <a:spcPts val="2020"/>
              </a:lnSpc>
            </a:pPr>
            <a:r>
              <a:rPr sz="2400" dirty="0">
                <a:solidFill>
                  <a:srgbClr val="1F3863"/>
                </a:solidFill>
                <a:latin typeface="Calibri"/>
                <a:cs typeface="Calibri"/>
              </a:rPr>
              <a:t>$50000,</a:t>
            </a:r>
            <a:r>
              <a:rPr sz="2400" spc="-55" dirty="0">
                <a:solidFill>
                  <a:srgbClr val="1F3863"/>
                </a:solidFill>
                <a:latin typeface="Calibri"/>
                <a:cs typeface="Calibri"/>
              </a:rPr>
              <a:t> </a:t>
            </a:r>
            <a:r>
              <a:rPr sz="2400" dirty="0">
                <a:solidFill>
                  <a:srgbClr val="1F3863"/>
                </a:solidFill>
                <a:latin typeface="Calibri"/>
                <a:cs typeface="Calibri"/>
              </a:rPr>
              <a:t>$100000,</a:t>
            </a:r>
            <a:r>
              <a:rPr sz="2400" spc="-50" dirty="0">
                <a:solidFill>
                  <a:srgbClr val="1F3863"/>
                </a:solidFill>
                <a:latin typeface="Calibri"/>
                <a:cs typeface="Calibri"/>
              </a:rPr>
              <a:t> </a:t>
            </a:r>
            <a:r>
              <a:rPr sz="2400" dirty="0">
                <a:solidFill>
                  <a:srgbClr val="1F3863"/>
                </a:solidFill>
                <a:latin typeface="Calibri"/>
                <a:cs typeface="Calibri"/>
              </a:rPr>
              <a:t>$500000</a:t>
            </a:r>
            <a:r>
              <a:rPr sz="2400" spc="-65" dirty="0">
                <a:solidFill>
                  <a:srgbClr val="1F3863"/>
                </a:solidFill>
                <a:latin typeface="Calibri"/>
                <a:cs typeface="Calibri"/>
              </a:rPr>
              <a:t> </a:t>
            </a:r>
            <a:r>
              <a:rPr sz="2400" spc="-20" dirty="0">
                <a:solidFill>
                  <a:srgbClr val="1F3863"/>
                </a:solidFill>
                <a:latin typeface="Calibri"/>
                <a:cs typeface="Calibri"/>
              </a:rPr>
              <a:t>with</a:t>
            </a:r>
            <a:endParaRPr sz="2400">
              <a:latin typeface="Calibri"/>
              <a:cs typeface="Calibri"/>
            </a:endParaRPr>
          </a:p>
          <a:p>
            <a:pPr marL="12700">
              <a:lnSpc>
                <a:spcPts val="2020"/>
              </a:lnSpc>
            </a:pPr>
            <a:r>
              <a:rPr sz="2400" dirty="0">
                <a:solidFill>
                  <a:srgbClr val="1F3863"/>
                </a:solidFill>
                <a:latin typeface="Calibri"/>
                <a:cs typeface="Calibri"/>
              </a:rPr>
              <a:t>probability</a:t>
            </a:r>
            <a:r>
              <a:rPr sz="2400" spc="-45" dirty="0">
                <a:solidFill>
                  <a:srgbClr val="1F3863"/>
                </a:solidFill>
                <a:latin typeface="Calibri"/>
                <a:cs typeface="Calibri"/>
              </a:rPr>
              <a:t> </a:t>
            </a:r>
            <a:r>
              <a:rPr sz="2400" dirty="0">
                <a:solidFill>
                  <a:srgbClr val="1F3863"/>
                </a:solidFill>
                <a:latin typeface="Calibri"/>
                <a:cs typeface="Calibri"/>
              </a:rPr>
              <a:t>p</a:t>
            </a:r>
            <a:r>
              <a:rPr sz="2400" spc="-30" dirty="0">
                <a:solidFill>
                  <a:srgbClr val="1F3863"/>
                </a:solidFill>
                <a:latin typeface="Calibri"/>
                <a:cs typeface="Calibri"/>
              </a:rPr>
              <a:t> </a:t>
            </a:r>
            <a:r>
              <a:rPr sz="2400" dirty="0">
                <a:solidFill>
                  <a:srgbClr val="1F3863"/>
                </a:solidFill>
                <a:latin typeface="Calibri"/>
                <a:cs typeface="Calibri"/>
              </a:rPr>
              <a:t>=</a:t>
            </a:r>
            <a:r>
              <a:rPr sz="2400" spc="-30" dirty="0">
                <a:solidFill>
                  <a:srgbClr val="1F3863"/>
                </a:solidFill>
                <a:latin typeface="Calibri"/>
                <a:cs typeface="Calibri"/>
              </a:rPr>
              <a:t> </a:t>
            </a:r>
            <a:r>
              <a:rPr sz="2400" dirty="0">
                <a:solidFill>
                  <a:srgbClr val="1F3863"/>
                </a:solidFill>
                <a:latin typeface="Calibri"/>
                <a:cs typeface="Calibri"/>
              </a:rPr>
              <a:t>0.99,</a:t>
            </a:r>
            <a:r>
              <a:rPr sz="2400" spc="-30" dirty="0">
                <a:solidFill>
                  <a:srgbClr val="1F3863"/>
                </a:solidFill>
                <a:latin typeface="Calibri"/>
                <a:cs typeface="Calibri"/>
              </a:rPr>
              <a:t> </a:t>
            </a:r>
            <a:r>
              <a:rPr sz="2400" dirty="0">
                <a:solidFill>
                  <a:srgbClr val="1F3863"/>
                </a:solidFill>
                <a:latin typeface="Calibri"/>
                <a:cs typeface="Calibri"/>
              </a:rPr>
              <a:t>0.9,</a:t>
            </a:r>
            <a:r>
              <a:rPr sz="2400" spc="-40" dirty="0">
                <a:solidFill>
                  <a:srgbClr val="1F3863"/>
                </a:solidFill>
                <a:latin typeface="Calibri"/>
                <a:cs typeface="Calibri"/>
              </a:rPr>
              <a:t> </a:t>
            </a:r>
            <a:r>
              <a:rPr sz="2400" dirty="0">
                <a:solidFill>
                  <a:srgbClr val="1F3863"/>
                </a:solidFill>
                <a:latin typeface="Calibri"/>
                <a:cs typeface="Calibri"/>
              </a:rPr>
              <a:t>0.8,</a:t>
            </a:r>
            <a:r>
              <a:rPr sz="2400" spc="-35" dirty="0">
                <a:solidFill>
                  <a:srgbClr val="1F3863"/>
                </a:solidFill>
                <a:latin typeface="Calibri"/>
                <a:cs typeface="Calibri"/>
              </a:rPr>
              <a:t> </a:t>
            </a:r>
            <a:r>
              <a:rPr sz="2400" dirty="0">
                <a:solidFill>
                  <a:srgbClr val="1F3863"/>
                </a:solidFill>
                <a:latin typeface="Calibri"/>
                <a:cs typeface="Calibri"/>
              </a:rPr>
              <a:t>…,</a:t>
            </a:r>
            <a:r>
              <a:rPr sz="2400" spc="-25" dirty="0">
                <a:solidFill>
                  <a:srgbClr val="1F3863"/>
                </a:solidFill>
                <a:latin typeface="Calibri"/>
                <a:cs typeface="Calibri"/>
              </a:rPr>
              <a:t> </a:t>
            </a:r>
            <a:r>
              <a:rPr sz="2400" spc="-20" dirty="0">
                <a:solidFill>
                  <a:srgbClr val="1F3863"/>
                </a:solidFill>
                <a:latin typeface="Calibri"/>
                <a:cs typeface="Calibri"/>
              </a:rPr>
              <a:t>0.2,</a:t>
            </a:r>
            <a:endParaRPr sz="2400">
              <a:latin typeface="Calibri"/>
              <a:cs typeface="Calibri"/>
            </a:endParaRPr>
          </a:p>
          <a:p>
            <a:pPr marL="12700" marR="5080">
              <a:lnSpc>
                <a:spcPct val="70000"/>
              </a:lnSpc>
              <a:spcBef>
                <a:spcPts val="430"/>
              </a:spcBef>
            </a:pPr>
            <a:r>
              <a:rPr sz="2400" dirty="0">
                <a:solidFill>
                  <a:srgbClr val="1F3863"/>
                </a:solidFill>
                <a:latin typeface="Calibri"/>
                <a:cs typeface="Calibri"/>
              </a:rPr>
              <a:t>0.1</a:t>
            </a:r>
            <a:r>
              <a:rPr sz="2400" spc="-50" dirty="0">
                <a:solidFill>
                  <a:srgbClr val="1F3863"/>
                </a:solidFill>
                <a:latin typeface="Calibri"/>
                <a:cs typeface="Calibri"/>
              </a:rPr>
              <a:t> </a:t>
            </a:r>
            <a:r>
              <a:rPr sz="2400" spc="-20" dirty="0">
                <a:solidFill>
                  <a:srgbClr val="1F3863"/>
                </a:solidFill>
                <a:latin typeface="Calibri"/>
                <a:cs typeface="Calibri"/>
              </a:rPr>
              <a:t>respectively.</a:t>
            </a:r>
            <a:r>
              <a:rPr sz="2400" spc="-60" dirty="0">
                <a:solidFill>
                  <a:srgbClr val="1F3863"/>
                </a:solidFill>
                <a:latin typeface="Calibri"/>
                <a:cs typeface="Calibri"/>
              </a:rPr>
              <a:t> </a:t>
            </a:r>
            <a:r>
              <a:rPr sz="2400" dirty="0">
                <a:solidFill>
                  <a:srgbClr val="1F3863"/>
                </a:solidFill>
                <a:latin typeface="Calibri"/>
                <a:cs typeface="Calibri"/>
              </a:rPr>
              <a:t>The</a:t>
            </a:r>
            <a:r>
              <a:rPr sz="2400" spc="-35" dirty="0">
                <a:solidFill>
                  <a:srgbClr val="1F3863"/>
                </a:solidFill>
                <a:latin typeface="Calibri"/>
                <a:cs typeface="Calibri"/>
              </a:rPr>
              <a:t> </a:t>
            </a:r>
            <a:r>
              <a:rPr sz="2400" dirty="0">
                <a:solidFill>
                  <a:srgbClr val="1F3863"/>
                </a:solidFill>
                <a:latin typeface="Calibri"/>
                <a:cs typeface="Calibri"/>
              </a:rPr>
              <a:t>probability</a:t>
            </a:r>
            <a:r>
              <a:rPr sz="2400" spc="-55" dirty="0">
                <a:solidFill>
                  <a:srgbClr val="1F3863"/>
                </a:solidFill>
                <a:latin typeface="Calibri"/>
                <a:cs typeface="Calibri"/>
              </a:rPr>
              <a:t> </a:t>
            </a:r>
            <a:r>
              <a:rPr sz="2400" spc="-20" dirty="0">
                <a:solidFill>
                  <a:srgbClr val="1F3863"/>
                </a:solidFill>
                <a:latin typeface="Calibri"/>
                <a:cs typeface="Calibri"/>
              </a:rPr>
              <a:t>here </a:t>
            </a:r>
            <a:r>
              <a:rPr sz="2400" dirty="0">
                <a:solidFill>
                  <a:srgbClr val="1F3863"/>
                </a:solidFill>
                <a:latin typeface="Calibri"/>
                <a:cs typeface="Calibri"/>
              </a:rPr>
              <a:t>is</a:t>
            </a:r>
            <a:r>
              <a:rPr sz="2400" spc="-30" dirty="0">
                <a:solidFill>
                  <a:srgbClr val="1F3863"/>
                </a:solidFill>
                <a:latin typeface="Calibri"/>
                <a:cs typeface="Calibri"/>
              </a:rPr>
              <a:t> </a:t>
            </a:r>
            <a:r>
              <a:rPr sz="2400" dirty="0">
                <a:solidFill>
                  <a:srgbClr val="1F3863"/>
                </a:solidFill>
                <a:latin typeface="Calibri"/>
                <a:cs typeface="Calibri"/>
              </a:rPr>
              <a:t>a</a:t>
            </a:r>
            <a:r>
              <a:rPr sz="2400" spc="-45" dirty="0">
                <a:solidFill>
                  <a:srgbClr val="1F3863"/>
                </a:solidFill>
                <a:latin typeface="Calibri"/>
                <a:cs typeface="Calibri"/>
              </a:rPr>
              <a:t> </a:t>
            </a:r>
            <a:r>
              <a:rPr sz="2400" dirty="0">
                <a:solidFill>
                  <a:srgbClr val="1F3863"/>
                </a:solidFill>
                <a:latin typeface="Calibri"/>
                <a:cs typeface="Calibri"/>
              </a:rPr>
              <a:t>the</a:t>
            </a:r>
            <a:r>
              <a:rPr sz="2400" spc="-25" dirty="0">
                <a:solidFill>
                  <a:srgbClr val="1F3863"/>
                </a:solidFill>
                <a:latin typeface="Calibri"/>
                <a:cs typeface="Calibri"/>
              </a:rPr>
              <a:t> </a:t>
            </a:r>
            <a:r>
              <a:rPr sz="2400" dirty="0">
                <a:solidFill>
                  <a:srgbClr val="1F3863"/>
                </a:solidFill>
                <a:latin typeface="Calibri"/>
                <a:cs typeface="Calibri"/>
              </a:rPr>
              <a:t>probability</a:t>
            </a:r>
            <a:r>
              <a:rPr sz="2400" spc="-35" dirty="0">
                <a:solidFill>
                  <a:srgbClr val="1F3863"/>
                </a:solidFill>
                <a:latin typeface="Calibri"/>
                <a:cs typeface="Calibri"/>
              </a:rPr>
              <a:t> </a:t>
            </a:r>
            <a:r>
              <a:rPr sz="2400" dirty="0">
                <a:solidFill>
                  <a:srgbClr val="1F3863"/>
                </a:solidFill>
                <a:latin typeface="Calibri"/>
                <a:cs typeface="Calibri"/>
              </a:rPr>
              <a:t>of</a:t>
            </a:r>
            <a:r>
              <a:rPr sz="2400" spc="-35" dirty="0">
                <a:solidFill>
                  <a:srgbClr val="1F3863"/>
                </a:solidFill>
                <a:latin typeface="Calibri"/>
                <a:cs typeface="Calibri"/>
              </a:rPr>
              <a:t> </a:t>
            </a:r>
            <a:r>
              <a:rPr sz="2400" dirty="0">
                <a:solidFill>
                  <a:srgbClr val="1F3863"/>
                </a:solidFill>
                <a:latin typeface="Calibri"/>
                <a:cs typeface="Calibri"/>
              </a:rPr>
              <a:t>giving</a:t>
            </a:r>
            <a:r>
              <a:rPr sz="2400" spc="-25" dirty="0">
                <a:solidFill>
                  <a:srgbClr val="1F3863"/>
                </a:solidFill>
                <a:latin typeface="Calibri"/>
                <a:cs typeface="Calibri"/>
              </a:rPr>
              <a:t> </a:t>
            </a:r>
            <a:r>
              <a:rPr sz="2400" spc="-10" dirty="0">
                <a:solidFill>
                  <a:srgbClr val="1F3863"/>
                </a:solidFill>
                <a:latin typeface="Calibri"/>
                <a:cs typeface="Calibri"/>
              </a:rPr>
              <a:t>correct </a:t>
            </a:r>
            <a:r>
              <a:rPr sz="2400" dirty="0">
                <a:solidFill>
                  <a:srgbClr val="1F3863"/>
                </a:solidFill>
                <a:latin typeface="Calibri"/>
                <a:cs typeface="Calibri"/>
              </a:rPr>
              <a:t>answer</a:t>
            </a:r>
            <a:r>
              <a:rPr sz="2400" spc="-65" dirty="0">
                <a:solidFill>
                  <a:srgbClr val="1F3863"/>
                </a:solidFill>
                <a:latin typeface="Calibri"/>
                <a:cs typeface="Calibri"/>
              </a:rPr>
              <a:t> </a:t>
            </a:r>
            <a:r>
              <a:rPr sz="2400" dirty="0">
                <a:solidFill>
                  <a:srgbClr val="1F3863"/>
                </a:solidFill>
                <a:latin typeface="Calibri"/>
                <a:cs typeface="Calibri"/>
              </a:rPr>
              <a:t>in</a:t>
            </a:r>
            <a:r>
              <a:rPr sz="2400" spc="-75" dirty="0">
                <a:solidFill>
                  <a:srgbClr val="1F3863"/>
                </a:solidFill>
                <a:latin typeface="Calibri"/>
                <a:cs typeface="Calibri"/>
              </a:rPr>
              <a:t> </a:t>
            </a:r>
            <a:r>
              <a:rPr sz="2400" dirty="0">
                <a:solidFill>
                  <a:srgbClr val="1F3863"/>
                </a:solidFill>
                <a:latin typeface="Calibri"/>
                <a:cs typeface="Calibri"/>
              </a:rPr>
              <a:t>that</a:t>
            </a:r>
            <a:r>
              <a:rPr sz="2400" spc="-80" dirty="0">
                <a:solidFill>
                  <a:srgbClr val="1F3863"/>
                </a:solidFill>
                <a:latin typeface="Calibri"/>
                <a:cs typeface="Calibri"/>
              </a:rPr>
              <a:t> </a:t>
            </a:r>
            <a:r>
              <a:rPr sz="2400" dirty="0">
                <a:solidFill>
                  <a:srgbClr val="1F3863"/>
                </a:solidFill>
                <a:latin typeface="Calibri"/>
                <a:cs typeface="Calibri"/>
              </a:rPr>
              <a:t>level.</a:t>
            </a:r>
            <a:r>
              <a:rPr sz="2400" spc="-70" dirty="0">
                <a:solidFill>
                  <a:srgbClr val="1F3863"/>
                </a:solidFill>
                <a:latin typeface="Calibri"/>
                <a:cs typeface="Calibri"/>
              </a:rPr>
              <a:t> </a:t>
            </a:r>
            <a:r>
              <a:rPr sz="2400" dirty="0">
                <a:solidFill>
                  <a:srgbClr val="1F3863"/>
                </a:solidFill>
                <a:latin typeface="Calibri"/>
                <a:cs typeface="Calibri"/>
              </a:rPr>
              <a:t>At</a:t>
            </a:r>
            <a:r>
              <a:rPr sz="2400" spc="-85" dirty="0">
                <a:solidFill>
                  <a:srgbClr val="1F3863"/>
                </a:solidFill>
                <a:latin typeface="Calibri"/>
                <a:cs typeface="Calibri"/>
              </a:rPr>
              <a:t> </a:t>
            </a:r>
            <a:r>
              <a:rPr sz="2400" dirty="0">
                <a:solidFill>
                  <a:srgbClr val="1F3863"/>
                </a:solidFill>
                <a:latin typeface="Calibri"/>
                <a:cs typeface="Calibri"/>
              </a:rPr>
              <a:t>any</a:t>
            </a:r>
            <a:r>
              <a:rPr sz="2400" spc="-65" dirty="0">
                <a:solidFill>
                  <a:srgbClr val="1F3863"/>
                </a:solidFill>
                <a:latin typeface="Calibri"/>
                <a:cs typeface="Calibri"/>
              </a:rPr>
              <a:t> </a:t>
            </a:r>
            <a:r>
              <a:rPr sz="2400" dirty="0">
                <a:solidFill>
                  <a:srgbClr val="1F3863"/>
                </a:solidFill>
                <a:latin typeface="Calibri"/>
                <a:cs typeface="Calibri"/>
              </a:rPr>
              <a:t>level,</a:t>
            </a:r>
            <a:r>
              <a:rPr sz="2400" spc="-70" dirty="0">
                <a:solidFill>
                  <a:srgbClr val="1F3863"/>
                </a:solidFill>
                <a:latin typeface="Calibri"/>
                <a:cs typeface="Calibri"/>
              </a:rPr>
              <a:t> </a:t>
            </a:r>
            <a:r>
              <a:rPr sz="2400" spc="-25" dirty="0">
                <a:solidFill>
                  <a:srgbClr val="1F3863"/>
                </a:solidFill>
                <a:latin typeface="Calibri"/>
                <a:cs typeface="Calibri"/>
              </a:rPr>
              <a:t>the </a:t>
            </a:r>
            <a:r>
              <a:rPr sz="2400" dirty="0">
                <a:solidFill>
                  <a:srgbClr val="1F3863"/>
                </a:solidFill>
                <a:latin typeface="Calibri"/>
                <a:cs typeface="Calibri"/>
              </a:rPr>
              <a:t>participant</a:t>
            </a:r>
            <a:r>
              <a:rPr sz="2400" spc="-85" dirty="0">
                <a:solidFill>
                  <a:srgbClr val="1F3863"/>
                </a:solidFill>
                <a:latin typeface="Calibri"/>
                <a:cs typeface="Calibri"/>
              </a:rPr>
              <a:t> </a:t>
            </a:r>
            <a:r>
              <a:rPr sz="2400" dirty="0">
                <a:solidFill>
                  <a:srgbClr val="1F3863"/>
                </a:solidFill>
                <a:latin typeface="Calibri"/>
                <a:cs typeface="Calibri"/>
              </a:rPr>
              <a:t>losses</a:t>
            </a:r>
            <a:r>
              <a:rPr sz="2400" spc="-45" dirty="0">
                <a:solidFill>
                  <a:srgbClr val="1F3863"/>
                </a:solidFill>
                <a:latin typeface="Calibri"/>
                <a:cs typeface="Calibri"/>
              </a:rPr>
              <a:t> </a:t>
            </a:r>
            <a:r>
              <a:rPr sz="2400" dirty="0">
                <a:solidFill>
                  <a:srgbClr val="1F3863"/>
                </a:solidFill>
                <a:latin typeface="Calibri"/>
                <a:cs typeface="Calibri"/>
              </a:rPr>
              <a:t>with</a:t>
            </a:r>
            <a:r>
              <a:rPr sz="2400" spc="-75" dirty="0">
                <a:solidFill>
                  <a:srgbClr val="1F3863"/>
                </a:solidFill>
                <a:latin typeface="Calibri"/>
                <a:cs typeface="Calibri"/>
              </a:rPr>
              <a:t> </a:t>
            </a:r>
            <a:r>
              <a:rPr sz="2400" dirty="0">
                <a:solidFill>
                  <a:srgbClr val="1F3863"/>
                </a:solidFill>
                <a:latin typeface="Calibri"/>
                <a:cs typeface="Calibri"/>
              </a:rPr>
              <a:t>probability</a:t>
            </a:r>
            <a:r>
              <a:rPr sz="2400" spc="-65" dirty="0">
                <a:solidFill>
                  <a:srgbClr val="1F3863"/>
                </a:solidFill>
                <a:latin typeface="Calibri"/>
                <a:cs typeface="Calibri"/>
              </a:rPr>
              <a:t> </a:t>
            </a:r>
            <a:r>
              <a:rPr sz="2400" spc="-25" dirty="0">
                <a:solidFill>
                  <a:srgbClr val="1F3863"/>
                </a:solidFill>
                <a:latin typeface="Calibri"/>
                <a:cs typeface="Calibri"/>
              </a:rPr>
              <a:t>(1- </a:t>
            </a:r>
            <a:r>
              <a:rPr sz="2400" dirty="0">
                <a:solidFill>
                  <a:srgbClr val="1F3863"/>
                </a:solidFill>
                <a:latin typeface="Calibri"/>
                <a:cs typeface="Calibri"/>
              </a:rPr>
              <a:t>p)</a:t>
            </a:r>
            <a:r>
              <a:rPr sz="2400" spc="-35" dirty="0">
                <a:solidFill>
                  <a:srgbClr val="1F3863"/>
                </a:solidFill>
                <a:latin typeface="Calibri"/>
                <a:cs typeface="Calibri"/>
              </a:rPr>
              <a:t> </a:t>
            </a:r>
            <a:r>
              <a:rPr sz="2400" dirty="0">
                <a:solidFill>
                  <a:srgbClr val="1F3863"/>
                </a:solidFill>
                <a:latin typeface="Calibri"/>
                <a:cs typeface="Calibri"/>
              </a:rPr>
              <a:t>and</a:t>
            </a:r>
            <a:r>
              <a:rPr sz="2400" spc="-25" dirty="0">
                <a:solidFill>
                  <a:srgbClr val="1F3863"/>
                </a:solidFill>
                <a:latin typeface="Calibri"/>
                <a:cs typeface="Calibri"/>
              </a:rPr>
              <a:t> </a:t>
            </a:r>
            <a:r>
              <a:rPr sz="2400" dirty="0">
                <a:solidFill>
                  <a:srgbClr val="1F3863"/>
                </a:solidFill>
                <a:latin typeface="Calibri"/>
                <a:cs typeface="Calibri"/>
              </a:rPr>
              <a:t>losses</a:t>
            </a:r>
            <a:r>
              <a:rPr sz="2400" spc="-20" dirty="0">
                <a:solidFill>
                  <a:srgbClr val="1F3863"/>
                </a:solidFill>
                <a:latin typeface="Calibri"/>
                <a:cs typeface="Calibri"/>
              </a:rPr>
              <a:t> </a:t>
            </a:r>
            <a:r>
              <a:rPr sz="2400" dirty="0">
                <a:solidFill>
                  <a:srgbClr val="1F3863"/>
                </a:solidFill>
                <a:latin typeface="Calibri"/>
                <a:cs typeface="Calibri"/>
              </a:rPr>
              <a:t>all</a:t>
            </a:r>
            <a:r>
              <a:rPr sz="2400" spc="-30" dirty="0">
                <a:solidFill>
                  <a:srgbClr val="1F3863"/>
                </a:solidFill>
                <a:latin typeface="Calibri"/>
                <a:cs typeface="Calibri"/>
              </a:rPr>
              <a:t> </a:t>
            </a:r>
            <a:r>
              <a:rPr sz="2400" dirty="0">
                <a:solidFill>
                  <a:srgbClr val="1F3863"/>
                </a:solidFill>
                <a:latin typeface="Calibri"/>
                <a:cs typeface="Calibri"/>
              </a:rPr>
              <a:t>the</a:t>
            </a:r>
            <a:r>
              <a:rPr sz="2400" spc="-20" dirty="0">
                <a:solidFill>
                  <a:srgbClr val="1F3863"/>
                </a:solidFill>
                <a:latin typeface="Calibri"/>
                <a:cs typeface="Calibri"/>
              </a:rPr>
              <a:t> </a:t>
            </a:r>
            <a:r>
              <a:rPr sz="2400" spc="-10" dirty="0">
                <a:solidFill>
                  <a:srgbClr val="1F3863"/>
                </a:solidFill>
                <a:latin typeface="Calibri"/>
                <a:cs typeface="Calibri"/>
              </a:rPr>
              <a:t>rewards</a:t>
            </a:r>
            <a:r>
              <a:rPr sz="2400" spc="-40" dirty="0">
                <a:solidFill>
                  <a:srgbClr val="1F3863"/>
                </a:solidFill>
                <a:latin typeface="Calibri"/>
                <a:cs typeface="Calibri"/>
              </a:rPr>
              <a:t> </a:t>
            </a:r>
            <a:r>
              <a:rPr sz="2400" spc="-10" dirty="0">
                <a:solidFill>
                  <a:srgbClr val="1F3863"/>
                </a:solidFill>
                <a:latin typeface="Calibri"/>
                <a:cs typeface="Calibri"/>
              </a:rPr>
              <a:t>earned </a:t>
            </a:r>
            <a:r>
              <a:rPr sz="2400" dirty="0">
                <a:solidFill>
                  <a:srgbClr val="1F3863"/>
                </a:solidFill>
                <a:latin typeface="Calibri"/>
                <a:cs typeface="Calibri"/>
              </a:rPr>
              <a:t>so</a:t>
            </a:r>
            <a:r>
              <a:rPr sz="2400" spc="-25" dirty="0">
                <a:solidFill>
                  <a:srgbClr val="1F3863"/>
                </a:solidFill>
                <a:latin typeface="Calibri"/>
                <a:cs typeface="Calibri"/>
              </a:rPr>
              <a:t> </a:t>
            </a:r>
            <a:r>
              <a:rPr sz="2400" spc="-20" dirty="0">
                <a:solidFill>
                  <a:srgbClr val="1F3863"/>
                </a:solidFill>
                <a:latin typeface="Calibri"/>
                <a:cs typeface="Calibri"/>
              </a:rPr>
              <a:t>far.</a:t>
            </a:r>
            <a:endParaRPr sz="24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6997" y="567602"/>
            <a:ext cx="9579010" cy="58560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39267" y="1406615"/>
            <a:ext cx="10346055" cy="2712085"/>
          </a:xfrm>
          <a:prstGeom prst="rect">
            <a:avLst/>
          </a:prstGeom>
        </p:spPr>
        <p:txBody>
          <a:bodyPr vert="horz" wrap="square" lIns="0" tIns="97155" rIns="0" bIns="0" rtlCol="0">
            <a:spAutoFit/>
          </a:bodyPr>
          <a:lstStyle/>
          <a:p>
            <a:pPr marL="93345">
              <a:lnSpc>
                <a:spcPct val="100000"/>
              </a:lnSpc>
              <a:spcBef>
                <a:spcPts val="765"/>
              </a:spcBef>
            </a:pPr>
            <a:r>
              <a:rPr sz="2800" dirty="0">
                <a:solidFill>
                  <a:srgbClr val="1F3863"/>
                </a:solidFill>
                <a:latin typeface="Calibri"/>
                <a:cs typeface="Calibri"/>
              </a:rPr>
              <a:t>We</a:t>
            </a:r>
            <a:r>
              <a:rPr sz="2800" spc="-60" dirty="0">
                <a:solidFill>
                  <a:srgbClr val="1F3863"/>
                </a:solidFill>
                <a:latin typeface="Calibri"/>
                <a:cs typeface="Calibri"/>
              </a:rPr>
              <a:t> </a:t>
            </a:r>
            <a:r>
              <a:rPr sz="2800" dirty="0">
                <a:solidFill>
                  <a:srgbClr val="1F3863"/>
                </a:solidFill>
                <a:latin typeface="Calibri"/>
                <a:cs typeface="Calibri"/>
              </a:rPr>
              <a:t>can</a:t>
            </a:r>
            <a:r>
              <a:rPr sz="2800" spc="-65" dirty="0">
                <a:solidFill>
                  <a:srgbClr val="1F3863"/>
                </a:solidFill>
                <a:latin typeface="Calibri"/>
                <a:cs typeface="Calibri"/>
              </a:rPr>
              <a:t> </a:t>
            </a:r>
            <a:r>
              <a:rPr sz="2800" dirty="0">
                <a:solidFill>
                  <a:srgbClr val="1F3863"/>
                </a:solidFill>
                <a:latin typeface="Calibri"/>
                <a:cs typeface="Calibri"/>
              </a:rPr>
              <a:t>see</a:t>
            </a:r>
            <a:r>
              <a:rPr sz="2800" spc="-65" dirty="0">
                <a:solidFill>
                  <a:srgbClr val="1F3863"/>
                </a:solidFill>
                <a:latin typeface="Calibri"/>
                <a:cs typeface="Calibri"/>
              </a:rPr>
              <a:t> </a:t>
            </a:r>
            <a:r>
              <a:rPr sz="2800" dirty="0">
                <a:solidFill>
                  <a:srgbClr val="1F3863"/>
                </a:solidFill>
                <a:latin typeface="Calibri"/>
                <a:cs typeface="Calibri"/>
              </a:rPr>
              <a:t>that</a:t>
            </a:r>
            <a:r>
              <a:rPr sz="2800" spc="-55" dirty="0">
                <a:solidFill>
                  <a:srgbClr val="1F3863"/>
                </a:solidFill>
                <a:latin typeface="Calibri"/>
                <a:cs typeface="Calibri"/>
              </a:rPr>
              <a:t> </a:t>
            </a:r>
            <a:r>
              <a:rPr sz="2800" dirty="0">
                <a:solidFill>
                  <a:srgbClr val="1F3863"/>
                </a:solidFill>
                <a:latin typeface="Calibri"/>
                <a:cs typeface="Calibri"/>
              </a:rPr>
              <a:t>for</a:t>
            </a:r>
            <a:r>
              <a:rPr sz="2800" spc="-65"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dirty="0">
                <a:solidFill>
                  <a:srgbClr val="1F3863"/>
                </a:solidFill>
                <a:latin typeface="Calibri"/>
                <a:cs typeface="Calibri"/>
              </a:rPr>
              <a:t>action</a:t>
            </a:r>
            <a:r>
              <a:rPr sz="2800" spc="-75" dirty="0">
                <a:solidFill>
                  <a:srgbClr val="1F3863"/>
                </a:solidFill>
                <a:latin typeface="Calibri"/>
                <a:cs typeface="Calibri"/>
              </a:rPr>
              <a:t> </a:t>
            </a:r>
            <a:r>
              <a:rPr sz="2800" spc="-25" dirty="0">
                <a:solidFill>
                  <a:srgbClr val="1F3863"/>
                </a:solidFill>
                <a:latin typeface="Calibri"/>
                <a:cs typeface="Calibri"/>
              </a:rPr>
              <a:t>play,</a:t>
            </a:r>
            <a:r>
              <a:rPr sz="2800" spc="-50" dirty="0">
                <a:solidFill>
                  <a:srgbClr val="1F3863"/>
                </a:solidFill>
                <a:latin typeface="Calibri"/>
                <a:cs typeface="Calibri"/>
              </a:rPr>
              <a:t> </a:t>
            </a:r>
            <a:r>
              <a:rPr sz="2800" dirty="0">
                <a:solidFill>
                  <a:srgbClr val="1F3863"/>
                </a:solidFill>
                <a:latin typeface="Calibri"/>
                <a:cs typeface="Calibri"/>
              </a:rPr>
              <a:t>there</a:t>
            </a:r>
            <a:r>
              <a:rPr sz="2800" spc="-60" dirty="0">
                <a:solidFill>
                  <a:srgbClr val="1F3863"/>
                </a:solidFill>
                <a:latin typeface="Calibri"/>
                <a:cs typeface="Calibri"/>
              </a:rPr>
              <a:t> </a:t>
            </a:r>
            <a:r>
              <a:rPr sz="2800" dirty="0">
                <a:solidFill>
                  <a:srgbClr val="1F3863"/>
                </a:solidFill>
                <a:latin typeface="Calibri"/>
                <a:cs typeface="Calibri"/>
              </a:rPr>
              <a:t>are</a:t>
            </a:r>
            <a:r>
              <a:rPr sz="2800" spc="-65" dirty="0">
                <a:solidFill>
                  <a:srgbClr val="1F3863"/>
                </a:solidFill>
                <a:latin typeface="Calibri"/>
                <a:cs typeface="Calibri"/>
              </a:rPr>
              <a:t> </a:t>
            </a:r>
            <a:r>
              <a:rPr sz="2800" dirty="0">
                <a:solidFill>
                  <a:srgbClr val="1F3863"/>
                </a:solidFill>
                <a:latin typeface="Calibri"/>
                <a:cs typeface="Calibri"/>
              </a:rPr>
              <a:t>two</a:t>
            </a:r>
            <a:r>
              <a:rPr sz="2800" spc="-70" dirty="0">
                <a:solidFill>
                  <a:srgbClr val="1F3863"/>
                </a:solidFill>
                <a:latin typeface="Calibri"/>
                <a:cs typeface="Calibri"/>
              </a:rPr>
              <a:t> </a:t>
            </a:r>
            <a:r>
              <a:rPr sz="2800" dirty="0">
                <a:solidFill>
                  <a:srgbClr val="1F3863"/>
                </a:solidFill>
                <a:latin typeface="Calibri"/>
                <a:cs typeface="Calibri"/>
              </a:rPr>
              <a:t>possible</a:t>
            </a:r>
            <a:r>
              <a:rPr sz="2800" spc="-30" dirty="0">
                <a:solidFill>
                  <a:srgbClr val="1F3863"/>
                </a:solidFill>
                <a:latin typeface="Calibri"/>
                <a:cs typeface="Calibri"/>
              </a:rPr>
              <a:t> </a:t>
            </a:r>
            <a:r>
              <a:rPr sz="2800" spc="-10" dirty="0">
                <a:solidFill>
                  <a:srgbClr val="1F3863"/>
                </a:solidFill>
                <a:latin typeface="Calibri"/>
                <a:cs typeface="Calibri"/>
              </a:rPr>
              <a:t>transitions,</a:t>
            </a:r>
            <a:endParaRPr sz="2800">
              <a:latin typeface="Calibri"/>
              <a:cs typeface="Calibri"/>
            </a:endParaRPr>
          </a:p>
          <a:p>
            <a:pPr marL="12700" marR="112395" indent="268605">
              <a:lnSpc>
                <a:spcPts val="3020"/>
              </a:lnSpc>
              <a:spcBef>
                <a:spcPts val="1045"/>
              </a:spcBef>
              <a:buAutoNum type="romanLcParenR"/>
              <a:tabLst>
                <a:tab pos="281305" algn="l"/>
              </a:tabLst>
            </a:pPr>
            <a:r>
              <a:rPr sz="2800" dirty="0">
                <a:solidFill>
                  <a:srgbClr val="1F3863"/>
                </a:solidFill>
                <a:latin typeface="Calibri"/>
                <a:cs typeface="Calibri"/>
              </a:rPr>
              <a:t>won</a:t>
            </a:r>
            <a:r>
              <a:rPr sz="2800" spc="-70" dirty="0">
                <a:solidFill>
                  <a:srgbClr val="1F3863"/>
                </a:solidFill>
                <a:latin typeface="Calibri"/>
                <a:cs typeface="Calibri"/>
              </a:rPr>
              <a:t> </a:t>
            </a:r>
            <a:r>
              <a:rPr sz="2800" dirty="0">
                <a:solidFill>
                  <a:srgbClr val="1F3863"/>
                </a:solidFill>
                <a:latin typeface="Calibri"/>
                <a:cs typeface="Calibri"/>
              </a:rPr>
              <a:t>which</a:t>
            </a:r>
            <a:r>
              <a:rPr sz="2800" spc="-65" dirty="0">
                <a:solidFill>
                  <a:srgbClr val="1F3863"/>
                </a:solidFill>
                <a:latin typeface="Calibri"/>
                <a:cs typeface="Calibri"/>
              </a:rPr>
              <a:t> </a:t>
            </a:r>
            <a:r>
              <a:rPr sz="2800" spc="-10" dirty="0">
                <a:solidFill>
                  <a:srgbClr val="1F3863"/>
                </a:solidFill>
                <a:latin typeface="Calibri"/>
                <a:cs typeface="Calibri"/>
              </a:rPr>
              <a:t>transitions</a:t>
            </a:r>
            <a:r>
              <a:rPr sz="2800" spc="-30" dirty="0">
                <a:solidFill>
                  <a:srgbClr val="1F3863"/>
                </a:solidFill>
                <a:latin typeface="Calibri"/>
                <a:cs typeface="Calibri"/>
              </a:rPr>
              <a:t> </a:t>
            </a:r>
            <a:r>
              <a:rPr sz="2800" dirty="0">
                <a:solidFill>
                  <a:srgbClr val="1F3863"/>
                </a:solidFill>
                <a:latin typeface="Calibri"/>
                <a:cs typeface="Calibri"/>
              </a:rPr>
              <a:t>to</a:t>
            </a:r>
            <a:r>
              <a:rPr sz="2800" spc="-75" dirty="0">
                <a:solidFill>
                  <a:srgbClr val="1F3863"/>
                </a:solidFill>
                <a:latin typeface="Calibri"/>
                <a:cs typeface="Calibri"/>
              </a:rPr>
              <a:t> </a:t>
            </a:r>
            <a:r>
              <a:rPr sz="2800" dirty="0">
                <a:solidFill>
                  <a:srgbClr val="1F3863"/>
                </a:solidFill>
                <a:latin typeface="Calibri"/>
                <a:cs typeface="Calibri"/>
              </a:rPr>
              <a:t>next</a:t>
            </a:r>
            <a:r>
              <a:rPr sz="2800" spc="-65" dirty="0">
                <a:solidFill>
                  <a:srgbClr val="1F3863"/>
                </a:solidFill>
                <a:latin typeface="Calibri"/>
                <a:cs typeface="Calibri"/>
              </a:rPr>
              <a:t> </a:t>
            </a:r>
            <a:r>
              <a:rPr sz="2800" dirty="0">
                <a:solidFill>
                  <a:srgbClr val="1F3863"/>
                </a:solidFill>
                <a:latin typeface="Calibri"/>
                <a:cs typeface="Calibri"/>
              </a:rPr>
              <a:t>level</a:t>
            </a:r>
            <a:r>
              <a:rPr sz="2800" spc="-85" dirty="0">
                <a:solidFill>
                  <a:srgbClr val="1F3863"/>
                </a:solidFill>
                <a:latin typeface="Calibri"/>
                <a:cs typeface="Calibri"/>
              </a:rPr>
              <a:t> </a:t>
            </a:r>
            <a:r>
              <a:rPr sz="2800" dirty="0">
                <a:solidFill>
                  <a:srgbClr val="1F3863"/>
                </a:solidFill>
                <a:latin typeface="Calibri"/>
                <a:cs typeface="Calibri"/>
              </a:rPr>
              <a:t>with</a:t>
            </a:r>
            <a:r>
              <a:rPr sz="2800" spc="-70" dirty="0">
                <a:solidFill>
                  <a:srgbClr val="1F3863"/>
                </a:solidFill>
                <a:latin typeface="Calibri"/>
                <a:cs typeface="Calibri"/>
              </a:rPr>
              <a:t> </a:t>
            </a:r>
            <a:r>
              <a:rPr sz="2800" dirty="0">
                <a:solidFill>
                  <a:srgbClr val="1F3863"/>
                </a:solidFill>
                <a:latin typeface="Calibri"/>
                <a:cs typeface="Calibri"/>
              </a:rPr>
              <a:t>probability</a:t>
            </a:r>
            <a:r>
              <a:rPr sz="2800" spc="-40" dirty="0">
                <a:solidFill>
                  <a:srgbClr val="1F3863"/>
                </a:solidFill>
                <a:latin typeface="Calibri"/>
                <a:cs typeface="Calibri"/>
              </a:rPr>
              <a:t> </a:t>
            </a:r>
            <a:r>
              <a:rPr sz="2800" dirty="0">
                <a:solidFill>
                  <a:srgbClr val="1F3863"/>
                </a:solidFill>
                <a:latin typeface="Calibri"/>
                <a:cs typeface="Calibri"/>
              </a:rPr>
              <a:t>p</a:t>
            </a:r>
            <a:r>
              <a:rPr sz="2800" spc="-70" dirty="0">
                <a:solidFill>
                  <a:srgbClr val="1F3863"/>
                </a:solidFill>
                <a:latin typeface="Calibri"/>
                <a:cs typeface="Calibri"/>
              </a:rPr>
              <a:t> </a:t>
            </a:r>
            <a:r>
              <a:rPr sz="2800" dirty="0">
                <a:solidFill>
                  <a:srgbClr val="1F3863"/>
                </a:solidFill>
                <a:latin typeface="Calibri"/>
                <a:cs typeface="Calibri"/>
              </a:rPr>
              <a:t>and</a:t>
            </a:r>
            <a:r>
              <a:rPr sz="2800" spc="-65" dirty="0">
                <a:solidFill>
                  <a:srgbClr val="1F3863"/>
                </a:solidFill>
                <a:latin typeface="Calibri"/>
                <a:cs typeface="Calibri"/>
              </a:rPr>
              <a:t> </a:t>
            </a:r>
            <a:r>
              <a:rPr sz="2800" dirty="0">
                <a:solidFill>
                  <a:srgbClr val="1F3863"/>
                </a:solidFill>
                <a:latin typeface="Calibri"/>
                <a:cs typeface="Calibri"/>
              </a:rPr>
              <a:t>the</a:t>
            </a:r>
            <a:r>
              <a:rPr sz="2800" spc="-65" dirty="0">
                <a:solidFill>
                  <a:srgbClr val="1F3863"/>
                </a:solidFill>
                <a:latin typeface="Calibri"/>
                <a:cs typeface="Calibri"/>
              </a:rPr>
              <a:t> </a:t>
            </a:r>
            <a:r>
              <a:rPr sz="2800" spc="-10" dirty="0">
                <a:solidFill>
                  <a:srgbClr val="1F3863"/>
                </a:solidFill>
                <a:latin typeface="Calibri"/>
                <a:cs typeface="Calibri"/>
              </a:rPr>
              <a:t>reward </a:t>
            </a:r>
            <a:r>
              <a:rPr sz="2800" dirty="0">
                <a:solidFill>
                  <a:srgbClr val="1F3863"/>
                </a:solidFill>
                <a:latin typeface="Calibri"/>
                <a:cs typeface="Calibri"/>
              </a:rPr>
              <a:t>amount</a:t>
            </a:r>
            <a:r>
              <a:rPr sz="2800" spc="-70" dirty="0">
                <a:solidFill>
                  <a:srgbClr val="1F3863"/>
                </a:solidFill>
                <a:latin typeface="Calibri"/>
                <a:cs typeface="Calibri"/>
              </a:rPr>
              <a:t> </a:t>
            </a:r>
            <a:r>
              <a:rPr sz="2800" dirty="0">
                <a:solidFill>
                  <a:srgbClr val="1F3863"/>
                </a:solidFill>
                <a:latin typeface="Calibri"/>
                <a:cs typeface="Calibri"/>
              </a:rPr>
              <a:t>of</a:t>
            </a:r>
            <a:r>
              <a:rPr sz="2800" spc="-90" dirty="0">
                <a:solidFill>
                  <a:srgbClr val="1F3863"/>
                </a:solidFill>
                <a:latin typeface="Calibri"/>
                <a:cs typeface="Calibri"/>
              </a:rPr>
              <a:t> </a:t>
            </a:r>
            <a:r>
              <a:rPr sz="2800" dirty="0">
                <a:solidFill>
                  <a:srgbClr val="1F3863"/>
                </a:solidFill>
                <a:latin typeface="Calibri"/>
                <a:cs typeface="Calibri"/>
              </a:rPr>
              <a:t>the</a:t>
            </a:r>
            <a:r>
              <a:rPr sz="2800" spc="-85" dirty="0">
                <a:solidFill>
                  <a:srgbClr val="1F3863"/>
                </a:solidFill>
                <a:latin typeface="Calibri"/>
                <a:cs typeface="Calibri"/>
              </a:rPr>
              <a:t> </a:t>
            </a:r>
            <a:r>
              <a:rPr sz="2800" dirty="0">
                <a:solidFill>
                  <a:srgbClr val="1F3863"/>
                </a:solidFill>
                <a:latin typeface="Calibri"/>
                <a:cs typeface="Calibri"/>
              </a:rPr>
              <a:t>current</a:t>
            </a:r>
            <a:r>
              <a:rPr sz="2800" spc="-70" dirty="0">
                <a:solidFill>
                  <a:srgbClr val="1F3863"/>
                </a:solidFill>
                <a:latin typeface="Calibri"/>
                <a:cs typeface="Calibri"/>
              </a:rPr>
              <a:t> </a:t>
            </a:r>
            <a:r>
              <a:rPr sz="2800" spc="-10" dirty="0">
                <a:solidFill>
                  <a:srgbClr val="1F3863"/>
                </a:solidFill>
                <a:latin typeface="Calibri"/>
                <a:cs typeface="Calibri"/>
              </a:rPr>
              <a:t>level</a:t>
            </a:r>
            <a:endParaRPr sz="2800">
              <a:latin typeface="Calibri"/>
              <a:cs typeface="Calibri"/>
            </a:endParaRPr>
          </a:p>
          <a:p>
            <a:pPr marL="12700" marR="5080" indent="349250">
              <a:lnSpc>
                <a:spcPct val="90000"/>
              </a:lnSpc>
              <a:spcBef>
                <a:spcPts val="969"/>
              </a:spcBef>
              <a:buAutoNum type="romanLcParenR"/>
              <a:tabLst>
                <a:tab pos="361950" algn="l"/>
              </a:tabLst>
            </a:pPr>
            <a:r>
              <a:rPr sz="2800" dirty="0">
                <a:solidFill>
                  <a:srgbClr val="1F3863"/>
                </a:solidFill>
                <a:latin typeface="Calibri"/>
                <a:cs typeface="Calibri"/>
              </a:rPr>
              <a:t>lost</a:t>
            </a:r>
            <a:r>
              <a:rPr sz="2800" spc="-35" dirty="0">
                <a:solidFill>
                  <a:srgbClr val="1F3863"/>
                </a:solidFill>
                <a:latin typeface="Calibri"/>
                <a:cs typeface="Calibri"/>
              </a:rPr>
              <a:t> </a:t>
            </a:r>
            <a:r>
              <a:rPr sz="2800" dirty="0">
                <a:solidFill>
                  <a:srgbClr val="1F3863"/>
                </a:solidFill>
                <a:latin typeface="Calibri"/>
                <a:cs typeface="Calibri"/>
              </a:rPr>
              <a:t>which</a:t>
            </a:r>
            <a:r>
              <a:rPr sz="2800" spc="-40" dirty="0">
                <a:solidFill>
                  <a:srgbClr val="1F3863"/>
                </a:solidFill>
                <a:latin typeface="Calibri"/>
                <a:cs typeface="Calibri"/>
              </a:rPr>
              <a:t> </a:t>
            </a:r>
            <a:r>
              <a:rPr sz="2800" dirty="0">
                <a:solidFill>
                  <a:srgbClr val="1F3863"/>
                </a:solidFill>
                <a:latin typeface="Calibri"/>
                <a:cs typeface="Calibri"/>
              </a:rPr>
              <a:t>ends</a:t>
            </a:r>
            <a:r>
              <a:rPr sz="2800" spc="-20" dirty="0">
                <a:solidFill>
                  <a:srgbClr val="1F3863"/>
                </a:solidFill>
                <a:latin typeface="Calibri"/>
                <a:cs typeface="Calibri"/>
              </a:rPr>
              <a:t> </a:t>
            </a:r>
            <a:r>
              <a:rPr sz="2800" dirty="0">
                <a:solidFill>
                  <a:srgbClr val="1F3863"/>
                </a:solidFill>
                <a:latin typeface="Calibri"/>
                <a:cs typeface="Calibri"/>
              </a:rPr>
              <a:t>the</a:t>
            </a:r>
            <a:r>
              <a:rPr sz="2800" spc="-50" dirty="0">
                <a:solidFill>
                  <a:srgbClr val="1F3863"/>
                </a:solidFill>
                <a:latin typeface="Calibri"/>
                <a:cs typeface="Calibri"/>
              </a:rPr>
              <a:t> </a:t>
            </a:r>
            <a:r>
              <a:rPr sz="2800" dirty="0">
                <a:solidFill>
                  <a:srgbClr val="1F3863"/>
                </a:solidFill>
                <a:latin typeface="Calibri"/>
                <a:cs typeface="Calibri"/>
              </a:rPr>
              <a:t>game</a:t>
            </a:r>
            <a:r>
              <a:rPr sz="2800" spc="-65" dirty="0">
                <a:solidFill>
                  <a:srgbClr val="1F3863"/>
                </a:solidFill>
                <a:latin typeface="Calibri"/>
                <a:cs typeface="Calibri"/>
              </a:rPr>
              <a:t> </a:t>
            </a:r>
            <a:r>
              <a:rPr sz="2800" dirty="0">
                <a:solidFill>
                  <a:srgbClr val="1F3863"/>
                </a:solidFill>
                <a:latin typeface="Calibri"/>
                <a:cs typeface="Calibri"/>
              </a:rPr>
              <a:t>with</a:t>
            </a:r>
            <a:r>
              <a:rPr sz="2800" spc="-45" dirty="0">
                <a:solidFill>
                  <a:srgbClr val="1F3863"/>
                </a:solidFill>
                <a:latin typeface="Calibri"/>
                <a:cs typeface="Calibri"/>
              </a:rPr>
              <a:t> </a:t>
            </a:r>
            <a:r>
              <a:rPr sz="2800" dirty="0">
                <a:solidFill>
                  <a:srgbClr val="1F3863"/>
                </a:solidFill>
                <a:latin typeface="Calibri"/>
                <a:cs typeface="Calibri"/>
              </a:rPr>
              <a:t>probability</a:t>
            </a:r>
            <a:r>
              <a:rPr sz="2800" spc="-30" dirty="0">
                <a:solidFill>
                  <a:srgbClr val="1F3863"/>
                </a:solidFill>
                <a:latin typeface="Calibri"/>
                <a:cs typeface="Calibri"/>
              </a:rPr>
              <a:t> </a:t>
            </a:r>
            <a:r>
              <a:rPr sz="2800" spc="-20" dirty="0">
                <a:solidFill>
                  <a:srgbClr val="1F3863"/>
                </a:solidFill>
                <a:latin typeface="Calibri"/>
                <a:cs typeface="Calibri"/>
              </a:rPr>
              <a:t>(1-</a:t>
            </a:r>
            <a:r>
              <a:rPr sz="2800" dirty="0">
                <a:solidFill>
                  <a:srgbClr val="1F3863"/>
                </a:solidFill>
                <a:latin typeface="Calibri"/>
                <a:cs typeface="Calibri"/>
              </a:rPr>
              <a:t>p)</a:t>
            </a:r>
            <a:r>
              <a:rPr sz="2800" spc="-15" dirty="0">
                <a:solidFill>
                  <a:srgbClr val="1F3863"/>
                </a:solidFill>
                <a:latin typeface="Calibri"/>
                <a:cs typeface="Calibri"/>
              </a:rPr>
              <a:t> </a:t>
            </a:r>
            <a:r>
              <a:rPr sz="2800" dirty="0">
                <a:solidFill>
                  <a:srgbClr val="1F3863"/>
                </a:solidFill>
                <a:latin typeface="Calibri"/>
                <a:cs typeface="Calibri"/>
              </a:rPr>
              <a:t>and</a:t>
            </a:r>
            <a:r>
              <a:rPr sz="2800" spc="-45" dirty="0">
                <a:solidFill>
                  <a:srgbClr val="1F3863"/>
                </a:solidFill>
                <a:latin typeface="Calibri"/>
                <a:cs typeface="Calibri"/>
              </a:rPr>
              <a:t> </a:t>
            </a:r>
            <a:r>
              <a:rPr sz="2800" dirty="0">
                <a:solidFill>
                  <a:srgbClr val="1F3863"/>
                </a:solidFill>
                <a:latin typeface="Calibri"/>
                <a:cs typeface="Calibri"/>
              </a:rPr>
              <a:t>losses</a:t>
            </a:r>
            <a:r>
              <a:rPr sz="2800" spc="-35" dirty="0">
                <a:solidFill>
                  <a:srgbClr val="1F3863"/>
                </a:solidFill>
                <a:latin typeface="Calibri"/>
                <a:cs typeface="Calibri"/>
              </a:rPr>
              <a:t> </a:t>
            </a:r>
            <a:r>
              <a:rPr sz="2800" dirty="0">
                <a:solidFill>
                  <a:srgbClr val="1F3863"/>
                </a:solidFill>
                <a:latin typeface="Calibri"/>
                <a:cs typeface="Calibri"/>
              </a:rPr>
              <a:t>all</a:t>
            </a:r>
            <a:r>
              <a:rPr sz="2800" spc="-65" dirty="0">
                <a:solidFill>
                  <a:srgbClr val="1F3863"/>
                </a:solidFill>
                <a:latin typeface="Calibri"/>
                <a:cs typeface="Calibri"/>
              </a:rPr>
              <a:t> </a:t>
            </a:r>
            <a:r>
              <a:rPr sz="2800" spc="-25" dirty="0">
                <a:solidFill>
                  <a:srgbClr val="1F3863"/>
                </a:solidFill>
                <a:latin typeface="Calibri"/>
                <a:cs typeface="Calibri"/>
              </a:rPr>
              <a:t>the </a:t>
            </a:r>
            <a:r>
              <a:rPr sz="2800" spc="-10" dirty="0">
                <a:solidFill>
                  <a:srgbClr val="1F3863"/>
                </a:solidFill>
                <a:latin typeface="Calibri"/>
                <a:cs typeface="Calibri"/>
              </a:rPr>
              <a:t>rewards</a:t>
            </a:r>
            <a:r>
              <a:rPr sz="2800" spc="-65" dirty="0">
                <a:solidFill>
                  <a:srgbClr val="1F3863"/>
                </a:solidFill>
                <a:latin typeface="Calibri"/>
                <a:cs typeface="Calibri"/>
              </a:rPr>
              <a:t> </a:t>
            </a:r>
            <a:r>
              <a:rPr sz="2800" dirty="0">
                <a:solidFill>
                  <a:srgbClr val="1F3863"/>
                </a:solidFill>
                <a:latin typeface="Calibri"/>
                <a:cs typeface="Calibri"/>
              </a:rPr>
              <a:t>earned</a:t>
            </a:r>
            <a:r>
              <a:rPr sz="2800" spc="-70" dirty="0">
                <a:solidFill>
                  <a:srgbClr val="1F3863"/>
                </a:solidFill>
                <a:latin typeface="Calibri"/>
                <a:cs typeface="Calibri"/>
              </a:rPr>
              <a:t> </a:t>
            </a:r>
            <a:r>
              <a:rPr sz="2800" dirty="0">
                <a:solidFill>
                  <a:srgbClr val="1F3863"/>
                </a:solidFill>
                <a:latin typeface="Calibri"/>
                <a:cs typeface="Calibri"/>
              </a:rPr>
              <a:t>so</a:t>
            </a:r>
            <a:r>
              <a:rPr sz="2800" spc="-60" dirty="0">
                <a:solidFill>
                  <a:srgbClr val="1F3863"/>
                </a:solidFill>
                <a:latin typeface="Calibri"/>
                <a:cs typeface="Calibri"/>
              </a:rPr>
              <a:t> </a:t>
            </a:r>
            <a:r>
              <a:rPr sz="2800" spc="-70" dirty="0">
                <a:solidFill>
                  <a:srgbClr val="1F3863"/>
                </a:solidFill>
                <a:latin typeface="Calibri"/>
                <a:cs typeface="Calibri"/>
              </a:rPr>
              <a:t>far.</a:t>
            </a:r>
            <a:r>
              <a:rPr sz="2800" spc="-75" dirty="0">
                <a:solidFill>
                  <a:srgbClr val="1F3863"/>
                </a:solidFill>
                <a:latin typeface="Calibri"/>
                <a:cs typeface="Calibri"/>
              </a:rPr>
              <a:t> </a:t>
            </a:r>
            <a:r>
              <a:rPr sz="2800" dirty="0">
                <a:solidFill>
                  <a:srgbClr val="1F3863"/>
                </a:solidFill>
                <a:latin typeface="Calibri"/>
                <a:cs typeface="Calibri"/>
              </a:rPr>
              <a:t>Action</a:t>
            </a:r>
            <a:r>
              <a:rPr sz="2800" spc="-60" dirty="0">
                <a:solidFill>
                  <a:srgbClr val="1F3863"/>
                </a:solidFill>
                <a:latin typeface="Calibri"/>
                <a:cs typeface="Calibri"/>
              </a:rPr>
              <a:t> </a:t>
            </a:r>
            <a:r>
              <a:rPr sz="2800" dirty="0">
                <a:solidFill>
                  <a:srgbClr val="1F3863"/>
                </a:solidFill>
                <a:latin typeface="Calibri"/>
                <a:cs typeface="Calibri"/>
              </a:rPr>
              <a:t>quit</a:t>
            </a:r>
            <a:r>
              <a:rPr sz="2800" spc="-55" dirty="0">
                <a:solidFill>
                  <a:srgbClr val="1F3863"/>
                </a:solidFill>
                <a:latin typeface="Calibri"/>
                <a:cs typeface="Calibri"/>
              </a:rPr>
              <a:t> </a:t>
            </a:r>
            <a:r>
              <a:rPr sz="2800" dirty="0">
                <a:solidFill>
                  <a:srgbClr val="1F3863"/>
                </a:solidFill>
                <a:latin typeface="Calibri"/>
                <a:cs typeface="Calibri"/>
              </a:rPr>
              <a:t>ends</a:t>
            </a:r>
            <a:r>
              <a:rPr sz="2800" spc="-45" dirty="0">
                <a:solidFill>
                  <a:srgbClr val="1F3863"/>
                </a:solidFill>
                <a:latin typeface="Calibri"/>
                <a:cs typeface="Calibri"/>
              </a:rPr>
              <a:t> </a:t>
            </a:r>
            <a:r>
              <a:rPr sz="2800" dirty="0">
                <a:solidFill>
                  <a:srgbClr val="1F3863"/>
                </a:solidFill>
                <a:latin typeface="Calibri"/>
                <a:cs typeface="Calibri"/>
              </a:rPr>
              <a:t>the</a:t>
            </a:r>
            <a:r>
              <a:rPr sz="2800" spc="-70" dirty="0">
                <a:solidFill>
                  <a:srgbClr val="1F3863"/>
                </a:solidFill>
                <a:latin typeface="Calibri"/>
                <a:cs typeface="Calibri"/>
              </a:rPr>
              <a:t> </a:t>
            </a:r>
            <a:r>
              <a:rPr sz="2800" dirty="0">
                <a:solidFill>
                  <a:srgbClr val="1F3863"/>
                </a:solidFill>
                <a:latin typeface="Calibri"/>
                <a:cs typeface="Calibri"/>
              </a:rPr>
              <a:t>game</a:t>
            </a:r>
            <a:r>
              <a:rPr sz="2800" spc="-65" dirty="0">
                <a:solidFill>
                  <a:srgbClr val="1F3863"/>
                </a:solidFill>
                <a:latin typeface="Calibri"/>
                <a:cs typeface="Calibri"/>
              </a:rPr>
              <a:t> </a:t>
            </a:r>
            <a:r>
              <a:rPr sz="2800" dirty="0">
                <a:solidFill>
                  <a:srgbClr val="1F3863"/>
                </a:solidFill>
                <a:latin typeface="Calibri"/>
                <a:cs typeface="Calibri"/>
              </a:rPr>
              <a:t>with</a:t>
            </a:r>
            <a:r>
              <a:rPr sz="2800" spc="-65" dirty="0">
                <a:solidFill>
                  <a:srgbClr val="1F3863"/>
                </a:solidFill>
                <a:latin typeface="Calibri"/>
                <a:cs typeface="Calibri"/>
              </a:rPr>
              <a:t> </a:t>
            </a:r>
            <a:r>
              <a:rPr sz="2800" dirty="0">
                <a:solidFill>
                  <a:srgbClr val="1F3863"/>
                </a:solidFill>
                <a:latin typeface="Calibri"/>
                <a:cs typeface="Calibri"/>
              </a:rPr>
              <a:t>probability</a:t>
            </a:r>
            <a:r>
              <a:rPr sz="2800" spc="-40" dirty="0">
                <a:solidFill>
                  <a:srgbClr val="1F3863"/>
                </a:solidFill>
                <a:latin typeface="Calibri"/>
                <a:cs typeface="Calibri"/>
              </a:rPr>
              <a:t> </a:t>
            </a:r>
            <a:r>
              <a:rPr sz="2800" dirty="0">
                <a:solidFill>
                  <a:srgbClr val="1F3863"/>
                </a:solidFill>
                <a:latin typeface="Calibri"/>
                <a:cs typeface="Calibri"/>
              </a:rPr>
              <a:t>1</a:t>
            </a:r>
            <a:r>
              <a:rPr sz="2800" spc="-70" dirty="0">
                <a:solidFill>
                  <a:srgbClr val="1F3863"/>
                </a:solidFill>
                <a:latin typeface="Calibri"/>
                <a:cs typeface="Calibri"/>
              </a:rPr>
              <a:t> </a:t>
            </a:r>
            <a:r>
              <a:rPr sz="2800" spc="-25" dirty="0">
                <a:solidFill>
                  <a:srgbClr val="1F3863"/>
                </a:solidFill>
                <a:latin typeface="Calibri"/>
                <a:cs typeface="Calibri"/>
              </a:rPr>
              <a:t>and </a:t>
            </a:r>
            <a:r>
              <a:rPr sz="2800" dirty="0">
                <a:solidFill>
                  <a:srgbClr val="1F3863"/>
                </a:solidFill>
                <a:latin typeface="Calibri"/>
                <a:cs typeface="Calibri"/>
              </a:rPr>
              <a:t>no</a:t>
            </a:r>
            <a:r>
              <a:rPr sz="2800" spc="-30" dirty="0">
                <a:solidFill>
                  <a:srgbClr val="1F3863"/>
                </a:solidFill>
                <a:latin typeface="Calibri"/>
                <a:cs typeface="Calibri"/>
              </a:rPr>
              <a:t> </a:t>
            </a:r>
            <a:r>
              <a:rPr sz="2800" spc="-10" dirty="0">
                <a:solidFill>
                  <a:srgbClr val="1F3863"/>
                </a:solidFill>
                <a:latin typeface="Calibri"/>
                <a:cs typeface="Calibri"/>
              </a:rPr>
              <a:t>rewards.</a:t>
            </a:r>
            <a:endParaRPr sz="2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8416" y="122377"/>
            <a:ext cx="6469583" cy="4883003"/>
          </a:xfrm>
          <a:prstGeom prst="rect">
            <a:avLst/>
          </a:prstGeom>
        </p:spPr>
        <p:txBody>
          <a:bodyPr vert="horz" wrap="square" lIns="0" tIns="12065" rIns="0" bIns="0" rtlCol="0">
            <a:spAutoFit/>
          </a:bodyPr>
          <a:lstStyle/>
          <a:p>
            <a:pPr marL="240665" indent="-227965">
              <a:lnSpc>
                <a:spcPts val="2245"/>
              </a:lnSpc>
              <a:spcBef>
                <a:spcPts val="95"/>
              </a:spcBef>
              <a:buClr>
                <a:srgbClr val="1F3863"/>
              </a:buClr>
              <a:buFont typeface="Arial MT"/>
              <a:buChar char="•"/>
              <a:tabLst>
                <a:tab pos="240665" algn="l"/>
              </a:tabLst>
            </a:pPr>
            <a:r>
              <a:rPr sz="1600" dirty="0">
                <a:solidFill>
                  <a:srgbClr val="1F3863"/>
                </a:solidFill>
                <a:latin typeface="Calibri"/>
                <a:cs typeface="Calibri"/>
              </a:rPr>
              <a:t>States:</a:t>
            </a:r>
            <a:r>
              <a:rPr sz="1600" spc="-35" dirty="0">
                <a:solidFill>
                  <a:srgbClr val="1F3863"/>
                </a:solidFill>
                <a:latin typeface="Calibri"/>
                <a:cs typeface="Calibri"/>
              </a:rPr>
              <a:t> </a:t>
            </a:r>
            <a:r>
              <a:rPr sz="1600" dirty="0">
                <a:solidFill>
                  <a:srgbClr val="1F3863"/>
                </a:solidFill>
                <a:latin typeface="Calibri"/>
                <a:cs typeface="Calibri"/>
              </a:rPr>
              <a:t>The</a:t>
            </a:r>
            <a:r>
              <a:rPr sz="1600" spc="-35" dirty="0">
                <a:solidFill>
                  <a:srgbClr val="1F3863"/>
                </a:solidFill>
                <a:latin typeface="Calibri"/>
                <a:cs typeface="Calibri"/>
              </a:rPr>
              <a:t> </a:t>
            </a:r>
            <a:r>
              <a:rPr sz="1600" dirty="0">
                <a:solidFill>
                  <a:srgbClr val="1F3863"/>
                </a:solidFill>
                <a:latin typeface="Calibri"/>
                <a:cs typeface="Calibri"/>
              </a:rPr>
              <a:t>number</a:t>
            </a:r>
            <a:r>
              <a:rPr sz="1600" spc="-50" dirty="0">
                <a:solidFill>
                  <a:srgbClr val="1F3863"/>
                </a:solidFill>
                <a:latin typeface="Calibri"/>
                <a:cs typeface="Calibri"/>
              </a:rPr>
              <a:t> </a:t>
            </a:r>
            <a:r>
              <a:rPr sz="1600" dirty="0">
                <a:solidFill>
                  <a:srgbClr val="1F3863"/>
                </a:solidFill>
                <a:latin typeface="Calibri"/>
                <a:cs typeface="Calibri"/>
              </a:rPr>
              <a:t>of</a:t>
            </a:r>
            <a:r>
              <a:rPr sz="1600" spc="-40" dirty="0">
                <a:solidFill>
                  <a:srgbClr val="1F3863"/>
                </a:solidFill>
                <a:latin typeface="Calibri"/>
                <a:cs typeface="Calibri"/>
              </a:rPr>
              <a:t> </a:t>
            </a:r>
            <a:r>
              <a:rPr sz="1600" dirty="0">
                <a:solidFill>
                  <a:srgbClr val="1F3863"/>
                </a:solidFill>
                <a:latin typeface="Calibri"/>
                <a:cs typeface="Calibri"/>
              </a:rPr>
              <a:t>salmons</a:t>
            </a:r>
            <a:r>
              <a:rPr sz="1600" spc="-50" dirty="0">
                <a:solidFill>
                  <a:srgbClr val="1F3863"/>
                </a:solidFill>
                <a:latin typeface="Calibri"/>
                <a:cs typeface="Calibri"/>
              </a:rPr>
              <a:t> </a:t>
            </a:r>
            <a:r>
              <a:rPr sz="1600" dirty="0">
                <a:solidFill>
                  <a:srgbClr val="1F3863"/>
                </a:solidFill>
                <a:latin typeface="Calibri"/>
                <a:cs typeface="Calibri"/>
              </a:rPr>
              <a:t>available</a:t>
            </a:r>
            <a:r>
              <a:rPr sz="1600" spc="-80" dirty="0">
                <a:solidFill>
                  <a:srgbClr val="1F3863"/>
                </a:solidFill>
                <a:latin typeface="Calibri"/>
                <a:cs typeface="Calibri"/>
              </a:rPr>
              <a:t> </a:t>
            </a:r>
            <a:r>
              <a:rPr sz="1600" dirty="0">
                <a:solidFill>
                  <a:srgbClr val="1F3863"/>
                </a:solidFill>
                <a:latin typeface="Calibri"/>
                <a:cs typeface="Calibri"/>
              </a:rPr>
              <a:t>in</a:t>
            </a:r>
            <a:r>
              <a:rPr sz="1600" spc="-60" dirty="0">
                <a:solidFill>
                  <a:srgbClr val="1F3863"/>
                </a:solidFill>
                <a:latin typeface="Calibri"/>
                <a:cs typeface="Calibri"/>
              </a:rPr>
              <a:t> </a:t>
            </a:r>
            <a:r>
              <a:rPr sz="1600" dirty="0">
                <a:solidFill>
                  <a:srgbClr val="1F3863"/>
                </a:solidFill>
                <a:latin typeface="Calibri"/>
                <a:cs typeface="Calibri"/>
              </a:rPr>
              <a:t>that</a:t>
            </a:r>
            <a:r>
              <a:rPr sz="1600" spc="-35" dirty="0">
                <a:solidFill>
                  <a:srgbClr val="1F3863"/>
                </a:solidFill>
                <a:latin typeface="Calibri"/>
                <a:cs typeface="Calibri"/>
              </a:rPr>
              <a:t> </a:t>
            </a:r>
            <a:r>
              <a:rPr sz="1600" dirty="0">
                <a:solidFill>
                  <a:srgbClr val="1F3863"/>
                </a:solidFill>
                <a:latin typeface="Calibri"/>
                <a:cs typeface="Calibri"/>
              </a:rPr>
              <a:t>area</a:t>
            </a:r>
            <a:r>
              <a:rPr sz="1600" spc="-65" dirty="0">
                <a:solidFill>
                  <a:srgbClr val="1F3863"/>
                </a:solidFill>
                <a:latin typeface="Calibri"/>
                <a:cs typeface="Calibri"/>
              </a:rPr>
              <a:t> </a:t>
            </a:r>
            <a:r>
              <a:rPr sz="1600" dirty="0">
                <a:solidFill>
                  <a:srgbClr val="1F3863"/>
                </a:solidFill>
                <a:latin typeface="Calibri"/>
                <a:cs typeface="Calibri"/>
              </a:rPr>
              <a:t>in</a:t>
            </a:r>
            <a:r>
              <a:rPr sz="1600" spc="-60" dirty="0">
                <a:solidFill>
                  <a:srgbClr val="1F3863"/>
                </a:solidFill>
                <a:latin typeface="Calibri"/>
                <a:cs typeface="Calibri"/>
              </a:rPr>
              <a:t> </a:t>
            </a:r>
            <a:r>
              <a:rPr sz="1600" dirty="0">
                <a:solidFill>
                  <a:srgbClr val="1F3863"/>
                </a:solidFill>
                <a:latin typeface="Calibri"/>
                <a:cs typeface="Calibri"/>
              </a:rPr>
              <a:t>that</a:t>
            </a:r>
            <a:r>
              <a:rPr sz="1600" spc="-50" dirty="0">
                <a:solidFill>
                  <a:srgbClr val="1F3863"/>
                </a:solidFill>
                <a:latin typeface="Calibri"/>
                <a:cs typeface="Calibri"/>
              </a:rPr>
              <a:t> </a:t>
            </a:r>
            <a:r>
              <a:rPr sz="1600" spc="-40" dirty="0">
                <a:solidFill>
                  <a:srgbClr val="1F3863"/>
                </a:solidFill>
                <a:latin typeface="Calibri"/>
                <a:cs typeface="Calibri"/>
              </a:rPr>
              <a:t>year.</a:t>
            </a:r>
            <a:r>
              <a:rPr sz="1600" spc="-55" dirty="0">
                <a:solidFill>
                  <a:srgbClr val="1F3863"/>
                </a:solidFill>
                <a:latin typeface="Calibri"/>
                <a:cs typeface="Calibri"/>
              </a:rPr>
              <a:t> </a:t>
            </a:r>
            <a:r>
              <a:rPr sz="1600" dirty="0">
                <a:solidFill>
                  <a:srgbClr val="1F3863"/>
                </a:solidFill>
                <a:latin typeface="Calibri"/>
                <a:cs typeface="Calibri"/>
              </a:rPr>
              <a:t>For</a:t>
            </a:r>
            <a:r>
              <a:rPr sz="1600" spc="-45" dirty="0">
                <a:solidFill>
                  <a:srgbClr val="1F3863"/>
                </a:solidFill>
                <a:latin typeface="Calibri"/>
                <a:cs typeface="Calibri"/>
              </a:rPr>
              <a:t> </a:t>
            </a:r>
            <a:r>
              <a:rPr sz="1600" dirty="0">
                <a:solidFill>
                  <a:srgbClr val="1F3863"/>
                </a:solidFill>
                <a:latin typeface="Calibri"/>
                <a:cs typeface="Calibri"/>
              </a:rPr>
              <a:t>simplicity</a:t>
            </a:r>
            <a:r>
              <a:rPr sz="1600" spc="-45" dirty="0">
                <a:solidFill>
                  <a:srgbClr val="1F3863"/>
                </a:solidFill>
                <a:latin typeface="Calibri"/>
                <a:cs typeface="Calibri"/>
              </a:rPr>
              <a:t> </a:t>
            </a:r>
            <a:r>
              <a:rPr sz="1600" dirty="0">
                <a:solidFill>
                  <a:srgbClr val="1F3863"/>
                </a:solidFill>
                <a:latin typeface="Calibri"/>
                <a:cs typeface="Calibri"/>
              </a:rPr>
              <a:t>assume</a:t>
            </a:r>
            <a:r>
              <a:rPr sz="1600" spc="-50" dirty="0">
                <a:solidFill>
                  <a:srgbClr val="1F3863"/>
                </a:solidFill>
                <a:latin typeface="Calibri"/>
                <a:cs typeface="Calibri"/>
              </a:rPr>
              <a:t> </a:t>
            </a:r>
            <a:r>
              <a:rPr sz="1600" spc="-10" dirty="0">
                <a:solidFill>
                  <a:srgbClr val="1F3863"/>
                </a:solidFill>
                <a:latin typeface="Calibri"/>
                <a:cs typeface="Calibri"/>
              </a:rPr>
              <a:t>there</a:t>
            </a:r>
            <a:r>
              <a:rPr lang="en-US" sz="1600" spc="-10" dirty="0">
                <a:solidFill>
                  <a:srgbClr val="1F3863"/>
                </a:solidFill>
                <a:latin typeface="Calibri"/>
                <a:cs typeface="Calibri"/>
              </a:rPr>
              <a:t> </a:t>
            </a:r>
            <a:r>
              <a:rPr sz="1600" dirty="0">
                <a:solidFill>
                  <a:srgbClr val="1F3863"/>
                </a:solidFill>
                <a:latin typeface="Calibri"/>
                <a:cs typeface="Calibri"/>
              </a:rPr>
              <a:t>are</a:t>
            </a:r>
            <a:r>
              <a:rPr sz="1600" spc="-70" dirty="0">
                <a:solidFill>
                  <a:srgbClr val="1F3863"/>
                </a:solidFill>
                <a:latin typeface="Calibri"/>
                <a:cs typeface="Calibri"/>
              </a:rPr>
              <a:t> </a:t>
            </a:r>
            <a:r>
              <a:rPr sz="1600" dirty="0">
                <a:solidFill>
                  <a:srgbClr val="1F3863"/>
                </a:solidFill>
                <a:latin typeface="Calibri"/>
                <a:cs typeface="Calibri"/>
              </a:rPr>
              <a:t>only</a:t>
            </a:r>
            <a:r>
              <a:rPr sz="1600" spc="-65" dirty="0">
                <a:solidFill>
                  <a:srgbClr val="1F3863"/>
                </a:solidFill>
                <a:latin typeface="Calibri"/>
                <a:cs typeface="Calibri"/>
              </a:rPr>
              <a:t> </a:t>
            </a:r>
            <a:r>
              <a:rPr sz="1600" dirty="0">
                <a:solidFill>
                  <a:srgbClr val="1F3863"/>
                </a:solidFill>
                <a:latin typeface="Calibri"/>
                <a:cs typeface="Calibri"/>
              </a:rPr>
              <a:t>four</a:t>
            </a:r>
            <a:r>
              <a:rPr sz="1600" spc="-60" dirty="0">
                <a:solidFill>
                  <a:srgbClr val="1F3863"/>
                </a:solidFill>
                <a:latin typeface="Calibri"/>
                <a:cs typeface="Calibri"/>
              </a:rPr>
              <a:t> </a:t>
            </a:r>
            <a:r>
              <a:rPr sz="1600" spc="-10" dirty="0">
                <a:solidFill>
                  <a:srgbClr val="1F3863"/>
                </a:solidFill>
                <a:latin typeface="Calibri"/>
                <a:cs typeface="Calibri"/>
              </a:rPr>
              <a:t>states;</a:t>
            </a:r>
            <a:r>
              <a:rPr sz="1600" spc="-60" dirty="0">
                <a:solidFill>
                  <a:srgbClr val="1F3863"/>
                </a:solidFill>
                <a:latin typeface="Calibri"/>
                <a:cs typeface="Calibri"/>
              </a:rPr>
              <a:t> </a:t>
            </a:r>
            <a:r>
              <a:rPr sz="1600" spc="-25" dirty="0">
                <a:solidFill>
                  <a:srgbClr val="1F3863"/>
                </a:solidFill>
                <a:latin typeface="Calibri"/>
                <a:cs typeface="Calibri"/>
              </a:rPr>
              <a:t>empty,</a:t>
            </a:r>
            <a:r>
              <a:rPr sz="1600" spc="-35" dirty="0">
                <a:solidFill>
                  <a:srgbClr val="1F3863"/>
                </a:solidFill>
                <a:latin typeface="Calibri"/>
                <a:cs typeface="Calibri"/>
              </a:rPr>
              <a:t> </a:t>
            </a:r>
            <a:r>
              <a:rPr sz="1600" spc="-45" dirty="0">
                <a:solidFill>
                  <a:srgbClr val="1F3863"/>
                </a:solidFill>
                <a:latin typeface="Calibri"/>
                <a:cs typeface="Calibri"/>
              </a:rPr>
              <a:t>low,</a:t>
            </a:r>
            <a:r>
              <a:rPr sz="1600" spc="-60" dirty="0">
                <a:solidFill>
                  <a:srgbClr val="1F3863"/>
                </a:solidFill>
                <a:latin typeface="Calibri"/>
                <a:cs typeface="Calibri"/>
              </a:rPr>
              <a:t> </a:t>
            </a:r>
            <a:r>
              <a:rPr sz="1600" dirty="0">
                <a:solidFill>
                  <a:srgbClr val="1F3863"/>
                </a:solidFill>
                <a:latin typeface="Calibri"/>
                <a:cs typeface="Calibri"/>
              </a:rPr>
              <a:t>medium,</a:t>
            </a:r>
            <a:r>
              <a:rPr sz="1600" spc="-50" dirty="0">
                <a:solidFill>
                  <a:srgbClr val="1F3863"/>
                </a:solidFill>
                <a:latin typeface="Calibri"/>
                <a:cs typeface="Calibri"/>
              </a:rPr>
              <a:t> </a:t>
            </a:r>
            <a:r>
              <a:rPr sz="1600" dirty="0">
                <a:solidFill>
                  <a:srgbClr val="1F3863"/>
                </a:solidFill>
                <a:latin typeface="Calibri"/>
                <a:cs typeface="Calibri"/>
              </a:rPr>
              <a:t>high.</a:t>
            </a:r>
            <a:r>
              <a:rPr sz="1600" spc="-70" dirty="0">
                <a:solidFill>
                  <a:srgbClr val="1F3863"/>
                </a:solidFill>
                <a:latin typeface="Calibri"/>
                <a:cs typeface="Calibri"/>
              </a:rPr>
              <a:t> </a:t>
            </a:r>
            <a:r>
              <a:rPr sz="1600" dirty="0">
                <a:solidFill>
                  <a:srgbClr val="1F3863"/>
                </a:solidFill>
                <a:latin typeface="Calibri"/>
                <a:cs typeface="Calibri"/>
              </a:rPr>
              <a:t>The</a:t>
            </a:r>
            <a:r>
              <a:rPr sz="1600" spc="-50" dirty="0">
                <a:solidFill>
                  <a:srgbClr val="1F3863"/>
                </a:solidFill>
                <a:latin typeface="Calibri"/>
                <a:cs typeface="Calibri"/>
              </a:rPr>
              <a:t> </a:t>
            </a:r>
            <a:r>
              <a:rPr sz="1600" dirty="0">
                <a:solidFill>
                  <a:srgbClr val="1F3863"/>
                </a:solidFill>
                <a:latin typeface="Calibri"/>
                <a:cs typeface="Calibri"/>
              </a:rPr>
              <a:t>four</a:t>
            </a:r>
            <a:r>
              <a:rPr sz="1600" spc="-70" dirty="0">
                <a:solidFill>
                  <a:srgbClr val="1F3863"/>
                </a:solidFill>
                <a:latin typeface="Calibri"/>
                <a:cs typeface="Calibri"/>
              </a:rPr>
              <a:t> </a:t>
            </a:r>
            <a:r>
              <a:rPr sz="1600" spc="-10" dirty="0">
                <a:solidFill>
                  <a:srgbClr val="1F3863"/>
                </a:solidFill>
                <a:latin typeface="Calibri"/>
                <a:cs typeface="Calibri"/>
              </a:rPr>
              <a:t>states</a:t>
            </a:r>
            <a:r>
              <a:rPr sz="1600" spc="-45" dirty="0">
                <a:solidFill>
                  <a:srgbClr val="1F3863"/>
                </a:solidFill>
                <a:latin typeface="Calibri"/>
                <a:cs typeface="Calibri"/>
              </a:rPr>
              <a:t> </a:t>
            </a:r>
            <a:r>
              <a:rPr sz="1600" dirty="0">
                <a:solidFill>
                  <a:srgbClr val="1F3863"/>
                </a:solidFill>
                <a:latin typeface="Calibri"/>
                <a:cs typeface="Calibri"/>
              </a:rPr>
              <a:t>are</a:t>
            </a:r>
            <a:r>
              <a:rPr sz="1600" spc="-70" dirty="0">
                <a:solidFill>
                  <a:srgbClr val="1F3863"/>
                </a:solidFill>
                <a:latin typeface="Calibri"/>
                <a:cs typeface="Calibri"/>
              </a:rPr>
              <a:t> </a:t>
            </a:r>
            <a:r>
              <a:rPr sz="1600" dirty="0">
                <a:solidFill>
                  <a:srgbClr val="1F3863"/>
                </a:solidFill>
                <a:latin typeface="Calibri"/>
                <a:cs typeface="Calibri"/>
              </a:rPr>
              <a:t>defined</a:t>
            </a:r>
            <a:r>
              <a:rPr sz="1600" spc="-50" dirty="0">
                <a:solidFill>
                  <a:srgbClr val="1F3863"/>
                </a:solidFill>
                <a:latin typeface="Calibri"/>
                <a:cs typeface="Calibri"/>
              </a:rPr>
              <a:t> </a:t>
            </a:r>
            <a:r>
              <a:rPr sz="1600" dirty="0">
                <a:solidFill>
                  <a:srgbClr val="1F3863"/>
                </a:solidFill>
                <a:latin typeface="Calibri"/>
                <a:cs typeface="Calibri"/>
              </a:rPr>
              <a:t>as</a:t>
            </a:r>
            <a:r>
              <a:rPr sz="1600" spc="-60" dirty="0">
                <a:solidFill>
                  <a:srgbClr val="1F3863"/>
                </a:solidFill>
                <a:latin typeface="Calibri"/>
                <a:cs typeface="Calibri"/>
              </a:rPr>
              <a:t> </a:t>
            </a:r>
            <a:r>
              <a:rPr sz="1600" spc="-10" dirty="0">
                <a:solidFill>
                  <a:srgbClr val="1F3863"/>
                </a:solidFill>
                <a:latin typeface="Calibri"/>
                <a:cs typeface="Calibri"/>
              </a:rPr>
              <a:t>follows</a:t>
            </a:r>
            <a:endParaRPr sz="1600" dirty="0">
              <a:latin typeface="Calibri"/>
              <a:cs typeface="Calibri"/>
            </a:endParaRPr>
          </a:p>
          <a:p>
            <a:pPr>
              <a:lnSpc>
                <a:spcPct val="100000"/>
              </a:lnSpc>
              <a:spcBef>
                <a:spcPts val="1155"/>
              </a:spcBef>
            </a:pPr>
            <a:endParaRPr sz="1600" dirty="0">
              <a:latin typeface="Calibri"/>
              <a:cs typeface="Calibri"/>
            </a:endParaRPr>
          </a:p>
          <a:p>
            <a:pPr marL="241300" marR="5080" indent="-228600">
              <a:lnSpc>
                <a:spcPct val="70000"/>
              </a:lnSpc>
              <a:buFont typeface="Arial MT"/>
              <a:buChar char="•"/>
              <a:tabLst>
                <a:tab pos="241300" algn="l"/>
              </a:tabLst>
            </a:pPr>
            <a:r>
              <a:rPr sz="1600" dirty="0">
                <a:solidFill>
                  <a:srgbClr val="1F3863"/>
                </a:solidFill>
                <a:latin typeface="Calibri"/>
                <a:cs typeface="Calibri"/>
              </a:rPr>
              <a:t>Empty</a:t>
            </a:r>
            <a:r>
              <a:rPr sz="1600" spc="-20" dirty="0">
                <a:solidFill>
                  <a:srgbClr val="1F3863"/>
                </a:solidFill>
                <a:latin typeface="Calibri"/>
                <a:cs typeface="Calibri"/>
              </a:rPr>
              <a:t> -</a:t>
            </a:r>
            <a:r>
              <a:rPr sz="1600" dirty="0">
                <a:solidFill>
                  <a:srgbClr val="1F3863"/>
                </a:solidFill>
                <a:latin typeface="Calibri"/>
                <a:cs typeface="Calibri"/>
              </a:rPr>
              <a:t>&gt;</a:t>
            </a:r>
            <a:r>
              <a:rPr sz="1600" spc="-40" dirty="0">
                <a:solidFill>
                  <a:srgbClr val="1F3863"/>
                </a:solidFill>
                <a:latin typeface="Calibri"/>
                <a:cs typeface="Calibri"/>
              </a:rPr>
              <a:t> </a:t>
            </a:r>
            <a:r>
              <a:rPr sz="1600" dirty="0">
                <a:solidFill>
                  <a:srgbClr val="1F3863"/>
                </a:solidFill>
                <a:latin typeface="Calibri"/>
                <a:cs typeface="Calibri"/>
              </a:rPr>
              <a:t>no</a:t>
            </a:r>
            <a:r>
              <a:rPr sz="1600" spc="-50" dirty="0">
                <a:solidFill>
                  <a:srgbClr val="1F3863"/>
                </a:solidFill>
                <a:latin typeface="Calibri"/>
                <a:cs typeface="Calibri"/>
              </a:rPr>
              <a:t> </a:t>
            </a:r>
            <a:r>
              <a:rPr sz="1600" dirty="0">
                <a:solidFill>
                  <a:srgbClr val="1F3863"/>
                </a:solidFill>
                <a:latin typeface="Calibri"/>
                <a:cs typeface="Calibri"/>
              </a:rPr>
              <a:t>salmons</a:t>
            </a:r>
            <a:r>
              <a:rPr sz="1600" spc="-50" dirty="0">
                <a:solidFill>
                  <a:srgbClr val="1F3863"/>
                </a:solidFill>
                <a:latin typeface="Calibri"/>
                <a:cs typeface="Calibri"/>
              </a:rPr>
              <a:t> </a:t>
            </a:r>
            <a:r>
              <a:rPr sz="1600" dirty="0">
                <a:solidFill>
                  <a:srgbClr val="1F3863"/>
                </a:solidFill>
                <a:latin typeface="Calibri"/>
                <a:cs typeface="Calibri"/>
              </a:rPr>
              <a:t>are</a:t>
            </a:r>
            <a:r>
              <a:rPr sz="1600" spc="-50" dirty="0">
                <a:solidFill>
                  <a:srgbClr val="1F3863"/>
                </a:solidFill>
                <a:latin typeface="Calibri"/>
                <a:cs typeface="Calibri"/>
              </a:rPr>
              <a:t> </a:t>
            </a:r>
            <a:r>
              <a:rPr sz="1600" dirty="0">
                <a:solidFill>
                  <a:srgbClr val="1F3863"/>
                </a:solidFill>
                <a:latin typeface="Calibri"/>
                <a:cs typeface="Calibri"/>
              </a:rPr>
              <a:t>available;</a:t>
            </a:r>
            <a:r>
              <a:rPr sz="1600" spc="-75" dirty="0">
                <a:solidFill>
                  <a:srgbClr val="1F3863"/>
                </a:solidFill>
                <a:latin typeface="Calibri"/>
                <a:cs typeface="Calibri"/>
              </a:rPr>
              <a:t> </a:t>
            </a:r>
            <a:r>
              <a:rPr sz="1600" dirty="0">
                <a:solidFill>
                  <a:srgbClr val="1F3863"/>
                </a:solidFill>
                <a:latin typeface="Calibri"/>
                <a:cs typeface="Calibri"/>
              </a:rPr>
              <a:t>low</a:t>
            </a:r>
            <a:r>
              <a:rPr sz="1600" spc="-40" dirty="0">
                <a:solidFill>
                  <a:srgbClr val="1F3863"/>
                </a:solidFill>
                <a:latin typeface="Calibri"/>
                <a:cs typeface="Calibri"/>
              </a:rPr>
              <a:t> </a:t>
            </a:r>
            <a:r>
              <a:rPr sz="1600" spc="-20" dirty="0">
                <a:solidFill>
                  <a:srgbClr val="1F3863"/>
                </a:solidFill>
                <a:latin typeface="Calibri"/>
                <a:cs typeface="Calibri"/>
              </a:rPr>
              <a:t>-</a:t>
            </a:r>
            <a:r>
              <a:rPr sz="1600" dirty="0">
                <a:solidFill>
                  <a:srgbClr val="1F3863"/>
                </a:solidFill>
                <a:latin typeface="Calibri"/>
                <a:cs typeface="Calibri"/>
              </a:rPr>
              <a:t>&gt;</a:t>
            </a:r>
            <a:r>
              <a:rPr sz="1600" spc="-35" dirty="0">
                <a:solidFill>
                  <a:srgbClr val="1F3863"/>
                </a:solidFill>
                <a:latin typeface="Calibri"/>
                <a:cs typeface="Calibri"/>
              </a:rPr>
              <a:t> </a:t>
            </a:r>
            <a:r>
              <a:rPr sz="1600" dirty="0">
                <a:solidFill>
                  <a:srgbClr val="1F3863"/>
                </a:solidFill>
                <a:latin typeface="Calibri"/>
                <a:cs typeface="Calibri"/>
              </a:rPr>
              <a:t>available</a:t>
            </a:r>
            <a:r>
              <a:rPr sz="1600" spc="-75" dirty="0">
                <a:solidFill>
                  <a:srgbClr val="1F3863"/>
                </a:solidFill>
                <a:latin typeface="Calibri"/>
                <a:cs typeface="Calibri"/>
              </a:rPr>
              <a:t> </a:t>
            </a:r>
            <a:r>
              <a:rPr sz="1600" dirty="0">
                <a:solidFill>
                  <a:srgbClr val="1F3863"/>
                </a:solidFill>
                <a:latin typeface="Calibri"/>
                <a:cs typeface="Calibri"/>
              </a:rPr>
              <a:t>number</a:t>
            </a:r>
            <a:r>
              <a:rPr sz="1600" spc="-40" dirty="0">
                <a:solidFill>
                  <a:srgbClr val="1F3863"/>
                </a:solidFill>
                <a:latin typeface="Calibri"/>
                <a:cs typeface="Calibri"/>
              </a:rPr>
              <a:t> </a:t>
            </a:r>
            <a:r>
              <a:rPr sz="1600" dirty="0">
                <a:solidFill>
                  <a:srgbClr val="1F3863"/>
                </a:solidFill>
                <a:latin typeface="Calibri"/>
                <a:cs typeface="Calibri"/>
              </a:rPr>
              <a:t>of</a:t>
            </a:r>
            <a:r>
              <a:rPr sz="1600" spc="-45" dirty="0">
                <a:solidFill>
                  <a:srgbClr val="1F3863"/>
                </a:solidFill>
                <a:latin typeface="Calibri"/>
                <a:cs typeface="Calibri"/>
              </a:rPr>
              <a:t> </a:t>
            </a:r>
            <a:r>
              <a:rPr sz="1600" dirty="0">
                <a:solidFill>
                  <a:srgbClr val="1F3863"/>
                </a:solidFill>
                <a:latin typeface="Calibri"/>
                <a:cs typeface="Calibri"/>
              </a:rPr>
              <a:t>salmons</a:t>
            </a:r>
            <a:r>
              <a:rPr sz="1600" spc="-45" dirty="0">
                <a:solidFill>
                  <a:srgbClr val="1F3863"/>
                </a:solidFill>
                <a:latin typeface="Calibri"/>
                <a:cs typeface="Calibri"/>
              </a:rPr>
              <a:t> </a:t>
            </a:r>
            <a:r>
              <a:rPr sz="1600" dirty="0">
                <a:solidFill>
                  <a:srgbClr val="1F3863"/>
                </a:solidFill>
                <a:latin typeface="Calibri"/>
                <a:cs typeface="Calibri"/>
              </a:rPr>
              <a:t>are</a:t>
            </a:r>
            <a:r>
              <a:rPr sz="1600" spc="-50" dirty="0">
                <a:solidFill>
                  <a:srgbClr val="1F3863"/>
                </a:solidFill>
                <a:latin typeface="Calibri"/>
                <a:cs typeface="Calibri"/>
              </a:rPr>
              <a:t> </a:t>
            </a:r>
            <a:r>
              <a:rPr sz="1600" dirty="0">
                <a:solidFill>
                  <a:srgbClr val="1F3863"/>
                </a:solidFill>
                <a:latin typeface="Calibri"/>
                <a:cs typeface="Calibri"/>
              </a:rPr>
              <a:t>below</a:t>
            </a:r>
            <a:r>
              <a:rPr sz="1600" spc="-45" dirty="0">
                <a:solidFill>
                  <a:srgbClr val="1F3863"/>
                </a:solidFill>
                <a:latin typeface="Calibri"/>
                <a:cs typeface="Calibri"/>
              </a:rPr>
              <a:t> </a:t>
            </a:r>
            <a:r>
              <a:rPr sz="1600" dirty="0">
                <a:solidFill>
                  <a:srgbClr val="1F3863"/>
                </a:solidFill>
                <a:latin typeface="Calibri"/>
                <a:cs typeface="Calibri"/>
              </a:rPr>
              <a:t>a</a:t>
            </a:r>
            <a:r>
              <a:rPr sz="1600" spc="-50" dirty="0">
                <a:solidFill>
                  <a:srgbClr val="1F3863"/>
                </a:solidFill>
                <a:latin typeface="Calibri"/>
                <a:cs typeface="Calibri"/>
              </a:rPr>
              <a:t> </a:t>
            </a:r>
            <a:r>
              <a:rPr sz="1600" spc="-10" dirty="0">
                <a:solidFill>
                  <a:srgbClr val="1F3863"/>
                </a:solidFill>
                <a:latin typeface="Calibri"/>
                <a:cs typeface="Calibri"/>
              </a:rPr>
              <a:t>certain </a:t>
            </a:r>
            <a:r>
              <a:rPr sz="1600" dirty="0">
                <a:solidFill>
                  <a:srgbClr val="1F3863"/>
                </a:solidFill>
                <a:latin typeface="Calibri"/>
                <a:cs typeface="Calibri"/>
              </a:rPr>
              <a:t>threshold</a:t>
            </a:r>
            <a:r>
              <a:rPr sz="1600" spc="-55" dirty="0">
                <a:solidFill>
                  <a:srgbClr val="1F3863"/>
                </a:solidFill>
                <a:latin typeface="Calibri"/>
                <a:cs typeface="Calibri"/>
              </a:rPr>
              <a:t> </a:t>
            </a:r>
            <a:r>
              <a:rPr sz="1600" dirty="0">
                <a:solidFill>
                  <a:srgbClr val="1F3863"/>
                </a:solidFill>
                <a:latin typeface="Calibri"/>
                <a:cs typeface="Calibri"/>
              </a:rPr>
              <a:t>t1;</a:t>
            </a:r>
            <a:r>
              <a:rPr sz="1600" spc="-45" dirty="0">
                <a:solidFill>
                  <a:srgbClr val="1F3863"/>
                </a:solidFill>
                <a:latin typeface="Calibri"/>
                <a:cs typeface="Calibri"/>
              </a:rPr>
              <a:t> </a:t>
            </a:r>
            <a:r>
              <a:rPr sz="1600" dirty="0">
                <a:solidFill>
                  <a:srgbClr val="1F3863"/>
                </a:solidFill>
                <a:latin typeface="Calibri"/>
                <a:cs typeface="Calibri"/>
              </a:rPr>
              <a:t>medium</a:t>
            </a:r>
            <a:r>
              <a:rPr sz="1600" spc="-20" dirty="0">
                <a:solidFill>
                  <a:srgbClr val="1F3863"/>
                </a:solidFill>
                <a:latin typeface="Calibri"/>
                <a:cs typeface="Calibri"/>
              </a:rPr>
              <a:t> -</a:t>
            </a:r>
            <a:r>
              <a:rPr sz="1600" dirty="0">
                <a:solidFill>
                  <a:srgbClr val="1F3863"/>
                </a:solidFill>
                <a:latin typeface="Calibri"/>
                <a:cs typeface="Calibri"/>
              </a:rPr>
              <a:t>&gt;</a:t>
            </a:r>
            <a:r>
              <a:rPr sz="1600" spc="-40" dirty="0">
                <a:solidFill>
                  <a:srgbClr val="1F3863"/>
                </a:solidFill>
                <a:latin typeface="Calibri"/>
                <a:cs typeface="Calibri"/>
              </a:rPr>
              <a:t> </a:t>
            </a:r>
            <a:r>
              <a:rPr sz="1600" dirty="0">
                <a:solidFill>
                  <a:srgbClr val="1F3863"/>
                </a:solidFill>
                <a:latin typeface="Calibri"/>
                <a:cs typeface="Calibri"/>
              </a:rPr>
              <a:t>available</a:t>
            </a:r>
            <a:r>
              <a:rPr sz="1600" spc="-80" dirty="0">
                <a:solidFill>
                  <a:srgbClr val="1F3863"/>
                </a:solidFill>
                <a:latin typeface="Calibri"/>
                <a:cs typeface="Calibri"/>
              </a:rPr>
              <a:t> </a:t>
            </a:r>
            <a:r>
              <a:rPr sz="1600" dirty="0">
                <a:solidFill>
                  <a:srgbClr val="1F3863"/>
                </a:solidFill>
                <a:latin typeface="Calibri"/>
                <a:cs typeface="Calibri"/>
              </a:rPr>
              <a:t>number</a:t>
            </a:r>
            <a:r>
              <a:rPr sz="1600" spc="-45" dirty="0">
                <a:solidFill>
                  <a:srgbClr val="1F3863"/>
                </a:solidFill>
                <a:latin typeface="Calibri"/>
                <a:cs typeface="Calibri"/>
              </a:rPr>
              <a:t> </a:t>
            </a:r>
            <a:r>
              <a:rPr sz="1600" dirty="0">
                <a:solidFill>
                  <a:srgbClr val="1F3863"/>
                </a:solidFill>
                <a:latin typeface="Calibri"/>
                <a:cs typeface="Calibri"/>
              </a:rPr>
              <a:t>of</a:t>
            </a:r>
            <a:r>
              <a:rPr sz="1600" spc="-40" dirty="0">
                <a:solidFill>
                  <a:srgbClr val="1F3863"/>
                </a:solidFill>
                <a:latin typeface="Calibri"/>
                <a:cs typeface="Calibri"/>
              </a:rPr>
              <a:t> </a:t>
            </a:r>
            <a:r>
              <a:rPr sz="1600" dirty="0">
                <a:solidFill>
                  <a:srgbClr val="1F3863"/>
                </a:solidFill>
                <a:latin typeface="Calibri"/>
                <a:cs typeface="Calibri"/>
              </a:rPr>
              <a:t>salmons</a:t>
            </a:r>
            <a:r>
              <a:rPr sz="1600" spc="-50" dirty="0">
                <a:solidFill>
                  <a:srgbClr val="1F3863"/>
                </a:solidFill>
                <a:latin typeface="Calibri"/>
                <a:cs typeface="Calibri"/>
              </a:rPr>
              <a:t> </a:t>
            </a:r>
            <a:r>
              <a:rPr sz="1600" dirty="0">
                <a:solidFill>
                  <a:srgbClr val="1F3863"/>
                </a:solidFill>
                <a:latin typeface="Calibri"/>
                <a:cs typeface="Calibri"/>
              </a:rPr>
              <a:t>are</a:t>
            </a:r>
            <a:r>
              <a:rPr sz="1600" spc="-55" dirty="0">
                <a:solidFill>
                  <a:srgbClr val="1F3863"/>
                </a:solidFill>
                <a:latin typeface="Calibri"/>
                <a:cs typeface="Calibri"/>
              </a:rPr>
              <a:t> </a:t>
            </a:r>
            <a:r>
              <a:rPr sz="1600" dirty="0">
                <a:solidFill>
                  <a:srgbClr val="1F3863"/>
                </a:solidFill>
                <a:latin typeface="Calibri"/>
                <a:cs typeface="Calibri"/>
              </a:rPr>
              <a:t>between</a:t>
            </a:r>
            <a:r>
              <a:rPr sz="1600" spc="-30" dirty="0">
                <a:solidFill>
                  <a:srgbClr val="1F3863"/>
                </a:solidFill>
                <a:latin typeface="Calibri"/>
                <a:cs typeface="Calibri"/>
              </a:rPr>
              <a:t> </a:t>
            </a:r>
            <a:r>
              <a:rPr sz="1600" dirty="0">
                <a:solidFill>
                  <a:srgbClr val="1F3863"/>
                </a:solidFill>
                <a:latin typeface="Calibri"/>
                <a:cs typeface="Calibri"/>
              </a:rPr>
              <a:t>t1and</a:t>
            </a:r>
            <a:r>
              <a:rPr sz="1600" spc="-55" dirty="0">
                <a:solidFill>
                  <a:srgbClr val="1F3863"/>
                </a:solidFill>
                <a:latin typeface="Calibri"/>
                <a:cs typeface="Calibri"/>
              </a:rPr>
              <a:t> </a:t>
            </a:r>
            <a:r>
              <a:rPr sz="1600" dirty="0">
                <a:solidFill>
                  <a:srgbClr val="1F3863"/>
                </a:solidFill>
                <a:latin typeface="Calibri"/>
                <a:cs typeface="Calibri"/>
              </a:rPr>
              <a:t>t2;</a:t>
            </a:r>
            <a:r>
              <a:rPr sz="1600" spc="-45" dirty="0">
                <a:solidFill>
                  <a:srgbClr val="1F3863"/>
                </a:solidFill>
                <a:latin typeface="Calibri"/>
                <a:cs typeface="Calibri"/>
              </a:rPr>
              <a:t> </a:t>
            </a:r>
            <a:r>
              <a:rPr sz="1600" dirty="0">
                <a:solidFill>
                  <a:srgbClr val="1F3863"/>
                </a:solidFill>
                <a:latin typeface="Calibri"/>
                <a:cs typeface="Calibri"/>
              </a:rPr>
              <a:t>high</a:t>
            </a:r>
            <a:r>
              <a:rPr sz="1600" spc="-25" dirty="0">
                <a:solidFill>
                  <a:srgbClr val="1F3863"/>
                </a:solidFill>
                <a:latin typeface="Calibri"/>
                <a:cs typeface="Calibri"/>
              </a:rPr>
              <a:t> </a:t>
            </a:r>
            <a:r>
              <a:rPr sz="1600" spc="-20" dirty="0">
                <a:solidFill>
                  <a:srgbClr val="1F3863"/>
                </a:solidFill>
                <a:latin typeface="Calibri"/>
                <a:cs typeface="Calibri"/>
              </a:rPr>
              <a:t>-</a:t>
            </a:r>
            <a:r>
              <a:rPr sz="1600" dirty="0">
                <a:solidFill>
                  <a:srgbClr val="1F3863"/>
                </a:solidFill>
                <a:latin typeface="Calibri"/>
                <a:cs typeface="Calibri"/>
              </a:rPr>
              <a:t>&gt;</a:t>
            </a:r>
            <a:r>
              <a:rPr sz="1600" spc="-55" dirty="0">
                <a:solidFill>
                  <a:srgbClr val="1F3863"/>
                </a:solidFill>
                <a:latin typeface="Calibri"/>
                <a:cs typeface="Calibri"/>
              </a:rPr>
              <a:t> </a:t>
            </a:r>
            <a:r>
              <a:rPr sz="1600" spc="-10" dirty="0">
                <a:solidFill>
                  <a:srgbClr val="1F3863"/>
                </a:solidFill>
                <a:latin typeface="Calibri"/>
                <a:cs typeface="Calibri"/>
              </a:rPr>
              <a:t>available </a:t>
            </a:r>
            <a:r>
              <a:rPr sz="1600" dirty="0">
                <a:solidFill>
                  <a:srgbClr val="1F3863"/>
                </a:solidFill>
                <a:latin typeface="Calibri"/>
                <a:cs typeface="Calibri"/>
              </a:rPr>
              <a:t>number</a:t>
            </a:r>
            <a:r>
              <a:rPr sz="1600" spc="-40" dirty="0">
                <a:solidFill>
                  <a:srgbClr val="1F3863"/>
                </a:solidFill>
                <a:latin typeface="Calibri"/>
                <a:cs typeface="Calibri"/>
              </a:rPr>
              <a:t> </a:t>
            </a:r>
            <a:r>
              <a:rPr sz="1600" dirty="0">
                <a:solidFill>
                  <a:srgbClr val="1F3863"/>
                </a:solidFill>
                <a:latin typeface="Calibri"/>
                <a:cs typeface="Calibri"/>
              </a:rPr>
              <a:t>of</a:t>
            </a:r>
            <a:r>
              <a:rPr sz="1600" spc="-30" dirty="0">
                <a:solidFill>
                  <a:srgbClr val="1F3863"/>
                </a:solidFill>
                <a:latin typeface="Calibri"/>
                <a:cs typeface="Calibri"/>
              </a:rPr>
              <a:t> </a:t>
            </a:r>
            <a:r>
              <a:rPr sz="1600" dirty="0">
                <a:solidFill>
                  <a:srgbClr val="1F3863"/>
                </a:solidFill>
                <a:latin typeface="Calibri"/>
                <a:cs typeface="Calibri"/>
              </a:rPr>
              <a:t>salmons</a:t>
            </a:r>
            <a:r>
              <a:rPr sz="1600" spc="-45" dirty="0">
                <a:solidFill>
                  <a:srgbClr val="1F3863"/>
                </a:solidFill>
                <a:latin typeface="Calibri"/>
                <a:cs typeface="Calibri"/>
              </a:rPr>
              <a:t> </a:t>
            </a:r>
            <a:r>
              <a:rPr sz="1600" dirty="0">
                <a:solidFill>
                  <a:srgbClr val="1F3863"/>
                </a:solidFill>
                <a:latin typeface="Calibri"/>
                <a:cs typeface="Calibri"/>
              </a:rPr>
              <a:t>are</a:t>
            </a:r>
            <a:r>
              <a:rPr sz="1600" spc="-45" dirty="0">
                <a:solidFill>
                  <a:srgbClr val="1F3863"/>
                </a:solidFill>
                <a:latin typeface="Calibri"/>
                <a:cs typeface="Calibri"/>
              </a:rPr>
              <a:t> </a:t>
            </a:r>
            <a:r>
              <a:rPr sz="1600" dirty="0">
                <a:solidFill>
                  <a:srgbClr val="1F3863"/>
                </a:solidFill>
                <a:latin typeface="Calibri"/>
                <a:cs typeface="Calibri"/>
              </a:rPr>
              <a:t>more</a:t>
            </a:r>
            <a:r>
              <a:rPr sz="1600" spc="-35" dirty="0">
                <a:solidFill>
                  <a:srgbClr val="1F3863"/>
                </a:solidFill>
                <a:latin typeface="Calibri"/>
                <a:cs typeface="Calibri"/>
              </a:rPr>
              <a:t> </a:t>
            </a:r>
            <a:r>
              <a:rPr sz="1600" dirty="0">
                <a:solidFill>
                  <a:srgbClr val="1F3863"/>
                </a:solidFill>
                <a:latin typeface="Calibri"/>
                <a:cs typeface="Calibri"/>
              </a:rPr>
              <a:t>than</a:t>
            </a:r>
            <a:r>
              <a:rPr sz="1600" spc="-45" dirty="0">
                <a:solidFill>
                  <a:srgbClr val="1F3863"/>
                </a:solidFill>
                <a:latin typeface="Calibri"/>
                <a:cs typeface="Calibri"/>
              </a:rPr>
              <a:t> </a:t>
            </a:r>
            <a:r>
              <a:rPr sz="1600" spc="-25" dirty="0">
                <a:solidFill>
                  <a:srgbClr val="1F3863"/>
                </a:solidFill>
                <a:latin typeface="Calibri"/>
                <a:cs typeface="Calibri"/>
              </a:rPr>
              <a:t>t2</a:t>
            </a:r>
            <a:endParaRPr sz="1600" dirty="0">
              <a:latin typeface="Calibri"/>
              <a:cs typeface="Calibri"/>
            </a:endParaRPr>
          </a:p>
          <a:p>
            <a:pPr>
              <a:lnSpc>
                <a:spcPct val="100000"/>
              </a:lnSpc>
              <a:spcBef>
                <a:spcPts val="1170"/>
              </a:spcBef>
              <a:buClr>
                <a:srgbClr val="1F3863"/>
              </a:buClr>
              <a:buFont typeface="Arial MT"/>
              <a:buChar char="•"/>
            </a:pPr>
            <a:endParaRPr sz="1600" dirty="0">
              <a:latin typeface="Calibri"/>
              <a:cs typeface="Calibri"/>
            </a:endParaRPr>
          </a:p>
          <a:p>
            <a:pPr marL="241300" marR="213995" indent="-228600">
              <a:lnSpc>
                <a:spcPct val="70000"/>
              </a:lnSpc>
              <a:buFont typeface="Arial MT"/>
              <a:buChar char="•"/>
              <a:tabLst>
                <a:tab pos="241300" algn="l"/>
              </a:tabLst>
            </a:pPr>
            <a:r>
              <a:rPr sz="1600" dirty="0">
                <a:solidFill>
                  <a:srgbClr val="1F3863"/>
                </a:solidFill>
                <a:latin typeface="Calibri"/>
                <a:cs typeface="Calibri"/>
              </a:rPr>
              <a:t>Actions:</a:t>
            </a:r>
            <a:r>
              <a:rPr sz="1600" spc="-45" dirty="0">
                <a:solidFill>
                  <a:srgbClr val="1F3863"/>
                </a:solidFill>
                <a:latin typeface="Calibri"/>
                <a:cs typeface="Calibri"/>
              </a:rPr>
              <a:t> </a:t>
            </a:r>
            <a:r>
              <a:rPr sz="1600" dirty="0">
                <a:solidFill>
                  <a:srgbClr val="1F3863"/>
                </a:solidFill>
                <a:latin typeface="Calibri"/>
                <a:cs typeface="Calibri"/>
              </a:rPr>
              <a:t>For</a:t>
            </a:r>
            <a:r>
              <a:rPr sz="1600" spc="-50" dirty="0">
                <a:solidFill>
                  <a:srgbClr val="1F3863"/>
                </a:solidFill>
                <a:latin typeface="Calibri"/>
                <a:cs typeface="Calibri"/>
              </a:rPr>
              <a:t> </a:t>
            </a:r>
            <a:r>
              <a:rPr sz="1600" dirty="0">
                <a:solidFill>
                  <a:srgbClr val="1F3863"/>
                </a:solidFill>
                <a:latin typeface="Calibri"/>
                <a:cs typeface="Calibri"/>
              </a:rPr>
              <a:t>simplicity</a:t>
            </a:r>
            <a:r>
              <a:rPr sz="1600" spc="-50" dirty="0">
                <a:solidFill>
                  <a:srgbClr val="1F3863"/>
                </a:solidFill>
                <a:latin typeface="Calibri"/>
                <a:cs typeface="Calibri"/>
              </a:rPr>
              <a:t> </a:t>
            </a:r>
            <a:r>
              <a:rPr sz="1600" dirty="0">
                <a:solidFill>
                  <a:srgbClr val="1F3863"/>
                </a:solidFill>
                <a:latin typeface="Calibri"/>
                <a:cs typeface="Calibri"/>
              </a:rPr>
              <a:t>assumes</a:t>
            </a:r>
            <a:r>
              <a:rPr sz="1600" spc="-25" dirty="0">
                <a:solidFill>
                  <a:srgbClr val="1F3863"/>
                </a:solidFill>
                <a:latin typeface="Calibri"/>
                <a:cs typeface="Calibri"/>
              </a:rPr>
              <a:t> </a:t>
            </a:r>
            <a:r>
              <a:rPr sz="1600" dirty="0">
                <a:solidFill>
                  <a:srgbClr val="1F3863"/>
                </a:solidFill>
                <a:latin typeface="Calibri"/>
                <a:cs typeface="Calibri"/>
              </a:rPr>
              <a:t>there</a:t>
            </a:r>
            <a:r>
              <a:rPr sz="1600" spc="-50" dirty="0">
                <a:solidFill>
                  <a:srgbClr val="1F3863"/>
                </a:solidFill>
                <a:latin typeface="Calibri"/>
                <a:cs typeface="Calibri"/>
              </a:rPr>
              <a:t> </a:t>
            </a:r>
            <a:r>
              <a:rPr sz="1600" dirty="0">
                <a:solidFill>
                  <a:srgbClr val="1F3863"/>
                </a:solidFill>
                <a:latin typeface="Calibri"/>
                <a:cs typeface="Calibri"/>
              </a:rPr>
              <a:t>are</a:t>
            </a:r>
            <a:r>
              <a:rPr sz="1600" spc="-50" dirty="0">
                <a:solidFill>
                  <a:srgbClr val="1F3863"/>
                </a:solidFill>
                <a:latin typeface="Calibri"/>
                <a:cs typeface="Calibri"/>
              </a:rPr>
              <a:t> </a:t>
            </a:r>
            <a:r>
              <a:rPr sz="1600" dirty="0">
                <a:solidFill>
                  <a:srgbClr val="1F3863"/>
                </a:solidFill>
                <a:latin typeface="Calibri"/>
                <a:cs typeface="Calibri"/>
              </a:rPr>
              <a:t>only</a:t>
            </a:r>
            <a:r>
              <a:rPr sz="1600" spc="-45" dirty="0">
                <a:solidFill>
                  <a:srgbClr val="1F3863"/>
                </a:solidFill>
                <a:latin typeface="Calibri"/>
                <a:cs typeface="Calibri"/>
              </a:rPr>
              <a:t> </a:t>
            </a:r>
            <a:r>
              <a:rPr sz="1600" dirty="0">
                <a:solidFill>
                  <a:srgbClr val="1F3863"/>
                </a:solidFill>
                <a:latin typeface="Calibri"/>
                <a:cs typeface="Calibri"/>
              </a:rPr>
              <a:t>two</a:t>
            </a:r>
            <a:r>
              <a:rPr sz="1600" spc="-25" dirty="0">
                <a:solidFill>
                  <a:srgbClr val="1F3863"/>
                </a:solidFill>
                <a:latin typeface="Calibri"/>
                <a:cs typeface="Calibri"/>
              </a:rPr>
              <a:t> </a:t>
            </a:r>
            <a:r>
              <a:rPr sz="1600" dirty="0">
                <a:solidFill>
                  <a:srgbClr val="1F3863"/>
                </a:solidFill>
                <a:latin typeface="Calibri"/>
                <a:cs typeface="Calibri"/>
              </a:rPr>
              <a:t>actions;</a:t>
            </a:r>
            <a:r>
              <a:rPr sz="1600" spc="-50" dirty="0">
                <a:solidFill>
                  <a:srgbClr val="1F3863"/>
                </a:solidFill>
                <a:latin typeface="Calibri"/>
                <a:cs typeface="Calibri"/>
              </a:rPr>
              <a:t> </a:t>
            </a:r>
            <a:r>
              <a:rPr sz="1600" dirty="0">
                <a:solidFill>
                  <a:srgbClr val="1F3863"/>
                </a:solidFill>
                <a:latin typeface="Calibri"/>
                <a:cs typeface="Calibri"/>
              </a:rPr>
              <a:t>fish</a:t>
            </a:r>
            <a:r>
              <a:rPr sz="1600" spc="-50" dirty="0">
                <a:solidFill>
                  <a:srgbClr val="1F3863"/>
                </a:solidFill>
                <a:latin typeface="Calibri"/>
                <a:cs typeface="Calibri"/>
              </a:rPr>
              <a:t> </a:t>
            </a:r>
            <a:r>
              <a:rPr sz="1600" dirty="0">
                <a:solidFill>
                  <a:srgbClr val="1F3863"/>
                </a:solidFill>
                <a:latin typeface="Calibri"/>
                <a:cs typeface="Calibri"/>
              </a:rPr>
              <a:t>and</a:t>
            </a:r>
            <a:r>
              <a:rPr sz="1600" spc="-30" dirty="0">
                <a:solidFill>
                  <a:srgbClr val="1F3863"/>
                </a:solidFill>
                <a:latin typeface="Calibri"/>
                <a:cs typeface="Calibri"/>
              </a:rPr>
              <a:t> </a:t>
            </a:r>
            <a:r>
              <a:rPr sz="1600" spc="-10" dirty="0">
                <a:solidFill>
                  <a:srgbClr val="1F3863"/>
                </a:solidFill>
                <a:latin typeface="Calibri"/>
                <a:cs typeface="Calibri"/>
              </a:rPr>
              <a:t>not_to_fish.</a:t>
            </a:r>
            <a:r>
              <a:rPr sz="1600" spc="-35" dirty="0">
                <a:solidFill>
                  <a:srgbClr val="1F3863"/>
                </a:solidFill>
                <a:latin typeface="Calibri"/>
                <a:cs typeface="Calibri"/>
              </a:rPr>
              <a:t> </a:t>
            </a:r>
            <a:r>
              <a:rPr sz="1600" dirty="0">
                <a:solidFill>
                  <a:srgbClr val="1F3863"/>
                </a:solidFill>
                <a:latin typeface="Calibri"/>
                <a:cs typeface="Calibri"/>
              </a:rPr>
              <a:t>Fish</a:t>
            </a:r>
            <a:r>
              <a:rPr sz="1600" spc="-40" dirty="0">
                <a:solidFill>
                  <a:srgbClr val="1F3863"/>
                </a:solidFill>
                <a:latin typeface="Calibri"/>
                <a:cs typeface="Calibri"/>
              </a:rPr>
              <a:t> </a:t>
            </a:r>
            <a:r>
              <a:rPr sz="1600" spc="-10" dirty="0">
                <a:solidFill>
                  <a:srgbClr val="1F3863"/>
                </a:solidFill>
                <a:latin typeface="Calibri"/>
                <a:cs typeface="Calibri"/>
              </a:rPr>
              <a:t>means catching</a:t>
            </a:r>
            <a:r>
              <a:rPr sz="1600" spc="-55" dirty="0">
                <a:solidFill>
                  <a:srgbClr val="1F3863"/>
                </a:solidFill>
                <a:latin typeface="Calibri"/>
                <a:cs typeface="Calibri"/>
              </a:rPr>
              <a:t> </a:t>
            </a:r>
            <a:r>
              <a:rPr sz="1600" dirty="0">
                <a:solidFill>
                  <a:srgbClr val="1F3863"/>
                </a:solidFill>
                <a:latin typeface="Calibri"/>
                <a:cs typeface="Calibri"/>
              </a:rPr>
              <a:t>certain</a:t>
            </a:r>
            <a:r>
              <a:rPr sz="1600" spc="-50" dirty="0">
                <a:solidFill>
                  <a:srgbClr val="1F3863"/>
                </a:solidFill>
                <a:latin typeface="Calibri"/>
                <a:cs typeface="Calibri"/>
              </a:rPr>
              <a:t> </a:t>
            </a:r>
            <a:r>
              <a:rPr sz="1600" spc="-10" dirty="0">
                <a:solidFill>
                  <a:srgbClr val="1F3863"/>
                </a:solidFill>
                <a:latin typeface="Calibri"/>
                <a:cs typeface="Calibri"/>
              </a:rPr>
              <a:t>proportions</a:t>
            </a:r>
            <a:r>
              <a:rPr sz="1600" spc="-60" dirty="0">
                <a:solidFill>
                  <a:srgbClr val="1F3863"/>
                </a:solidFill>
                <a:latin typeface="Calibri"/>
                <a:cs typeface="Calibri"/>
              </a:rPr>
              <a:t> </a:t>
            </a:r>
            <a:r>
              <a:rPr sz="1600" dirty="0">
                <a:solidFill>
                  <a:srgbClr val="1F3863"/>
                </a:solidFill>
                <a:latin typeface="Calibri"/>
                <a:cs typeface="Calibri"/>
              </a:rPr>
              <a:t>of</a:t>
            </a:r>
            <a:r>
              <a:rPr sz="1600" spc="-40" dirty="0">
                <a:solidFill>
                  <a:srgbClr val="1F3863"/>
                </a:solidFill>
                <a:latin typeface="Calibri"/>
                <a:cs typeface="Calibri"/>
              </a:rPr>
              <a:t> </a:t>
            </a:r>
            <a:r>
              <a:rPr sz="1600" dirty="0">
                <a:solidFill>
                  <a:srgbClr val="1F3863"/>
                </a:solidFill>
                <a:latin typeface="Calibri"/>
                <a:cs typeface="Calibri"/>
              </a:rPr>
              <a:t>salmon.</a:t>
            </a:r>
            <a:r>
              <a:rPr sz="1600" spc="-50" dirty="0">
                <a:solidFill>
                  <a:srgbClr val="1F3863"/>
                </a:solidFill>
                <a:latin typeface="Calibri"/>
                <a:cs typeface="Calibri"/>
              </a:rPr>
              <a:t> </a:t>
            </a:r>
            <a:r>
              <a:rPr sz="1600" dirty="0">
                <a:solidFill>
                  <a:srgbClr val="1F3863"/>
                </a:solidFill>
                <a:latin typeface="Calibri"/>
                <a:cs typeface="Calibri"/>
              </a:rPr>
              <a:t>For</a:t>
            </a:r>
            <a:r>
              <a:rPr sz="1600" spc="-50" dirty="0">
                <a:solidFill>
                  <a:srgbClr val="1F3863"/>
                </a:solidFill>
                <a:latin typeface="Calibri"/>
                <a:cs typeface="Calibri"/>
              </a:rPr>
              <a:t> </a:t>
            </a:r>
            <a:r>
              <a:rPr sz="1600" dirty="0">
                <a:solidFill>
                  <a:srgbClr val="1F3863"/>
                </a:solidFill>
                <a:latin typeface="Calibri"/>
                <a:cs typeface="Calibri"/>
              </a:rPr>
              <a:t>the</a:t>
            </a:r>
            <a:r>
              <a:rPr sz="1600" spc="-30" dirty="0">
                <a:solidFill>
                  <a:srgbClr val="1F3863"/>
                </a:solidFill>
                <a:latin typeface="Calibri"/>
                <a:cs typeface="Calibri"/>
              </a:rPr>
              <a:t> </a:t>
            </a:r>
            <a:r>
              <a:rPr sz="1600" spc="-10" dirty="0">
                <a:solidFill>
                  <a:srgbClr val="1F3863"/>
                </a:solidFill>
                <a:latin typeface="Calibri"/>
                <a:cs typeface="Calibri"/>
              </a:rPr>
              <a:t>state</a:t>
            </a:r>
            <a:r>
              <a:rPr sz="1600" spc="-50" dirty="0">
                <a:solidFill>
                  <a:srgbClr val="1F3863"/>
                </a:solidFill>
                <a:latin typeface="Calibri"/>
                <a:cs typeface="Calibri"/>
              </a:rPr>
              <a:t> </a:t>
            </a:r>
            <a:r>
              <a:rPr sz="1600" dirty="0">
                <a:solidFill>
                  <a:srgbClr val="1F3863"/>
                </a:solidFill>
                <a:latin typeface="Calibri"/>
                <a:cs typeface="Calibri"/>
              </a:rPr>
              <a:t>empty</a:t>
            </a:r>
            <a:r>
              <a:rPr sz="1600" spc="-20" dirty="0">
                <a:solidFill>
                  <a:srgbClr val="1F3863"/>
                </a:solidFill>
                <a:latin typeface="Calibri"/>
                <a:cs typeface="Calibri"/>
              </a:rPr>
              <a:t> </a:t>
            </a:r>
            <a:r>
              <a:rPr sz="1600" dirty="0">
                <a:solidFill>
                  <a:srgbClr val="1F3863"/>
                </a:solidFill>
                <a:latin typeface="Calibri"/>
                <a:cs typeface="Calibri"/>
              </a:rPr>
              <a:t>the</a:t>
            </a:r>
            <a:r>
              <a:rPr sz="1600" spc="-35" dirty="0">
                <a:solidFill>
                  <a:srgbClr val="1F3863"/>
                </a:solidFill>
                <a:latin typeface="Calibri"/>
                <a:cs typeface="Calibri"/>
              </a:rPr>
              <a:t> </a:t>
            </a:r>
            <a:r>
              <a:rPr sz="1600" dirty="0">
                <a:solidFill>
                  <a:srgbClr val="1F3863"/>
                </a:solidFill>
                <a:latin typeface="Calibri"/>
                <a:cs typeface="Calibri"/>
              </a:rPr>
              <a:t>only</a:t>
            </a:r>
            <a:r>
              <a:rPr sz="1600" spc="-50" dirty="0">
                <a:solidFill>
                  <a:srgbClr val="1F3863"/>
                </a:solidFill>
                <a:latin typeface="Calibri"/>
                <a:cs typeface="Calibri"/>
              </a:rPr>
              <a:t> </a:t>
            </a:r>
            <a:r>
              <a:rPr sz="1600" dirty="0">
                <a:solidFill>
                  <a:srgbClr val="1F3863"/>
                </a:solidFill>
                <a:latin typeface="Calibri"/>
                <a:cs typeface="Calibri"/>
              </a:rPr>
              <a:t>possible</a:t>
            </a:r>
            <a:r>
              <a:rPr sz="1600" spc="-55" dirty="0">
                <a:solidFill>
                  <a:srgbClr val="1F3863"/>
                </a:solidFill>
                <a:latin typeface="Calibri"/>
                <a:cs typeface="Calibri"/>
              </a:rPr>
              <a:t> </a:t>
            </a:r>
            <a:r>
              <a:rPr sz="1600" dirty="0">
                <a:solidFill>
                  <a:srgbClr val="1F3863"/>
                </a:solidFill>
                <a:latin typeface="Calibri"/>
                <a:cs typeface="Calibri"/>
              </a:rPr>
              <a:t>action</a:t>
            </a:r>
            <a:r>
              <a:rPr sz="1600" spc="-50" dirty="0">
                <a:solidFill>
                  <a:srgbClr val="1F3863"/>
                </a:solidFill>
                <a:latin typeface="Calibri"/>
                <a:cs typeface="Calibri"/>
              </a:rPr>
              <a:t> </a:t>
            </a:r>
            <a:r>
              <a:rPr sz="1600" spc="-25" dirty="0">
                <a:solidFill>
                  <a:srgbClr val="1F3863"/>
                </a:solidFill>
                <a:latin typeface="Calibri"/>
                <a:cs typeface="Calibri"/>
              </a:rPr>
              <a:t>is </a:t>
            </a:r>
            <a:r>
              <a:rPr sz="1600" spc="-10" dirty="0">
                <a:solidFill>
                  <a:srgbClr val="1F3863"/>
                </a:solidFill>
                <a:latin typeface="Calibri"/>
                <a:cs typeface="Calibri"/>
              </a:rPr>
              <a:t>not_to_fish.</a:t>
            </a:r>
            <a:endParaRPr sz="1600" dirty="0">
              <a:latin typeface="Calibri"/>
              <a:cs typeface="Calibri"/>
            </a:endParaRPr>
          </a:p>
          <a:p>
            <a:pPr>
              <a:lnSpc>
                <a:spcPct val="100000"/>
              </a:lnSpc>
              <a:spcBef>
                <a:spcPts val="1170"/>
              </a:spcBef>
              <a:buClr>
                <a:srgbClr val="1F3863"/>
              </a:buClr>
              <a:buFont typeface="Arial MT"/>
              <a:buChar char="•"/>
            </a:pPr>
            <a:endParaRPr sz="1600" dirty="0">
              <a:latin typeface="Calibri"/>
              <a:cs typeface="Calibri"/>
            </a:endParaRPr>
          </a:p>
          <a:p>
            <a:pPr marL="241300" marR="31750" indent="-228600">
              <a:lnSpc>
                <a:spcPct val="70000"/>
              </a:lnSpc>
              <a:buFont typeface="Arial MT"/>
              <a:buChar char="•"/>
              <a:tabLst>
                <a:tab pos="241300" algn="l"/>
              </a:tabLst>
            </a:pPr>
            <a:r>
              <a:rPr sz="1600" spc="-10" dirty="0">
                <a:solidFill>
                  <a:srgbClr val="1F3863"/>
                </a:solidFill>
                <a:latin typeface="Calibri"/>
                <a:cs typeface="Calibri"/>
              </a:rPr>
              <a:t>Rewards:</a:t>
            </a:r>
            <a:r>
              <a:rPr sz="1600" spc="-55" dirty="0">
                <a:solidFill>
                  <a:srgbClr val="1F3863"/>
                </a:solidFill>
                <a:latin typeface="Calibri"/>
                <a:cs typeface="Calibri"/>
              </a:rPr>
              <a:t> </a:t>
            </a:r>
            <a:r>
              <a:rPr sz="1600" dirty="0">
                <a:solidFill>
                  <a:srgbClr val="1F3863"/>
                </a:solidFill>
                <a:latin typeface="Calibri"/>
                <a:cs typeface="Calibri"/>
              </a:rPr>
              <a:t>Fishing</a:t>
            </a:r>
            <a:r>
              <a:rPr sz="1600" spc="-65" dirty="0">
                <a:solidFill>
                  <a:srgbClr val="1F3863"/>
                </a:solidFill>
                <a:latin typeface="Calibri"/>
                <a:cs typeface="Calibri"/>
              </a:rPr>
              <a:t> </a:t>
            </a:r>
            <a:r>
              <a:rPr sz="1600" dirty="0">
                <a:solidFill>
                  <a:srgbClr val="1F3863"/>
                </a:solidFill>
                <a:latin typeface="Calibri"/>
                <a:cs typeface="Calibri"/>
              </a:rPr>
              <a:t>at</a:t>
            </a:r>
            <a:r>
              <a:rPr sz="1600" spc="-60" dirty="0">
                <a:solidFill>
                  <a:srgbClr val="1F3863"/>
                </a:solidFill>
                <a:latin typeface="Calibri"/>
                <a:cs typeface="Calibri"/>
              </a:rPr>
              <a:t> </a:t>
            </a:r>
            <a:r>
              <a:rPr sz="1600" dirty="0">
                <a:solidFill>
                  <a:srgbClr val="1F3863"/>
                </a:solidFill>
                <a:latin typeface="Calibri"/>
                <a:cs typeface="Calibri"/>
              </a:rPr>
              <a:t>certain</a:t>
            </a:r>
            <a:r>
              <a:rPr sz="1600" spc="-65" dirty="0">
                <a:solidFill>
                  <a:srgbClr val="1F3863"/>
                </a:solidFill>
                <a:latin typeface="Calibri"/>
                <a:cs typeface="Calibri"/>
              </a:rPr>
              <a:t> </a:t>
            </a:r>
            <a:r>
              <a:rPr sz="1600" dirty="0">
                <a:solidFill>
                  <a:srgbClr val="1F3863"/>
                </a:solidFill>
                <a:latin typeface="Calibri"/>
                <a:cs typeface="Calibri"/>
              </a:rPr>
              <a:t>state</a:t>
            </a:r>
            <a:r>
              <a:rPr sz="1600" spc="-45" dirty="0">
                <a:solidFill>
                  <a:srgbClr val="1F3863"/>
                </a:solidFill>
                <a:latin typeface="Calibri"/>
                <a:cs typeface="Calibri"/>
              </a:rPr>
              <a:t> </a:t>
            </a:r>
            <a:r>
              <a:rPr sz="1600" spc="-10" dirty="0">
                <a:solidFill>
                  <a:srgbClr val="1F3863"/>
                </a:solidFill>
                <a:latin typeface="Calibri"/>
                <a:cs typeface="Calibri"/>
              </a:rPr>
              <a:t>generates</a:t>
            </a:r>
            <a:r>
              <a:rPr sz="1600" spc="-30" dirty="0">
                <a:solidFill>
                  <a:srgbClr val="1F3863"/>
                </a:solidFill>
                <a:latin typeface="Calibri"/>
                <a:cs typeface="Calibri"/>
              </a:rPr>
              <a:t> </a:t>
            </a:r>
            <a:r>
              <a:rPr sz="1600" spc="-10" dirty="0">
                <a:solidFill>
                  <a:srgbClr val="1F3863"/>
                </a:solidFill>
                <a:latin typeface="Calibri"/>
                <a:cs typeface="Calibri"/>
              </a:rPr>
              <a:t>rewards,</a:t>
            </a:r>
            <a:r>
              <a:rPr sz="1600" spc="-75" dirty="0">
                <a:solidFill>
                  <a:srgbClr val="1F3863"/>
                </a:solidFill>
                <a:latin typeface="Calibri"/>
                <a:cs typeface="Calibri"/>
              </a:rPr>
              <a:t> </a:t>
            </a:r>
            <a:r>
              <a:rPr sz="1600" dirty="0">
                <a:solidFill>
                  <a:srgbClr val="1F3863"/>
                </a:solidFill>
                <a:latin typeface="Calibri"/>
                <a:cs typeface="Calibri"/>
              </a:rPr>
              <a:t>let’s</a:t>
            </a:r>
            <a:r>
              <a:rPr sz="1600" spc="-55" dirty="0">
                <a:solidFill>
                  <a:srgbClr val="1F3863"/>
                </a:solidFill>
                <a:latin typeface="Calibri"/>
                <a:cs typeface="Calibri"/>
              </a:rPr>
              <a:t> </a:t>
            </a:r>
            <a:r>
              <a:rPr sz="1600" dirty="0">
                <a:solidFill>
                  <a:srgbClr val="1F3863"/>
                </a:solidFill>
                <a:latin typeface="Calibri"/>
                <a:cs typeface="Calibri"/>
              </a:rPr>
              <a:t>assume</a:t>
            </a:r>
            <a:r>
              <a:rPr sz="1600" spc="-45" dirty="0">
                <a:solidFill>
                  <a:srgbClr val="1F3863"/>
                </a:solidFill>
                <a:latin typeface="Calibri"/>
                <a:cs typeface="Calibri"/>
              </a:rPr>
              <a:t> </a:t>
            </a:r>
            <a:r>
              <a:rPr sz="1600" dirty="0">
                <a:solidFill>
                  <a:srgbClr val="1F3863"/>
                </a:solidFill>
                <a:latin typeface="Calibri"/>
                <a:cs typeface="Calibri"/>
              </a:rPr>
              <a:t>the</a:t>
            </a:r>
            <a:r>
              <a:rPr sz="1600" spc="-60" dirty="0">
                <a:solidFill>
                  <a:srgbClr val="1F3863"/>
                </a:solidFill>
                <a:latin typeface="Calibri"/>
                <a:cs typeface="Calibri"/>
              </a:rPr>
              <a:t> </a:t>
            </a:r>
            <a:r>
              <a:rPr sz="1600" spc="-10" dirty="0">
                <a:solidFill>
                  <a:srgbClr val="1F3863"/>
                </a:solidFill>
                <a:latin typeface="Calibri"/>
                <a:cs typeface="Calibri"/>
              </a:rPr>
              <a:t>rewards</a:t>
            </a:r>
            <a:r>
              <a:rPr sz="1600" spc="-75" dirty="0">
                <a:solidFill>
                  <a:srgbClr val="1F3863"/>
                </a:solidFill>
                <a:latin typeface="Calibri"/>
                <a:cs typeface="Calibri"/>
              </a:rPr>
              <a:t> </a:t>
            </a:r>
            <a:r>
              <a:rPr sz="1600" dirty="0">
                <a:solidFill>
                  <a:srgbClr val="1F3863"/>
                </a:solidFill>
                <a:latin typeface="Calibri"/>
                <a:cs typeface="Calibri"/>
              </a:rPr>
              <a:t>of</a:t>
            </a:r>
            <a:r>
              <a:rPr sz="1600" spc="-50" dirty="0">
                <a:solidFill>
                  <a:srgbClr val="1F3863"/>
                </a:solidFill>
                <a:latin typeface="Calibri"/>
                <a:cs typeface="Calibri"/>
              </a:rPr>
              <a:t> </a:t>
            </a:r>
            <a:r>
              <a:rPr sz="1600" dirty="0">
                <a:solidFill>
                  <a:srgbClr val="1F3863"/>
                </a:solidFill>
                <a:latin typeface="Calibri"/>
                <a:cs typeface="Calibri"/>
              </a:rPr>
              <a:t>fishing</a:t>
            </a:r>
            <a:r>
              <a:rPr sz="1600" spc="-65" dirty="0">
                <a:solidFill>
                  <a:srgbClr val="1F3863"/>
                </a:solidFill>
                <a:latin typeface="Calibri"/>
                <a:cs typeface="Calibri"/>
              </a:rPr>
              <a:t> </a:t>
            </a:r>
            <a:r>
              <a:rPr sz="1600" spc="-25" dirty="0">
                <a:solidFill>
                  <a:srgbClr val="1F3863"/>
                </a:solidFill>
                <a:latin typeface="Calibri"/>
                <a:cs typeface="Calibri"/>
              </a:rPr>
              <a:t>at </a:t>
            </a:r>
            <a:r>
              <a:rPr sz="1600" dirty="0">
                <a:solidFill>
                  <a:srgbClr val="1F3863"/>
                </a:solidFill>
                <a:latin typeface="Calibri"/>
                <a:cs typeface="Calibri"/>
              </a:rPr>
              <a:t>state</a:t>
            </a:r>
            <a:r>
              <a:rPr sz="1600" spc="-25" dirty="0">
                <a:solidFill>
                  <a:srgbClr val="1F3863"/>
                </a:solidFill>
                <a:latin typeface="Calibri"/>
                <a:cs typeface="Calibri"/>
              </a:rPr>
              <a:t> </a:t>
            </a:r>
            <a:r>
              <a:rPr sz="1600" spc="-45" dirty="0">
                <a:solidFill>
                  <a:srgbClr val="1F3863"/>
                </a:solidFill>
                <a:latin typeface="Calibri"/>
                <a:cs typeface="Calibri"/>
              </a:rPr>
              <a:t>low,</a:t>
            </a:r>
            <a:r>
              <a:rPr sz="1600" spc="-35" dirty="0">
                <a:solidFill>
                  <a:srgbClr val="1F3863"/>
                </a:solidFill>
                <a:latin typeface="Calibri"/>
                <a:cs typeface="Calibri"/>
              </a:rPr>
              <a:t> </a:t>
            </a:r>
            <a:r>
              <a:rPr sz="1600" dirty="0">
                <a:solidFill>
                  <a:srgbClr val="1F3863"/>
                </a:solidFill>
                <a:latin typeface="Calibri"/>
                <a:cs typeface="Calibri"/>
              </a:rPr>
              <a:t>medium</a:t>
            </a:r>
            <a:r>
              <a:rPr sz="1600" spc="-10" dirty="0">
                <a:solidFill>
                  <a:srgbClr val="1F3863"/>
                </a:solidFill>
                <a:latin typeface="Calibri"/>
                <a:cs typeface="Calibri"/>
              </a:rPr>
              <a:t> </a:t>
            </a:r>
            <a:r>
              <a:rPr sz="1600" dirty="0">
                <a:solidFill>
                  <a:srgbClr val="1F3863"/>
                </a:solidFill>
                <a:latin typeface="Calibri"/>
                <a:cs typeface="Calibri"/>
              </a:rPr>
              <a:t>and</a:t>
            </a:r>
            <a:r>
              <a:rPr sz="1600" spc="-40" dirty="0">
                <a:solidFill>
                  <a:srgbClr val="1F3863"/>
                </a:solidFill>
                <a:latin typeface="Calibri"/>
                <a:cs typeface="Calibri"/>
              </a:rPr>
              <a:t> </a:t>
            </a:r>
            <a:r>
              <a:rPr sz="1600" dirty="0">
                <a:solidFill>
                  <a:srgbClr val="1F3863"/>
                </a:solidFill>
                <a:latin typeface="Calibri"/>
                <a:cs typeface="Calibri"/>
              </a:rPr>
              <a:t>high</a:t>
            </a:r>
            <a:r>
              <a:rPr sz="1600" spc="-45" dirty="0">
                <a:solidFill>
                  <a:srgbClr val="1F3863"/>
                </a:solidFill>
                <a:latin typeface="Calibri"/>
                <a:cs typeface="Calibri"/>
              </a:rPr>
              <a:t> </a:t>
            </a:r>
            <a:r>
              <a:rPr sz="1600" dirty="0">
                <a:solidFill>
                  <a:srgbClr val="1F3863"/>
                </a:solidFill>
                <a:latin typeface="Calibri"/>
                <a:cs typeface="Calibri"/>
              </a:rPr>
              <a:t>are</a:t>
            </a:r>
            <a:r>
              <a:rPr sz="1600" spc="-40" dirty="0">
                <a:solidFill>
                  <a:srgbClr val="1F3863"/>
                </a:solidFill>
                <a:latin typeface="Calibri"/>
                <a:cs typeface="Calibri"/>
              </a:rPr>
              <a:t> </a:t>
            </a:r>
            <a:r>
              <a:rPr sz="1600" dirty="0">
                <a:solidFill>
                  <a:srgbClr val="1F3863"/>
                </a:solidFill>
                <a:latin typeface="Calibri"/>
                <a:cs typeface="Calibri"/>
              </a:rPr>
              <a:t>$5K,</a:t>
            </a:r>
            <a:r>
              <a:rPr sz="1600" spc="-35" dirty="0">
                <a:solidFill>
                  <a:srgbClr val="1F3863"/>
                </a:solidFill>
                <a:latin typeface="Calibri"/>
                <a:cs typeface="Calibri"/>
              </a:rPr>
              <a:t> </a:t>
            </a:r>
            <a:r>
              <a:rPr sz="1600" dirty="0">
                <a:solidFill>
                  <a:srgbClr val="1F3863"/>
                </a:solidFill>
                <a:latin typeface="Calibri"/>
                <a:cs typeface="Calibri"/>
              </a:rPr>
              <a:t>$50K</a:t>
            </a:r>
            <a:r>
              <a:rPr sz="1600" spc="-50" dirty="0">
                <a:solidFill>
                  <a:srgbClr val="1F3863"/>
                </a:solidFill>
                <a:latin typeface="Calibri"/>
                <a:cs typeface="Calibri"/>
              </a:rPr>
              <a:t> </a:t>
            </a:r>
            <a:r>
              <a:rPr sz="1600" dirty="0">
                <a:solidFill>
                  <a:srgbClr val="1F3863"/>
                </a:solidFill>
                <a:latin typeface="Calibri"/>
                <a:cs typeface="Calibri"/>
              </a:rPr>
              <a:t>and</a:t>
            </a:r>
            <a:r>
              <a:rPr sz="1600" spc="-40" dirty="0">
                <a:solidFill>
                  <a:srgbClr val="1F3863"/>
                </a:solidFill>
                <a:latin typeface="Calibri"/>
                <a:cs typeface="Calibri"/>
              </a:rPr>
              <a:t> </a:t>
            </a:r>
            <a:r>
              <a:rPr sz="1600" dirty="0">
                <a:solidFill>
                  <a:srgbClr val="1F3863"/>
                </a:solidFill>
                <a:latin typeface="Calibri"/>
                <a:cs typeface="Calibri"/>
              </a:rPr>
              <a:t>$100k</a:t>
            </a:r>
            <a:r>
              <a:rPr sz="1600" spc="-45" dirty="0">
                <a:solidFill>
                  <a:srgbClr val="1F3863"/>
                </a:solidFill>
                <a:latin typeface="Calibri"/>
                <a:cs typeface="Calibri"/>
              </a:rPr>
              <a:t> </a:t>
            </a:r>
            <a:r>
              <a:rPr sz="1600" spc="-20" dirty="0">
                <a:solidFill>
                  <a:srgbClr val="1F3863"/>
                </a:solidFill>
                <a:latin typeface="Calibri"/>
                <a:cs typeface="Calibri"/>
              </a:rPr>
              <a:t>respectively.</a:t>
            </a:r>
            <a:r>
              <a:rPr sz="1600" spc="-40" dirty="0">
                <a:solidFill>
                  <a:srgbClr val="1F3863"/>
                </a:solidFill>
                <a:latin typeface="Calibri"/>
                <a:cs typeface="Calibri"/>
              </a:rPr>
              <a:t> </a:t>
            </a:r>
            <a:r>
              <a:rPr sz="1600" dirty="0">
                <a:solidFill>
                  <a:srgbClr val="1F3863"/>
                </a:solidFill>
                <a:latin typeface="Calibri"/>
                <a:cs typeface="Calibri"/>
              </a:rPr>
              <a:t>If</a:t>
            </a:r>
            <a:r>
              <a:rPr sz="1600" spc="-30" dirty="0">
                <a:solidFill>
                  <a:srgbClr val="1F3863"/>
                </a:solidFill>
                <a:latin typeface="Calibri"/>
                <a:cs typeface="Calibri"/>
              </a:rPr>
              <a:t> </a:t>
            </a:r>
            <a:r>
              <a:rPr sz="1600" dirty="0">
                <a:solidFill>
                  <a:srgbClr val="1F3863"/>
                </a:solidFill>
                <a:latin typeface="Calibri"/>
                <a:cs typeface="Calibri"/>
              </a:rPr>
              <a:t>an</a:t>
            </a:r>
            <a:r>
              <a:rPr sz="1600" spc="-40" dirty="0">
                <a:solidFill>
                  <a:srgbClr val="1F3863"/>
                </a:solidFill>
                <a:latin typeface="Calibri"/>
                <a:cs typeface="Calibri"/>
              </a:rPr>
              <a:t> </a:t>
            </a:r>
            <a:r>
              <a:rPr sz="1600" dirty="0">
                <a:solidFill>
                  <a:srgbClr val="1F3863"/>
                </a:solidFill>
                <a:latin typeface="Calibri"/>
                <a:cs typeface="Calibri"/>
              </a:rPr>
              <a:t>action</a:t>
            </a:r>
            <a:r>
              <a:rPr sz="1600" spc="-40" dirty="0">
                <a:solidFill>
                  <a:srgbClr val="1F3863"/>
                </a:solidFill>
                <a:latin typeface="Calibri"/>
                <a:cs typeface="Calibri"/>
              </a:rPr>
              <a:t> </a:t>
            </a:r>
            <a:r>
              <a:rPr sz="1600" spc="-10" dirty="0">
                <a:solidFill>
                  <a:srgbClr val="1F3863"/>
                </a:solidFill>
                <a:latin typeface="Calibri"/>
                <a:cs typeface="Calibri"/>
              </a:rPr>
              <a:t>takes</a:t>
            </a:r>
            <a:r>
              <a:rPr sz="1600" spc="-30" dirty="0">
                <a:solidFill>
                  <a:srgbClr val="1F3863"/>
                </a:solidFill>
                <a:latin typeface="Calibri"/>
                <a:cs typeface="Calibri"/>
              </a:rPr>
              <a:t> </a:t>
            </a:r>
            <a:r>
              <a:rPr sz="1600" dirty="0">
                <a:solidFill>
                  <a:srgbClr val="1F3863"/>
                </a:solidFill>
                <a:latin typeface="Calibri"/>
                <a:cs typeface="Calibri"/>
              </a:rPr>
              <a:t>to</a:t>
            </a:r>
            <a:r>
              <a:rPr sz="1600" spc="-30" dirty="0">
                <a:solidFill>
                  <a:srgbClr val="1F3863"/>
                </a:solidFill>
                <a:latin typeface="Calibri"/>
                <a:cs typeface="Calibri"/>
              </a:rPr>
              <a:t> </a:t>
            </a:r>
            <a:r>
              <a:rPr sz="1600" spc="-10" dirty="0">
                <a:solidFill>
                  <a:srgbClr val="1F3863"/>
                </a:solidFill>
                <a:latin typeface="Calibri"/>
                <a:cs typeface="Calibri"/>
              </a:rPr>
              <a:t>empty </a:t>
            </a:r>
            <a:r>
              <a:rPr sz="1600" dirty="0">
                <a:solidFill>
                  <a:srgbClr val="1F3863"/>
                </a:solidFill>
                <a:latin typeface="Calibri"/>
                <a:cs typeface="Calibri"/>
              </a:rPr>
              <a:t>state</a:t>
            </a:r>
            <a:r>
              <a:rPr sz="1600" spc="-30" dirty="0">
                <a:solidFill>
                  <a:srgbClr val="1F3863"/>
                </a:solidFill>
                <a:latin typeface="Calibri"/>
                <a:cs typeface="Calibri"/>
              </a:rPr>
              <a:t> </a:t>
            </a:r>
            <a:r>
              <a:rPr sz="1600" dirty="0">
                <a:solidFill>
                  <a:srgbClr val="1F3863"/>
                </a:solidFill>
                <a:latin typeface="Calibri"/>
                <a:cs typeface="Calibri"/>
              </a:rPr>
              <a:t>then</a:t>
            </a:r>
            <a:r>
              <a:rPr sz="1600" spc="-50" dirty="0">
                <a:solidFill>
                  <a:srgbClr val="1F3863"/>
                </a:solidFill>
                <a:latin typeface="Calibri"/>
                <a:cs typeface="Calibri"/>
              </a:rPr>
              <a:t> </a:t>
            </a:r>
            <a:r>
              <a:rPr sz="1600" dirty="0">
                <a:solidFill>
                  <a:srgbClr val="1F3863"/>
                </a:solidFill>
                <a:latin typeface="Calibri"/>
                <a:cs typeface="Calibri"/>
              </a:rPr>
              <a:t>the</a:t>
            </a:r>
            <a:r>
              <a:rPr sz="1600" spc="-35" dirty="0">
                <a:solidFill>
                  <a:srgbClr val="1F3863"/>
                </a:solidFill>
                <a:latin typeface="Calibri"/>
                <a:cs typeface="Calibri"/>
              </a:rPr>
              <a:t> </a:t>
            </a:r>
            <a:r>
              <a:rPr sz="1600" spc="-10" dirty="0">
                <a:solidFill>
                  <a:srgbClr val="1F3863"/>
                </a:solidFill>
                <a:latin typeface="Calibri"/>
                <a:cs typeface="Calibri"/>
              </a:rPr>
              <a:t>reward</a:t>
            </a:r>
            <a:r>
              <a:rPr sz="1600" spc="-60" dirty="0">
                <a:solidFill>
                  <a:srgbClr val="1F3863"/>
                </a:solidFill>
                <a:latin typeface="Calibri"/>
                <a:cs typeface="Calibri"/>
              </a:rPr>
              <a:t> </a:t>
            </a:r>
            <a:r>
              <a:rPr sz="1600" dirty="0">
                <a:solidFill>
                  <a:srgbClr val="1F3863"/>
                </a:solidFill>
                <a:latin typeface="Calibri"/>
                <a:cs typeface="Calibri"/>
              </a:rPr>
              <a:t>is</a:t>
            </a:r>
            <a:r>
              <a:rPr sz="1600" spc="-45" dirty="0">
                <a:solidFill>
                  <a:srgbClr val="1F3863"/>
                </a:solidFill>
                <a:latin typeface="Calibri"/>
                <a:cs typeface="Calibri"/>
              </a:rPr>
              <a:t> </a:t>
            </a:r>
            <a:r>
              <a:rPr sz="1600" dirty="0">
                <a:solidFill>
                  <a:srgbClr val="1F3863"/>
                </a:solidFill>
                <a:latin typeface="Calibri"/>
                <a:cs typeface="Calibri"/>
              </a:rPr>
              <a:t>very</a:t>
            </a:r>
            <a:r>
              <a:rPr sz="1600" spc="-40" dirty="0">
                <a:solidFill>
                  <a:srgbClr val="1F3863"/>
                </a:solidFill>
                <a:latin typeface="Calibri"/>
                <a:cs typeface="Calibri"/>
              </a:rPr>
              <a:t> </a:t>
            </a:r>
            <a:r>
              <a:rPr sz="1600" dirty="0">
                <a:solidFill>
                  <a:srgbClr val="1F3863"/>
                </a:solidFill>
                <a:latin typeface="Calibri"/>
                <a:cs typeface="Calibri"/>
              </a:rPr>
              <a:t>low</a:t>
            </a:r>
            <a:r>
              <a:rPr sz="1600" spc="-35" dirty="0">
                <a:solidFill>
                  <a:srgbClr val="1F3863"/>
                </a:solidFill>
                <a:latin typeface="Calibri"/>
                <a:cs typeface="Calibri"/>
              </a:rPr>
              <a:t> </a:t>
            </a:r>
            <a:r>
              <a:rPr sz="1600" spc="-20" dirty="0">
                <a:solidFill>
                  <a:srgbClr val="1F3863"/>
                </a:solidFill>
                <a:latin typeface="Calibri"/>
                <a:cs typeface="Calibri"/>
              </a:rPr>
              <a:t>-</a:t>
            </a:r>
            <a:r>
              <a:rPr sz="1600" dirty="0">
                <a:solidFill>
                  <a:srgbClr val="1F3863"/>
                </a:solidFill>
                <a:latin typeface="Calibri"/>
                <a:cs typeface="Calibri"/>
              </a:rPr>
              <a:t>$200K</a:t>
            </a:r>
            <a:r>
              <a:rPr sz="1600" spc="-45" dirty="0">
                <a:solidFill>
                  <a:srgbClr val="1F3863"/>
                </a:solidFill>
                <a:latin typeface="Calibri"/>
                <a:cs typeface="Calibri"/>
              </a:rPr>
              <a:t> </a:t>
            </a:r>
            <a:r>
              <a:rPr sz="1600" dirty="0">
                <a:solidFill>
                  <a:srgbClr val="1F3863"/>
                </a:solidFill>
                <a:latin typeface="Calibri"/>
                <a:cs typeface="Calibri"/>
              </a:rPr>
              <a:t>as</a:t>
            </a:r>
            <a:r>
              <a:rPr sz="1600" spc="-50" dirty="0">
                <a:solidFill>
                  <a:srgbClr val="1F3863"/>
                </a:solidFill>
                <a:latin typeface="Calibri"/>
                <a:cs typeface="Calibri"/>
              </a:rPr>
              <a:t> </a:t>
            </a:r>
            <a:r>
              <a:rPr sz="1600" dirty="0">
                <a:solidFill>
                  <a:srgbClr val="1F3863"/>
                </a:solidFill>
                <a:latin typeface="Calibri"/>
                <a:cs typeface="Calibri"/>
              </a:rPr>
              <a:t>it</a:t>
            </a:r>
            <a:r>
              <a:rPr sz="1600" spc="-45" dirty="0">
                <a:solidFill>
                  <a:srgbClr val="1F3863"/>
                </a:solidFill>
                <a:latin typeface="Calibri"/>
                <a:cs typeface="Calibri"/>
              </a:rPr>
              <a:t> </a:t>
            </a:r>
            <a:r>
              <a:rPr sz="1600" dirty="0">
                <a:solidFill>
                  <a:srgbClr val="1F3863"/>
                </a:solidFill>
                <a:latin typeface="Calibri"/>
                <a:cs typeface="Calibri"/>
              </a:rPr>
              <a:t>require</a:t>
            </a:r>
            <a:r>
              <a:rPr sz="1600" spc="-60" dirty="0">
                <a:solidFill>
                  <a:srgbClr val="1F3863"/>
                </a:solidFill>
                <a:latin typeface="Calibri"/>
                <a:cs typeface="Calibri"/>
              </a:rPr>
              <a:t> </a:t>
            </a:r>
            <a:r>
              <a:rPr sz="1600" spc="-25" dirty="0">
                <a:solidFill>
                  <a:srgbClr val="1F3863"/>
                </a:solidFill>
                <a:latin typeface="Calibri"/>
                <a:cs typeface="Calibri"/>
              </a:rPr>
              <a:t>re-</a:t>
            </a:r>
            <a:r>
              <a:rPr sz="1600" dirty="0">
                <a:solidFill>
                  <a:srgbClr val="1F3863"/>
                </a:solidFill>
                <a:latin typeface="Calibri"/>
                <a:cs typeface="Calibri"/>
              </a:rPr>
              <a:t>breeding</a:t>
            </a:r>
            <a:r>
              <a:rPr sz="1600" spc="-50" dirty="0">
                <a:solidFill>
                  <a:srgbClr val="1F3863"/>
                </a:solidFill>
                <a:latin typeface="Calibri"/>
                <a:cs typeface="Calibri"/>
              </a:rPr>
              <a:t> </a:t>
            </a:r>
            <a:r>
              <a:rPr sz="1600" dirty="0">
                <a:solidFill>
                  <a:srgbClr val="1F3863"/>
                </a:solidFill>
                <a:latin typeface="Calibri"/>
                <a:cs typeface="Calibri"/>
              </a:rPr>
              <a:t>new</a:t>
            </a:r>
            <a:r>
              <a:rPr sz="1600" spc="-25" dirty="0">
                <a:solidFill>
                  <a:srgbClr val="1F3863"/>
                </a:solidFill>
                <a:latin typeface="Calibri"/>
                <a:cs typeface="Calibri"/>
              </a:rPr>
              <a:t> </a:t>
            </a:r>
            <a:r>
              <a:rPr sz="1600" dirty="0">
                <a:solidFill>
                  <a:srgbClr val="1F3863"/>
                </a:solidFill>
                <a:latin typeface="Calibri"/>
                <a:cs typeface="Calibri"/>
              </a:rPr>
              <a:t>salmons</a:t>
            </a:r>
            <a:r>
              <a:rPr sz="1600" spc="-45" dirty="0">
                <a:solidFill>
                  <a:srgbClr val="1F3863"/>
                </a:solidFill>
                <a:latin typeface="Calibri"/>
                <a:cs typeface="Calibri"/>
              </a:rPr>
              <a:t> </a:t>
            </a:r>
            <a:r>
              <a:rPr sz="1600" dirty="0">
                <a:solidFill>
                  <a:srgbClr val="1F3863"/>
                </a:solidFill>
                <a:latin typeface="Calibri"/>
                <a:cs typeface="Calibri"/>
              </a:rPr>
              <a:t>which</a:t>
            </a:r>
            <a:r>
              <a:rPr sz="1600" spc="-50" dirty="0">
                <a:solidFill>
                  <a:srgbClr val="1F3863"/>
                </a:solidFill>
                <a:latin typeface="Calibri"/>
                <a:cs typeface="Calibri"/>
              </a:rPr>
              <a:t> </a:t>
            </a:r>
            <a:r>
              <a:rPr sz="1600" spc="-10" dirty="0">
                <a:solidFill>
                  <a:srgbClr val="1F3863"/>
                </a:solidFill>
                <a:latin typeface="Calibri"/>
                <a:cs typeface="Calibri"/>
              </a:rPr>
              <a:t>takes </a:t>
            </a:r>
            <a:r>
              <a:rPr sz="1600" dirty="0">
                <a:solidFill>
                  <a:srgbClr val="1F3863"/>
                </a:solidFill>
                <a:latin typeface="Calibri"/>
                <a:cs typeface="Calibri"/>
              </a:rPr>
              <a:t>time</a:t>
            </a:r>
            <a:r>
              <a:rPr sz="1600" spc="-20" dirty="0">
                <a:solidFill>
                  <a:srgbClr val="1F3863"/>
                </a:solidFill>
                <a:latin typeface="Calibri"/>
                <a:cs typeface="Calibri"/>
              </a:rPr>
              <a:t> </a:t>
            </a:r>
            <a:r>
              <a:rPr sz="1600" dirty="0">
                <a:solidFill>
                  <a:srgbClr val="1F3863"/>
                </a:solidFill>
                <a:latin typeface="Calibri"/>
                <a:cs typeface="Calibri"/>
              </a:rPr>
              <a:t>and</a:t>
            </a:r>
            <a:r>
              <a:rPr sz="1600" spc="-35" dirty="0">
                <a:solidFill>
                  <a:srgbClr val="1F3863"/>
                </a:solidFill>
                <a:latin typeface="Calibri"/>
                <a:cs typeface="Calibri"/>
              </a:rPr>
              <a:t> </a:t>
            </a:r>
            <a:r>
              <a:rPr sz="1600" spc="-10" dirty="0">
                <a:solidFill>
                  <a:srgbClr val="1F3863"/>
                </a:solidFill>
                <a:latin typeface="Calibri"/>
                <a:cs typeface="Calibri"/>
              </a:rPr>
              <a:t>money.</a:t>
            </a:r>
            <a:endParaRPr sz="1600" dirty="0">
              <a:latin typeface="Calibri"/>
              <a:cs typeface="Calibri"/>
            </a:endParaRPr>
          </a:p>
          <a:p>
            <a:pPr>
              <a:lnSpc>
                <a:spcPct val="100000"/>
              </a:lnSpc>
              <a:spcBef>
                <a:spcPts val="1155"/>
              </a:spcBef>
              <a:buClr>
                <a:srgbClr val="1F3863"/>
              </a:buClr>
              <a:buFont typeface="Arial MT"/>
              <a:buChar char="•"/>
            </a:pPr>
            <a:endParaRPr sz="1600" dirty="0">
              <a:latin typeface="Calibri"/>
              <a:cs typeface="Calibri"/>
            </a:endParaRPr>
          </a:p>
          <a:p>
            <a:pPr marL="241300" marR="443230" indent="-228600">
              <a:lnSpc>
                <a:spcPct val="70000"/>
              </a:lnSpc>
              <a:buFont typeface="Arial MT"/>
              <a:buChar char="•"/>
              <a:tabLst>
                <a:tab pos="241300" algn="l"/>
              </a:tabLst>
            </a:pPr>
            <a:r>
              <a:rPr sz="1600" dirty="0">
                <a:solidFill>
                  <a:srgbClr val="1F3863"/>
                </a:solidFill>
                <a:latin typeface="Calibri"/>
                <a:cs typeface="Calibri"/>
              </a:rPr>
              <a:t>State</a:t>
            </a:r>
            <a:r>
              <a:rPr sz="1600" spc="-35" dirty="0">
                <a:solidFill>
                  <a:srgbClr val="1F3863"/>
                </a:solidFill>
                <a:latin typeface="Calibri"/>
                <a:cs typeface="Calibri"/>
              </a:rPr>
              <a:t> </a:t>
            </a:r>
            <a:r>
              <a:rPr sz="1600" spc="-10" dirty="0">
                <a:solidFill>
                  <a:srgbClr val="1F3863"/>
                </a:solidFill>
                <a:latin typeface="Calibri"/>
                <a:cs typeface="Calibri"/>
              </a:rPr>
              <a:t>Transitions:</a:t>
            </a:r>
            <a:r>
              <a:rPr sz="1600" spc="-55" dirty="0">
                <a:solidFill>
                  <a:srgbClr val="1F3863"/>
                </a:solidFill>
                <a:latin typeface="Calibri"/>
                <a:cs typeface="Calibri"/>
              </a:rPr>
              <a:t> </a:t>
            </a:r>
            <a:r>
              <a:rPr sz="1600" dirty="0">
                <a:solidFill>
                  <a:srgbClr val="1F3863"/>
                </a:solidFill>
                <a:latin typeface="Calibri"/>
                <a:cs typeface="Calibri"/>
              </a:rPr>
              <a:t>Fishing</a:t>
            </a:r>
            <a:r>
              <a:rPr sz="1600" spc="-45" dirty="0">
                <a:solidFill>
                  <a:srgbClr val="1F3863"/>
                </a:solidFill>
                <a:latin typeface="Calibri"/>
                <a:cs typeface="Calibri"/>
              </a:rPr>
              <a:t> </a:t>
            </a:r>
            <a:r>
              <a:rPr sz="1600" dirty="0">
                <a:solidFill>
                  <a:srgbClr val="1F3863"/>
                </a:solidFill>
                <a:latin typeface="Calibri"/>
                <a:cs typeface="Calibri"/>
              </a:rPr>
              <a:t>in</a:t>
            </a:r>
            <a:r>
              <a:rPr sz="1600" spc="-50" dirty="0">
                <a:solidFill>
                  <a:srgbClr val="1F3863"/>
                </a:solidFill>
                <a:latin typeface="Calibri"/>
                <a:cs typeface="Calibri"/>
              </a:rPr>
              <a:t> </a:t>
            </a:r>
            <a:r>
              <a:rPr sz="1600" dirty="0">
                <a:solidFill>
                  <a:srgbClr val="1F3863"/>
                </a:solidFill>
                <a:latin typeface="Calibri"/>
                <a:cs typeface="Calibri"/>
              </a:rPr>
              <a:t>a</a:t>
            </a:r>
            <a:r>
              <a:rPr sz="1600" spc="-50" dirty="0">
                <a:solidFill>
                  <a:srgbClr val="1F3863"/>
                </a:solidFill>
                <a:latin typeface="Calibri"/>
                <a:cs typeface="Calibri"/>
              </a:rPr>
              <a:t> </a:t>
            </a:r>
            <a:r>
              <a:rPr sz="1600" dirty="0">
                <a:solidFill>
                  <a:srgbClr val="1F3863"/>
                </a:solidFill>
                <a:latin typeface="Calibri"/>
                <a:cs typeface="Calibri"/>
              </a:rPr>
              <a:t>state</a:t>
            </a:r>
            <a:r>
              <a:rPr sz="1600" spc="-30" dirty="0">
                <a:solidFill>
                  <a:srgbClr val="1F3863"/>
                </a:solidFill>
                <a:latin typeface="Calibri"/>
                <a:cs typeface="Calibri"/>
              </a:rPr>
              <a:t> </a:t>
            </a:r>
            <a:r>
              <a:rPr sz="1600" dirty="0">
                <a:solidFill>
                  <a:srgbClr val="1F3863"/>
                </a:solidFill>
                <a:latin typeface="Calibri"/>
                <a:cs typeface="Calibri"/>
              </a:rPr>
              <a:t>has</a:t>
            </a:r>
            <a:r>
              <a:rPr sz="1600" spc="-40" dirty="0">
                <a:solidFill>
                  <a:srgbClr val="1F3863"/>
                </a:solidFill>
                <a:latin typeface="Calibri"/>
                <a:cs typeface="Calibri"/>
              </a:rPr>
              <a:t> </a:t>
            </a:r>
            <a:r>
              <a:rPr sz="1600" dirty="0">
                <a:solidFill>
                  <a:srgbClr val="1F3863"/>
                </a:solidFill>
                <a:latin typeface="Calibri"/>
                <a:cs typeface="Calibri"/>
              </a:rPr>
              <a:t>higher</a:t>
            </a:r>
            <a:r>
              <a:rPr sz="1600" spc="-50" dirty="0">
                <a:solidFill>
                  <a:srgbClr val="1F3863"/>
                </a:solidFill>
                <a:latin typeface="Calibri"/>
                <a:cs typeface="Calibri"/>
              </a:rPr>
              <a:t> </a:t>
            </a:r>
            <a:r>
              <a:rPr sz="1600" dirty="0">
                <a:solidFill>
                  <a:srgbClr val="1F3863"/>
                </a:solidFill>
                <a:latin typeface="Calibri"/>
                <a:cs typeface="Calibri"/>
              </a:rPr>
              <a:t>a</a:t>
            </a:r>
            <a:r>
              <a:rPr sz="1600" spc="-45" dirty="0">
                <a:solidFill>
                  <a:srgbClr val="1F3863"/>
                </a:solidFill>
                <a:latin typeface="Calibri"/>
                <a:cs typeface="Calibri"/>
              </a:rPr>
              <a:t> </a:t>
            </a:r>
            <a:r>
              <a:rPr sz="1600" dirty="0">
                <a:solidFill>
                  <a:srgbClr val="1F3863"/>
                </a:solidFill>
                <a:latin typeface="Calibri"/>
                <a:cs typeface="Calibri"/>
              </a:rPr>
              <a:t>probability</a:t>
            </a:r>
            <a:r>
              <a:rPr sz="1600" spc="-75" dirty="0">
                <a:solidFill>
                  <a:srgbClr val="1F3863"/>
                </a:solidFill>
                <a:latin typeface="Calibri"/>
                <a:cs typeface="Calibri"/>
              </a:rPr>
              <a:t> </a:t>
            </a:r>
            <a:r>
              <a:rPr sz="1600" dirty="0">
                <a:solidFill>
                  <a:srgbClr val="1F3863"/>
                </a:solidFill>
                <a:latin typeface="Calibri"/>
                <a:cs typeface="Calibri"/>
              </a:rPr>
              <a:t>to</a:t>
            </a:r>
            <a:r>
              <a:rPr sz="1600" spc="-25" dirty="0">
                <a:solidFill>
                  <a:srgbClr val="1F3863"/>
                </a:solidFill>
                <a:latin typeface="Calibri"/>
                <a:cs typeface="Calibri"/>
              </a:rPr>
              <a:t> </a:t>
            </a:r>
            <a:r>
              <a:rPr sz="1600" dirty="0">
                <a:solidFill>
                  <a:srgbClr val="1F3863"/>
                </a:solidFill>
                <a:latin typeface="Calibri"/>
                <a:cs typeface="Calibri"/>
              </a:rPr>
              <a:t>move</a:t>
            </a:r>
            <a:r>
              <a:rPr sz="1600" spc="-50" dirty="0">
                <a:solidFill>
                  <a:srgbClr val="1F3863"/>
                </a:solidFill>
                <a:latin typeface="Calibri"/>
                <a:cs typeface="Calibri"/>
              </a:rPr>
              <a:t> </a:t>
            </a:r>
            <a:r>
              <a:rPr sz="1600" dirty="0">
                <a:solidFill>
                  <a:srgbClr val="1F3863"/>
                </a:solidFill>
                <a:latin typeface="Calibri"/>
                <a:cs typeface="Calibri"/>
              </a:rPr>
              <a:t>to</a:t>
            </a:r>
            <a:r>
              <a:rPr sz="1600" spc="-25" dirty="0">
                <a:solidFill>
                  <a:srgbClr val="1F3863"/>
                </a:solidFill>
                <a:latin typeface="Calibri"/>
                <a:cs typeface="Calibri"/>
              </a:rPr>
              <a:t> </a:t>
            </a:r>
            <a:r>
              <a:rPr sz="1600" dirty="0">
                <a:solidFill>
                  <a:srgbClr val="1F3863"/>
                </a:solidFill>
                <a:latin typeface="Calibri"/>
                <a:cs typeface="Calibri"/>
              </a:rPr>
              <a:t>a</a:t>
            </a:r>
            <a:r>
              <a:rPr sz="1600" spc="-50" dirty="0">
                <a:solidFill>
                  <a:srgbClr val="1F3863"/>
                </a:solidFill>
                <a:latin typeface="Calibri"/>
                <a:cs typeface="Calibri"/>
              </a:rPr>
              <a:t> </a:t>
            </a:r>
            <a:r>
              <a:rPr sz="1600" spc="-10" dirty="0">
                <a:solidFill>
                  <a:srgbClr val="1F3863"/>
                </a:solidFill>
                <a:latin typeface="Calibri"/>
                <a:cs typeface="Calibri"/>
              </a:rPr>
              <a:t>state</a:t>
            </a:r>
            <a:r>
              <a:rPr sz="1600" spc="-50" dirty="0">
                <a:solidFill>
                  <a:srgbClr val="1F3863"/>
                </a:solidFill>
                <a:latin typeface="Calibri"/>
                <a:cs typeface="Calibri"/>
              </a:rPr>
              <a:t> </a:t>
            </a:r>
            <a:r>
              <a:rPr sz="1600" dirty="0">
                <a:solidFill>
                  <a:srgbClr val="1F3863"/>
                </a:solidFill>
                <a:latin typeface="Calibri"/>
                <a:cs typeface="Calibri"/>
              </a:rPr>
              <a:t>with</a:t>
            </a:r>
            <a:r>
              <a:rPr sz="1600" spc="-50" dirty="0">
                <a:solidFill>
                  <a:srgbClr val="1F3863"/>
                </a:solidFill>
                <a:latin typeface="Calibri"/>
                <a:cs typeface="Calibri"/>
              </a:rPr>
              <a:t> </a:t>
            </a:r>
            <a:r>
              <a:rPr sz="1600" spc="-10" dirty="0">
                <a:solidFill>
                  <a:srgbClr val="1F3863"/>
                </a:solidFill>
                <a:latin typeface="Calibri"/>
                <a:cs typeface="Calibri"/>
              </a:rPr>
              <a:t>lower </a:t>
            </a:r>
            <a:r>
              <a:rPr sz="1600" dirty="0">
                <a:solidFill>
                  <a:srgbClr val="1F3863"/>
                </a:solidFill>
                <a:latin typeface="Calibri"/>
                <a:cs typeface="Calibri"/>
              </a:rPr>
              <a:t>number</a:t>
            </a:r>
            <a:r>
              <a:rPr sz="1600" spc="-40" dirty="0">
                <a:solidFill>
                  <a:srgbClr val="1F3863"/>
                </a:solidFill>
                <a:latin typeface="Calibri"/>
                <a:cs typeface="Calibri"/>
              </a:rPr>
              <a:t> </a:t>
            </a:r>
            <a:r>
              <a:rPr sz="1600" dirty="0">
                <a:solidFill>
                  <a:srgbClr val="1F3863"/>
                </a:solidFill>
                <a:latin typeface="Calibri"/>
                <a:cs typeface="Calibri"/>
              </a:rPr>
              <a:t>of</a:t>
            </a:r>
            <a:r>
              <a:rPr sz="1600" spc="-40" dirty="0">
                <a:solidFill>
                  <a:srgbClr val="1F3863"/>
                </a:solidFill>
                <a:latin typeface="Calibri"/>
                <a:cs typeface="Calibri"/>
              </a:rPr>
              <a:t> </a:t>
            </a:r>
            <a:r>
              <a:rPr sz="1600" dirty="0">
                <a:solidFill>
                  <a:srgbClr val="1F3863"/>
                </a:solidFill>
                <a:latin typeface="Calibri"/>
                <a:cs typeface="Calibri"/>
              </a:rPr>
              <a:t>salmons.</a:t>
            </a:r>
            <a:r>
              <a:rPr sz="1600" spc="-50" dirty="0">
                <a:solidFill>
                  <a:srgbClr val="1F3863"/>
                </a:solidFill>
                <a:latin typeface="Calibri"/>
                <a:cs typeface="Calibri"/>
              </a:rPr>
              <a:t> </a:t>
            </a:r>
            <a:r>
              <a:rPr sz="1600" spc="-10" dirty="0">
                <a:solidFill>
                  <a:srgbClr val="1F3863"/>
                </a:solidFill>
                <a:latin typeface="Calibri"/>
                <a:cs typeface="Calibri"/>
              </a:rPr>
              <a:t>Similarly,</a:t>
            </a:r>
            <a:r>
              <a:rPr sz="1600" spc="-35" dirty="0">
                <a:solidFill>
                  <a:srgbClr val="1F3863"/>
                </a:solidFill>
                <a:latin typeface="Calibri"/>
                <a:cs typeface="Calibri"/>
              </a:rPr>
              <a:t> </a:t>
            </a:r>
            <a:r>
              <a:rPr sz="1600" spc="-10" dirty="0">
                <a:solidFill>
                  <a:srgbClr val="1F3863"/>
                </a:solidFill>
                <a:latin typeface="Calibri"/>
                <a:cs typeface="Calibri"/>
              </a:rPr>
              <a:t>not_to_fish</a:t>
            </a:r>
            <a:r>
              <a:rPr sz="1600" spc="-20" dirty="0">
                <a:solidFill>
                  <a:srgbClr val="1F3863"/>
                </a:solidFill>
                <a:latin typeface="Calibri"/>
                <a:cs typeface="Calibri"/>
              </a:rPr>
              <a:t> </a:t>
            </a:r>
            <a:r>
              <a:rPr sz="1600" dirty="0">
                <a:solidFill>
                  <a:srgbClr val="1F3863"/>
                </a:solidFill>
                <a:latin typeface="Calibri"/>
                <a:cs typeface="Calibri"/>
              </a:rPr>
              <a:t>action</a:t>
            </a:r>
            <a:r>
              <a:rPr sz="1600" spc="-50" dirty="0">
                <a:solidFill>
                  <a:srgbClr val="1F3863"/>
                </a:solidFill>
                <a:latin typeface="Calibri"/>
                <a:cs typeface="Calibri"/>
              </a:rPr>
              <a:t> </a:t>
            </a:r>
            <a:r>
              <a:rPr sz="1600" dirty="0">
                <a:solidFill>
                  <a:srgbClr val="1F3863"/>
                </a:solidFill>
                <a:latin typeface="Calibri"/>
                <a:cs typeface="Calibri"/>
              </a:rPr>
              <a:t>has</a:t>
            </a:r>
            <a:r>
              <a:rPr sz="1600" spc="-45" dirty="0">
                <a:solidFill>
                  <a:srgbClr val="1F3863"/>
                </a:solidFill>
                <a:latin typeface="Calibri"/>
                <a:cs typeface="Calibri"/>
              </a:rPr>
              <a:t> </a:t>
            </a:r>
            <a:r>
              <a:rPr sz="1600" dirty="0">
                <a:solidFill>
                  <a:srgbClr val="1F3863"/>
                </a:solidFill>
                <a:latin typeface="Calibri"/>
                <a:cs typeface="Calibri"/>
              </a:rPr>
              <a:t>higher</a:t>
            </a:r>
            <a:r>
              <a:rPr sz="1600" spc="-50" dirty="0">
                <a:solidFill>
                  <a:srgbClr val="1F3863"/>
                </a:solidFill>
                <a:latin typeface="Calibri"/>
                <a:cs typeface="Calibri"/>
              </a:rPr>
              <a:t> </a:t>
            </a:r>
            <a:r>
              <a:rPr sz="1600" dirty="0">
                <a:solidFill>
                  <a:srgbClr val="1F3863"/>
                </a:solidFill>
                <a:latin typeface="Calibri"/>
                <a:cs typeface="Calibri"/>
              </a:rPr>
              <a:t>probability</a:t>
            </a:r>
            <a:r>
              <a:rPr sz="1600" spc="-60" dirty="0">
                <a:solidFill>
                  <a:srgbClr val="1F3863"/>
                </a:solidFill>
                <a:latin typeface="Calibri"/>
                <a:cs typeface="Calibri"/>
              </a:rPr>
              <a:t> </a:t>
            </a:r>
            <a:r>
              <a:rPr sz="1600" dirty="0">
                <a:solidFill>
                  <a:srgbClr val="1F3863"/>
                </a:solidFill>
                <a:latin typeface="Calibri"/>
                <a:cs typeface="Calibri"/>
              </a:rPr>
              <a:t>to</a:t>
            </a:r>
            <a:r>
              <a:rPr sz="1600" spc="-40" dirty="0">
                <a:solidFill>
                  <a:srgbClr val="1F3863"/>
                </a:solidFill>
                <a:latin typeface="Calibri"/>
                <a:cs typeface="Calibri"/>
              </a:rPr>
              <a:t> </a:t>
            </a:r>
            <a:r>
              <a:rPr sz="1600" dirty="0">
                <a:solidFill>
                  <a:srgbClr val="1F3863"/>
                </a:solidFill>
                <a:latin typeface="Calibri"/>
                <a:cs typeface="Calibri"/>
              </a:rPr>
              <a:t>move</a:t>
            </a:r>
            <a:r>
              <a:rPr sz="1600" spc="-30" dirty="0">
                <a:solidFill>
                  <a:srgbClr val="1F3863"/>
                </a:solidFill>
                <a:latin typeface="Calibri"/>
                <a:cs typeface="Calibri"/>
              </a:rPr>
              <a:t> </a:t>
            </a:r>
            <a:r>
              <a:rPr sz="1600" dirty="0">
                <a:solidFill>
                  <a:srgbClr val="1F3863"/>
                </a:solidFill>
                <a:latin typeface="Calibri"/>
                <a:cs typeface="Calibri"/>
              </a:rPr>
              <a:t>to</a:t>
            </a:r>
            <a:r>
              <a:rPr sz="1600" spc="-40" dirty="0">
                <a:solidFill>
                  <a:srgbClr val="1F3863"/>
                </a:solidFill>
                <a:latin typeface="Calibri"/>
                <a:cs typeface="Calibri"/>
              </a:rPr>
              <a:t> </a:t>
            </a:r>
            <a:r>
              <a:rPr sz="1600" dirty="0">
                <a:solidFill>
                  <a:srgbClr val="1F3863"/>
                </a:solidFill>
                <a:latin typeface="Calibri"/>
                <a:cs typeface="Calibri"/>
              </a:rPr>
              <a:t>a</a:t>
            </a:r>
            <a:r>
              <a:rPr sz="1600" spc="-45" dirty="0">
                <a:solidFill>
                  <a:srgbClr val="1F3863"/>
                </a:solidFill>
                <a:latin typeface="Calibri"/>
                <a:cs typeface="Calibri"/>
              </a:rPr>
              <a:t> </a:t>
            </a:r>
            <a:r>
              <a:rPr sz="1600" spc="-10" dirty="0">
                <a:solidFill>
                  <a:srgbClr val="1F3863"/>
                </a:solidFill>
                <a:latin typeface="Calibri"/>
                <a:cs typeface="Calibri"/>
              </a:rPr>
              <a:t>state </a:t>
            </a:r>
            <a:r>
              <a:rPr sz="1600" dirty="0">
                <a:solidFill>
                  <a:srgbClr val="1F3863"/>
                </a:solidFill>
                <a:latin typeface="Calibri"/>
                <a:cs typeface="Calibri"/>
              </a:rPr>
              <a:t>with</a:t>
            </a:r>
            <a:r>
              <a:rPr sz="1600" spc="-60" dirty="0">
                <a:solidFill>
                  <a:srgbClr val="1F3863"/>
                </a:solidFill>
                <a:latin typeface="Calibri"/>
                <a:cs typeface="Calibri"/>
              </a:rPr>
              <a:t> </a:t>
            </a:r>
            <a:r>
              <a:rPr sz="1600" dirty="0">
                <a:solidFill>
                  <a:srgbClr val="1F3863"/>
                </a:solidFill>
                <a:latin typeface="Calibri"/>
                <a:cs typeface="Calibri"/>
              </a:rPr>
              <a:t>higher</a:t>
            </a:r>
            <a:r>
              <a:rPr sz="1600" spc="-60" dirty="0">
                <a:solidFill>
                  <a:srgbClr val="1F3863"/>
                </a:solidFill>
                <a:latin typeface="Calibri"/>
                <a:cs typeface="Calibri"/>
              </a:rPr>
              <a:t> </a:t>
            </a:r>
            <a:r>
              <a:rPr sz="1600" dirty="0">
                <a:solidFill>
                  <a:srgbClr val="1F3863"/>
                </a:solidFill>
                <a:latin typeface="Calibri"/>
                <a:cs typeface="Calibri"/>
              </a:rPr>
              <a:t>number</a:t>
            </a:r>
            <a:r>
              <a:rPr sz="1600" spc="-50" dirty="0">
                <a:solidFill>
                  <a:srgbClr val="1F3863"/>
                </a:solidFill>
                <a:latin typeface="Calibri"/>
                <a:cs typeface="Calibri"/>
              </a:rPr>
              <a:t> </a:t>
            </a:r>
            <a:r>
              <a:rPr sz="1600" dirty="0">
                <a:solidFill>
                  <a:srgbClr val="1F3863"/>
                </a:solidFill>
                <a:latin typeface="Calibri"/>
                <a:cs typeface="Calibri"/>
              </a:rPr>
              <a:t>of</a:t>
            </a:r>
            <a:r>
              <a:rPr sz="1600" spc="-50" dirty="0">
                <a:solidFill>
                  <a:srgbClr val="1F3863"/>
                </a:solidFill>
                <a:latin typeface="Calibri"/>
                <a:cs typeface="Calibri"/>
              </a:rPr>
              <a:t> </a:t>
            </a:r>
            <a:r>
              <a:rPr sz="1600" dirty="0">
                <a:solidFill>
                  <a:srgbClr val="1F3863"/>
                </a:solidFill>
                <a:latin typeface="Calibri"/>
                <a:cs typeface="Calibri"/>
              </a:rPr>
              <a:t>salmons</a:t>
            </a:r>
            <a:r>
              <a:rPr sz="1600" spc="-55" dirty="0">
                <a:solidFill>
                  <a:srgbClr val="1F3863"/>
                </a:solidFill>
                <a:latin typeface="Calibri"/>
                <a:cs typeface="Calibri"/>
              </a:rPr>
              <a:t> </a:t>
            </a:r>
            <a:r>
              <a:rPr sz="1600" spc="-10" dirty="0">
                <a:solidFill>
                  <a:srgbClr val="1F3863"/>
                </a:solidFill>
                <a:latin typeface="Calibri"/>
                <a:cs typeface="Calibri"/>
              </a:rPr>
              <a:t>(excepts</a:t>
            </a:r>
            <a:r>
              <a:rPr sz="1600" spc="-35" dirty="0">
                <a:solidFill>
                  <a:srgbClr val="1F3863"/>
                </a:solidFill>
                <a:latin typeface="Calibri"/>
                <a:cs typeface="Calibri"/>
              </a:rPr>
              <a:t> </a:t>
            </a:r>
            <a:r>
              <a:rPr sz="1600" dirty="0">
                <a:solidFill>
                  <a:srgbClr val="1F3863"/>
                </a:solidFill>
                <a:latin typeface="Calibri"/>
                <a:cs typeface="Calibri"/>
              </a:rPr>
              <a:t>for</a:t>
            </a:r>
            <a:r>
              <a:rPr sz="1600" spc="-55" dirty="0">
                <a:solidFill>
                  <a:srgbClr val="1F3863"/>
                </a:solidFill>
                <a:latin typeface="Calibri"/>
                <a:cs typeface="Calibri"/>
              </a:rPr>
              <a:t> </a:t>
            </a:r>
            <a:r>
              <a:rPr sz="1600" dirty="0">
                <a:solidFill>
                  <a:srgbClr val="1F3863"/>
                </a:solidFill>
                <a:latin typeface="Calibri"/>
                <a:cs typeface="Calibri"/>
              </a:rPr>
              <a:t>the</a:t>
            </a:r>
            <a:r>
              <a:rPr sz="1600" spc="-45" dirty="0">
                <a:solidFill>
                  <a:srgbClr val="1F3863"/>
                </a:solidFill>
                <a:latin typeface="Calibri"/>
                <a:cs typeface="Calibri"/>
              </a:rPr>
              <a:t> </a:t>
            </a:r>
            <a:r>
              <a:rPr sz="1600" spc="-10" dirty="0">
                <a:solidFill>
                  <a:srgbClr val="1F3863"/>
                </a:solidFill>
                <a:latin typeface="Calibri"/>
                <a:cs typeface="Calibri"/>
              </a:rPr>
              <a:t>state</a:t>
            </a:r>
            <a:r>
              <a:rPr sz="1600" spc="-60" dirty="0">
                <a:solidFill>
                  <a:srgbClr val="1F3863"/>
                </a:solidFill>
                <a:latin typeface="Calibri"/>
                <a:cs typeface="Calibri"/>
              </a:rPr>
              <a:t> </a:t>
            </a:r>
            <a:r>
              <a:rPr sz="1600" spc="-10" dirty="0">
                <a:solidFill>
                  <a:srgbClr val="1F3863"/>
                </a:solidFill>
                <a:latin typeface="Calibri"/>
                <a:cs typeface="Calibri"/>
              </a:rPr>
              <a:t>high).</a:t>
            </a:r>
            <a:endParaRPr sz="1600" dirty="0">
              <a:latin typeface="Calibri"/>
              <a:cs typeface="Calibri"/>
            </a:endParaRPr>
          </a:p>
        </p:txBody>
      </p:sp>
      <p:graphicFrame>
        <p:nvGraphicFramePr>
          <p:cNvPr id="5" name="Table 4">
            <a:extLst>
              <a:ext uri="{FF2B5EF4-FFF2-40B4-BE49-F238E27FC236}">
                <a16:creationId xmlns:a16="http://schemas.microsoft.com/office/drawing/2014/main" id="{E912F3F8-49C9-5748-3DD7-54FEAA2AA686}"/>
              </a:ext>
            </a:extLst>
          </p:cNvPr>
          <p:cNvGraphicFramePr>
            <a:graphicFrameLocks noGrp="1"/>
          </p:cNvGraphicFramePr>
          <p:nvPr>
            <p:extLst>
              <p:ext uri="{D42A27DB-BD31-4B8C-83A1-F6EECF244321}">
                <p14:modId xmlns:p14="http://schemas.microsoft.com/office/powerpoint/2010/main" val="2996472000"/>
              </p:ext>
            </p:extLst>
          </p:nvPr>
        </p:nvGraphicFramePr>
        <p:xfrm>
          <a:off x="7620000" y="10848"/>
          <a:ext cx="4114800" cy="6770952"/>
        </p:xfrm>
        <a:graphic>
          <a:graphicData uri="http://schemas.openxmlformats.org/drawingml/2006/table">
            <a:tbl>
              <a:tblPr firstRow="1" bandRow="1">
                <a:tableStyleId>{5C22544A-7EE6-4342-B048-85BDC9FD1C3A}</a:tableStyleId>
              </a:tblPr>
              <a:tblGrid>
                <a:gridCol w="711200">
                  <a:extLst>
                    <a:ext uri="{9D8B030D-6E8A-4147-A177-3AD203B41FA5}">
                      <a16:colId xmlns:a16="http://schemas.microsoft.com/office/drawing/2014/main" val="664071471"/>
                    </a:ext>
                  </a:extLst>
                </a:gridCol>
                <a:gridCol w="609600">
                  <a:extLst>
                    <a:ext uri="{9D8B030D-6E8A-4147-A177-3AD203B41FA5}">
                      <a16:colId xmlns:a16="http://schemas.microsoft.com/office/drawing/2014/main" val="3939402022"/>
                    </a:ext>
                  </a:extLst>
                </a:gridCol>
                <a:gridCol w="762000">
                  <a:extLst>
                    <a:ext uri="{9D8B030D-6E8A-4147-A177-3AD203B41FA5}">
                      <a16:colId xmlns:a16="http://schemas.microsoft.com/office/drawing/2014/main" val="3027852481"/>
                    </a:ext>
                  </a:extLst>
                </a:gridCol>
                <a:gridCol w="838200">
                  <a:extLst>
                    <a:ext uri="{9D8B030D-6E8A-4147-A177-3AD203B41FA5}">
                      <a16:colId xmlns:a16="http://schemas.microsoft.com/office/drawing/2014/main" val="3828212303"/>
                    </a:ext>
                  </a:extLst>
                </a:gridCol>
                <a:gridCol w="1193800">
                  <a:extLst>
                    <a:ext uri="{9D8B030D-6E8A-4147-A177-3AD203B41FA5}">
                      <a16:colId xmlns:a16="http://schemas.microsoft.com/office/drawing/2014/main" val="3915103091"/>
                    </a:ext>
                  </a:extLst>
                </a:gridCol>
              </a:tblGrid>
              <a:tr h="737527">
                <a:tc>
                  <a:txBody>
                    <a:bodyPr/>
                    <a:lstStyle/>
                    <a:p>
                      <a:pPr rtl="0">
                        <a:buNone/>
                      </a:pPr>
                      <a:r>
                        <a:rPr lang="en-US" sz="1050" b="1" dirty="0">
                          <a:solidFill>
                            <a:srgbClr val="1F1F1F"/>
                          </a:solidFill>
                          <a:effectLst/>
                          <a:latin typeface="+mn-lt"/>
                        </a:rPr>
                        <a:t>Current State (s)</a:t>
                      </a:r>
                      <a:endParaRPr lang="en-US" sz="1050" dirty="0">
                        <a:solidFill>
                          <a:srgbClr val="1F1F1F"/>
                        </a:solidFill>
                        <a:effectLst/>
                        <a:latin typeface="+mn-lt"/>
                      </a:endParaRPr>
                    </a:p>
                  </a:txBody>
                  <a:tcPr marL="76200" marR="76200" marT="50800" marB="50800" anchor="ctr"/>
                </a:tc>
                <a:tc>
                  <a:txBody>
                    <a:bodyPr/>
                    <a:lstStyle/>
                    <a:p>
                      <a:pPr rtl="0">
                        <a:buNone/>
                      </a:pPr>
                      <a:r>
                        <a:rPr lang="en-US" sz="1050" b="1" dirty="0">
                          <a:solidFill>
                            <a:srgbClr val="1F1F1F"/>
                          </a:solidFill>
                          <a:effectLst/>
                          <a:latin typeface="+mn-lt"/>
                        </a:rPr>
                        <a:t>Action (a)</a:t>
                      </a:r>
                      <a:endParaRPr lang="en-US" sz="1050" dirty="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Next State (s′)</a:t>
                      </a: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Probability P(s′∣s,a)</a:t>
                      </a:r>
                      <a:endParaRPr lang="en-US" sz="1050">
                        <a:solidFill>
                          <a:srgbClr val="1F1F1F"/>
                        </a:solidFill>
                        <a:effectLst/>
                        <a:latin typeface="+mn-lt"/>
                      </a:endParaRPr>
                    </a:p>
                  </a:txBody>
                  <a:tcPr marL="76200" marR="76200" marT="50800" marB="50800" anchor="ctr"/>
                </a:tc>
                <a:tc>
                  <a:txBody>
                    <a:bodyPr/>
                    <a:lstStyle/>
                    <a:p>
                      <a:pPr rtl="0">
                        <a:buNone/>
                      </a:pPr>
                      <a:r>
                        <a:rPr lang="pt-BR" sz="1050" b="1">
                          <a:solidFill>
                            <a:srgbClr val="1F1F1F"/>
                          </a:solidFill>
                          <a:effectLst/>
                          <a:latin typeface="+mn-lt"/>
                        </a:rPr>
                        <a:t>Reward R(s,a,s′)</a:t>
                      </a:r>
                      <a:endParaRPr lang="pt-BR" sz="1050">
                        <a:solidFill>
                          <a:srgbClr val="1F1F1F"/>
                        </a:solidFill>
                        <a:effectLst/>
                        <a:latin typeface="+mn-lt"/>
                      </a:endParaRPr>
                    </a:p>
                  </a:txBody>
                  <a:tcPr marL="76200" marR="76200" marT="50800" marB="50800" anchor="ctr"/>
                </a:tc>
                <a:extLst>
                  <a:ext uri="{0D108BD9-81ED-4DB2-BD59-A6C34878D82A}">
                    <a16:rowId xmlns:a16="http://schemas.microsoft.com/office/drawing/2014/main" val="1130800023"/>
                  </a:ext>
                </a:extLst>
              </a:tr>
              <a:tr h="578403">
                <a:tc>
                  <a:txBody>
                    <a:bodyPr/>
                    <a:lstStyle/>
                    <a:p>
                      <a:pPr rtl="0">
                        <a:buNone/>
                      </a:pPr>
                      <a:r>
                        <a:rPr lang="en-US" sz="1050" b="1" dirty="0">
                          <a:solidFill>
                            <a:srgbClr val="1F1F1F"/>
                          </a:solidFill>
                          <a:effectLst/>
                          <a:latin typeface="+mn-lt"/>
                        </a:rPr>
                        <a:t>Empty</a:t>
                      </a:r>
                      <a:endParaRPr lang="en-US" sz="1050" dirty="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Not-to-fish</a:t>
                      </a:r>
                    </a:p>
                  </a:txBody>
                  <a:tcPr marL="76200" marR="76200" marT="50800" marB="50800" anchor="ctr"/>
                </a:tc>
                <a:tc>
                  <a:txBody>
                    <a:bodyPr/>
                    <a:lstStyle/>
                    <a:p>
                      <a:pPr rtl="0">
                        <a:buNone/>
                      </a:pPr>
                      <a:r>
                        <a:rPr lang="en-US" sz="1050" b="1">
                          <a:solidFill>
                            <a:srgbClr val="1F1F1F"/>
                          </a:solidFill>
                          <a:effectLst/>
                          <a:latin typeface="+mn-lt"/>
                        </a:rPr>
                        <a:t>Low</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$0.9$</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3393132932"/>
                  </a:ext>
                </a:extLst>
              </a:tr>
              <a:tr h="419279">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Empty</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$0.1$</a:t>
                      </a:r>
                    </a:p>
                  </a:txBody>
                  <a:tcPr marL="76200" marR="76200" marT="50800" marB="50800" anchor="ctr"/>
                </a:tc>
                <a:tc>
                  <a:txBody>
                    <a:bodyPr/>
                    <a:lstStyle/>
                    <a:p>
                      <a:pPr rtl="0">
                        <a:buNone/>
                      </a:pPr>
                      <a:r>
                        <a:rPr lang="en-US" sz="1050" dirty="0">
                          <a:solidFill>
                            <a:srgbClr val="1F1F1F"/>
                          </a:solidFill>
                          <a:effectLst/>
                          <a:latin typeface="+mn-lt"/>
                        </a:rPr>
                        <a:t>$0$</a:t>
                      </a:r>
                    </a:p>
                  </a:txBody>
                  <a:tcPr marL="76200" marR="76200" marT="50800" marB="50800" anchor="ctr"/>
                </a:tc>
                <a:extLst>
                  <a:ext uri="{0D108BD9-81ED-4DB2-BD59-A6C34878D82A}">
                    <a16:rowId xmlns:a16="http://schemas.microsoft.com/office/drawing/2014/main" val="4002176124"/>
                  </a:ext>
                </a:extLst>
              </a:tr>
              <a:tr h="419279">
                <a:tc>
                  <a:txBody>
                    <a:bodyPr/>
                    <a:lstStyle/>
                    <a:p>
                      <a:pPr rtl="0">
                        <a:buNone/>
                      </a:pPr>
                      <a:r>
                        <a:rPr lang="en-US" sz="1050" b="1">
                          <a:solidFill>
                            <a:srgbClr val="1F1F1F"/>
                          </a:solidFill>
                          <a:effectLst/>
                          <a:latin typeface="+mn-lt"/>
                        </a:rPr>
                        <a:t>Low</a:t>
                      </a:r>
                      <a:endParaRPr lang="en-US" sz="1050">
                        <a:solidFill>
                          <a:srgbClr val="1F1F1F"/>
                        </a:solidFill>
                        <a:effectLst/>
                        <a:latin typeface="+mn-lt"/>
                      </a:endParaRPr>
                    </a:p>
                  </a:txBody>
                  <a:tcPr marL="76200" marR="76200" marT="50800" marB="50800" anchor="ctr"/>
                </a:tc>
                <a:tc>
                  <a:txBody>
                    <a:bodyPr/>
                    <a:lstStyle/>
                    <a:p>
                      <a:pPr rtl="0">
                        <a:buNone/>
                      </a:pPr>
                      <a:r>
                        <a:rPr lang="en-US" sz="1050" dirty="0">
                          <a:solidFill>
                            <a:srgbClr val="1F1F1F"/>
                          </a:solidFill>
                          <a:effectLst/>
                          <a:latin typeface="+mn-lt"/>
                        </a:rPr>
                        <a:t>Fish</a:t>
                      </a:r>
                    </a:p>
                  </a:txBody>
                  <a:tcPr marL="76200" marR="76200" marT="50800" marB="50800" anchor="ctr"/>
                </a:tc>
                <a:tc>
                  <a:txBody>
                    <a:bodyPr/>
                    <a:lstStyle/>
                    <a:p>
                      <a:pPr rtl="0">
                        <a:buNone/>
                      </a:pPr>
                      <a:r>
                        <a:rPr lang="en-US" sz="1050" b="1">
                          <a:solidFill>
                            <a:srgbClr val="1F1F1F"/>
                          </a:solidFill>
                          <a:effectLst/>
                          <a:latin typeface="+mn-lt"/>
                        </a:rPr>
                        <a:t>Empty</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$0.8$</a:t>
                      </a:r>
                    </a:p>
                  </a:txBody>
                  <a:tcPr marL="76200" marR="76200" marT="50800" marB="50800" anchor="ctr"/>
                </a:tc>
                <a:tc>
                  <a:txBody>
                    <a:bodyPr/>
                    <a:lstStyle/>
                    <a:p>
                      <a:pPr rtl="0">
                        <a:buNone/>
                      </a:pPr>
                      <a:r>
                        <a:rPr lang="en-US" sz="1050">
                          <a:solidFill>
                            <a:srgbClr val="1F1F1F"/>
                          </a:solidFill>
                          <a:effectLst/>
                          <a:latin typeface="+mn-lt"/>
                        </a:rPr>
                        <a:t>$-\$200K$</a:t>
                      </a:r>
                    </a:p>
                  </a:txBody>
                  <a:tcPr marL="76200" marR="76200" marT="50800" marB="50800" anchor="ctr"/>
                </a:tc>
                <a:extLst>
                  <a:ext uri="{0D108BD9-81ED-4DB2-BD59-A6C34878D82A}">
                    <a16:rowId xmlns:a16="http://schemas.microsoft.com/office/drawing/2014/main" val="2805683923"/>
                  </a:ext>
                </a:extLst>
              </a:tr>
              <a:tr h="260155">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dirty="0">
                          <a:solidFill>
                            <a:srgbClr val="1F1F1F"/>
                          </a:solidFill>
                          <a:effectLst/>
                          <a:latin typeface="+mn-lt"/>
                        </a:rPr>
                        <a:t>Low</a:t>
                      </a:r>
                      <a:endParaRPr lang="en-US" sz="1050" dirty="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$0.2$</a:t>
                      </a:r>
                    </a:p>
                  </a:txBody>
                  <a:tcPr marL="76200" marR="76200" marT="50800" marB="50800" anchor="ctr"/>
                </a:tc>
                <a:tc>
                  <a:txBody>
                    <a:bodyPr/>
                    <a:lstStyle/>
                    <a:p>
                      <a:pPr rtl="0">
                        <a:buNone/>
                      </a:pPr>
                      <a:r>
                        <a:rPr lang="en-US" sz="1050">
                          <a:solidFill>
                            <a:srgbClr val="1F1F1F"/>
                          </a:solidFill>
                          <a:effectLst/>
                          <a:latin typeface="+mn-lt"/>
                        </a:rPr>
                        <a:t>$+\$5K$</a:t>
                      </a:r>
                    </a:p>
                  </a:txBody>
                  <a:tcPr marL="76200" marR="76200" marT="50800" marB="50800" anchor="ctr"/>
                </a:tc>
                <a:extLst>
                  <a:ext uri="{0D108BD9-81ED-4DB2-BD59-A6C34878D82A}">
                    <a16:rowId xmlns:a16="http://schemas.microsoft.com/office/drawing/2014/main" val="3829596289"/>
                  </a:ext>
                </a:extLst>
              </a:tr>
              <a:tr h="578403">
                <a:tc>
                  <a:txBody>
                    <a:bodyPr/>
                    <a:lstStyle/>
                    <a:p>
                      <a:pPr rtl="0">
                        <a:buNone/>
                      </a:pPr>
                      <a:r>
                        <a:rPr lang="en-US" sz="1050" b="1">
                          <a:solidFill>
                            <a:srgbClr val="1F1F1F"/>
                          </a:solidFill>
                          <a:effectLst/>
                          <a:latin typeface="+mn-lt"/>
                        </a:rPr>
                        <a:t>Low</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Not-to-fish</a:t>
                      </a:r>
                    </a:p>
                  </a:txBody>
                  <a:tcPr marL="76200" marR="76200" marT="50800" marB="50800" anchor="ctr"/>
                </a:tc>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$0.8$</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3238389651"/>
                  </a:ext>
                </a:extLst>
              </a:tr>
              <a:tr h="260155">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Low</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$0.2$</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4268197768"/>
                  </a:ext>
                </a:extLst>
              </a:tr>
              <a:tr h="419279">
                <a:tc>
                  <a:txBody>
                    <a:bodyPr/>
                    <a:lstStyle/>
                    <a:p>
                      <a:pPr rtl="0">
                        <a:buNone/>
                      </a:pPr>
                      <a:r>
                        <a:rPr lang="en-US" sz="1050" b="1" dirty="0">
                          <a:solidFill>
                            <a:srgbClr val="1F1F1F"/>
                          </a:solidFill>
                          <a:effectLst/>
                          <a:latin typeface="+mn-lt"/>
                        </a:rPr>
                        <a:t>Medium</a:t>
                      </a:r>
                      <a:endParaRPr lang="en-US" sz="1050" dirty="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Fish</a:t>
                      </a:r>
                    </a:p>
                  </a:txBody>
                  <a:tcPr marL="76200" marR="76200" marT="50800" marB="50800" anchor="ctr"/>
                </a:tc>
                <a:tc>
                  <a:txBody>
                    <a:bodyPr/>
                    <a:lstStyle/>
                    <a:p>
                      <a:pPr rtl="0">
                        <a:buNone/>
                      </a:pPr>
                      <a:r>
                        <a:rPr lang="en-US" sz="1050" b="1" dirty="0">
                          <a:solidFill>
                            <a:srgbClr val="1F1F1F"/>
                          </a:solidFill>
                          <a:effectLst/>
                          <a:latin typeface="+mn-lt"/>
                        </a:rPr>
                        <a:t>Low</a:t>
                      </a:r>
                      <a:endParaRPr lang="en-US" sz="1050" dirty="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$0.7$</a:t>
                      </a:r>
                    </a:p>
                  </a:txBody>
                  <a:tcPr marL="76200" marR="76200" marT="50800" marB="50800" anchor="ctr"/>
                </a:tc>
                <a:tc>
                  <a:txBody>
                    <a:bodyPr/>
                    <a:lstStyle/>
                    <a:p>
                      <a:pPr rtl="0">
                        <a:buNone/>
                      </a:pPr>
                      <a:r>
                        <a:rPr lang="en-US" sz="1050">
                          <a:solidFill>
                            <a:srgbClr val="1F1F1F"/>
                          </a:solidFill>
                          <a:effectLst/>
                          <a:latin typeface="+mn-lt"/>
                        </a:rPr>
                        <a:t>$+\$50K$</a:t>
                      </a:r>
                    </a:p>
                  </a:txBody>
                  <a:tcPr marL="76200" marR="76200" marT="50800" marB="50800" anchor="ctr"/>
                </a:tc>
                <a:extLst>
                  <a:ext uri="{0D108BD9-81ED-4DB2-BD59-A6C34878D82A}">
                    <a16:rowId xmlns:a16="http://schemas.microsoft.com/office/drawing/2014/main" val="1604897139"/>
                  </a:ext>
                </a:extLst>
              </a:tr>
              <a:tr h="419279">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$0.3$</a:t>
                      </a:r>
                    </a:p>
                  </a:txBody>
                  <a:tcPr marL="76200" marR="76200" marT="50800" marB="50800" anchor="ctr"/>
                </a:tc>
                <a:tc>
                  <a:txBody>
                    <a:bodyPr/>
                    <a:lstStyle/>
                    <a:p>
                      <a:pPr rtl="0">
                        <a:buNone/>
                      </a:pPr>
                      <a:r>
                        <a:rPr lang="en-US" sz="1050">
                          <a:solidFill>
                            <a:srgbClr val="1F1F1F"/>
                          </a:solidFill>
                          <a:effectLst/>
                          <a:latin typeface="+mn-lt"/>
                        </a:rPr>
                        <a:t>$+\$50K$</a:t>
                      </a:r>
                    </a:p>
                  </a:txBody>
                  <a:tcPr marL="76200" marR="76200" marT="50800" marB="50800" anchor="ctr"/>
                </a:tc>
                <a:extLst>
                  <a:ext uri="{0D108BD9-81ED-4DB2-BD59-A6C34878D82A}">
                    <a16:rowId xmlns:a16="http://schemas.microsoft.com/office/drawing/2014/main" val="2582783807"/>
                  </a:ext>
                </a:extLst>
              </a:tr>
              <a:tr h="578403">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Not-to-fish</a:t>
                      </a:r>
                    </a:p>
                  </a:txBody>
                  <a:tcPr marL="76200" marR="76200" marT="50800" marB="50800" anchor="ctr"/>
                </a:tc>
                <a:tc>
                  <a:txBody>
                    <a:bodyPr/>
                    <a:lstStyle/>
                    <a:p>
                      <a:pPr rtl="0">
                        <a:buNone/>
                      </a:pPr>
                      <a:r>
                        <a:rPr lang="en-US" sz="1050" b="1">
                          <a:solidFill>
                            <a:srgbClr val="1F1F1F"/>
                          </a:solidFill>
                          <a:effectLst/>
                          <a:latin typeface="+mn-lt"/>
                        </a:rPr>
                        <a:t>High</a:t>
                      </a:r>
                      <a:endParaRPr lang="en-US" sz="1050">
                        <a:solidFill>
                          <a:srgbClr val="1F1F1F"/>
                        </a:solidFill>
                        <a:effectLst/>
                        <a:latin typeface="+mn-lt"/>
                      </a:endParaRPr>
                    </a:p>
                  </a:txBody>
                  <a:tcPr marL="76200" marR="76200" marT="50800" marB="50800" anchor="ctr"/>
                </a:tc>
                <a:tc>
                  <a:txBody>
                    <a:bodyPr/>
                    <a:lstStyle/>
                    <a:p>
                      <a:pPr rtl="0">
                        <a:buNone/>
                      </a:pPr>
                      <a:r>
                        <a:rPr lang="en-US" sz="1050" dirty="0">
                          <a:solidFill>
                            <a:srgbClr val="1F1F1F"/>
                          </a:solidFill>
                          <a:effectLst/>
                          <a:latin typeface="+mn-lt"/>
                        </a:rPr>
                        <a:t>$0.8$</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4064454624"/>
                  </a:ext>
                </a:extLst>
              </a:tr>
              <a:tr h="419279">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dirty="0">
                          <a:solidFill>
                            <a:srgbClr val="1F1F1F"/>
                          </a:solidFill>
                          <a:effectLst/>
                          <a:latin typeface="+mn-lt"/>
                        </a:rPr>
                        <a:t>$0.2$</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3760598238"/>
                  </a:ext>
                </a:extLst>
              </a:tr>
              <a:tr h="419279">
                <a:tc>
                  <a:txBody>
                    <a:bodyPr/>
                    <a:lstStyle/>
                    <a:p>
                      <a:pPr rtl="0">
                        <a:buNone/>
                      </a:pPr>
                      <a:r>
                        <a:rPr lang="en-US" sz="1050" b="1">
                          <a:solidFill>
                            <a:srgbClr val="1F1F1F"/>
                          </a:solidFill>
                          <a:effectLst/>
                          <a:latin typeface="+mn-lt"/>
                        </a:rPr>
                        <a:t>High</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Fish</a:t>
                      </a:r>
                    </a:p>
                  </a:txBody>
                  <a:tcPr marL="76200" marR="76200" marT="50800" marB="50800" anchor="ctr"/>
                </a:tc>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$0.7$</a:t>
                      </a:r>
                    </a:p>
                  </a:txBody>
                  <a:tcPr marL="76200" marR="76200" marT="50800" marB="50800" anchor="ctr"/>
                </a:tc>
                <a:tc>
                  <a:txBody>
                    <a:bodyPr/>
                    <a:lstStyle/>
                    <a:p>
                      <a:pPr rtl="0">
                        <a:buNone/>
                      </a:pPr>
                      <a:r>
                        <a:rPr lang="en-US" sz="1050">
                          <a:solidFill>
                            <a:srgbClr val="1F1F1F"/>
                          </a:solidFill>
                          <a:effectLst/>
                          <a:latin typeface="+mn-lt"/>
                        </a:rPr>
                        <a:t>$+\$100K$</a:t>
                      </a:r>
                    </a:p>
                  </a:txBody>
                  <a:tcPr marL="76200" marR="76200" marT="50800" marB="50800" anchor="ctr"/>
                </a:tc>
                <a:extLst>
                  <a:ext uri="{0D108BD9-81ED-4DB2-BD59-A6C34878D82A}">
                    <a16:rowId xmlns:a16="http://schemas.microsoft.com/office/drawing/2014/main" val="758893019"/>
                  </a:ext>
                </a:extLst>
              </a:tr>
              <a:tr h="260155">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High</a:t>
                      </a:r>
                      <a:endParaRPr lang="en-US" sz="1050">
                        <a:solidFill>
                          <a:srgbClr val="1F1F1F"/>
                        </a:solidFill>
                        <a:effectLst/>
                        <a:latin typeface="+mn-lt"/>
                      </a:endParaRPr>
                    </a:p>
                  </a:txBody>
                  <a:tcPr marL="76200" marR="76200" marT="50800" marB="50800" anchor="ctr"/>
                </a:tc>
                <a:tc>
                  <a:txBody>
                    <a:bodyPr/>
                    <a:lstStyle/>
                    <a:p>
                      <a:pPr rtl="0">
                        <a:buNone/>
                      </a:pPr>
                      <a:r>
                        <a:rPr lang="en-US" sz="1050" dirty="0">
                          <a:solidFill>
                            <a:srgbClr val="1F1F1F"/>
                          </a:solidFill>
                          <a:effectLst/>
                          <a:latin typeface="+mn-lt"/>
                        </a:rPr>
                        <a:t>$0.3$</a:t>
                      </a:r>
                    </a:p>
                  </a:txBody>
                  <a:tcPr marL="76200" marR="76200" marT="50800" marB="50800" anchor="ctr"/>
                </a:tc>
                <a:tc>
                  <a:txBody>
                    <a:bodyPr/>
                    <a:lstStyle/>
                    <a:p>
                      <a:pPr rtl="0">
                        <a:buNone/>
                      </a:pPr>
                      <a:r>
                        <a:rPr lang="en-US" sz="1050">
                          <a:solidFill>
                            <a:srgbClr val="1F1F1F"/>
                          </a:solidFill>
                          <a:effectLst/>
                          <a:latin typeface="+mn-lt"/>
                        </a:rPr>
                        <a:t>$+\$100K$</a:t>
                      </a:r>
                    </a:p>
                  </a:txBody>
                  <a:tcPr marL="76200" marR="76200" marT="50800" marB="50800" anchor="ctr"/>
                </a:tc>
                <a:extLst>
                  <a:ext uri="{0D108BD9-81ED-4DB2-BD59-A6C34878D82A}">
                    <a16:rowId xmlns:a16="http://schemas.microsoft.com/office/drawing/2014/main" val="1587261731"/>
                  </a:ext>
                </a:extLst>
              </a:tr>
              <a:tr h="578403">
                <a:tc>
                  <a:txBody>
                    <a:bodyPr/>
                    <a:lstStyle/>
                    <a:p>
                      <a:pPr rtl="0">
                        <a:buNone/>
                      </a:pPr>
                      <a:r>
                        <a:rPr lang="en-US" sz="1050" b="1">
                          <a:solidFill>
                            <a:srgbClr val="1F1F1F"/>
                          </a:solidFill>
                          <a:effectLst/>
                          <a:latin typeface="+mn-lt"/>
                        </a:rPr>
                        <a:t>High</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Not-to-fish</a:t>
                      </a:r>
                    </a:p>
                  </a:txBody>
                  <a:tcPr marL="76200" marR="76200" marT="50800" marB="50800" anchor="ctr"/>
                </a:tc>
                <a:tc>
                  <a:txBody>
                    <a:bodyPr/>
                    <a:lstStyle/>
                    <a:p>
                      <a:pPr rtl="0">
                        <a:buNone/>
                      </a:pPr>
                      <a:r>
                        <a:rPr lang="en-US" sz="1050" b="1">
                          <a:solidFill>
                            <a:srgbClr val="1F1F1F"/>
                          </a:solidFill>
                          <a:effectLst/>
                          <a:latin typeface="+mn-lt"/>
                        </a:rPr>
                        <a:t>High</a:t>
                      </a:r>
                      <a:endParaRPr lang="en-US" sz="1050">
                        <a:solidFill>
                          <a:srgbClr val="1F1F1F"/>
                        </a:solidFill>
                        <a:effectLst/>
                        <a:latin typeface="+mn-lt"/>
                      </a:endParaRPr>
                    </a:p>
                  </a:txBody>
                  <a:tcPr marL="76200" marR="76200" marT="50800" marB="50800" anchor="ctr"/>
                </a:tc>
                <a:tc>
                  <a:txBody>
                    <a:bodyPr/>
                    <a:lstStyle/>
                    <a:p>
                      <a:pPr rtl="0">
                        <a:buNone/>
                      </a:pPr>
                      <a:r>
                        <a:rPr lang="en-US" sz="1050" dirty="0">
                          <a:solidFill>
                            <a:srgbClr val="1F1F1F"/>
                          </a:solidFill>
                          <a:effectLst/>
                          <a:latin typeface="+mn-lt"/>
                        </a:rPr>
                        <a:t>$0.9$</a:t>
                      </a:r>
                    </a:p>
                  </a:txBody>
                  <a:tcPr marL="76200" marR="76200" marT="50800" marB="50800" anchor="ctr"/>
                </a:tc>
                <a:tc>
                  <a:txBody>
                    <a:bodyPr/>
                    <a:lstStyle/>
                    <a:p>
                      <a:pPr rtl="0">
                        <a:buNone/>
                      </a:pPr>
                      <a:r>
                        <a:rPr lang="en-US" sz="1050">
                          <a:solidFill>
                            <a:srgbClr val="1F1F1F"/>
                          </a:solidFill>
                          <a:effectLst/>
                          <a:latin typeface="+mn-lt"/>
                        </a:rPr>
                        <a:t>$0$</a:t>
                      </a:r>
                    </a:p>
                  </a:txBody>
                  <a:tcPr marL="76200" marR="76200" marT="50800" marB="50800" anchor="ctr"/>
                </a:tc>
                <a:extLst>
                  <a:ext uri="{0D108BD9-81ED-4DB2-BD59-A6C34878D82A}">
                    <a16:rowId xmlns:a16="http://schemas.microsoft.com/office/drawing/2014/main" val="3095592345"/>
                  </a:ext>
                </a:extLst>
              </a:tr>
              <a:tr h="419279">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endParaRPr lang="en-US" sz="1050">
                        <a:solidFill>
                          <a:srgbClr val="1F1F1F"/>
                        </a:solidFill>
                        <a:effectLst/>
                        <a:latin typeface="+mn-lt"/>
                      </a:endParaRPr>
                    </a:p>
                  </a:txBody>
                  <a:tcPr marL="76200" marR="76200" marT="50800" marB="50800" anchor="ctr"/>
                </a:tc>
                <a:tc>
                  <a:txBody>
                    <a:bodyPr/>
                    <a:lstStyle/>
                    <a:p>
                      <a:pPr rtl="0">
                        <a:buNone/>
                      </a:pPr>
                      <a:r>
                        <a:rPr lang="en-US" sz="1050" b="1">
                          <a:solidFill>
                            <a:srgbClr val="1F1F1F"/>
                          </a:solidFill>
                          <a:effectLst/>
                          <a:latin typeface="+mn-lt"/>
                        </a:rPr>
                        <a:t>Medium</a:t>
                      </a:r>
                      <a:endParaRPr lang="en-US" sz="1050">
                        <a:solidFill>
                          <a:srgbClr val="1F1F1F"/>
                        </a:solidFill>
                        <a:effectLst/>
                        <a:latin typeface="+mn-lt"/>
                      </a:endParaRPr>
                    </a:p>
                  </a:txBody>
                  <a:tcPr marL="76200" marR="76200" marT="50800" marB="50800" anchor="ctr"/>
                </a:tc>
                <a:tc>
                  <a:txBody>
                    <a:bodyPr/>
                    <a:lstStyle/>
                    <a:p>
                      <a:pPr rtl="0">
                        <a:buNone/>
                      </a:pPr>
                      <a:r>
                        <a:rPr lang="en-US" sz="1050">
                          <a:solidFill>
                            <a:srgbClr val="1F1F1F"/>
                          </a:solidFill>
                          <a:effectLst/>
                          <a:latin typeface="+mn-lt"/>
                        </a:rPr>
                        <a:t>$0.1$</a:t>
                      </a:r>
                    </a:p>
                  </a:txBody>
                  <a:tcPr marL="76200" marR="76200" marT="50800" marB="50800" anchor="ctr"/>
                </a:tc>
                <a:tc>
                  <a:txBody>
                    <a:bodyPr/>
                    <a:lstStyle/>
                    <a:p>
                      <a:pPr rtl="0">
                        <a:buNone/>
                      </a:pPr>
                      <a:r>
                        <a:rPr lang="en-US" sz="1050" dirty="0">
                          <a:solidFill>
                            <a:srgbClr val="1F1F1F"/>
                          </a:solidFill>
                          <a:effectLst/>
                          <a:latin typeface="+mn-lt"/>
                        </a:rPr>
                        <a:t>$0$</a:t>
                      </a:r>
                    </a:p>
                  </a:txBody>
                  <a:tcPr marL="76200" marR="76200" marT="50800" marB="50800" anchor="ctr"/>
                </a:tc>
                <a:extLst>
                  <a:ext uri="{0D108BD9-81ED-4DB2-BD59-A6C34878D82A}">
                    <a16:rowId xmlns:a16="http://schemas.microsoft.com/office/drawing/2014/main" val="13352284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276F-D2AF-AE77-CC4D-19725DAA5D0D}"/>
              </a:ext>
            </a:extLst>
          </p:cNvPr>
          <p:cNvSpPr>
            <a:spLocks noGrp="1"/>
          </p:cNvSpPr>
          <p:nvPr>
            <p:ph type="title"/>
          </p:nvPr>
        </p:nvSpPr>
        <p:spPr/>
        <p:txBody>
          <a:bodyPr/>
          <a:lstStyle/>
          <a:p>
            <a:r>
              <a:rPr lang="en-US" dirty="0"/>
              <a:t>Transition Probabilities ?</a:t>
            </a:r>
          </a:p>
        </p:txBody>
      </p:sp>
      <p:sp>
        <p:nvSpPr>
          <p:cNvPr id="3" name="Text Placeholder 2">
            <a:extLst>
              <a:ext uri="{FF2B5EF4-FFF2-40B4-BE49-F238E27FC236}">
                <a16:creationId xmlns:a16="http://schemas.microsoft.com/office/drawing/2014/main" id="{DCDF505C-AEB3-EFA7-01AA-6BC4717E54E4}"/>
              </a:ext>
            </a:extLst>
          </p:cNvPr>
          <p:cNvSpPr>
            <a:spLocks noGrp="1"/>
          </p:cNvSpPr>
          <p:nvPr>
            <p:ph type="body" idx="1"/>
          </p:nvPr>
        </p:nvSpPr>
        <p:spPr>
          <a:xfrm>
            <a:off x="304801" y="1793493"/>
            <a:ext cx="10847704" cy="4739759"/>
          </a:xfrm>
        </p:spPr>
        <p:txBody>
          <a:bodyPr/>
          <a:lstStyle/>
          <a:p>
            <a:r>
              <a:rPr lang="en-US" dirty="0"/>
              <a:t>Either given or Programmer's choice based on the problem statement of finding the optimal policies.</a:t>
            </a:r>
          </a:p>
          <a:p>
            <a:endParaRPr lang="en-US" dirty="0"/>
          </a:p>
          <a:p>
            <a:r>
              <a:rPr lang="en-US" dirty="0"/>
              <a:t>Based on the above problem imagine you are trying to achieve a long-term stable ecosystem balancing current fishing situation. </a:t>
            </a:r>
          </a:p>
          <a:p>
            <a:endParaRPr lang="en-US" dirty="0"/>
          </a:p>
          <a:p>
            <a:r>
              <a:rPr lang="en-US" dirty="0"/>
              <a:t>How to find the optimal policy [policy</a:t>
            </a:r>
            <a:r>
              <a:rPr lang="en-US" spc="-40" dirty="0"/>
              <a:t> </a:t>
            </a:r>
            <a:r>
              <a:rPr lang="en-US" dirty="0"/>
              <a:t>that</a:t>
            </a:r>
            <a:r>
              <a:rPr lang="en-US" spc="-70" dirty="0"/>
              <a:t> </a:t>
            </a:r>
            <a:r>
              <a:rPr lang="en-US" dirty="0"/>
              <a:t>maximizes</a:t>
            </a:r>
            <a:r>
              <a:rPr lang="en-US" spc="-70" dirty="0"/>
              <a:t> </a:t>
            </a:r>
            <a:r>
              <a:rPr lang="en-US" dirty="0"/>
              <a:t>the</a:t>
            </a:r>
            <a:r>
              <a:rPr lang="en-US" spc="-55" dirty="0"/>
              <a:t> </a:t>
            </a:r>
            <a:r>
              <a:rPr lang="en-US" dirty="0"/>
              <a:t>expected</a:t>
            </a:r>
            <a:r>
              <a:rPr lang="en-US" spc="-55" dirty="0"/>
              <a:t> </a:t>
            </a:r>
            <a:r>
              <a:rPr lang="en-US" dirty="0"/>
              <a:t>sum</a:t>
            </a:r>
            <a:r>
              <a:rPr lang="en-US" spc="-45" dirty="0"/>
              <a:t> </a:t>
            </a:r>
            <a:r>
              <a:rPr lang="en-US" dirty="0"/>
              <a:t>of</a:t>
            </a:r>
            <a:r>
              <a:rPr lang="en-US" spc="-65" dirty="0"/>
              <a:t> </a:t>
            </a:r>
            <a:r>
              <a:rPr lang="en-US" spc="-10" dirty="0"/>
              <a:t>rewards</a:t>
            </a:r>
            <a:r>
              <a:rPr lang="en-US" dirty="0"/>
              <a:t>] for that ?</a:t>
            </a:r>
          </a:p>
          <a:p>
            <a:endParaRPr lang="en-US" dirty="0"/>
          </a:p>
          <a:p>
            <a:endParaRPr lang="en-US" dirty="0"/>
          </a:p>
          <a:p>
            <a:endParaRPr lang="en-US" dirty="0"/>
          </a:p>
        </p:txBody>
      </p:sp>
    </p:spTree>
    <p:extLst>
      <p:ext uri="{BB962C8B-B14F-4D97-AF65-F5344CB8AC3E}">
        <p14:creationId xmlns:p14="http://schemas.microsoft.com/office/powerpoint/2010/main" val="952699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2BDF-CEB4-03E1-6745-8018D805389C}"/>
              </a:ext>
            </a:extLst>
          </p:cNvPr>
          <p:cNvSpPr>
            <a:spLocks noGrp="1"/>
          </p:cNvSpPr>
          <p:nvPr>
            <p:ph type="title"/>
          </p:nvPr>
        </p:nvSpPr>
        <p:spPr>
          <a:xfrm>
            <a:off x="447548" y="293370"/>
            <a:ext cx="11296903" cy="697230"/>
          </a:xfrm>
        </p:spPr>
        <p:txBody>
          <a:bodyPr/>
          <a:lstStyle/>
          <a:p>
            <a:r>
              <a:rPr lang="en-US" dirty="0"/>
              <a:t>Other Parameters</a:t>
            </a:r>
          </a:p>
        </p:txBody>
      </p:sp>
      <p:sp>
        <p:nvSpPr>
          <p:cNvPr id="3" name="Text Placeholder 2">
            <a:extLst>
              <a:ext uri="{FF2B5EF4-FFF2-40B4-BE49-F238E27FC236}">
                <a16:creationId xmlns:a16="http://schemas.microsoft.com/office/drawing/2014/main" id="{2ED7CDD1-2B76-CDB5-AE7A-4AD04EF2F948}"/>
              </a:ext>
            </a:extLst>
          </p:cNvPr>
          <p:cNvSpPr>
            <a:spLocks noGrp="1"/>
          </p:cNvSpPr>
          <p:nvPr>
            <p:ph type="body" idx="1"/>
          </p:nvPr>
        </p:nvSpPr>
        <p:spPr>
          <a:xfrm>
            <a:off x="457201" y="990601"/>
            <a:ext cx="10695304" cy="5029200"/>
          </a:xfrm>
        </p:spPr>
        <p:txBody>
          <a:bodyPr/>
          <a:lstStyle/>
          <a:p>
            <a:r>
              <a:rPr lang="en-US" dirty="0"/>
              <a:t>While designing the agent apart from the MDP tuple we need :</a:t>
            </a:r>
            <a:br>
              <a:rPr lang="en-US" dirty="0"/>
            </a:br>
            <a:endParaRPr lang="en-US" dirty="0"/>
          </a:p>
          <a:p>
            <a:pPr marL="514350" indent="-514350">
              <a:buAutoNum type="arabicParenR"/>
            </a:pPr>
            <a:r>
              <a:rPr lang="en-US" dirty="0"/>
              <a:t>To tell the AI that how much we care for future rewards along with the current reward to achieve based on the problem statement. This is the discount factor, denoted by Gamma. Value of Gamma is </a:t>
            </a:r>
            <a:r>
              <a:rPr lang="it-IT" dirty="0"/>
              <a:t> 0 to 1, if Gamma is 0 agent cares about only immediate rewards , if 1 understands future actions are critical. Gamma values for a typical problem ranges from 0.2-0.9. </a:t>
            </a:r>
            <a:br>
              <a:rPr lang="it-IT" dirty="0"/>
            </a:br>
            <a:endParaRPr lang="it-IT" dirty="0"/>
          </a:p>
          <a:p>
            <a:pPr marL="514350" indent="-514350">
              <a:buAutoNum type="arabicParenR"/>
            </a:pPr>
            <a:r>
              <a:rPr lang="it-IT" dirty="0"/>
              <a:t>Telling AI to stop iterating after </a:t>
            </a:r>
            <a:r>
              <a:rPr lang="en-US" dirty="0"/>
              <a:t>once the "value" of the states changes by less than </a:t>
            </a:r>
            <a:r>
              <a:rPr lang="it-IT" dirty="0"/>
              <a:t>the Bellman function value. Denoted by Epsilon – stopping criteria. </a:t>
            </a:r>
          </a:p>
          <a:p>
            <a:pPr marL="514350" indent="-514350">
              <a:buAutoNum type="arabicParenR"/>
            </a:pPr>
            <a:endParaRPr lang="it-IT" dirty="0"/>
          </a:p>
          <a:p>
            <a:pPr marL="514350" indent="-514350">
              <a:buAutoNum type="arabicParenR"/>
            </a:pPr>
            <a:endParaRPr lang="en-US" dirty="0"/>
          </a:p>
        </p:txBody>
      </p:sp>
    </p:spTree>
    <p:extLst>
      <p:ext uri="{BB962C8B-B14F-4D97-AF65-F5344CB8AC3E}">
        <p14:creationId xmlns:p14="http://schemas.microsoft.com/office/powerpoint/2010/main" val="1920206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1EE12-4202-CF86-AA7B-59CEFE79B0A9}"/>
              </a:ext>
            </a:extLst>
          </p:cNvPr>
          <p:cNvSpPr>
            <a:spLocks noGrp="1"/>
          </p:cNvSpPr>
          <p:nvPr>
            <p:ph type="title"/>
          </p:nvPr>
        </p:nvSpPr>
        <p:spPr/>
        <p:txBody>
          <a:bodyPr/>
          <a:lstStyle/>
          <a:p>
            <a:r>
              <a:rPr lang="en-US" dirty="0"/>
              <a:t>What is Bellman function – Value iteration?</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77ACB802-7AD0-6A14-B669-7A1FDB58BA8B}"/>
                  </a:ext>
                </a:extLst>
              </p:cNvPr>
              <p:cNvSpPr>
                <a:spLocks noGrp="1"/>
              </p:cNvSpPr>
              <p:nvPr>
                <p:ph type="body" idx="1"/>
              </p:nvPr>
            </p:nvSpPr>
            <p:spPr>
              <a:xfrm>
                <a:off x="685799" y="1676401"/>
                <a:ext cx="7391401" cy="4748416"/>
              </a:xfrm>
            </p:spPr>
            <p:txBody>
              <a:bodyPr/>
              <a:lstStyle/>
              <a:p>
                <a:r>
                  <a:rPr lang="en-US" sz="1600" dirty="0"/>
                  <a:t>In </a:t>
                </a:r>
                <a:r>
                  <a:rPr lang="en-US" sz="1600" b="1" dirty="0"/>
                  <a:t>value iteration</a:t>
                </a:r>
                <a:r>
                  <a:rPr lang="en-US" sz="1600" dirty="0"/>
                  <a:t>, the Bellman function represents the </a:t>
                </a:r>
                <a:r>
                  <a:rPr lang="en-US" sz="1600" b="1" dirty="0"/>
                  <a:t>optimal value function</a:t>
                </a:r>
                <a:r>
                  <a:rPr lang="en-US" sz="1600" dirty="0"/>
                  <a:t> </a:t>
                </a:r>
                <a14:m>
                  <m:oMath xmlns:m="http://schemas.openxmlformats.org/officeDocument/2006/math">
                    <m:sSup>
                      <m:sSupPr>
                        <m:ctrlPr>
                          <a:rPr lang="ar-AE" sz="1600"/>
                        </m:ctrlPr>
                      </m:sSupPr>
                      <m:e>
                        <m:r>
                          <a:rPr lang="ar-AE" sz="1600" i="1"/>
                          <m:t>𝑉</m:t>
                        </m:r>
                      </m:e>
                      <m:sup>
                        <m:r>
                          <a:rPr lang="ar-AE" sz="1600"/>
                          <m:t>∗</m:t>
                        </m:r>
                      </m:sup>
                    </m:sSup>
                    <m:d>
                      <m:dPr>
                        <m:ctrlPr>
                          <a:rPr lang="ar-AE" sz="1600" i="1"/>
                        </m:ctrlPr>
                      </m:dPr>
                      <m:e>
                        <m:r>
                          <a:rPr lang="ar-AE" sz="1600" i="1"/>
                          <m:t>𝑠</m:t>
                        </m:r>
                      </m:e>
                    </m:d>
                  </m:oMath>
                </a14:m>
                <a:r>
                  <a:rPr lang="ar-AE" sz="1600" dirty="0"/>
                  <a:t>, </a:t>
                </a:r>
                <a:r>
                  <a:rPr lang="en-US" sz="1600" dirty="0"/>
                  <a:t>defined as:</a:t>
                </a:r>
              </a:p>
              <a:p>
                <a14:m>
                  <m:oMathPara xmlns:m="http://schemas.openxmlformats.org/officeDocument/2006/math">
                    <m:oMathParaPr>
                      <m:jc m:val="centerGroup"/>
                    </m:oMathParaPr>
                    <m:oMath xmlns:m="http://schemas.openxmlformats.org/officeDocument/2006/math">
                      <m:sSup>
                        <m:sSupPr>
                          <m:ctrlPr>
                            <a:rPr lang="ar-AE" sz="1600"/>
                          </m:ctrlPr>
                        </m:sSupPr>
                        <m:e>
                          <m:r>
                            <a:rPr lang="ar-AE" sz="1600" i="1"/>
                            <m:t>𝑉</m:t>
                          </m:r>
                        </m:e>
                        <m:sup>
                          <m:r>
                            <a:rPr lang="ar-AE" sz="1600"/>
                            <m:t>∗</m:t>
                          </m:r>
                        </m:sup>
                      </m:sSup>
                      <m:d>
                        <m:dPr>
                          <m:ctrlPr>
                            <a:rPr lang="ar-AE" sz="1600" i="1"/>
                          </m:ctrlPr>
                        </m:dPr>
                        <m:e>
                          <m:r>
                            <a:rPr lang="ar-AE" sz="1600" i="1"/>
                            <m:t>𝑠</m:t>
                          </m:r>
                        </m:e>
                      </m:d>
                      <m:r>
                        <a:rPr lang="ar-AE" sz="1600"/>
                        <m:t>=</m:t>
                      </m:r>
                      <m:limLow>
                        <m:limLowPr>
                          <m:ctrlPr>
                            <a:rPr lang="ar-AE" sz="1600" i="1"/>
                          </m:ctrlPr>
                        </m:limLowPr>
                        <m:e>
                          <m:func>
                            <m:funcPr>
                              <m:ctrlPr>
                                <a:rPr lang="ar-AE" sz="1600" i="1"/>
                              </m:ctrlPr>
                            </m:funcPr>
                            <m:fName>
                              <m:r>
                                <m:rPr>
                                  <m:sty m:val="p"/>
                                </m:rPr>
                                <a:rPr lang="en-US" sz="1600"/>
                                <m:t>max</m:t>
                              </m:r>
                            </m:fName>
                            <m:e/>
                          </m:func>
                        </m:e>
                        <m:lim>
                          <m:r>
                            <a:rPr lang="ar-AE" sz="1600" i="1"/>
                            <m:t>𝑎</m:t>
                          </m:r>
                          <m:r>
                            <a:rPr lang="ar-AE" sz="1600"/>
                            <m:t>∈</m:t>
                          </m:r>
                          <m:r>
                            <a:rPr lang="ar-AE" sz="1600" i="1"/>
                            <m:t>𝐴</m:t>
                          </m:r>
                        </m:lim>
                      </m:limLow>
                      <m:d>
                        <m:dPr>
                          <m:begChr m:val="["/>
                          <m:endChr m:val="]"/>
                          <m:ctrlPr>
                            <a:rPr lang="ar-AE" sz="1600" i="1"/>
                          </m:ctrlPr>
                        </m:dPr>
                        <m:e>
                          <m:r>
                            <a:rPr lang="ar-AE" sz="1600" i="1"/>
                            <m:t>𝑅</m:t>
                          </m:r>
                          <m:d>
                            <m:dPr>
                              <m:sepChr m:val=","/>
                              <m:ctrlPr>
                                <a:rPr lang="ar-AE" sz="1600" i="1"/>
                              </m:ctrlPr>
                            </m:dPr>
                            <m:e>
                              <m:r>
                                <a:rPr lang="ar-AE" sz="1600" i="1"/>
                                <m:t>𝑠</m:t>
                              </m:r>
                            </m:e>
                            <m:e>
                              <m:r>
                                <a:rPr lang="ar-AE" sz="1600" i="1"/>
                                <m:t>𝑎</m:t>
                              </m:r>
                            </m:e>
                          </m:d>
                          <m:r>
                            <a:rPr lang="ar-AE" sz="1600"/>
                            <m:t>+</m:t>
                          </m:r>
                          <m:r>
                            <a:rPr lang="ar-AE" sz="1600" i="1"/>
                            <m:t>𝛾</m:t>
                          </m:r>
                          <m:nary>
                            <m:naryPr>
                              <m:chr m:val="∑"/>
                              <m:grow m:val="on"/>
                              <m:supHide m:val="on"/>
                              <m:ctrlPr>
                                <a:rPr lang="ar-AE" sz="1600" i="1"/>
                              </m:ctrlPr>
                            </m:naryPr>
                            <m:sub>
                              <m:sSup>
                                <m:sSupPr>
                                  <m:ctrlPr>
                                    <a:rPr lang="ar-AE" sz="1600" i="1"/>
                                  </m:ctrlPr>
                                </m:sSupPr>
                                <m:e>
                                  <m:r>
                                    <a:rPr lang="ar-AE" sz="1600" i="1"/>
                                    <m:t>𝑠</m:t>
                                  </m:r>
                                </m:e>
                                <m:sup>
                                  <m:r>
                                    <a:rPr lang="ar-AE" sz="1600"/>
                                    <m:t>′</m:t>
                                  </m:r>
                                </m:sup>
                              </m:sSup>
                            </m:sub>
                            <m:sup/>
                            <m:e>
                              <m:r>
                                <a:rPr lang="ar-AE" sz="1600" i="1"/>
                                <m:t>𝑃</m:t>
                              </m:r>
                            </m:e>
                          </m:nary>
                          <m:d>
                            <m:dPr>
                              <m:sepChr m:val=","/>
                              <m:ctrlPr>
                                <a:rPr lang="ar-AE" sz="1600" i="1"/>
                              </m:ctrlPr>
                            </m:dPr>
                            <m:e>
                              <m:sSup>
                                <m:sSupPr>
                                  <m:ctrlPr>
                                    <a:rPr lang="ar-AE" sz="1600" i="1"/>
                                  </m:ctrlPr>
                                </m:sSupPr>
                                <m:e>
                                  <m:r>
                                    <a:rPr lang="ar-AE" sz="1600" i="1"/>
                                    <m:t>𝑠</m:t>
                                  </m:r>
                                </m:e>
                                <m:sup>
                                  <m:r>
                                    <a:rPr lang="ar-AE" sz="1600"/>
                                    <m:t>′</m:t>
                                  </m:r>
                                </m:sup>
                              </m:sSup>
                            </m:e>
                            <m:e>
                              <m:r>
                                <a:rPr lang="ar-AE" sz="1600"/>
                                <m:t>∣</m:t>
                              </m:r>
                              <m:r>
                                <a:rPr lang="ar-AE" sz="1600" i="1"/>
                                <m:t>𝑠𝑎</m:t>
                              </m:r>
                            </m:e>
                          </m:d>
                          <m:r>
                            <m:rPr>
                              <m:nor/>
                            </m:rPr>
                            <a:rPr lang="ar-AE" sz="1600" i="1"/>
                            <m:t> </m:t>
                          </m:r>
                          <m:sSup>
                            <m:sSupPr>
                              <m:ctrlPr>
                                <a:rPr lang="ar-AE" sz="1600" i="1"/>
                              </m:ctrlPr>
                            </m:sSupPr>
                            <m:e>
                              <m:r>
                                <a:rPr lang="ar-AE" sz="1600" i="1"/>
                                <m:t>𝑉</m:t>
                              </m:r>
                            </m:e>
                            <m:sup>
                              <m:r>
                                <a:rPr lang="ar-AE" sz="1600"/>
                                <m:t>∗</m:t>
                              </m:r>
                            </m:sup>
                          </m:sSup>
                          <m:d>
                            <m:dPr>
                              <m:ctrlPr>
                                <a:rPr lang="ar-AE" sz="1600" i="1"/>
                              </m:ctrlPr>
                            </m:dPr>
                            <m:e>
                              <m:sSup>
                                <m:sSupPr>
                                  <m:ctrlPr>
                                    <a:rPr lang="ar-AE" sz="1600" i="1"/>
                                  </m:ctrlPr>
                                </m:sSupPr>
                                <m:e>
                                  <m:r>
                                    <a:rPr lang="ar-AE" sz="1600" i="1"/>
                                    <m:t>𝑠</m:t>
                                  </m:r>
                                </m:e>
                                <m:sup>
                                  <m:r>
                                    <a:rPr lang="ar-AE" sz="1600"/>
                                    <m:t>′</m:t>
                                  </m:r>
                                </m:sup>
                              </m:sSup>
                            </m:e>
                          </m:d>
                        </m:e>
                      </m:d>
                    </m:oMath>
                  </m:oMathPara>
                </a14:m>
                <a:endParaRPr lang="ar-AE" sz="1600" dirty="0"/>
              </a:p>
              <a:p>
                <a:r>
                  <a:rPr lang="en-US" sz="1600" dirty="0"/>
                  <a:t>This is the </a:t>
                </a:r>
                <a:r>
                  <a:rPr lang="en-US" sz="1600" b="1" dirty="0"/>
                  <a:t>Bellman optimality equation</a:t>
                </a:r>
                <a:r>
                  <a:rPr lang="en-US" sz="1600" dirty="0"/>
                  <a:t>.</a:t>
                </a:r>
                <a:br>
                  <a:rPr lang="en-US" sz="1600" dirty="0"/>
                </a:br>
                <a:endParaRPr lang="en-US" sz="1600" dirty="0"/>
              </a:p>
              <a:p>
                <a:endParaRPr lang="en-US" sz="1600" dirty="0"/>
              </a:p>
              <a:p>
                <a:r>
                  <a:rPr lang="en-US" sz="1600" b="1" dirty="0"/>
                  <a:t>Role in Value Iteration</a:t>
                </a:r>
              </a:p>
              <a:p>
                <a:r>
                  <a:rPr lang="en-US" sz="1600" dirty="0"/>
                  <a:t>Value iteration repeatedly applies the </a:t>
                </a:r>
                <a:r>
                  <a:rPr lang="en-US" sz="1600" b="1" dirty="0"/>
                  <a:t>Bellman optimality backup</a:t>
                </a:r>
                <a:r>
                  <a:rPr lang="en-US" sz="1600" dirty="0"/>
                  <a:t>:</a:t>
                </a:r>
              </a:p>
              <a:p>
                <a14:m>
                  <m:oMathPara xmlns:m="http://schemas.openxmlformats.org/officeDocument/2006/math">
                    <m:oMathParaPr>
                      <m:jc m:val="centerGroup"/>
                    </m:oMathParaPr>
                    <m:oMath xmlns:m="http://schemas.openxmlformats.org/officeDocument/2006/math">
                      <m:sSub>
                        <m:sSubPr>
                          <m:ctrlPr>
                            <a:rPr lang="ar-AE" sz="1600"/>
                          </m:ctrlPr>
                        </m:sSubPr>
                        <m:e>
                          <m:r>
                            <a:rPr lang="ar-AE" sz="1600" i="1"/>
                            <m:t>𝑉</m:t>
                          </m:r>
                        </m:e>
                        <m:sub>
                          <m:r>
                            <a:rPr lang="ar-AE" sz="1600" i="1"/>
                            <m:t>𝑘</m:t>
                          </m:r>
                          <m:r>
                            <a:rPr lang="ar-AE" sz="1600"/>
                            <m:t>+</m:t>
                          </m:r>
                          <m:r>
                            <a:rPr lang="ar-AE" sz="1600"/>
                            <m:t>1</m:t>
                          </m:r>
                        </m:sub>
                      </m:sSub>
                      <m:d>
                        <m:dPr>
                          <m:ctrlPr>
                            <a:rPr lang="ar-AE" sz="1600" i="1"/>
                          </m:ctrlPr>
                        </m:dPr>
                        <m:e>
                          <m:r>
                            <a:rPr lang="ar-AE" sz="1600" i="1"/>
                            <m:t>𝑠</m:t>
                          </m:r>
                        </m:e>
                      </m:d>
                      <m:r>
                        <a:rPr lang="ar-AE" sz="1600"/>
                        <m:t>←</m:t>
                      </m:r>
                      <m:limLow>
                        <m:limLowPr>
                          <m:ctrlPr>
                            <a:rPr lang="ar-AE" sz="1600" i="1"/>
                          </m:ctrlPr>
                        </m:limLowPr>
                        <m:e>
                          <m:func>
                            <m:funcPr>
                              <m:ctrlPr>
                                <a:rPr lang="ar-AE" sz="1600" i="1"/>
                              </m:ctrlPr>
                            </m:funcPr>
                            <m:fName>
                              <m:r>
                                <m:rPr>
                                  <m:sty m:val="p"/>
                                </m:rPr>
                                <a:rPr lang="en-US" sz="1600"/>
                                <m:t>max</m:t>
                              </m:r>
                            </m:fName>
                            <m:e/>
                          </m:func>
                        </m:e>
                        <m:lim>
                          <m:r>
                            <a:rPr lang="ar-AE" sz="1600" i="1"/>
                            <m:t>𝑎</m:t>
                          </m:r>
                        </m:lim>
                      </m:limLow>
                      <m:d>
                        <m:dPr>
                          <m:begChr m:val="["/>
                          <m:endChr m:val="]"/>
                          <m:ctrlPr>
                            <a:rPr lang="ar-AE" sz="1600" i="1"/>
                          </m:ctrlPr>
                        </m:dPr>
                        <m:e>
                          <m:r>
                            <a:rPr lang="ar-AE" sz="1600" i="1"/>
                            <m:t>𝑅</m:t>
                          </m:r>
                          <m:d>
                            <m:dPr>
                              <m:sepChr m:val=","/>
                              <m:ctrlPr>
                                <a:rPr lang="ar-AE" sz="1600" i="1"/>
                              </m:ctrlPr>
                            </m:dPr>
                            <m:e>
                              <m:r>
                                <a:rPr lang="ar-AE" sz="1600" i="1"/>
                                <m:t>𝑠</m:t>
                              </m:r>
                            </m:e>
                            <m:e>
                              <m:r>
                                <a:rPr lang="ar-AE" sz="1600" i="1"/>
                                <m:t>𝑎</m:t>
                              </m:r>
                            </m:e>
                          </m:d>
                          <m:r>
                            <a:rPr lang="ar-AE" sz="1600"/>
                            <m:t>+</m:t>
                          </m:r>
                          <m:r>
                            <a:rPr lang="ar-AE" sz="1600" i="1"/>
                            <m:t>𝛾</m:t>
                          </m:r>
                          <m:nary>
                            <m:naryPr>
                              <m:chr m:val="∑"/>
                              <m:grow m:val="on"/>
                              <m:supHide m:val="on"/>
                              <m:ctrlPr>
                                <a:rPr lang="ar-AE" sz="1600" i="1"/>
                              </m:ctrlPr>
                            </m:naryPr>
                            <m:sub>
                              <m:sSup>
                                <m:sSupPr>
                                  <m:ctrlPr>
                                    <a:rPr lang="ar-AE" sz="1600" i="1"/>
                                  </m:ctrlPr>
                                </m:sSupPr>
                                <m:e>
                                  <m:r>
                                    <a:rPr lang="ar-AE" sz="1600" i="1"/>
                                    <m:t>𝑠</m:t>
                                  </m:r>
                                </m:e>
                                <m:sup>
                                  <m:r>
                                    <a:rPr lang="ar-AE" sz="1600"/>
                                    <m:t>′</m:t>
                                  </m:r>
                                </m:sup>
                              </m:sSup>
                            </m:sub>
                            <m:sup/>
                            <m:e>
                              <m:r>
                                <a:rPr lang="ar-AE" sz="1600" i="1"/>
                                <m:t>𝑃</m:t>
                              </m:r>
                            </m:e>
                          </m:nary>
                          <m:d>
                            <m:dPr>
                              <m:sepChr m:val=","/>
                              <m:ctrlPr>
                                <a:rPr lang="ar-AE" sz="1600" i="1"/>
                              </m:ctrlPr>
                            </m:dPr>
                            <m:e>
                              <m:sSup>
                                <m:sSupPr>
                                  <m:ctrlPr>
                                    <a:rPr lang="ar-AE" sz="1600" i="1"/>
                                  </m:ctrlPr>
                                </m:sSupPr>
                                <m:e>
                                  <m:r>
                                    <a:rPr lang="ar-AE" sz="1600" i="1"/>
                                    <m:t>𝑠</m:t>
                                  </m:r>
                                </m:e>
                                <m:sup>
                                  <m:r>
                                    <a:rPr lang="ar-AE" sz="1600"/>
                                    <m:t>′</m:t>
                                  </m:r>
                                </m:sup>
                              </m:sSup>
                            </m:e>
                            <m:e>
                              <m:r>
                                <a:rPr lang="ar-AE" sz="1600"/>
                                <m:t>∣</m:t>
                              </m:r>
                              <m:r>
                                <a:rPr lang="ar-AE" sz="1600" i="1"/>
                                <m:t>𝑠𝑎</m:t>
                              </m:r>
                            </m:e>
                          </m:d>
                          <m:r>
                            <m:rPr>
                              <m:nor/>
                            </m:rPr>
                            <a:rPr lang="ar-AE" sz="1600" i="1"/>
                            <m:t> </m:t>
                          </m:r>
                          <m:sSub>
                            <m:sSubPr>
                              <m:ctrlPr>
                                <a:rPr lang="ar-AE" sz="1600" i="1"/>
                              </m:ctrlPr>
                            </m:sSubPr>
                            <m:e>
                              <m:r>
                                <a:rPr lang="ar-AE" sz="1600" i="1"/>
                                <m:t>𝑉</m:t>
                              </m:r>
                            </m:e>
                            <m:sub>
                              <m:r>
                                <a:rPr lang="ar-AE" sz="1600" i="1"/>
                                <m:t>𝑘</m:t>
                              </m:r>
                            </m:sub>
                          </m:sSub>
                          <m:d>
                            <m:dPr>
                              <m:ctrlPr>
                                <a:rPr lang="ar-AE" sz="1600" i="1"/>
                              </m:ctrlPr>
                            </m:dPr>
                            <m:e>
                              <m:sSup>
                                <m:sSupPr>
                                  <m:ctrlPr>
                                    <a:rPr lang="ar-AE" sz="1600" i="1"/>
                                  </m:ctrlPr>
                                </m:sSupPr>
                                <m:e>
                                  <m:r>
                                    <a:rPr lang="ar-AE" sz="1600" i="1"/>
                                    <m:t>𝑠</m:t>
                                  </m:r>
                                </m:e>
                                <m:sup>
                                  <m:r>
                                    <a:rPr lang="ar-AE" sz="1600"/>
                                    <m:t>′</m:t>
                                  </m:r>
                                </m:sup>
                              </m:sSup>
                            </m:e>
                          </m:d>
                        </m:e>
                      </m:d>
                    </m:oMath>
                  </m:oMathPara>
                </a14:m>
                <a:endParaRPr lang="ar-AE" sz="1600" dirty="0"/>
              </a:p>
              <a:p>
                <a:r>
                  <a:rPr lang="en-US" sz="1600" dirty="0"/>
                  <a:t>The Bellman function is updated directly.</a:t>
                </a:r>
              </a:p>
              <a:p>
                <a:r>
                  <a:rPr lang="en-US" sz="1600" dirty="0"/>
                  <a:t>The policy is </a:t>
                </a:r>
                <a:r>
                  <a:rPr lang="en-US" sz="1600" b="1" dirty="0"/>
                  <a:t>implicit</a:t>
                </a:r>
                <a:r>
                  <a:rPr lang="en-US" sz="1600" dirty="0"/>
                  <a:t> and extracted only after convergence:</a:t>
                </a:r>
              </a:p>
              <a:p>
                <a14:m>
                  <m:oMathPara xmlns:m="http://schemas.openxmlformats.org/officeDocument/2006/math">
                    <m:oMathParaPr>
                      <m:jc m:val="centerGroup"/>
                    </m:oMathParaPr>
                    <m:oMath xmlns:m="http://schemas.openxmlformats.org/officeDocument/2006/math">
                      <m:sSup>
                        <m:sSupPr>
                          <m:ctrlPr>
                            <a:rPr lang="ar-AE" sz="1600"/>
                          </m:ctrlPr>
                        </m:sSupPr>
                        <m:e>
                          <m:r>
                            <a:rPr lang="ar-AE" sz="1600" i="1"/>
                            <m:t>𝜋</m:t>
                          </m:r>
                        </m:e>
                        <m:sup>
                          <m:r>
                            <a:rPr lang="ar-AE" sz="1600"/>
                            <m:t>∗</m:t>
                          </m:r>
                        </m:sup>
                      </m:sSup>
                      <m:d>
                        <m:dPr>
                          <m:ctrlPr>
                            <a:rPr lang="ar-AE" sz="1600" i="1"/>
                          </m:ctrlPr>
                        </m:dPr>
                        <m:e>
                          <m:r>
                            <a:rPr lang="ar-AE" sz="1600" i="1"/>
                            <m:t>𝑠</m:t>
                          </m:r>
                        </m:e>
                      </m:d>
                      <m:r>
                        <a:rPr lang="ar-AE" sz="1600"/>
                        <m:t>=</m:t>
                      </m:r>
                      <m:func>
                        <m:funcPr>
                          <m:ctrlPr>
                            <a:rPr lang="ar-AE" sz="1600" i="1"/>
                          </m:ctrlPr>
                        </m:funcPr>
                        <m:fName>
                          <m:r>
                            <m:rPr>
                              <m:sty m:val="p"/>
                            </m:rPr>
                            <a:rPr lang="en-US" sz="1600"/>
                            <m:t>arg</m:t>
                          </m:r>
                        </m:fName>
                        <m:e>
                          <m:limLow>
                            <m:limLowPr>
                              <m:ctrlPr>
                                <a:rPr lang="ar-AE" sz="1600" i="1"/>
                              </m:ctrlPr>
                            </m:limLowPr>
                            <m:e>
                              <m:func>
                                <m:funcPr>
                                  <m:ctrlPr>
                                    <a:rPr lang="ar-AE" sz="1600" i="1"/>
                                  </m:ctrlPr>
                                </m:funcPr>
                                <m:fName>
                                  <m:r>
                                    <m:rPr>
                                      <m:sty m:val="p"/>
                                    </m:rPr>
                                    <a:rPr lang="en-US" sz="1600"/>
                                    <m:t>max</m:t>
                                  </m:r>
                                </m:fName>
                                <m:e/>
                              </m:func>
                            </m:e>
                            <m:lim>
                              <m:r>
                                <a:rPr lang="ar-AE" sz="1600" i="1"/>
                                <m:t>𝑎</m:t>
                              </m:r>
                            </m:lim>
                          </m:limLow>
                        </m:e>
                      </m:func>
                      <m:d>
                        <m:dPr>
                          <m:begChr m:val="["/>
                          <m:endChr m:val="]"/>
                          <m:ctrlPr>
                            <a:rPr lang="ar-AE" sz="1600" i="1"/>
                          </m:ctrlPr>
                        </m:dPr>
                        <m:e>
                          <m:r>
                            <a:rPr lang="ar-AE" sz="1600" i="1"/>
                            <m:t>𝑅</m:t>
                          </m:r>
                          <m:d>
                            <m:dPr>
                              <m:sepChr m:val=","/>
                              <m:ctrlPr>
                                <a:rPr lang="ar-AE" sz="1600" i="1"/>
                              </m:ctrlPr>
                            </m:dPr>
                            <m:e>
                              <m:r>
                                <a:rPr lang="ar-AE" sz="1600" i="1"/>
                                <m:t>𝑠</m:t>
                              </m:r>
                            </m:e>
                            <m:e>
                              <m:r>
                                <a:rPr lang="ar-AE" sz="1600" i="1"/>
                                <m:t>𝑎</m:t>
                              </m:r>
                            </m:e>
                          </m:d>
                          <m:r>
                            <a:rPr lang="ar-AE" sz="1600"/>
                            <m:t>+</m:t>
                          </m:r>
                          <m:r>
                            <a:rPr lang="ar-AE" sz="1600" i="1"/>
                            <m:t>𝛾</m:t>
                          </m:r>
                          <m:nary>
                            <m:naryPr>
                              <m:chr m:val="∑"/>
                              <m:grow m:val="on"/>
                              <m:supHide m:val="on"/>
                              <m:ctrlPr>
                                <a:rPr lang="ar-AE" sz="1600" i="1"/>
                              </m:ctrlPr>
                            </m:naryPr>
                            <m:sub>
                              <m:sSup>
                                <m:sSupPr>
                                  <m:ctrlPr>
                                    <a:rPr lang="ar-AE" sz="1600" i="1"/>
                                  </m:ctrlPr>
                                </m:sSupPr>
                                <m:e>
                                  <m:r>
                                    <a:rPr lang="ar-AE" sz="1600" i="1"/>
                                    <m:t>𝑠</m:t>
                                  </m:r>
                                </m:e>
                                <m:sup>
                                  <m:r>
                                    <a:rPr lang="ar-AE" sz="1600"/>
                                    <m:t>′</m:t>
                                  </m:r>
                                </m:sup>
                              </m:sSup>
                            </m:sub>
                            <m:sup/>
                            <m:e>
                              <m:r>
                                <a:rPr lang="ar-AE" sz="1600" i="1"/>
                                <m:t>𝑃</m:t>
                              </m:r>
                            </m:e>
                          </m:nary>
                          <m:d>
                            <m:dPr>
                              <m:sepChr m:val=","/>
                              <m:ctrlPr>
                                <a:rPr lang="ar-AE" sz="1600" i="1"/>
                              </m:ctrlPr>
                            </m:dPr>
                            <m:e>
                              <m:sSup>
                                <m:sSupPr>
                                  <m:ctrlPr>
                                    <a:rPr lang="ar-AE" sz="1600" i="1"/>
                                  </m:ctrlPr>
                                </m:sSupPr>
                                <m:e>
                                  <m:r>
                                    <a:rPr lang="ar-AE" sz="1600" i="1"/>
                                    <m:t>𝑠</m:t>
                                  </m:r>
                                </m:e>
                                <m:sup>
                                  <m:r>
                                    <a:rPr lang="ar-AE" sz="1600"/>
                                    <m:t>′</m:t>
                                  </m:r>
                                </m:sup>
                              </m:sSup>
                            </m:e>
                            <m:e>
                              <m:r>
                                <a:rPr lang="ar-AE" sz="1600"/>
                                <m:t>∣</m:t>
                              </m:r>
                              <m:r>
                                <a:rPr lang="ar-AE" sz="1600" i="1"/>
                                <m:t>𝑠𝑎</m:t>
                              </m:r>
                            </m:e>
                          </m:d>
                          <m:r>
                            <m:rPr>
                              <m:nor/>
                            </m:rPr>
                            <a:rPr lang="ar-AE" sz="1600" i="1"/>
                            <m:t> </m:t>
                          </m:r>
                          <m:sSup>
                            <m:sSupPr>
                              <m:ctrlPr>
                                <a:rPr lang="ar-AE" sz="1600" i="1"/>
                              </m:ctrlPr>
                            </m:sSupPr>
                            <m:e>
                              <m:r>
                                <a:rPr lang="ar-AE" sz="1600" i="1"/>
                                <m:t>𝑉</m:t>
                              </m:r>
                            </m:e>
                            <m:sup>
                              <m:r>
                                <a:rPr lang="ar-AE" sz="1600"/>
                                <m:t>∗</m:t>
                              </m:r>
                            </m:sup>
                          </m:sSup>
                          <m:d>
                            <m:dPr>
                              <m:ctrlPr>
                                <a:rPr lang="ar-AE" sz="1600" i="1"/>
                              </m:ctrlPr>
                            </m:dPr>
                            <m:e>
                              <m:sSup>
                                <m:sSupPr>
                                  <m:ctrlPr>
                                    <a:rPr lang="ar-AE" sz="1600" i="1"/>
                                  </m:ctrlPr>
                                </m:sSupPr>
                                <m:e>
                                  <m:r>
                                    <a:rPr lang="ar-AE" sz="1600" i="1"/>
                                    <m:t>𝑠</m:t>
                                  </m:r>
                                </m:e>
                                <m:sup>
                                  <m:r>
                                    <a:rPr lang="ar-AE" sz="1600"/>
                                    <m:t>′</m:t>
                                  </m:r>
                                </m:sup>
                              </m:sSup>
                            </m:e>
                          </m:d>
                        </m:e>
                      </m:d>
                    </m:oMath>
                  </m:oMathPara>
                </a14:m>
                <a:endParaRPr lang="ar-AE" sz="1600" dirty="0"/>
              </a:p>
              <a:p>
                <a:endParaRPr lang="en-US" dirty="0"/>
              </a:p>
            </p:txBody>
          </p:sp>
        </mc:Choice>
        <mc:Fallback>
          <p:sp>
            <p:nvSpPr>
              <p:cNvPr id="3" name="Text Placeholder 2">
                <a:extLst>
                  <a:ext uri="{FF2B5EF4-FFF2-40B4-BE49-F238E27FC236}">
                    <a16:creationId xmlns:a16="http://schemas.microsoft.com/office/drawing/2014/main" id="{77ACB802-7AD0-6A14-B669-7A1FDB58BA8B}"/>
                  </a:ext>
                </a:extLst>
              </p:cNvPr>
              <p:cNvSpPr>
                <a:spLocks noGrp="1" noRot="1" noChangeAspect="1" noMove="1" noResize="1" noEditPoints="1" noAdjustHandles="1" noChangeArrowheads="1" noChangeShapeType="1" noTextEdit="1"/>
              </p:cNvSpPr>
              <p:nvPr>
                <p:ph type="body" idx="1"/>
              </p:nvPr>
            </p:nvSpPr>
            <p:spPr>
              <a:xfrm>
                <a:off x="685799" y="1676401"/>
                <a:ext cx="7391401" cy="4748416"/>
              </a:xfrm>
              <a:blipFill>
                <a:blip r:embed="rId2"/>
                <a:stretch>
                  <a:fillRect l="-1649" t="-128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277B75F-FFA3-F2CB-0724-581D76E41BEF}"/>
              </a:ext>
            </a:extLst>
          </p:cNvPr>
          <p:cNvSpPr txBox="1"/>
          <p:nvPr/>
        </p:nvSpPr>
        <p:spPr>
          <a:xfrm>
            <a:off x="8001000" y="1828800"/>
            <a:ext cx="3352800" cy="923330"/>
          </a:xfrm>
          <a:prstGeom prst="rect">
            <a:avLst/>
          </a:prstGeom>
          <a:noFill/>
        </p:spPr>
        <p:txBody>
          <a:bodyPr wrap="square" rtlCol="0">
            <a:spAutoFit/>
          </a:bodyPr>
          <a:lstStyle/>
          <a:p>
            <a:r>
              <a:rPr lang="en-US" dirty="0"/>
              <a:t>𝛾 </a:t>
            </a:r>
            <a:r>
              <a:rPr lang="en-US" dirty="0">
                <a:sym typeface="Wingdings" panose="05000000000000000000" pitchFamily="2" charset="2"/>
              </a:rPr>
              <a:t> discount factor</a:t>
            </a:r>
          </a:p>
          <a:p>
            <a:r>
              <a:rPr lang="en-US" dirty="0">
                <a:sym typeface="Wingdings" panose="05000000000000000000" pitchFamily="2" charset="2"/>
              </a:rPr>
              <a:t>P  Transition Probabilities: P[state][action][</a:t>
            </a:r>
            <a:r>
              <a:rPr lang="en-US" dirty="0" err="1">
                <a:sym typeface="Wingdings" panose="05000000000000000000" pitchFamily="2" charset="2"/>
              </a:rPr>
              <a:t>next_state</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2248364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5F27-57EB-5D49-2C26-A6BBEB238D2A}"/>
              </a:ext>
            </a:extLst>
          </p:cNvPr>
          <p:cNvSpPr>
            <a:spLocks noGrp="1"/>
          </p:cNvSpPr>
          <p:nvPr>
            <p:ph type="title"/>
          </p:nvPr>
        </p:nvSpPr>
        <p:spPr/>
        <p:txBody>
          <a:bodyPr/>
          <a:lstStyle/>
          <a:p>
            <a:r>
              <a:rPr lang="en-US" dirty="0"/>
              <a:t>What is Bellman function – Policy iteration ?</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306350F-F5A4-283D-0C02-563207DD64F9}"/>
                  </a:ext>
                </a:extLst>
              </p:cNvPr>
              <p:cNvSpPr>
                <a:spLocks noGrp="1"/>
              </p:cNvSpPr>
              <p:nvPr>
                <p:ph type="body" idx="1"/>
              </p:nvPr>
            </p:nvSpPr>
            <p:spPr>
              <a:xfrm>
                <a:off x="447549" y="1447800"/>
                <a:ext cx="10704956" cy="4826065"/>
              </a:xfrm>
            </p:spPr>
            <p:txBody>
              <a:bodyPr/>
              <a:lstStyle/>
              <a:p>
                <a:r>
                  <a:rPr lang="en-US" sz="1400" b="1" dirty="0"/>
                  <a:t>Bellman Function in Policy Iteration</a:t>
                </a:r>
              </a:p>
              <a:p>
                <a:r>
                  <a:rPr lang="en-US" sz="1400" dirty="0"/>
                  <a:t>Policy iteration maintains </a:t>
                </a:r>
                <a:r>
                  <a:rPr lang="en-US" sz="1400" b="1" dirty="0"/>
                  <a:t>two Bellman functions</a:t>
                </a:r>
                <a:r>
                  <a:rPr lang="en-US" sz="1400" dirty="0"/>
                  <a:t>:</a:t>
                </a:r>
              </a:p>
              <a:p>
                <a:br>
                  <a:rPr lang="en-US" sz="1400" dirty="0"/>
                </a:br>
                <a:endParaRPr lang="en-US" sz="1400" dirty="0"/>
              </a:p>
              <a:p>
                <a:r>
                  <a:rPr lang="en-US" sz="1400" b="1" dirty="0"/>
                  <a:t>(a) Policy Evaluation – Bellman Expectation Function</a:t>
                </a:r>
              </a:p>
              <a:p>
                <a:r>
                  <a:rPr lang="en-US" sz="1400" dirty="0"/>
                  <a:t>For a fixed policy </a:t>
                </a:r>
                <a14:m>
                  <m:oMath xmlns:m="http://schemas.openxmlformats.org/officeDocument/2006/math">
                    <m:r>
                      <a:rPr lang="en-US" sz="1400" i="1"/>
                      <m:t>𝜋</m:t>
                    </m:r>
                  </m:oMath>
                </a14:m>
                <a:r>
                  <a:rPr lang="en-US" sz="1400" dirty="0"/>
                  <a:t>, the Bellman function </a:t>
                </a:r>
                <a14:m>
                  <m:oMath xmlns:m="http://schemas.openxmlformats.org/officeDocument/2006/math">
                    <m:sSup>
                      <m:sSupPr>
                        <m:ctrlPr>
                          <a:rPr lang="ar-AE" sz="1400"/>
                        </m:ctrlPr>
                      </m:sSupPr>
                      <m:e>
                        <m:r>
                          <a:rPr lang="ar-AE" sz="1400" i="1"/>
                          <m:t>𝑉</m:t>
                        </m:r>
                      </m:e>
                      <m:sup>
                        <m:r>
                          <a:rPr lang="ar-AE" sz="1400" i="1"/>
                          <m:t>𝜋</m:t>
                        </m:r>
                      </m:sup>
                    </m:sSup>
                    <m:d>
                      <m:dPr>
                        <m:ctrlPr>
                          <a:rPr lang="ar-AE" sz="1400" i="1"/>
                        </m:ctrlPr>
                      </m:dPr>
                      <m:e>
                        <m:r>
                          <a:rPr lang="ar-AE" sz="1400" i="1"/>
                          <m:t>𝑠</m:t>
                        </m:r>
                      </m:e>
                    </m:d>
                  </m:oMath>
                </a14:m>
                <a:r>
                  <a:rPr lang="en-US" sz="1400" dirty="0"/>
                  <a:t>satisfies:</a:t>
                </a:r>
              </a:p>
              <a:p>
                <a14:m>
                  <m:oMathPara xmlns:m="http://schemas.openxmlformats.org/officeDocument/2006/math">
                    <m:oMathParaPr>
                      <m:jc m:val="centerGroup"/>
                    </m:oMathParaPr>
                    <m:oMath xmlns:m="http://schemas.openxmlformats.org/officeDocument/2006/math">
                      <m:sSup>
                        <m:sSupPr>
                          <m:ctrlPr>
                            <a:rPr lang="ar-AE" sz="1400"/>
                          </m:ctrlPr>
                        </m:sSupPr>
                        <m:e>
                          <m:r>
                            <a:rPr lang="ar-AE" sz="1400" i="1"/>
                            <m:t>𝑉</m:t>
                          </m:r>
                        </m:e>
                        <m:sup>
                          <m:r>
                            <a:rPr lang="ar-AE" sz="1400" i="1"/>
                            <m:t>𝜋</m:t>
                          </m:r>
                        </m:sup>
                      </m:sSup>
                      <m:d>
                        <m:dPr>
                          <m:ctrlPr>
                            <a:rPr lang="ar-AE" sz="1400" i="1"/>
                          </m:ctrlPr>
                        </m:dPr>
                        <m:e>
                          <m:r>
                            <a:rPr lang="ar-AE" sz="1400" i="1"/>
                            <m:t>𝑠</m:t>
                          </m:r>
                        </m:e>
                      </m:d>
                      <m:r>
                        <a:rPr lang="ar-AE" sz="1400"/>
                        <m:t>=</m:t>
                      </m:r>
                      <m:nary>
                        <m:naryPr>
                          <m:chr m:val="∑"/>
                          <m:grow m:val="on"/>
                          <m:supHide m:val="on"/>
                          <m:ctrlPr>
                            <a:rPr lang="ar-AE" sz="1400" i="1"/>
                          </m:ctrlPr>
                        </m:naryPr>
                        <m:sub>
                          <m:r>
                            <a:rPr lang="ar-AE" sz="1400" i="1"/>
                            <m:t>𝑎</m:t>
                          </m:r>
                        </m:sub>
                        <m:sup/>
                        <m:e>
                          <m:r>
                            <a:rPr lang="ar-AE" sz="1400" i="1"/>
                            <m:t>𝜋</m:t>
                          </m:r>
                        </m:e>
                      </m:nary>
                      <m:d>
                        <m:dPr>
                          <m:ctrlPr>
                            <a:rPr lang="ar-AE" sz="1400" i="1"/>
                          </m:ctrlPr>
                        </m:dPr>
                        <m:e>
                          <m:r>
                            <a:rPr lang="ar-AE" sz="1400" i="1"/>
                            <m:t>𝑎</m:t>
                          </m:r>
                          <m:r>
                            <a:rPr lang="ar-AE" sz="1400"/>
                            <m:t>∣</m:t>
                          </m:r>
                          <m:r>
                            <a:rPr lang="ar-AE" sz="1400" i="1"/>
                            <m:t>𝑠</m:t>
                          </m:r>
                        </m:e>
                      </m:d>
                      <m:d>
                        <m:dPr>
                          <m:begChr m:val="["/>
                          <m:endChr m:val="]"/>
                          <m:ctrlPr>
                            <a:rPr lang="ar-AE" sz="1400" i="1"/>
                          </m:ctrlPr>
                        </m:dPr>
                        <m:e>
                          <m:r>
                            <a:rPr lang="ar-AE" sz="1400" i="1"/>
                            <m:t>𝑅</m:t>
                          </m:r>
                          <m:d>
                            <m:dPr>
                              <m:sepChr m:val=","/>
                              <m:ctrlPr>
                                <a:rPr lang="ar-AE" sz="1400" i="1"/>
                              </m:ctrlPr>
                            </m:dPr>
                            <m:e>
                              <m:r>
                                <a:rPr lang="ar-AE" sz="1400" i="1"/>
                                <m:t>𝑠</m:t>
                              </m:r>
                            </m:e>
                            <m:e>
                              <m:r>
                                <a:rPr lang="ar-AE" sz="1400" i="1"/>
                                <m:t>𝑎</m:t>
                              </m:r>
                            </m:e>
                          </m:d>
                          <m:r>
                            <a:rPr lang="ar-AE" sz="1400"/>
                            <m:t>+</m:t>
                          </m:r>
                          <m:r>
                            <a:rPr lang="ar-AE" sz="1400" i="1"/>
                            <m:t>𝛾</m:t>
                          </m:r>
                          <m:nary>
                            <m:naryPr>
                              <m:chr m:val="∑"/>
                              <m:grow m:val="on"/>
                              <m:supHide m:val="on"/>
                              <m:ctrlPr>
                                <a:rPr lang="ar-AE" sz="1400" i="1"/>
                              </m:ctrlPr>
                            </m:naryPr>
                            <m:sub>
                              <m:sSup>
                                <m:sSupPr>
                                  <m:ctrlPr>
                                    <a:rPr lang="ar-AE" sz="1400" i="1"/>
                                  </m:ctrlPr>
                                </m:sSupPr>
                                <m:e>
                                  <m:r>
                                    <a:rPr lang="ar-AE" sz="1400" i="1"/>
                                    <m:t>𝑠</m:t>
                                  </m:r>
                                </m:e>
                                <m:sup>
                                  <m:r>
                                    <a:rPr lang="ar-AE" sz="1400"/>
                                    <m:t>′</m:t>
                                  </m:r>
                                </m:sup>
                              </m:sSup>
                            </m:sub>
                            <m:sup/>
                            <m:e>
                              <m:r>
                                <a:rPr lang="ar-AE" sz="1400" i="1"/>
                                <m:t>𝑃</m:t>
                              </m:r>
                            </m:e>
                          </m:nary>
                          <m:d>
                            <m:dPr>
                              <m:sepChr m:val=","/>
                              <m:ctrlPr>
                                <a:rPr lang="ar-AE" sz="1400" i="1"/>
                              </m:ctrlPr>
                            </m:dPr>
                            <m:e>
                              <m:sSup>
                                <m:sSupPr>
                                  <m:ctrlPr>
                                    <a:rPr lang="ar-AE" sz="1400" i="1"/>
                                  </m:ctrlPr>
                                </m:sSupPr>
                                <m:e>
                                  <m:r>
                                    <a:rPr lang="ar-AE" sz="1400" i="1"/>
                                    <m:t>𝑠</m:t>
                                  </m:r>
                                </m:e>
                                <m:sup>
                                  <m:r>
                                    <a:rPr lang="ar-AE" sz="1400"/>
                                    <m:t>′</m:t>
                                  </m:r>
                                </m:sup>
                              </m:sSup>
                            </m:e>
                            <m:e>
                              <m:r>
                                <a:rPr lang="ar-AE" sz="1400"/>
                                <m:t>∣</m:t>
                              </m:r>
                              <m:r>
                                <a:rPr lang="ar-AE" sz="1400" i="1"/>
                                <m:t>𝑠𝑎</m:t>
                              </m:r>
                            </m:e>
                          </m:d>
                          <m:r>
                            <m:rPr>
                              <m:nor/>
                            </m:rPr>
                            <a:rPr lang="ar-AE" sz="1400" i="1"/>
                            <m:t> </m:t>
                          </m:r>
                          <m:sSup>
                            <m:sSupPr>
                              <m:ctrlPr>
                                <a:rPr lang="ar-AE" sz="1400" i="1"/>
                              </m:ctrlPr>
                            </m:sSupPr>
                            <m:e>
                              <m:r>
                                <a:rPr lang="ar-AE" sz="1400" i="1"/>
                                <m:t>𝑉</m:t>
                              </m:r>
                            </m:e>
                            <m:sup>
                              <m:r>
                                <a:rPr lang="ar-AE" sz="1400" i="1"/>
                                <m:t>𝜋</m:t>
                              </m:r>
                            </m:sup>
                          </m:sSup>
                          <m:d>
                            <m:dPr>
                              <m:ctrlPr>
                                <a:rPr lang="ar-AE" sz="1400" i="1"/>
                              </m:ctrlPr>
                            </m:dPr>
                            <m:e>
                              <m:sSup>
                                <m:sSupPr>
                                  <m:ctrlPr>
                                    <a:rPr lang="ar-AE" sz="1400" i="1"/>
                                  </m:ctrlPr>
                                </m:sSupPr>
                                <m:e>
                                  <m:r>
                                    <a:rPr lang="ar-AE" sz="1400" i="1"/>
                                    <m:t>𝑠</m:t>
                                  </m:r>
                                </m:e>
                                <m:sup>
                                  <m:r>
                                    <a:rPr lang="ar-AE" sz="1400"/>
                                    <m:t>′</m:t>
                                  </m:r>
                                </m:sup>
                              </m:sSup>
                            </m:e>
                          </m:d>
                        </m:e>
                      </m:d>
                    </m:oMath>
                  </m:oMathPara>
                </a14:m>
                <a:endParaRPr lang="ar-AE" sz="1400" dirty="0"/>
              </a:p>
              <a:p>
                <a:r>
                  <a:rPr lang="en-US" sz="1400" dirty="0"/>
                  <a:t>This is the </a:t>
                </a:r>
                <a:r>
                  <a:rPr lang="en-US" sz="1400" b="1" dirty="0"/>
                  <a:t>Bellman expectation equation</a:t>
                </a:r>
                <a:r>
                  <a:rPr lang="en-US" sz="1400" dirty="0"/>
                  <a:t>.</a:t>
                </a:r>
              </a:p>
              <a:p>
                <a:r>
                  <a:rPr lang="en-US" sz="1400" dirty="0"/>
                  <a:t>No maximization, Policy is fixed, Computes the value of the current policy</a:t>
                </a:r>
              </a:p>
              <a:p>
                <a:br>
                  <a:rPr lang="en-US" sz="1400" dirty="0"/>
                </a:br>
                <a:endParaRPr lang="en-US" sz="1400" dirty="0"/>
              </a:p>
              <a:p>
                <a:r>
                  <a:rPr lang="en-US" sz="1400" b="1" dirty="0"/>
                  <a:t>(b) Policy Improvement – Bellman Optimality Condition</a:t>
                </a:r>
              </a:p>
              <a:p>
                <a:r>
                  <a:rPr lang="en-US" sz="1400" dirty="0"/>
                  <a:t>Using </a:t>
                </a:r>
                <a14:m>
                  <m:oMath xmlns:m="http://schemas.openxmlformats.org/officeDocument/2006/math">
                    <m:sSup>
                      <m:sSupPr>
                        <m:ctrlPr>
                          <a:rPr lang="ar-AE" sz="1400"/>
                        </m:ctrlPr>
                      </m:sSupPr>
                      <m:e>
                        <m:r>
                          <a:rPr lang="ar-AE" sz="1400" i="1"/>
                          <m:t>𝑉</m:t>
                        </m:r>
                      </m:e>
                      <m:sup>
                        <m:r>
                          <a:rPr lang="ar-AE" sz="1400" i="1"/>
                          <m:t>𝜋</m:t>
                        </m:r>
                      </m:sup>
                    </m:sSup>
                  </m:oMath>
                </a14:m>
                <a:r>
                  <a:rPr lang="ar-AE" sz="1400" dirty="0"/>
                  <a:t>, </a:t>
                </a:r>
                <a:r>
                  <a:rPr lang="en-US" sz="1400" dirty="0"/>
                  <a:t>the policy is improved via:</a:t>
                </a:r>
              </a:p>
              <a:p>
                <a14:m>
                  <m:oMathPara xmlns:m="http://schemas.openxmlformats.org/officeDocument/2006/math">
                    <m:oMathParaPr>
                      <m:jc m:val="centerGroup"/>
                    </m:oMathParaPr>
                    <m:oMath xmlns:m="http://schemas.openxmlformats.org/officeDocument/2006/math">
                      <m:sSup>
                        <m:sSupPr>
                          <m:ctrlPr>
                            <a:rPr lang="ar-AE" sz="1400"/>
                          </m:ctrlPr>
                        </m:sSupPr>
                        <m:e>
                          <m:r>
                            <a:rPr lang="ar-AE" sz="1400" i="1"/>
                            <m:t>𝜋</m:t>
                          </m:r>
                        </m:e>
                        <m:sup>
                          <m:r>
                            <a:rPr lang="ar-AE" sz="1400"/>
                            <m:t>′</m:t>
                          </m:r>
                        </m:sup>
                      </m:sSup>
                      <m:d>
                        <m:dPr>
                          <m:ctrlPr>
                            <a:rPr lang="ar-AE" sz="1400" i="1"/>
                          </m:ctrlPr>
                        </m:dPr>
                        <m:e>
                          <m:r>
                            <a:rPr lang="ar-AE" sz="1400" i="1"/>
                            <m:t>𝑠</m:t>
                          </m:r>
                        </m:e>
                      </m:d>
                      <m:r>
                        <a:rPr lang="ar-AE" sz="1400"/>
                        <m:t>=</m:t>
                      </m:r>
                      <m:func>
                        <m:funcPr>
                          <m:ctrlPr>
                            <a:rPr lang="ar-AE" sz="1400" i="1"/>
                          </m:ctrlPr>
                        </m:funcPr>
                        <m:fName>
                          <m:r>
                            <m:rPr>
                              <m:sty m:val="p"/>
                            </m:rPr>
                            <a:rPr lang="en-US" sz="1400"/>
                            <m:t>arg</m:t>
                          </m:r>
                        </m:fName>
                        <m:e>
                          <m:limLow>
                            <m:limLowPr>
                              <m:ctrlPr>
                                <a:rPr lang="ar-AE" sz="1400" i="1"/>
                              </m:ctrlPr>
                            </m:limLowPr>
                            <m:e>
                              <m:func>
                                <m:funcPr>
                                  <m:ctrlPr>
                                    <a:rPr lang="ar-AE" sz="1400" i="1"/>
                                  </m:ctrlPr>
                                </m:funcPr>
                                <m:fName>
                                  <m:r>
                                    <m:rPr>
                                      <m:sty m:val="p"/>
                                    </m:rPr>
                                    <a:rPr lang="en-US" sz="1400"/>
                                    <m:t>max</m:t>
                                  </m:r>
                                </m:fName>
                                <m:e/>
                              </m:func>
                            </m:e>
                            <m:lim>
                              <m:r>
                                <a:rPr lang="ar-AE" sz="1400" i="1"/>
                                <m:t>𝑎</m:t>
                              </m:r>
                            </m:lim>
                          </m:limLow>
                        </m:e>
                      </m:func>
                      <m:d>
                        <m:dPr>
                          <m:begChr m:val="["/>
                          <m:endChr m:val="]"/>
                          <m:ctrlPr>
                            <a:rPr lang="ar-AE" sz="1400" i="1"/>
                          </m:ctrlPr>
                        </m:dPr>
                        <m:e>
                          <m:r>
                            <a:rPr lang="ar-AE" sz="1400" i="1"/>
                            <m:t>𝑅</m:t>
                          </m:r>
                          <m:d>
                            <m:dPr>
                              <m:sepChr m:val=","/>
                              <m:ctrlPr>
                                <a:rPr lang="ar-AE" sz="1400" i="1"/>
                              </m:ctrlPr>
                            </m:dPr>
                            <m:e>
                              <m:r>
                                <a:rPr lang="ar-AE" sz="1400" i="1"/>
                                <m:t>𝑠</m:t>
                              </m:r>
                            </m:e>
                            <m:e>
                              <m:r>
                                <a:rPr lang="ar-AE" sz="1400" i="1"/>
                                <m:t>𝑎</m:t>
                              </m:r>
                            </m:e>
                          </m:d>
                          <m:r>
                            <a:rPr lang="ar-AE" sz="1400"/>
                            <m:t>+</m:t>
                          </m:r>
                          <m:r>
                            <a:rPr lang="ar-AE" sz="1400" i="1"/>
                            <m:t>𝛾</m:t>
                          </m:r>
                          <m:nary>
                            <m:naryPr>
                              <m:chr m:val="∑"/>
                              <m:grow m:val="on"/>
                              <m:supHide m:val="on"/>
                              <m:ctrlPr>
                                <a:rPr lang="ar-AE" sz="1400" i="1"/>
                              </m:ctrlPr>
                            </m:naryPr>
                            <m:sub>
                              <m:sSup>
                                <m:sSupPr>
                                  <m:ctrlPr>
                                    <a:rPr lang="ar-AE" sz="1400" i="1"/>
                                  </m:ctrlPr>
                                </m:sSupPr>
                                <m:e>
                                  <m:r>
                                    <a:rPr lang="ar-AE" sz="1400" i="1"/>
                                    <m:t>𝑠</m:t>
                                  </m:r>
                                </m:e>
                                <m:sup>
                                  <m:r>
                                    <a:rPr lang="ar-AE" sz="1400"/>
                                    <m:t>′</m:t>
                                  </m:r>
                                </m:sup>
                              </m:sSup>
                            </m:sub>
                            <m:sup/>
                            <m:e>
                              <m:r>
                                <a:rPr lang="ar-AE" sz="1400" i="1"/>
                                <m:t>𝑃</m:t>
                              </m:r>
                            </m:e>
                          </m:nary>
                          <m:d>
                            <m:dPr>
                              <m:sepChr m:val=","/>
                              <m:ctrlPr>
                                <a:rPr lang="ar-AE" sz="1400" i="1"/>
                              </m:ctrlPr>
                            </m:dPr>
                            <m:e>
                              <m:sSup>
                                <m:sSupPr>
                                  <m:ctrlPr>
                                    <a:rPr lang="ar-AE" sz="1400" i="1"/>
                                  </m:ctrlPr>
                                </m:sSupPr>
                                <m:e>
                                  <m:r>
                                    <a:rPr lang="ar-AE" sz="1400" i="1"/>
                                    <m:t>𝑠</m:t>
                                  </m:r>
                                </m:e>
                                <m:sup>
                                  <m:r>
                                    <a:rPr lang="ar-AE" sz="1400"/>
                                    <m:t>′</m:t>
                                  </m:r>
                                </m:sup>
                              </m:sSup>
                            </m:e>
                            <m:e>
                              <m:r>
                                <a:rPr lang="ar-AE" sz="1400"/>
                                <m:t>∣</m:t>
                              </m:r>
                              <m:r>
                                <a:rPr lang="ar-AE" sz="1400" i="1"/>
                                <m:t>𝑠𝑎</m:t>
                              </m:r>
                            </m:e>
                          </m:d>
                          <m:r>
                            <m:rPr>
                              <m:nor/>
                            </m:rPr>
                            <a:rPr lang="ar-AE" sz="1400" i="1"/>
                            <m:t> </m:t>
                          </m:r>
                          <m:sSup>
                            <m:sSupPr>
                              <m:ctrlPr>
                                <a:rPr lang="ar-AE" sz="1400" i="1"/>
                              </m:ctrlPr>
                            </m:sSupPr>
                            <m:e>
                              <m:r>
                                <a:rPr lang="ar-AE" sz="1400" i="1"/>
                                <m:t>𝑉</m:t>
                              </m:r>
                            </m:e>
                            <m:sup>
                              <m:r>
                                <a:rPr lang="ar-AE" sz="1400" i="1"/>
                                <m:t>𝜋</m:t>
                              </m:r>
                            </m:sup>
                          </m:sSup>
                          <m:d>
                            <m:dPr>
                              <m:ctrlPr>
                                <a:rPr lang="ar-AE" sz="1400" i="1"/>
                              </m:ctrlPr>
                            </m:dPr>
                            <m:e>
                              <m:sSup>
                                <m:sSupPr>
                                  <m:ctrlPr>
                                    <a:rPr lang="ar-AE" sz="1400" i="1"/>
                                  </m:ctrlPr>
                                </m:sSupPr>
                                <m:e>
                                  <m:r>
                                    <a:rPr lang="ar-AE" sz="1400" i="1"/>
                                    <m:t>𝑠</m:t>
                                  </m:r>
                                </m:e>
                                <m:sup>
                                  <m:r>
                                    <a:rPr lang="ar-AE" sz="1400"/>
                                    <m:t>′</m:t>
                                  </m:r>
                                </m:sup>
                              </m:sSup>
                            </m:e>
                          </m:d>
                        </m:e>
                      </m:d>
                    </m:oMath>
                  </m:oMathPara>
                </a14:m>
                <a:endParaRPr lang="ar-AE" sz="1400" dirty="0"/>
              </a:p>
              <a:p>
                <a:r>
                  <a:rPr lang="en-US" sz="1400" dirty="0"/>
                  <a:t>If </a:t>
                </a:r>
                <a14:m>
                  <m:oMath xmlns:m="http://schemas.openxmlformats.org/officeDocument/2006/math">
                    <m:sSup>
                      <m:sSupPr>
                        <m:ctrlPr>
                          <a:rPr lang="ar-AE" sz="1400"/>
                        </m:ctrlPr>
                      </m:sSupPr>
                      <m:e>
                        <m:r>
                          <a:rPr lang="ar-AE" sz="1400" i="1"/>
                          <m:t>𝜋</m:t>
                        </m:r>
                      </m:e>
                      <m:sup>
                        <m:r>
                          <a:rPr lang="ar-AE" sz="1400"/>
                          <m:t>′</m:t>
                        </m:r>
                      </m:sup>
                    </m:sSup>
                    <m:r>
                      <a:rPr lang="ar-AE" sz="1400"/>
                      <m:t>=</m:t>
                    </m:r>
                    <m:r>
                      <a:rPr lang="ar-AE" sz="1400" i="1"/>
                      <m:t>𝜋</m:t>
                    </m:r>
                  </m:oMath>
                </a14:m>
                <a:r>
                  <a:rPr lang="ar-AE" sz="1400" dirty="0"/>
                  <a:t>, </a:t>
                </a:r>
                <a:r>
                  <a:rPr lang="en-US" sz="1400" dirty="0"/>
                  <a:t>the policy is optimal and:</a:t>
                </a:r>
              </a:p>
              <a:p>
                <a14:m>
                  <m:oMathPara xmlns:m="http://schemas.openxmlformats.org/officeDocument/2006/math">
                    <m:oMathParaPr>
                      <m:jc m:val="centerGroup"/>
                    </m:oMathParaPr>
                    <m:oMath xmlns:m="http://schemas.openxmlformats.org/officeDocument/2006/math">
                      <m:sSup>
                        <m:sSupPr>
                          <m:ctrlPr>
                            <a:rPr lang="ar-AE" sz="1400"/>
                          </m:ctrlPr>
                        </m:sSupPr>
                        <m:e>
                          <m:r>
                            <a:rPr lang="ar-AE" sz="1400" i="1"/>
                            <m:t>𝑉</m:t>
                          </m:r>
                        </m:e>
                        <m:sup>
                          <m:r>
                            <a:rPr lang="ar-AE" sz="1400" i="1"/>
                            <m:t>𝜋</m:t>
                          </m:r>
                        </m:sup>
                      </m:sSup>
                      <m:r>
                        <a:rPr lang="ar-AE" sz="1400"/>
                        <m:t>=</m:t>
                      </m:r>
                      <m:sSup>
                        <m:sSupPr>
                          <m:ctrlPr>
                            <a:rPr lang="ar-AE" sz="1400" i="1"/>
                          </m:ctrlPr>
                        </m:sSupPr>
                        <m:e>
                          <m:r>
                            <a:rPr lang="ar-AE" sz="1400" i="1"/>
                            <m:t>𝑉</m:t>
                          </m:r>
                        </m:e>
                        <m:sup>
                          <m:r>
                            <a:rPr lang="ar-AE" sz="1400"/>
                            <m:t>∗</m:t>
                          </m:r>
                        </m:sup>
                      </m:sSup>
                    </m:oMath>
                  </m:oMathPara>
                </a14:m>
                <a:endParaRPr lang="ar-AE" sz="1400" dirty="0"/>
              </a:p>
              <a:p>
                <a:endParaRPr lang="en-US" dirty="0"/>
              </a:p>
            </p:txBody>
          </p:sp>
        </mc:Choice>
        <mc:Fallback>
          <p:sp>
            <p:nvSpPr>
              <p:cNvPr id="3" name="Text Placeholder 2">
                <a:extLst>
                  <a:ext uri="{FF2B5EF4-FFF2-40B4-BE49-F238E27FC236}">
                    <a16:creationId xmlns:a16="http://schemas.microsoft.com/office/drawing/2014/main" id="{5306350F-F5A4-283D-0C02-563207DD64F9}"/>
                  </a:ext>
                </a:extLst>
              </p:cNvPr>
              <p:cNvSpPr>
                <a:spLocks noGrp="1" noRot="1" noChangeAspect="1" noMove="1" noResize="1" noEditPoints="1" noAdjustHandles="1" noChangeArrowheads="1" noChangeShapeType="1" noTextEdit="1"/>
              </p:cNvSpPr>
              <p:nvPr>
                <p:ph type="body" idx="1"/>
              </p:nvPr>
            </p:nvSpPr>
            <p:spPr>
              <a:xfrm>
                <a:off x="447549" y="1447800"/>
                <a:ext cx="10704956" cy="4826065"/>
              </a:xfrm>
              <a:blipFill>
                <a:blip r:embed="rId2"/>
                <a:stretch>
                  <a:fillRect l="-1025" t="-126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449E65CF-5B48-E0B1-65C7-94F84F1053B2}"/>
              </a:ext>
            </a:extLst>
          </p:cNvPr>
          <p:cNvPicPr>
            <a:picLocks noChangeAspect="1"/>
          </p:cNvPicPr>
          <p:nvPr/>
        </p:nvPicPr>
        <p:blipFill>
          <a:blip r:embed="rId3"/>
          <a:stretch>
            <a:fillRect/>
          </a:stretch>
        </p:blipFill>
        <p:spPr>
          <a:xfrm>
            <a:off x="8326841" y="1828800"/>
            <a:ext cx="3407959" cy="1048603"/>
          </a:xfrm>
          <a:prstGeom prst="rect">
            <a:avLst/>
          </a:prstGeom>
        </p:spPr>
      </p:pic>
    </p:spTree>
    <p:extLst>
      <p:ext uri="{BB962C8B-B14F-4D97-AF65-F5344CB8AC3E}">
        <p14:creationId xmlns:p14="http://schemas.microsoft.com/office/powerpoint/2010/main" val="1148111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1247</TotalTime>
  <Words>1511</Words>
  <Application>Microsoft Office PowerPoint</Application>
  <PresentationFormat>Widescreen</PresentationFormat>
  <Paragraphs>185</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 MT</vt:lpstr>
      <vt:lpstr>Calibri</vt:lpstr>
      <vt:lpstr>Calibri Light</vt:lpstr>
      <vt:lpstr>Times New Roman</vt:lpstr>
      <vt:lpstr>Wingdings</vt:lpstr>
      <vt:lpstr>Office Theme</vt:lpstr>
      <vt:lpstr>PowerPoint Presentation</vt:lpstr>
      <vt:lpstr>MDP Tuple</vt:lpstr>
      <vt:lpstr>State, Action, Transition Function, Policy, Reward</vt:lpstr>
      <vt:lpstr>Reward and Utility</vt:lpstr>
      <vt:lpstr>Reward and Utility</vt:lpstr>
      <vt:lpstr>Agent's Utility Function</vt:lpstr>
      <vt:lpstr>Goal</vt:lpstr>
      <vt:lpstr>Policy vs Value Iteration</vt:lpstr>
      <vt:lpstr>Quiz Game Show</vt:lpstr>
      <vt:lpstr>PowerPoint Presentation</vt:lpstr>
      <vt:lpstr>PowerPoint Presentation</vt:lpstr>
      <vt:lpstr>PowerPoint Presentation</vt:lpstr>
      <vt:lpstr>Transition Probabilities ?</vt:lpstr>
      <vt:lpstr>Other Parameters</vt:lpstr>
      <vt:lpstr>What is Bellman function – Value iteration?</vt:lpstr>
      <vt:lpstr>What is Bellman function – Policy iteration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Purdue University Northwest Hammond Computer Science CS 46200-1 Introduction to Artificial Intelligence Fall 2023 Lecture 2: Intelligent Agents Prof. Sayanti Roy sayantiroy@pnw.edu</dc:title>
  <dc:creator>Sayanti Roy</dc:creator>
  <cp:lastModifiedBy>Sayanti Roy</cp:lastModifiedBy>
  <cp:revision>6</cp:revision>
  <dcterms:created xsi:type="dcterms:W3CDTF">2026-01-20T16:55:16Z</dcterms:created>
  <dcterms:modified xsi:type="dcterms:W3CDTF">2026-01-27T15:11:13Z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2023-08-31T00:00:00Z</vt:filetime>
  </property>
  <property fmtid="{D5CDD505-2E9C-101B-9397-08002B2CF9AE}" pid="3" name="Creator">
    <vt:lpwstr>Microsoft® PowerPoint® for Microsoft 365</vt:lpwstr>
  </property>
  <property fmtid="{D5CDD505-2E9C-101B-9397-08002B2CF9AE}" pid="4" name="LastSaved">
    <vt:filetime>2026-01-20T00:00:00Z</vt:filetime>
  </property>
  <property fmtid="{D5CDD505-2E9C-101B-9397-08002B2CF9AE}" pid="5" name="Producer">
    <vt:lpwstr>Microsoft® PowerPoint® for Microsoft 365</vt:lpwstr>
  </property>
  <property fmtid="{D5CDD505-2E9C-101B-9397-08002B2CF9AE}" pid="6" name="MSIP_Label_f7606f69-b0ae-4874-be30-7d43a3c7be10_Enabled">
    <vt:lpwstr>true</vt:lpwstr>
  </property>
  <property fmtid="{D5CDD505-2E9C-101B-9397-08002B2CF9AE}" pid="7" name="MSIP_Label_f7606f69-b0ae-4874-be30-7d43a3c7be10_SetDate">
    <vt:lpwstr>2026-01-20T18:58:44Z</vt:lpwstr>
  </property>
  <property fmtid="{D5CDD505-2E9C-101B-9397-08002B2CF9AE}" pid="8" name="MSIP_Label_f7606f69-b0ae-4874-be30-7d43a3c7be10_Method">
    <vt:lpwstr>Standard</vt:lpwstr>
  </property>
  <property fmtid="{D5CDD505-2E9C-101B-9397-08002B2CF9AE}" pid="9" name="MSIP_Label_f7606f69-b0ae-4874-be30-7d43a3c7be10_Name">
    <vt:lpwstr>defa4170-0d19-0005-0001-bc88714345d2</vt:lpwstr>
  </property>
  <property fmtid="{D5CDD505-2E9C-101B-9397-08002B2CF9AE}" pid="10" name="MSIP_Label_f7606f69-b0ae-4874-be30-7d43a3c7be10_SiteId">
    <vt:lpwstr>4130bd39-7c53-419c-b1e5-8758d6d63f21</vt:lpwstr>
  </property>
  <property fmtid="{D5CDD505-2E9C-101B-9397-08002B2CF9AE}" pid="11" name="MSIP_Label_f7606f69-b0ae-4874-be30-7d43a3c7be10_ActionId">
    <vt:lpwstr>1f30cbf7-0a8f-477b-925b-a3a9ea9328d0</vt:lpwstr>
  </property>
  <property fmtid="{D5CDD505-2E9C-101B-9397-08002B2CF9AE}" pid="12" name="MSIP_Label_f7606f69-b0ae-4874-be30-7d43a3c7be10_ContentBits">
    <vt:lpwstr>0</vt:lpwstr>
  </property>
  <property fmtid="{D5CDD505-2E9C-101B-9397-08002B2CF9AE}" pid="13" name="MSIP_Label_f7606f69-b0ae-4874-be30-7d43a3c7be10_Tag">
    <vt:lpwstr>10, 3, 0, 1</vt:lpwstr>
  </property>
</Properties>
</file>