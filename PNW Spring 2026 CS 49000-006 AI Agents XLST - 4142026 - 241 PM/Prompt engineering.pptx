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6" r:id="rId15"/>
    <p:sldId id="272" r:id="rId16"/>
    <p:sldId id="269" r:id="rId17"/>
    <p:sldId id="270" r:id="rId18"/>
    <p:sldId id="271" r:id="rId19"/>
    <p:sldId id="273" r:id="rId20"/>
    <p:sldId id="274" r:id="rId21"/>
    <p:sldId id="275" r:id="rId22"/>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17" autoAdjust="0"/>
    <p:restoredTop sz="94660"/>
  </p:normalViewPr>
  <p:slideViewPr>
    <p:cSldViewPr>
      <p:cViewPr varScale="1">
        <p:scale>
          <a:sx n="200" d="100"/>
          <a:sy n="200" d="100"/>
        </p:scale>
        <p:origin x="636" y="12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_rels/data4.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sv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pn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_rels/drawing4.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sv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BBF33FB-B5CF-4B9E-9C03-3A61C6F1BCC3}" type="doc">
      <dgm:prSet loTypeId="urn:microsoft.com/office/officeart/2018/2/layout/IconLabelList" loCatId="icon" qsTypeId="urn:microsoft.com/office/officeart/2005/8/quickstyle/simple1" qsCatId="simple" csTypeId="urn:microsoft.com/office/officeart/2018/5/colors/Iconchunking_neutralbg_colorful2" csCatId="colorful" phldr="1"/>
      <dgm:spPr/>
      <dgm:t>
        <a:bodyPr/>
        <a:lstStyle/>
        <a:p>
          <a:endParaRPr lang="en-US"/>
        </a:p>
      </dgm:t>
    </dgm:pt>
    <dgm:pt modelId="{A1C2D7FF-8578-4927-9721-F6E9EB7C6A94}">
      <dgm:prSet/>
      <dgm:spPr/>
      <dgm:t>
        <a:bodyPr/>
        <a:lstStyle/>
        <a:p>
          <a:r>
            <a:rPr lang="en-US"/>
            <a:t>What Is a Prompt?</a:t>
          </a:r>
        </a:p>
      </dgm:t>
    </dgm:pt>
    <dgm:pt modelId="{DF9A9007-40C2-47E3-8F6D-D1F348DB7E1A}" type="parTrans" cxnId="{181BC49A-4A14-45E7-B960-5141474204DC}">
      <dgm:prSet/>
      <dgm:spPr/>
      <dgm:t>
        <a:bodyPr/>
        <a:lstStyle/>
        <a:p>
          <a:endParaRPr lang="en-US"/>
        </a:p>
      </dgm:t>
    </dgm:pt>
    <dgm:pt modelId="{B4C02232-4B8C-4169-B07A-3BECF719D9DA}" type="sibTrans" cxnId="{181BC49A-4A14-45E7-B960-5141474204DC}">
      <dgm:prSet/>
      <dgm:spPr/>
      <dgm:t>
        <a:bodyPr/>
        <a:lstStyle/>
        <a:p>
          <a:endParaRPr lang="en-US"/>
        </a:p>
      </dgm:t>
    </dgm:pt>
    <dgm:pt modelId="{59584E77-EB18-4167-BC9A-FC24BB25132F}">
      <dgm:prSet/>
      <dgm:spPr/>
      <dgm:t>
        <a:bodyPr/>
        <a:lstStyle/>
        <a:p>
          <a:r>
            <a:rPr lang="en-US"/>
            <a:t>Why need Prompt engineering ?</a:t>
          </a:r>
        </a:p>
      </dgm:t>
    </dgm:pt>
    <dgm:pt modelId="{EE520D7A-9F37-4473-85A8-2ACE9AC182DB}" type="parTrans" cxnId="{F6E2BD4F-50D2-4B91-9993-53507CE00BCA}">
      <dgm:prSet/>
      <dgm:spPr/>
      <dgm:t>
        <a:bodyPr/>
        <a:lstStyle/>
        <a:p>
          <a:endParaRPr lang="en-US"/>
        </a:p>
      </dgm:t>
    </dgm:pt>
    <dgm:pt modelId="{B956E593-0699-48BC-89C5-948E0292BD00}" type="sibTrans" cxnId="{F6E2BD4F-50D2-4B91-9993-53507CE00BCA}">
      <dgm:prSet/>
      <dgm:spPr/>
      <dgm:t>
        <a:bodyPr/>
        <a:lstStyle/>
        <a:p>
          <a:endParaRPr lang="en-US"/>
        </a:p>
      </dgm:t>
    </dgm:pt>
    <dgm:pt modelId="{DFE8A6F7-32F1-4D28-9736-DC34339D4E37}">
      <dgm:prSet/>
      <dgm:spPr/>
      <dgm:t>
        <a:bodyPr/>
        <a:lstStyle/>
        <a:p>
          <a:r>
            <a:rPr lang="en-US"/>
            <a:t>GEN AIs Project and Prompt engineering ?</a:t>
          </a:r>
        </a:p>
      </dgm:t>
    </dgm:pt>
    <dgm:pt modelId="{931DC423-215D-43BF-BBC5-C8C85E6350BE}" type="parTrans" cxnId="{03EDDD0F-0665-4C6C-A7B0-2767BFC23996}">
      <dgm:prSet/>
      <dgm:spPr/>
      <dgm:t>
        <a:bodyPr/>
        <a:lstStyle/>
        <a:p>
          <a:endParaRPr lang="en-US"/>
        </a:p>
      </dgm:t>
    </dgm:pt>
    <dgm:pt modelId="{2423D0E4-E1F6-4890-8CCC-3B28179ACE0D}" type="sibTrans" cxnId="{03EDDD0F-0665-4C6C-A7B0-2767BFC23996}">
      <dgm:prSet/>
      <dgm:spPr/>
      <dgm:t>
        <a:bodyPr/>
        <a:lstStyle/>
        <a:p>
          <a:endParaRPr lang="en-US"/>
        </a:p>
      </dgm:t>
    </dgm:pt>
    <dgm:pt modelId="{EE33F6B6-8725-44AA-9C6F-ECB8152D79DB}" type="pres">
      <dgm:prSet presAssocID="{ABBF33FB-B5CF-4B9E-9C03-3A61C6F1BCC3}" presName="root" presStyleCnt="0">
        <dgm:presLayoutVars>
          <dgm:dir/>
          <dgm:resizeHandles val="exact"/>
        </dgm:presLayoutVars>
      </dgm:prSet>
      <dgm:spPr/>
    </dgm:pt>
    <dgm:pt modelId="{FC904F1E-361B-4EC7-9F75-7CB1D7E77002}" type="pres">
      <dgm:prSet presAssocID="{A1C2D7FF-8578-4927-9721-F6E9EB7C6A94}" presName="compNode" presStyleCnt="0"/>
      <dgm:spPr/>
    </dgm:pt>
    <dgm:pt modelId="{5BD890FD-46D3-4D5A-A4B7-0EA46799981F}" type="pres">
      <dgm:prSet presAssocID="{A1C2D7FF-8578-4927-9721-F6E9EB7C6A9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CE45CB62-A723-4E68-97CD-53985B48F78B}" type="pres">
      <dgm:prSet presAssocID="{A1C2D7FF-8578-4927-9721-F6E9EB7C6A94}" presName="spaceRect" presStyleCnt="0"/>
      <dgm:spPr/>
    </dgm:pt>
    <dgm:pt modelId="{530121F0-7E95-48A3-B156-CCBA7310EE09}" type="pres">
      <dgm:prSet presAssocID="{A1C2D7FF-8578-4927-9721-F6E9EB7C6A94}" presName="textRect" presStyleLbl="revTx" presStyleIdx="0" presStyleCnt="3">
        <dgm:presLayoutVars>
          <dgm:chMax val="1"/>
          <dgm:chPref val="1"/>
        </dgm:presLayoutVars>
      </dgm:prSet>
      <dgm:spPr/>
    </dgm:pt>
    <dgm:pt modelId="{02578049-B4E9-4DAD-8800-716F5D06C948}" type="pres">
      <dgm:prSet presAssocID="{B4C02232-4B8C-4169-B07A-3BECF719D9DA}" presName="sibTrans" presStyleCnt="0"/>
      <dgm:spPr/>
    </dgm:pt>
    <dgm:pt modelId="{EC9A600E-D0C3-4190-B2C2-CF829E4C7343}" type="pres">
      <dgm:prSet presAssocID="{59584E77-EB18-4167-BC9A-FC24BB25132F}" presName="compNode" presStyleCnt="0"/>
      <dgm:spPr/>
    </dgm:pt>
    <dgm:pt modelId="{FC319054-2A75-449A-8E3F-634E88361828}" type="pres">
      <dgm:prSet presAssocID="{59584E77-EB18-4167-BC9A-FC24BB25132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C7C9B028-3B9C-4D40-9870-F4320C280A51}" type="pres">
      <dgm:prSet presAssocID="{59584E77-EB18-4167-BC9A-FC24BB25132F}" presName="spaceRect" presStyleCnt="0"/>
      <dgm:spPr/>
    </dgm:pt>
    <dgm:pt modelId="{F7850432-5814-4950-A077-1F03CED53178}" type="pres">
      <dgm:prSet presAssocID="{59584E77-EB18-4167-BC9A-FC24BB25132F}" presName="textRect" presStyleLbl="revTx" presStyleIdx="1" presStyleCnt="3">
        <dgm:presLayoutVars>
          <dgm:chMax val="1"/>
          <dgm:chPref val="1"/>
        </dgm:presLayoutVars>
      </dgm:prSet>
      <dgm:spPr/>
    </dgm:pt>
    <dgm:pt modelId="{CCC06733-38F5-481D-801A-448DDE84170D}" type="pres">
      <dgm:prSet presAssocID="{B956E593-0699-48BC-89C5-948E0292BD00}" presName="sibTrans" presStyleCnt="0"/>
      <dgm:spPr/>
    </dgm:pt>
    <dgm:pt modelId="{1CD21473-4A2D-4731-84DA-7F860E7A6E11}" type="pres">
      <dgm:prSet presAssocID="{DFE8A6F7-32F1-4D28-9736-DC34339D4E37}" presName="compNode" presStyleCnt="0"/>
      <dgm:spPr/>
    </dgm:pt>
    <dgm:pt modelId="{CAF8742B-22CA-4656-966F-3BCDDF78E1EE}" type="pres">
      <dgm:prSet presAssocID="{DFE8A6F7-32F1-4D28-9736-DC34339D4E3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C256E841-0337-4230-AA96-ECFB36E0A212}" type="pres">
      <dgm:prSet presAssocID="{DFE8A6F7-32F1-4D28-9736-DC34339D4E37}" presName="spaceRect" presStyleCnt="0"/>
      <dgm:spPr/>
    </dgm:pt>
    <dgm:pt modelId="{BB3902B2-536B-425E-B1F5-92ADD7A0FCA1}" type="pres">
      <dgm:prSet presAssocID="{DFE8A6F7-32F1-4D28-9736-DC34339D4E37}" presName="textRect" presStyleLbl="revTx" presStyleIdx="2" presStyleCnt="3">
        <dgm:presLayoutVars>
          <dgm:chMax val="1"/>
          <dgm:chPref val="1"/>
        </dgm:presLayoutVars>
      </dgm:prSet>
      <dgm:spPr/>
    </dgm:pt>
  </dgm:ptLst>
  <dgm:cxnLst>
    <dgm:cxn modelId="{03EDDD0F-0665-4C6C-A7B0-2767BFC23996}" srcId="{ABBF33FB-B5CF-4B9E-9C03-3A61C6F1BCC3}" destId="{DFE8A6F7-32F1-4D28-9736-DC34339D4E37}" srcOrd="2" destOrd="0" parTransId="{931DC423-215D-43BF-BBC5-C8C85E6350BE}" sibTransId="{2423D0E4-E1F6-4890-8CCC-3B28179ACE0D}"/>
    <dgm:cxn modelId="{0DE34C1D-75C7-40AD-99DD-C4FD78B271AF}" type="presOf" srcId="{DFE8A6F7-32F1-4D28-9736-DC34339D4E37}" destId="{BB3902B2-536B-425E-B1F5-92ADD7A0FCA1}" srcOrd="0" destOrd="0" presId="urn:microsoft.com/office/officeart/2018/2/layout/IconLabelList"/>
    <dgm:cxn modelId="{EECC3922-A55F-4663-AEEB-1AAD418E6199}" type="presOf" srcId="{A1C2D7FF-8578-4927-9721-F6E9EB7C6A94}" destId="{530121F0-7E95-48A3-B156-CCBA7310EE09}" srcOrd="0" destOrd="0" presId="urn:microsoft.com/office/officeart/2018/2/layout/IconLabelList"/>
    <dgm:cxn modelId="{DC869D31-284F-4F78-870F-3942AD9436B2}" type="presOf" srcId="{59584E77-EB18-4167-BC9A-FC24BB25132F}" destId="{F7850432-5814-4950-A077-1F03CED53178}" srcOrd="0" destOrd="0" presId="urn:microsoft.com/office/officeart/2018/2/layout/IconLabelList"/>
    <dgm:cxn modelId="{F6E2BD4F-50D2-4B91-9993-53507CE00BCA}" srcId="{ABBF33FB-B5CF-4B9E-9C03-3A61C6F1BCC3}" destId="{59584E77-EB18-4167-BC9A-FC24BB25132F}" srcOrd="1" destOrd="0" parTransId="{EE520D7A-9F37-4473-85A8-2ACE9AC182DB}" sibTransId="{B956E593-0699-48BC-89C5-948E0292BD00}"/>
    <dgm:cxn modelId="{01D7917A-ACFE-404D-B5CD-4A6434CC5C20}" type="presOf" srcId="{ABBF33FB-B5CF-4B9E-9C03-3A61C6F1BCC3}" destId="{EE33F6B6-8725-44AA-9C6F-ECB8152D79DB}" srcOrd="0" destOrd="0" presId="urn:microsoft.com/office/officeart/2018/2/layout/IconLabelList"/>
    <dgm:cxn modelId="{181BC49A-4A14-45E7-B960-5141474204DC}" srcId="{ABBF33FB-B5CF-4B9E-9C03-3A61C6F1BCC3}" destId="{A1C2D7FF-8578-4927-9721-F6E9EB7C6A94}" srcOrd="0" destOrd="0" parTransId="{DF9A9007-40C2-47E3-8F6D-D1F348DB7E1A}" sibTransId="{B4C02232-4B8C-4169-B07A-3BECF719D9DA}"/>
    <dgm:cxn modelId="{B1255F91-51C1-4A89-A1D9-82AC29534E90}" type="presParOf" srcId="{EE33F6B6-8725-44AA-9C6F-ECB8152D79DB}" destId="{FC904F1E-361B-4EC7-9F75-7CB1D7E77002}" srcOrd="0" destOrd="0" presId="urn:microsoft.com/office/officeart/2018/2/layout/IconLabelList"/>
    <dgm:cxn modelId="{03A21A41-E36B-40C9-9FCC-164FD8C2A5F5}" type="presParOf" srcId="{FC904F1E-361B-4EC7-9F75-7CB1D7E77002}" destId="{5BD890FD-46D3-4D5A-A4B7-0EA46799981F}" srcOrd="0" destOrd="0" presId="urn:microsoft.com/office/officeart/2018/2/layout/IconLabelList"/>
    <dgm:cxn modelId="{8E497B00-BB8B-42C0-9A20-F83DB58C657D}" type="presParOf" srcId="{FC904F1E-361B-4EC7-9F75-7CB1D7E77002}" destId="{CE45CB62-A723-4E68-97CD-53985B48F78B}" srcOrd="1" destOrd="0" presId="urn:microsoft.com/office/officeart/2018/2/layout/IconLabelList"/>
    <dgm:cxn modelId="{65F8E107-D309-42D5-81A0-09C19E878622}" type="presParOf" srcId="{FC904F1E-361B-4EC7-9F75-7CB1D7E77002}" destId="{530121F0-7E95-48A3-B156-CCBA7310EE09}" srcOrd="2" destOrd="0" presId="urn:microsoft.com/office/officeart/2018/2/layout/IconLabelList"/>
    <dgm:cxn modelId="{A82F3D54-8A5F-4DE4-A480-5CAE1F38EC53}" type="presParOf" srcId="{EE33F6B6-8725-44AA-9C6F-ECB8152D79DB}" destId="{02578049-B4E9-4DAD-8800-716F5D06C948}" srcOrd="1" destOrd="0" presId="urn:microsoft.com/office/officeart/2018/2/layout/IconLabelList"/>
    <dgm:cxn modelId="{5A25E4B5-6898-42B7-B561-E6381032CDB1}" type="presParOf" srcId="{EE33F6B6-8725-44AA-9C6F-ECB8152D79DB}" destId="{EC9A600E-D0C3-4190-B2C2-CF829E4C7343}" srcOrd="2" destOrd="0" presId="urn:microsoft.com/office/officeart/2018/2/layout/IconLabelList"/>
    <dgm:cxn modelId="{3FBE78A6-CD74-4F11-9BF7-23D6394207C4}" type="presParOf" srcId="{EC9A600E-D0C3-4190-B2C2-CF829E4C7343}" destId="{FC319054-2A75-449A-8E3F-634E88361828}" srcOrd="0" destOrd="0" presId="urn:microsoft.com/office/officeart/2018/2/layout/IconLabelList"/>
    <dgm:cxn modelId="{F4697B44-7CB4-4E2C-A388-E06626C7DC7C}" type="presParOf" srcId="{EC9A600E-D0C3-4190-B2C2-CF829E4C7343}" destId="{C7C9B028-3B9C-4D40-9870-F4320C280A51}" srcOrd="1" destOrd="0" presId="urn:microsoft.com/office/officeart/2018/2/layout/IconLabelList"/>
    <dgm:cxn modelId="{F5FFF824-7291-4346-A607-CF476E28AD36}" type="presParOf" srcId="{EC9A600E-D0C3-4190-B2C2-CF829E4C7343}" destId="{F7850432-5814-4950-A077-1F03CED53178}" srcOrd="2" destOrd="0" presId="urn:microsoft.com/office/officeart/2018/2/layout/IconLabelList"/>
    <dgm:cxn modelId="{39FE7A9E-5F72-4207-8117-05B6ECC0A33F}" type="presParOf" srcId="{EE33F6B6-8725-44AA-9C6F-ECB8152D79DB}" destId="{CCC06733-38F5-481D-801A-448DDE84170D}" srcOrd="3" destOrd="0" presId="urn:microsoft.com/office/officeart/2018/2/layout/IconLabelList"/>
    <dgm:cxn modelId="{60F5D9AA-E4AC-4255-8D1B-A680CE79A796}" type="presParOf" srcId="{EE33F6B6-8725-44AA-9C6F-ECB8152D79DB}" destId="{1CD21473-4A2D-4731-84DA-7F860E7A6E11}" srcOrd="4" destOrd="0" presId="urn:microsoft.com/office/officeart/2018/2/layout/IconLabelList"/>
    <dgm:cxn modelId="{C6B6C112-D4E1-4203-A50B-827537624BAE}" type="presParOf" srcId="{1CD21473-4A2D-4731-84DA-7F860E7A6E11}" destId="{CAF8742B-22CA-4656-966F-3BCDDF78E1EE}" srcOrd="0" destOrd="0" presId="urn:microsoft.com/office/officeart/2018/2/layout/IconLabelList"/>
    <dgm:cxn modelId="{AFD1B338-8A5C-4242-A537-79A172633275}" type="presParOf" srcId="{1CD21473-4A2D-4731-84DA-7F860E7A6E11}" destId="{C256E841-0337-4230-AA96-ECFB36E0A212}" srcOrd="1" destOrd="0" presId="urn:microsoft.com/office/officeart/2018/2/layout/IconLabelList"/>
    <dgm:cxn modelId="{2D9A2F6D-356F-4250-8AD0-CAC93B708E74}" type="presParOf" srcId="{1CD21473-4A2D-4731-84DA-7F860E7A6E11}" destId="{BB3902B2-536B-425E-B1F5-92ADD7A0FCA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DA05E7E-B026-4F77-B510-22A80691C99A}"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DB5B384D-6B57-47B2-92A4-332A2E391ECD}">
      <dgm:prSet/>
      <dgm:spPr/>
      <dgm:t>
        <a:bodyPr/>
        <a:lstStyle/>
        <a:p>
          <a:r>
            <a:rPr lang="en-US"/>
            <a:t>One of the significant capabilities of generative AI models is that their output closely resembles what a human can produce. Relevant, contextual, imaginative, nuanced, and linguistically accurate and one of the critical factors in generating this output is prompt.</a:t>
          </a:r>
        </a:p>
      </dgm:t>
    </dgm:pt>
    <dgm:pt modelId="{1576D649-5D2B-45EE-9361-27F3903E6721}" type="parTrans" cxnId="{F23C998E-58CC-4E15-9C23-0B68F3FC728A}">
      <dgm:prSet/>
      <dgm:spPr/>
      <dgm:t>
        <a:bodyPr/>
        <a:lstStyle/>
        <a:p>
          <a:endParaRPr lang="en-US"/>
        </a:p>
      </dgm:t>
    </dgm:pt>
    <dgm:pt modelId="{DE537BB1-4857-4EF3-A8E4-95FD8AB70CA6}" type="sibTrans" cxnId="{F23C998E-58CC-4E15-9C23-0B68F3FC728A}">
      <dgm:prSet/>
      <dgm:spPr/>
      <dgm:t>
        <a:bodyPr/>
        <a:lstStyle/>
        <a:p>
          <a:endParaRPr lang="en-US"/>
        </a:p>
      </dgm:t>
    </dgm:pt>
    <dgm:pt modelId="{43F7DC5C-BA78-4993-9619-A1B695F4F3BE}">
      <dgm:prSet/>
      <dgm:spPr/>
      <dgm:t>
        <a:bodyPr/>
        <a:lstStyle/>
        <a:p>
          <a:r>
            <a:rPr lang="en-US" b="1"/>
            <a:t>What is a prompt? A prompt is any input you provide to a generative model to produce a desired output.</a:t>
          </a:r>
          <a:endParaRPr lang="en-US"/>
        </a:p>
      </dgm:t>
    </dgm:pt>
    <dgm:pt modelId="{9BB6BBFC-A2E1-44FA-848E-A36FA42461EA}" type="parTrans" cxnId="{88E92806-ADCC-468C-97A5-39685C37DEA5}">
      <dgm:prSet/>
      <dgm:spPr/>
      <dgm:t>
        <a:bodyPr/>
        <a:lstStyle/>
        <a:p>
          <a:endParaRPr lang="en-US"/>
        </a:p>
      </dgm:t>
    </dgm:pt>
    <dgm:pt modelId="{D967808C-9127-440B-B9FD-267FC645EB0C}" type="sibTrans" cxnId="{88E92806-ADCC-468C-97A5-39685C37DEA5}">
      <dgm:prSet/>
      <dgm:spPr/>
      <dgm:t>
        <a:bodyPr/>
        <a:lstStyle/>
        <a:p>
          <a:endParaRPr lang="en-US"/>
        </a:p>
      </dgm:t>
    </dgm:pt>
    <dgm:pt modelId="{73B584F1-DDB2-4DD2-9FE8-FA877DAAF400}">
      <dgm:prSet/>
      <dgm:spPr/>
      <dgm:t>
        <a:bodyPr/>
        <a:lstStyle/>
        <a:p>
          <a:r>
            <a:rPr lang="en-US"/>
            <a:t>You can think of it as an instruction you provide to the model.</a:t>
          </a:r>
        </a:p>
      </dgm:t>
    </dgm:pt>
    <dgm:pt modelId="{05494DB7-1795-4591-B801-7724D84405FD}" type="parTrans" cxnId="{5055EA20-6671-4430-BFCC-D572F74AD0F1}">
      <dgm:prSet/>
      <dgm:spPr/>
      <dgm:t>
        <a:bodyPr/>
        <a:lstStyle/>
        <a:p>
          <a:endParaRPr lang="en-US"/>
        </a:p>
      </dgm:t>
    </dgm:pt>
    <dgm:pt modelId="{5B547687-6C04-4C66-9867-99B1D8B87396}" type="sibTrans" cxnId="{5055EA20-6671-4430-BFCC-D572F74AD0F1}">
      <dgm:prSet/>
      <dgm:spPr/>
      <dgm:t>
        <a:bodyPr/>
        <a:lstStyle/>
        <a:p>
          <a:endParaRPr lang="en-US"/>
        </a:p>
      </dgm:t>
    </dgm:pt>
    <dgm:pt modelId="{898B96A5-FEB2-459A-B262-E8DEFE5A5227}">
      <dgm:prSet/>
      <dgm:spPr/>
      <dgm:t>
        <a:bodyPr/>
        <a:lstStyle/>
        <a:p>
          <a:r>
            <a:rPr lang="en-US"/>
            <a:t>For example, write a small paragraph describing your favorite holiday destination.</a:t>
          </a:r>
        </a:p>
      </dgm:t>
    </dgm:pt>
    <dgm:pt modelId="{8A73836E-1116-4976-B4B1-05DD077CF7A0}" type="parTrans" cxnId="{9E2538D1-3837-4831-84CF-89B114BC70C8}">
      <dgm:prSet/>
      <dgm:spPr/>
      <dgm:t>
        <a:bodyPr/>
        <a:lstStyle/>
        <a:p>
          <a:endParaRPr lang="en-US"/>
        </a:p>
      </dgm:t>
    </dgm:pt>
    <dgm:pt modelId="{E57B16D8-CDB1-4D37-884B-67C21BBF0E5C}" type="sibTrans" cxnId="{9E2538D1-3837-4831-84CF-89B114BC70C8}">
      <dgm:prSet/>
      <dgm:spPr/>
      <dgm:t>
        <a:bodyPr/>
        <a:lstStyle/>
        <a:p>
          <a:endParaRPr lang="en-US"/>
        </a:p>
      </dgm:t>
    </dgm:pt>
    <dgm:pt modelId="{098EBD01-7ADE-4308-B58B-7295C9C5057D}">
      <dgm:prSet/>
      <dgm:spPr/>
      <dgm:t>
        <a:bodyPr/>
        <a:lstStyle/>
        <a:p>
          <a:r>
            <a:rPr lang="en-US" b="1"/>
            <a:t>Write HTML code to generate a dropdown selection of cities within an online form.</a:t>
          </a:r>
          <a:endParaRPr lang="en-US"/>
        </a:p>
      </dgm:t>
    </dgm:pt>
    <dgm:pt modelId="{DAA18546-36D4-4579-AA81-8F578CE75DE3}" type="parTrans" cxnId="{579DFF2F-5805-472A-9F4D-D051089D23C4}">
      <dgm:prSet/>
      <dgm:spPr/>
      <dgm:t>
        <a:bodyPr/>
        <a:lstStyle/>
        <a:p>
          <a:endParaRPr lang="en-US"/>
        </a:p>
      </dgm:t>
    </dgm:pt>
    <dgm:pt modelId="{390DC489-4C51-471E-8F55-BBB61456C044}" type="sibTrans" cxnId="{579DFF2F-5805-472A-9F4D-D051089D23C4}">
      <dgm:prSet/>
      <dgm:spPr/>
      <dgm:t>
        <a:bodyPr/>
        <a:lstStyle/>
        <a:p>
          <a:endParaRPr lang="en-US"/>
        </a:p>
      </dgm:t>
    </dgm:pt>
    <dgm:pt modelId="{B7D7CA80-DBAB-4D6C-A53F-D885F73D8DE3}">
      <dgm:prSet/>
      <dgm:spPr/>
      <dgm:t>
        <a:bodyPr/>
        <a:lstStyle/>
        <a:p>
          <a:r>
            <a:rPr lang="en-US"/>
            <a:t>These are straightforward prompts used to produce a specific output. Prompts can also be a series of instructions that refine the output step by step to achieve the desired result.</a:t>
          </a:r>
        </a:p>
      </dgm:t>
    </dgm:pt>
    <dgm:pt modelId="{3B185F12-07CA-4D05-9474-BA6F5E21A0F0}" type="parTrans" cxnId="{DB6B8785-65C1-4834-B792-A854A4341AB0}">
      <dgm:prSet/>
      <dgm:spPr/>
      <dgm:t>
        <a:bodyPr/>
        <a:lstStyle/>
        <a:p>
          <a:endParaRPr lang="en-US"/>
        </a:p>
      </dgm:t>
    </dgm:pt>
    <dgm:pt modelId="{58611EF7-65E3-4EF8-A543-76DB8C4ACB9D}" type="sibTrans" cxnId="{DB6B8785-65C1-4834-B792-A854A4341AB0}">
      <dgm:prSet/>
      <dgm:spPr/>
      <dgm:t>
        <a:bodyPr/>
        <a:lstStyle/>
        <a:p>
          <a:endParaRPr lang="en-US"/>
        </a:p>
      </dgm:t>
    </dgm:pt>
    <dgm:pt modelId="{C134D5A7-0E5B-442D-98C5-1BB3F1B702FD}">
      <dgm:prSet/>
      <dgm:spPr/>
      <dgm:t>
        <a:bodyPr/>
        <a:lstStyle/>
        <a:p>
          <a:r>
            <a:rPr lang="en-US" b="1"/>
            <a:t>For example, write a short story about a scientist studying life on Mars. What were some of the challenges he faced during his research?</a:t>
          </a:r>
          <a:endParaRPr lang="en-US"/>
        </a:p>
      </dgm:t>
    </dgm:pt>
    <dgm:pt modelId="{A7EDE5F0-4B5A-4AE1-BCA8-BA9F7B76D023}" type="parTrans" cxnId="{89C853CE-2312-49CE-97D2-31683339967A}">
      <dgm:prSet/>
      <dgm:spPr/>
      <dgm:t>
        <a:bodyPr/>
        <a:lstStyle/>
        <a:p>
          <a:endParaRPr lang="en-US"/>
        </a:p>
      </dgm:t>
    </dgm:pt>
    <dgm:pt modelId="{C33E70BA-5BB0-4DA1-A7A9-B0FB477AECD3}" type="sibTrans" cxnId="{89C853CE-2312-49CE-97D2-31683339967A}">
      <dgm:prSet/>
      <dgm:spPr/>
      <dgm:t>
        <a:bodyPr/>
        <a:lstStyle/>
        <a:p>
          <a:endParaRPr lang="en-US"/>
        </a:p>
      </dgm:t>
    </dgm:pt>
    <dgm:pt modelId="{B5DE4536-B366-42E9-AEF2-20BFB6916D14}">
      <dgm:prSet/>
      <dgm:spPr/>
      <dgm:t>
        <a:bodyPr/>
        <a:lstStyle/>
        <a:p>
          <a:r>
            <a:rPr lang="en-US"/>
            <a:t>With these examples, it is clear that prompts contain questions, contextual text, guiding patterns or examples, and partial input for the model.</a:t>
          </a:r>
        </a:p>
      </dgm:t>
    </dgm:pt>
    <dgm:pt modelId="{3E4B7B0A-CE55-41FC-9569-53DCE6CC7FFF}" type="parTrans" cxnId="{9607FFB4-F8A5-4958-9EFD-C77733A8427D}">
      <dgm:prSet/>
      <dgm:spPr/>
      <dgm:t>
        <a:bodyPr/>
        <a:lstStyle/>
        <a:p>
          <a:endParaRPr lang="en-US"/>
        </a:p>
      </dgm:t>
    </dgm:pt>
    <dgm:pt modelId="{F8E3BAA5-4997-4597-8E8D-6590DA51D923}" type="sibTrans" cxnId="{9607FFB4-F8A5-4958-9EFD-C77733A8427D}">
      <dgm:prSet/>
      <dgm:spPr/>
      <dgm:t>
        <a:bodyPr/>
        <a:lstStyle/>
        <a:p>
          <a:endParaRPr lang="en-US"/>
        </a:p>
      </dgm:t>
    </dgm:pt>
    <dgm:pt modelId="{4538238B-15D9-41CC-A406-6106A8DE2480}">
      <dgm:prSet/>
      <dgm:spPr/>
      <dgm:t>
        <a:bodyPr/>
        <a:lstStyle/>
        <a:p>
          <a:r>
            <a:rPr lang="en-US"/>
            <a:t>Based on these natural language requests submitted as prompts, generative AI models collect information, derive inferences, and provide creative solutions.</a:t>
          </a:r>
        </a:p>
      </dgm:t>
    </dgm:pt>
    <dgm:pt modelId="{5A101178-086A-40EF-87C4-9E2429C6CA02}" type="parTrans" cxnId="{16BCAA05-8B1E-4DFC-95F5-1430C24E0221}">
      <dgm:prSet/>
      <dgm:spPr/>
      <dgm:t>
        <a:bodyPr/>
        <a:lstStyle/>
        <a:p>
          <a:endParaRPr lang="en-US"/>
        </a:p>
      </dgm:t>
    </dgm:pt>
    <dgm:pt modelId="{BB5D118C-C438-45CD-9D8C-B2CB099F94A3}" type="sibTrans" cxnId="{16BCAA05-8B1E-4DFC-95F5-1430C24E0221}">
      <dgm:prSet/>
      <dgm:spPr/>
      <dgm:t>
        <a:bodyPr/>
        <a:lstStyle/>
        <a:p>
          <a:endParaRPr lang="en-US"/>
        </a:p>
      </dgm:t>
    </dgm:pt>
    <dgm:pt modelId="{7FD56683-EF74-4D15-84ED-1636908F17C7}">
      <dgm:prSet/>
      <dgm:spPr/>
      <dgm:t>
        <a:bodyPr/>
        <a:lstStyle/>
        <a:p>
          <a:r>
            <a:rPr lang="en-US"/>
            <a:t>These instructions help the model produce relevant and logical responses or output based on provided inputs. Let's look at some more examples to help us understand this better.</a:t>
          </a:r>
        </a:p>
      </dgm:t>
    </dgm:pt>
    <dgm:pt modelId="{FA20E5C7-0B6F-4DDC-B6F9-B233B3AB4299}" type="parTrans" cxnId="{C094EE83-4C4B-44DF-BF62-07F990158B05}">
      <dgm:prSet/>
      <dgm:spPr/>
      <dgm:t>
        <a:bodyPr/>
        <a:lstStyle/>
        <a:p>
          <a:endParaRPr lang="en-US"/>
        </a:p>
      </dgm:t>
    </dgm:pt>
    <dgm:pt modelId="{7B4BC3EB-4EEC-42ED-BFC7-136429E6416E}" type="sibTrans" cxnId="{C094EE83-4C4B-44DF-BF62-07F990158B05}">
      <dgm:prSet/>
      <dgm:spPr/>
      <dgm:t>
        <a:bodyPr/>
        <a:lstStyle/>
        <a:p>
          <a:endParaRPr lang="en-US"/>
        </a:p>
      </dgm:t>
    </dgm:pt>
    <dgm:pt modelId="{2F46C4BC-10B4-49BC-8E71-505C507FD26F}">
      <dgm:prSet/>
      <dgm:spPr/>
      <dgm:t>
        <a:bodyPr/>
        <a:lstStyle/>
        <a:p>
          <a:r>
            <a:rPr lang="en-US"/>
            <a:t>Suppose you want the model to write a short story about the struggles and achievements of a farmer who became a successful businessman in 10 years. If your prompt is rich man's story from a small town, his struggles and achievements, it'll produce a generic output.</a:t>
          </a:r>
        </a:p>
      </dgm:t>
    </dgm:pt>
    <dgm:pt modelId="{BE1C1875-DCE7-4D86-877C-0095DD444AFD}" type="parTrans" cxnId="{CA040DD0-5BB4-456A-874D-7B60199FEF56}">
      <dgm:prSet/>
      <dgm:spPr/>
      <dgm:t>
        <a:bodyPr/>
        <a:lstStyle/>
        <a:p>
          <a:endParaRPr lang="en-US"/>
        </a:p>
      </dgm:t>
    </dgm:pt>
    <dgm:pt modelId="{498D674D-66FA-4500-9557-FC718A981658}" type="sibTrans" cxnId="{CA040DD0-5BB4-456A-874D-7B60199FEF56}">
      <dgm:prSet/>
      <dgm:spPr/>
      <dgm:t>
        <a:bodyPr/>
        <a:lstStyle/>
        <a:p>
          <a:endParaRPr lang="en-US"/>
        </a:p>
      </dgm:t>
    </dgm:pt>
    <dgm:pt modelId="{20665DCB-39AC-44DE-9740-885BF987797F}">
      <dgm:prSet/>
      <dgm:spPr/>
      <dgm:t>
        <a:bodyPr/>
        <a:lstStyle/>
        <a:p>
          <a:r>
            <a:rPr lang="en-US" b="1"/>
            <a:t>As this is what we call naive prompting.</a:t>
          </a:r>
          <a:endParaRPr lang="en-US"/>
        </a:p>
      </dgm:t>
    </dgm:pt>
    <dgm:pt modelId="{9E8A26D1-A5EE-431F-8280-D61AE7037CB7}" type="parTrans" cxnId="{5816E748-2954-43FF-B6D6-7FC737B0B6EC}">
      <dgm:prSet/>
      <dgm:spPr/>
      <dgm:t>
        <a:bodyPr/>
        <a:lstStyle/>
        <a:p>
          <a:endParaRPr lang="en-US"/>
        </a:p>
      </dgm:t>
    </dgm:pt>
    <dgm:pt modelId="{6D7F260E-1954-423B-9DDA-385C1BE9AA9C}" type="sibTrans" cxnId="{5816E748-2954-43FF-B6D6-7FC737B0B6EC}">
      <dgm:prSet/>
      <dgm:spPr/>
      <dgm:t>
        <a:bodyPr/>
        <a:lstStyle/>
        <a:p>
          <a:endParaRPr lang="en-US"/>
        </a:p>
      </dgm:t>
    </dgm:pt>
    <dgm:pt modelId="{47147799-0021-4BB5-B3BD-0E99431DD2AC}" type="pres">
      <dgm:prSet presAssocID="{4DA05E7E-B026-4F77-B510-22A80691C99A}" presName="diagram" presStyleCnt="0">
        <dgm:presLayoutVars>
          <dgm:dir/>
          <dgm:resizeHandles val="exact"/>
        </dgm:presLayoutVars>
      </dgm:prSet>
      <dgm:spPr/>
    </dgm:pt>
    <dgm:pt modelId="{1C8E4172-57E3-4861-BD95-E25E5A1203A0}" type="pres">
      <dgm:prSet presAssocID="{DB5B384D-6B57-47B2-92A4-332A2E391ECD}" presName="node" presStyleLbl="node1" presStyleIdx="0" presStyleCnt="12">
        <dgm:presLayoutVars>
          <dgm:bulletEnabled val="1"/>
        </dgm:presLayoutVars>
      </dgm:prSet>
      <dgm:spPr/>
    </dgm:pt>
    <dgm:pt modelId="{776654ED-B00D-4605-B22A-9C3181E795CD}" type="pres">
      <dgm:prSet presAssocID="{DE537BB1-4857-4EF3-A8E4-95FD8AB70CA6}" presName="sibTrans" presStyleCnt="0"/>
      <dgm:spPr/>
    </dgm:pt>
    <dgm:pt modelId="{6F465931-50CD-401D-A9F9-E7E80F4DD6A8}" type="pres">
      <dgm:prSet presAssocID="{43F7DC5C-BA78-4993-9619-A1B695F4F3BE}" presName="node" presStyleLbl="node1" presStyleIdx="1" presStyleCnt="12">
        <dgm:presLayoutVars>
          <dgm:bulletEnabled val="1"/>
        </dgm:presLayoutVars>
      </dgm:prSet>
      <dgm:spPr/>
    </dgm:pt>
    <dgm:pt modelId="{85EB8E0A-FAD3-454C-90A7-04D6B7D0DEA1}" type="pres">
      <dgm:prSet presAssocID="{D967808C-9127-440B-B9FD-267FC645EB0C}" presName="sibTrans" presStyleCnt="0"/>
      <dgm:spPr/>
    </dgm:pt>
    <dgm:pt modelId="{86632F8A-72C8-4368-A1EA-068A673395CF}" type="pres">
      <dgm:prSet presAssocID="{73B584F1-DDB2-4DD2-9FE8-FA877DAAF400}" presName="node" presStyleLbl="node1" presStyleIdx="2" presStyleCnt="12">
        <dgm:presLayoutVars>
          <dgm:bulletEnabled val="1"/>
        </dgm:presLayoutVars>
      </dgm:prSet>
      <dgm:spPr/>
    </dgm:pt>
    <dgm:pt modelId="{4948AC2B-863A-444F-965A-813D9AA42D2A}" type="pres">
      <dgm:prSet presAssocID="{5B547687-6C04-4C66-9867-99B1D8B87396}" presName="sibTrans" presStyleCnt="0"/>
      <dgm:spPr/>
    </dgm:pt>
    <dgm:pt modelId="{99B45E7C-BAA7-4798-8208-DC03559C60A5}" type="pres">
      <dgm:prSet presAssocID="{898B96A5-FEB2-459A-B262-E8DEFE5A5227}" presName="node" presStyleLbl="node1" presStyleIdx="3" presStyleCnt="12">
        <dgm:presLayoutVars>
          <dgm:bulletEnabled val="1"/>
        </dgm:presLayoutVars>
      </dgm:prSet>
      <dgm:spPr/>
    </dgm:pt>
    <dgm:pt modelId="{26A9EF92-A702-468C-AE4D-60B43783565B}" type="pres">
      <dgm:prSet presAssocID="{E57B16D8-CDB1-4D37-884B-67C21BBF0E5C}" presName="sibTrans" presStyleCnt="0"/>
      <dgm:spPr/>
    </dgm:pt>
    <dgm:pt modelId="{7594EAB8-BD4C-4B7A-BBA2-8FC9E52470BC}" type="pres">
      <dgm:prSet presAssocID="{098EBD01-7ADE-4308-B58B-7295C9C5057D}" presName="node" presStyleLbl="node1" presStyleIdx="4" presStyleCnt="12">
        <dgm:presLayoutVars>
          <dgm:bulletEnabled val="1"/>
        </dgm:presLayoutVars>
      </dgm:prSet>
      <dgm:spPr/>
    </dgm:pt>
    <dgm:pt modelId="{2D121767-895F-4038-BDF9-9D19D4A878FC}" type="pres">
      <dgm:prSet presAssocID="{390DC489-4C51-471E-8F55-BBB61456C044}" presName="sibTrans" presStyleCnt="0"/>
      <dgm:spPr/>
    </dgm:pt>
    <dgm:pt modelId="{56FD6A75-17B5-44EF-A0F8-86A08B221E1D}" type="pres">
      <dgm:prSet presAssocID="{B7D7CA80-DBAB-4D6C-A53F-D885F73D8DE3}" presName="node" presStyleLbl="node1" presStyleIdx="5" presStyleCnt="12">
        <dgm:presLayoutVars>
          <dgm:bulletEnabled val="1"/>
        </dgm:presLayoutVars>
      </dgm:prSet>
      <dgm:spPr/>
    </dgm:pt>
    <dgm:pt modelId="{79AEF11C-FFDC-4038-91B5-290496E744E7}" type="pres">
      <dgm:prSet presAssocID="{58611EF7-65E3-4EF8-A543-76DB8C4ACB9D}" presName="sibTrans" presStyleCnt="0"/>
      <dgm:spPr/>
    </dgm:pt>
    <dgm:pt modelId="{E79DCA12-F876-4802-9F89-1D83D11A2F46}" type="pres">
      <dgm:prSet presAssocID="{C134D5A7-0E5B-442D-98C5-1BB3F1B702FD}" presName="node" presStyleLbl="node1" presStyleIdx="6" presStyleCnt="12">
        <dgm:presLayoutVars>
          <dgm:bulletEnabled val="1"/>
        </dgm:presLayoutVars>
      </dgm:prSet>
      <dgm:spPr/>
    </dgm:pt>
    <dgm:pt modelId="{09C18227-B895-49CB-9487-9E83F24EF0EF}" type="pres">
      <dgm:prSet presAssocID="{C33E70BA-5BB0-4DA1-A7A9-B0FB477AECD3}" presName="sibTrans" presStyleCnt="0"/>
      <dgm:spPr/>
    </dgm:pt>
    <dgm:pt modelId="{8A4803CA-7EEE-43F2-81F9-0F71A194E433}" type="pres">
      <dgm:prSet presAssocID="{B5DE4536-B366-42E9-AEF2-20BFB6916D14}" presName="node" presStyleLbl="node1" presStyleIdx="7" presStyleCnt="12">
        <dgm:presLayoutVars>
          <dgm:bulletEnabled val="1"/>
        </dgm:presLayoutVars>
      </dgm:prSet>
      <dgm:spPr/>
    </dgm:pt>
    <dgm:pt modelId="{973EC94F-5EE1-46E3-855C-DD16866D008D}" type="pres">
      <dgm:prSet presAssocID="{F8E3BAA5-4997-4597-8E8D-6590DA51D923}" presName="sibTrans" presStyleCnt="0"/>
      <dgm:spPr/>
    </dgm:pt>
    <dgm:pt modelId="{F579A9FE-DC78-43D7-912D-63F96241FEEC}" type="pres">
      <dgm:prSet presAssocID="{4538238B-15D9-41CC-A406-6106A8DE2480}" presName="node" presStyleLbl="node1" presStyleIdx="8" presStyleCnt="12">
        <dgm:presLayoutVars>
          <dgm:bulletEnabled val="1"/>
        </dgm:presLayoutVars>
      </dgm:prSet>
      <dgm:spPr/>
    </dgm:pt>
    <dgm:pt modelId="{00E2E9CC-408C-4EB2-ABCD-96EB71319C33}" type="pres">
      <dgm:prSet presAssocID="{BB5D118C-C438-45CD-9D8C-B2CB099F94A3}" presName="sibTrans" presStyleCnt="0"/>
      <dgm:spPr/>
    </dgm:pt>
    <dgm:pt modelId="{870E236A-8CB2-473B-82BD-5303CAC41B9B}" type="pres">
      <dgm:prSet presAssocID="{7FD56683-EF74-4D15-84ED-1636908F17C7}" presName="node" presStyleLbl="node1" presStyleIdx="9" presStyleCnt="12">
        <dgm:presLayoutVars>
          <dgm:bulletEnabled val="1"/>
        </dgm:presLayoutVars>
      </dgm:prSet>
      <dgm:spPr/>
    </dgm:pt>
    <dgm:pt modelId="{88B0557E-3377-4BFB-89F3-0A9798D62403}" type="pres">
      <dgm:prSet presAssocID="{7B4BC3EB-4EEC-42ED-BFC7-136429E6416E}" presName="sibTrans" presStyleCnt="0"/>
      <dgm:spPr/>
    </dgm:pt>
    <dgm:pt modelId="{303BEA33-E05B-49A8-9A76-AE900678EFA7}" type="pres">
      <dgm:prSet presAssocID="{2F46C4BC-10B4-49BC-8E71-505C507FD26F}" presName="node" presStyleLbl="node1" presStyleIdx="10" presStyleCnt="12">
        <dgm:presLayoutVars>
          <dgm:bulletEnabled val="1"/>
        </dgm:presLayoutVars>
      </dgm:prSet>
      <dgm:spPr/>
    </dgm:pt>
    <dgm:pt modelId="{A1F1FEFB-2804-4C1D-9B3C-D2FF05145717}" type="pres">
      <dgm:prSet presAssocID="{498D674D-66FA-4500-9557-FC718A981658}" presName="sibTrans" presStyleCnt="0"/>
      <dgm:spPr/>
    </dgm:pt>
    <dgm:pt modelId="{09188F5E-9C85-46A0-9450-464A0B928A34}" type="pres">
      <dgm:prSet presAssocID="{20665DCB-39AC-44DE-9740-885BF987797F}" presName="node" presStyleLbl="node1" presStyleIdx="11" presStyleCnt="12">
        <dgm:presLayoutVars>
          <dgm:bulletEnabled val="1"/>
        </dgm:presLayoutVars>
      </dgm:prSet>
      <dgm:spPr/>
    </dgm:pt>
  </dgm:ptLst>
  <dgm:cxnLst>
    <dgm:cxn modelId="{16BCAA05-8B1E-4DFC-95F5-1430C24E0221}" srcId="{4DA05E7E-B026-4F77-B510-22A80691C99A}" destId="{4538238B-15D9-41CC-A406-6106A8DE2480}" srcOrd="8" destOrd="0" parTransId="{5A101178-086A-40EF-87C4-9E2429C6CA02}" sibTransId="{BB5D118C-C438-45CD-9D8C-B2CB099F94A3}"/>
    <dgm:cxn modelId="{88E92806-ADCC-468C-97A5-39685C37DEA5}" srcId="{4DA05E7E-B026-4F77-B510-22A80691C99A}" destId="{43F7DC5C-BA78-4993-9619-A1B695F4F3BE}" srcOrd="1" destOrd="0" parTransId="{9BB6BBFC-A2E1-44FA-848E-A36FA42461EA}" sibTransId="{D967808C-9127-440B-B9FD-267FC645EB0C}"/>
    <dgm:cxn modelId="{A63B7506-D7DB-4E36-9880-921509EC5EB9}" type="presOf" srcId="{20665DCB-39AC-44DE-9740-885BF987797F}" destId="{09188F5E-9C85-46A0-9450-464A0B928A34}" srcOrd="0" destOrd="0" presId="urn:microsoft.com/office/officeart/2005/8/layout/default"/>
    <dgm:cxn modelId="{70B2F114-9EF2-4448-980D-EF9D4FA23868}" type="presOf" srcId="{73B584F1-DDB2-4DD2-9FE8-FA877DAAF400}" destId="{86632F8A-72C8-4368-A1EA-068A673395CF}" srcOrd="0" destOrd="0" presId="urn:microsoft.com/office/officeart/2005/8/layout/default"/>
    <dgm:cxn modelId="{F9DA821D-1639-4270-B5FB-3D07B51FAFAC}" type="presOf" srcId="{7FD56683-EF74-4D15-84ED-1636908F17C7}" destId="{870E236A-8CB2-473B-82BD-5303CAC41B9B}" srcOrd="0" destOrd="0" presId="urn:microsoft.com/office/officeart/2005/8/layout/default"/>
    <dgm:cxn modelId="{5055EA20-6671-4430-BFCC-D572F74AD0F1}" srcId="{4DA05E7E-B026-4F77-B510-22A80691C99A}" destId="{73B584F1-DDB2-4DD2-9FE8-FA877DAAF400}" srcOrd="2" destOrd="0" parTransId="{05494DB7-1795-4591-B801-7724D84405FD}" sibTransId="{5B547687-6C04-4C66-9867-99B1D8B87396}"/>
    <dgm:cxn modelId="{579DFF2F-5805-472A-9F4D-D051089D23C4}" srcId="{4DA05E7E-B026-4F77-B510-22A80691C99A}" destId="{098EBD01-7ADE-4308-B58B-7295C9C5057D}" srcOrd="4" destOrd="0" parTransId="{DAA18546-36D4-4579-AA81-8F578CE75DE3}" sibTransId="{390DC489-4C51-471E-8F55-BBB61456C044}"/>
    <dgm:cxn modelId="{BA1C4146-497F-4CA5-80C1-98E1DB44A3D3}" type="presOf" srcId="{C134D5A7-0E5B-442D-98C5-1BB3F1B702FD}" destId="{E79DCA12-F876-4802-9F89-1D83D11A2F46}" srcOrd="0" destOrd="0" presId="urn:microsoft.com/office/officeart/2005/8/layout/default"/>
    <dgm:cxn modelId="{5816E748-2954-43FF-B6D6-7FC737B0B6EC}" srcId="{4DA05E7E-B026-4F77-B510-22A80691C99A}" destId="{20665DCB-39AC-44DE-9740-885BF987797F}" srcOrd="11" destOrd="0" parTransId="{9E8A26D1-A5EE-431F-8280-D61AE7037CB7}" sibTransId="{6D7F260E-1954-423B-9DDA-385C1BE9AA9C}"/>
    <dgm:cxn modelId="{E9A1D26F-16BA-4E0D-8BD5-95965B860E37}" type="presOf" srcId="{B5DE4536-B366-42E9-AEF2-20BFB6916D14}" destId="{8A4803CA-7EEE-43F2-81F9-0F71A194E433}" srcOrd="0" destOrd="0" presId="urn:microsoft.com/office/officeart/2005/8/layout/default"/>
    <dgm:cxn modelId="{61DFC973-8868-49B2-8825-0663CE79198C}" type="presOf" srcId="{B7D7CA80-DBAB-4D6C-A53F-D885F73D8DE3}" destId="{56FD6A75-17B5-44EF-A0F8-86A08B221E1D}" srcOrd="0" destOrd="0" presId="urn:microsoft.com/office/officeart/2005/8/layout/default"/>
    <dgm:cxn modelId="{BD472B76-E9D6-4BF1-B78B-BBCB252101C9}" type="presOf" srcId="{898B96A5-FEB2-459A-B262-E8DEFE5A5227}" destId="{99B45E7C-BAA7-4798-8208-DC03559C60A5}" srcOrd="0" destOrd="0" presId="urn:microsoft.com/office/officeart/2005/8/layout/default"/>
    <dgm:cxn modelId="{A2430E80-6A8D-4D3F-9000-F9562A99CAFA}" type="presOf" srcId="{4DA05E7E-B026-4F77-B510-22A80691C99A}" destId="{47147799-0021-4BB5-B3BD-0E99431DD2AC}" srcOrd="0" destOrd="0" presId="urn:microsoft.com/office/officeart/2005/8/layout/default"/>
    <dgm:cxn modelId="{C094EE83-4C4B-44DF-BF62-07F990158B05}" srcId="{4DA05E7E-B026-4F77-B510-22A80691C99A}" destId="{7FD56683-EF74-4D15-84ED-1636908F17C7}" srcOrd="9" destOrd="0" parTransId="{FA20E5C7-0B6F-4DDC-B6F9-B233B3AB4299}" sibTransId="{7B4BC3EB-4EEC-42ED-BFC7-136429E6416E}"/>
    <dgm:cxn modelId="{DB6B8785-65C1-4834-B792-A854A4341AB0}" srcId="{4DA05E7E-B026-4F77-B510-22A80691C99A}" destId="{B7D7CA80-DBAB-4D6C-A53F-D885F73D8DE3}" srcOrd="5" destOrd="0" parTransId="{3B185F12-07CA-4D05-9474-BA6F5E21A0F0}" sibTransId="{58611EF7-65E3-4EF8-A543-76DB8C4ACB9D}"/>
    <dgm:cxn modelId="{F23C998E-58CC-4E15-9C23-0B68F3FC728A}" srcId="{4DA05E7E-B026-4F77-B510-22A80691C99A}" destId="{DB5B384D-6B57-47B2-92A4-332A2E391ECD}" srcOrd="0" destOrd="0" parTransId="{1576D649-5D2B-45EE-9361-27F3903E6721}" sibTransId="{DE537BB1-4857-4EF3-A8E4-95FD8AB70CA6}"/>
    <dgm:cxn modelId="{925C4F90-DA05-437E-B9BF-E24F29CD361B}" type="presOf" srcId="{DB5B384D-6B57-47B2-92A4-332A2E391ECD}" destId="{1C8E4172-57E3-4861-BD95-E25E5A1203A0}" srcOrd="0" destOrd="0" presId="urn:microsoft.com/office/officeart/2005/8/layout/default"/>
    <dgm:cxn modelId="{9F387E9D-C855-4374-9697-04CEDD1F8633}" type="presOf" srcId="{43F7DC5C-BA78-4993-9619-A1B695F4F3BE}" destId="{6F465931-50CD-401D-A9F9-E7E80F4DD6A8}" srcOrd="0" destOrd="0" presId="urn:microsoft.com/office/officeart/2005/8/layout/default"/>
    <dgm:cxn modelId="{9607FFB4-F8A5-4958-9EFD-C77733A8427D}" srcId="{4DA05E7E-B026-4F77-B510-22A80691C99A}" destId="{B5DE4536-B366-42E9-AEF2-20BFB6916D14}" srcOrd="7" destOrd="0" parTransId="{3E4B7B0A-CE55-41FC-9569-53DCE6CC7FFF}" sibTransId="{F8E3BAA5-4997-4597-8E8D-6590DA51D923}"/>
    <dgm:cxn modelId="{89C853CE-2312-49CE-97D2-31683339967A}" srcId="{4DA05E7E-B026-4F77-B510-22A80691C99A}" destId="{C134D5A7-0E5B-442D-98C5-1BB3F1B702FD}" srcOrd="6" destOrd="0" parTransId="{A7EDE5F0-4B5A-4AE1-BCA8-BA9F7B76D023}" sibTransId="{C33E70BA-5BB0-4DA1-A7A9-B0FB477AECD3}"/>
    <dgm:cxn modelId="{CA040DD0-5BB4-456A-874D-7B60199FEF56}" srcId="{4DA05E7E-B026-4F77-B510-22A80691C99A}" destId="{2F46C4BC-10B4-49BC-8E71-505C507FD26F}" srcOrd="10" destOrd="0" parTransId="{BE1C1875-DCE7-4D86-877C-0095DD444AFD}" sibTransId="{498D674D-66FA-4500-9557-FC718A981658}"/>
    <dgm:cxn modelId="{9E2538D1-3837-4831-84CF-89B114BC70C8}" srcId="{4DA05E7E-B026-4F77-B510-22A80691C99A}" destId="{898B96A5-FEB2-459A-B262-E8DEFE5A5227}" srcOrd="3" destOrd="0" parTransId="{8A73836E-1116-4976-B4B1-05DD077CF7A0}" sibTransId="{E57B16D8-CDB1-4D37-884B-67C21BBF0E5C}"/>
    <dgm:cxn modelId="{EA9181EB-803D-469E-8383-D7F3EDB03B7F}" type="presOf" srcId="{4538238B-15D9-41CC-A406-6106A8DE2480}" destId="{F579A9FE-DC78-43D7-912D-63F96241FEEC}" srcOrd="0" destOrd="0" presId="urn:microsoft.com/office/officeart/2005/8/layout/default"/>
    <dgm:cxn modelId="{D6BB30F0-BB98-4E2C-AB0A-9C7E68CA1681}" type="presOf" srcId="{098EBD01-7ADE-4308-B58B-7295C9C5057D}" destId="{7594EAB8-BD4C-4B7A-BBA2-8FC9E52470BC}" srcOrd="0" destOrd="0" presId="urn:microsoft.com/office/officeart/2005/8/layout/default"/>
    <dgm:cxn modelId="{5532ACF2-BD04-46A7-8AD8-55D56185004C}" type="presOf" srcId="{2F46C4BC-10B4-49BC-8E71-505C507FD26F}" destId="{303BEA33-E05B-49A8-9A76-AE900678EFA7}" srcOrd="0" destOrd="0" presId="urn:microsoft.com/office/officeart/2005/8/layout/default"/>
    <dgm:cxn modelId="{4B4C8920-9894-470A-B4C2-F348F7CD5841}" type="presParOf" srcId="{47147799-0021-4BB5-B3BD-0E99431DD2AC}" destId="{1C8E4172-57E3-4861-BD95-E25E5A1203A0}" srcOrd="0" destOrd="0" presId="urn:microsoft.com/office/officeart/2005/8/layout/default"/>
    <dgm:cxn modelId="{1908C20D-59F5-4156-8055-44E860946994}" type="presParOf" srcId="{47147799-0021-4BB5-B3BD-0E99431DD2AC}" destId="{776654ED-B00D-4605-B22A-9C3181E795CD}" srcOrd="1" destOrd="0" presId="urn:microsoft.com/office/officeart/2005/8/layout/default"/>
    <dgm:cxn modelId="{60B09CEC-5A08-4EF4-9F35-2AF4ED3ED34E}" type="presParOf" srcId="{47147799-0021-4BB5-B3BD-0E99431DD2AC}" destId="{6F465931-50CD-401D-A9F9-E7E80F4DD6A8}" srcOrd="2" destOrd="0" presId="urn:microsoft.com/office/officeart/2005/8/layout/default"/>
    <dgm:cxn modelId="{D5BB4B65-0315-48C0-9EC6-67ADF63C2032}" type="presParOf" srcId="{47147799-0021-4BB5-B3BD-0E99431DD2AC}" destId="{85EB8E0A-FAD3-454C-90A7-04D6B7D0DEA1}" srcOrd="3" destOrd="0" presId="urn:microsoft.com/office/officeart/2005/8/layout/default"/>
    <dgm:cxn modelId="{B0453CAA-7273-4757-929B-F15A4E6D7A50}" type="presParOf" srcId="{47147799-0021-4BB5-B3BD-0E99431DD2AC}" destId="{86632F8A-72C8-4368-A1EA-068A673395CF}" srcOrd="4" destOrd="0" presId="urn:microsoft.com/office/officeart/2005/8/layout/default"/>
    <dgm:cxn modelId="{32B2C58C-0503-4E0E-B120-E6AB97CE9D7F}" type="presParOf" srcId="{47147799-0021-4BB5-B3BD-0E99431DD2AC}" destId="{4948AC2B-863A-444F-965A-813D9AA42D2A}" srcOrd="5" destOrd="0" presId="urn:microsoft.com/office/officeart/2005/8/layout/default"/>
    <dgm:cxn modelId="{26CF0B7C-B9B9-4267-AA34-1D140957FDEC}" type="presParOf" srcId="{47147799-0021-4BB5-B3BD-0E99431DD2AC}" destId="{99B45E7C-BAA7-4798-8208-DC03559C60A5}" srcOrd="6" destOrd="0" presId="urn:microsoft.com/office/officeart/2005/8/layout/default"/>
    <dgm:cxn modelId="{E05F8D4C-7763-4C68-B3B3-8CFCB098FD6B}" type="presParOf" srcId="{47147799-0021-4BB5-B3BD-0E99431DD2AC}" destId="{26A9EF92-A702-468C-AE4D-60B43783565B}" srcOrd="7" destOrd="0" presId="urn:microsoft.com/office/officeart/2005/8/layout/default"/>
    <dgm:cxn modelId="{D825B173-52BD-484B-90E7-78E5B1EBDAB4}" type="presParOf" srcId="{47147799-0021-4BB5-B3BD-0E99431DD2AC}" destId="{7594EAB8-BD4C-4B7A-BBA2-8FC9E52470BC}" srcOrd="8" destOrd="0" presId="urn:microsoft.com/office/officeart/2005/8/layout/default"/>
    <dgm:cxn modelId="{B6554AD9-7AF5-46EC-A5B4-B3F5099F84C7}" type="presParOf" srcId="{47147799-0021-4BB5-B3BD-0E99431DD2AC}" destId="{2D121767-895F-4038-BDF9-9D19D4A878FC}" srcOrd="9" destOrd="0" presId="urn:microsoft.com/office/officeart/2005/8/layout/default"/>
    <dgm:cxn modelId="{CBED0A92-2C00-4AAC-A287-EB371064E0D2}" type="presParOf" srcId="{47147799-0021-4BB5-B3BD-0E99431DD2AC}" destId="{56FD6A75-17B5-44EF-A0F8-86A08B221E1D}" srcOrd="10" destOrd="0" presId="urn:microsoft.com/office/officeart/2005/8/layout/default"/>
    <dgm:cxn modelId="{954D5BB5-8CB1-4983-8A6C-061C81E8D898}" type="presParOf" srcId="{47147799-0021-4BB5-B3BD-0E99431DD2AC}" destId="{79AEF11C-FFDC-4038-91B5-290496E744E7}" srcOrd="11" destOrd="0" presId="urn:microsoft.com/office/officeart/2005/8/layout/default"/>
    <dgm:cxn modelId="{0F2081C6-BED6-41C2-A55E-BD52CEB9FDDB}" type="presParOf" srcId="{47147799-0021-4BB5-B3BD-0E99431DD2AC}" destId="{E79DCA12-F876-4802-9F89-1D83D11A2F46}" srcOrd="12" destOrd="0" presId="urn:microsoft.com/office/officeart/2005/8/layout/default"/>
    <dgm:cxn modelId="{6974ECA1-5139-4A9B-B8D3-620810688652}" type="presParOf" srcId="{47147799-0021-4BB5-B3BD-0E99431DD2AC}" destId="{09C18227-B895-49CB-9487-9E83F24EF0EF}" srcOrd="13" destOrd="0" presId="urn:microsoft.com/office/officeart/2005/8/layout/default"/>
    <dgm:cxn modelId="{D0C1549C-1115-4832-AE73-D64849797455}" type="presParOf" srcId="{47147799-0021-4BB5-B3BD-0E99431DD2AC}" destId="{8A4803CA-7EEE-43F2-81F9-0F71A194E433}" srcOrd="14" destOrd="0" presId="urn:microsoft.com/office/officeart/2005/8/layout/default"/>
    <dgm:cxn modelId="{33BC8D23-C31B-45D0-9460-B000D27329C1}" type="presParOf" srcId="{47147799-0021-4BB5-B3BD-0E99431DD2AC}" destId="{973EC94F-5EE1-46E3-855C-DD16866D008D}" srcOrd="15" destOrd="0" presId="urn:microsoft.com/office/officeart/2005/8/layout/default"/>
    <dgm:cxn modelId="{8B40FCAC-41D2-413E-B1B4-94D7D4D1F022}" type="presParOf" srcId="{47147799-0021-4BB5-B3BD-0E99431DD2AC}" destId="{F579A9FE-DC78-43D7-912D-63F96241FEEC}" srcOrd="16" destOrd="0" presId="urn:microsoft.com/office/officeart/2005/8/layout/default"/>
    <dgm:cxn modelId="{1BC0FC89-AB8D-4AA5-AFB1-EE0FD6071676}" type="presParOf" srcId="{47147799-0021-4BB5-B3BD-0E99431DD2AC}" destId="{00E2E9CC-408C-4EB2-ABCD-96EB71319C33}" srcOrd="17" destOrd="0" presId="urn:microsoft.com/office/officeart/2005/8/layout/default"/>
    <dgm:cxn modelId="{1C4B37F0-48F1-412D-B2D5-234C9B43A8D9}" type="presParOf" srcId="{47147799-0021-4BB5-B3BD-0E99431DD2AC}" destId="{870E236A-8CB2-473B-82BD-5303CAC41B9B}" srcOrd="18" destOrd="0" presId="urn:microsoft.com/office/officeart/2005/8/layout/default"/>
    <dgm:cxn modelId="{67E4CDDA-48B2-4760-AED3-F431C87CD78E}" type="presParOf" srcId="{47147799-0021-4BB5-B3BD-0E99431DD2AC}" destId="{88B0557E-3377-4BFB-89F3-0A9798D62403}" srcOrd="19" destOrd="0" presId="urn:microsoft.com/office/officeart/2005/8/layout/default"/>
    <dgm:cxn modelId="{00CC2B71-E1AB-48AD-85CA-0549EB980B33}" type="presParOf" srcId="{47147799-0021-4BB5-B3BD-0E99431DD2AC}" destId="{303BEA33-E05B-49A8-9A76-AE900678EFA7}" srcOrd="20" destOrd="0" presId="urn:microsoft.com/office/officeart/2005/8/layout/default"/>
    <dgm:cxn modelId="{DF9A1141-AA21-483C-A55D-9A4B846D2192}" type="presParOf" srcId="{47147799-0021-4BB5-B3BD-0E99431DD2AC}" destId="{A1F1FEFB-2804-4C1D-9B3C-D2FF05145717}" srcOrd="21" destOrd="0" presId="urn:microsoft.com/office/officeart/2005/8/layout/default"/>
    <dgm:cxn modelId="{FB408C94-FB9E-4292-898E-CE01705A9B8E}" type="presParOf" srcId="{47147799-0021-4BB5-B3BD-0E99431DD2AC}" destId="{09188F5E-9C85-46A0-9450-464A0B928A34}" srcOrd="2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013B1AB-6418-4717-B51C-638DBAAF8505}" type="doc">
      <dgm:prSet loTypeId="urn:microsoft.com/office/officeart/2018/2/layout/IconLabelList" loCatId="icon" qsTypeId="urn:microsoft.com/office/officeart/2005/8/quickstyle/simple1" qsCatId="simple" csTypeId="urn:microsoft.com/office/officeart/2018/5/colors/Iconchunking_neutralbg_colorful2" csCatId="colorful" phldr="1"/>
      <dgm:spPr/>
      <dgm:t>
        <a:bodyPr/>
        <a:lstStyle/>
        <a:p>
          <a:endParaRPr lang="en-US"/>
        </a:p>
      </dgm:t>
    </dgm:pt>
    <dgm:pt modelId="{D885A792-22E7-4FBC-93BF-02C59D9FEBDE}">
      <dgm:prSet/>
      <dgm:spPr/>
      <dgm:t>
        <a:bodyPr/>
        <a:lstStyle/>
        <a:p>
          <a:r>
            <a:rPr lang="en-US"/>
            <a:t>It means asking queries from the model in the simplest possible manner. To convey your intentions to the model, you can make simple adjustments that can radically improve the result.</a:t>
          </a:r>
        </a:p>
      </dgm:t>
    </dgm:pt>
    <dgm:pt modelId="{3A889CB1-5824-41BA-BB68-6031C9976460}" type="parTrans" cxnId="{94E850C3-FADB-4881-ABFF-D920B00E78E3}">
      <dgm:prSet/>
      <dgm:spPr/>
      <dgm:t>
        <a:bodyPr/>
        <a:lstStyle/>
        <a:p>
          <a:endParaRPr lang="en-US"/>
        </a:p>
      </dgm:t>
    </dgm:pt>
    <dgm:pt modelId="{1C778EE5-2CED-4A39-A446-C7B5ECC1CCB7}" type="sibTrans" cxnId="{94E850C3-FADB-4881-ABFF-D920B00E78E3}">
      <dgm:prSet/>
      <dgm:spPr/>
      <dgm:t>
        <a:bodyPr/>
        <a:lstStyle/>
        <a:p>
          <a:endParaRPr lang="en-US"/>
        </a:p>
      </dgm:t>
    </dgm:pt>
    <dgm:pt modelId="{7355BED9-F4B0-4F2B-A050-2F3DB234F41F}">
      <dgm:prSet/>
      <dgm:spPr/>
      <dgm:t>
        <a:bodyPr/>
        <a:lstStyle/>
        <a:p>
          <a:r>
            <a:rPr lang="en-US"/>
            <a:t>Like your prompt must have context to proper structure and can be comprehensible so you can rewrite the prompt as </a:t>
          </a:r>
        </a:p>
      </dgm:t>
    </dgm:pt>
    <dgm:pt modelId="{94ED1C14-8C96-47D8-A623-5F3DE5EE73D3}" type="parTrans" cxnId="{1AEE9652-6C26-4614-9156-E113965E325C}">
      <dgm:prSet/>
      <dgm:spPr/>
      <dgm:t>
        <a:bodyPr/>
        <a:lstStyle/>
        <a:p>
          <a:endParaRPr lang="en-US"/>
        </a:p>
      </dgm:t>
    </dgm:pt>
    <dgm:pt modelId="{C9D784AB-7FA6-4F3A-9DBF-7D8E0A79CA38}" type="sibTrans" cxnId="{1AEE9652-6C26-4614-9156-E113965E325C}">
      <dgm:prSet/>
      <dgm:spPr/>
      <dgm:t>
        <a:bodyPr/>
        <a:lstStyle/>
        <a:p>
          <a:endParaRPr lang="en-US"/>
        </a:p>
      </dgm:t>
    </dgm:pt>
    <dgm:pt modelId="{E34F4812-EE00-47B9-B7BB-76D3FF8CC313}">
      <dgm:prSet/>
      <dgm:spPr/>
      <dgm:t>
        <a:bodyPr/>
        <a:lstStyle/>
        <a:p>
          <a:r>
            <a:rPr lang="en-US"/>
            <a:t>"Write a short story about the struggles and achievements of a farmer who became a rich and influential businessman in 10 years."</a:t>
          </a:r>
        </a:p>
      </dgm:t>
    </dgm:pt>
    <dgm:pt modelId="{DB5E2EBF-6B77-4955-B912-354CCFCFB673}" type="parTrans" cxnId="{FE2E6A4F-66D0-4A2F-96C0-5B9602DB2BEF}">
      <dgm:prSet/>
      <dgm:spPr/>
      <dgm:t>
        <a:bodyPr/>
        <a:lstStyle/>
        <a:p>
          <a:endParaRPr lang="en-US"/>
        </a:p>
      </dgm:t>
    </dgm:pt>
    <dgm:pt modelId="{C222C8B4-AD5B-475E-8A79-B044E996CAC6}" type="sibTrans" cxnId="{FE2E6A4F-66D0-4A2F-96C0-5B9602DB2BEF}">
      <dgm:prSet/>
      <dgm:spPr/>
      <dgm:t>
        <a:bodyPr/>
        <a:lstStyle/>
        <a:p>
          <a:endParaRPr lang="en-US"/>
        </a:p>
      </dgm:t>
    </dgm:pt>
    <dgm:pt modelId="{1E867ADB-FBBF-4875-9AD9-8151C4CFB8FE}">
      <dgm:prSet/>
      <dgm:spPr/>
      <dgm:t>
        <a:bodyPr/>
        <a:lstStyle/>
        <a:p>
          <a:r>
            <a:rPr lang="en-US"/>
            <a:t>Let's look at another example where you want the model to generate an image of a sunset scenery you have in mind.</a:t>
          </a:r>
        </a:p>
      </dgm:t>
    </dgm:pt>
    <dgm:pt modelId="{9CB017B3-1B26-4225-913D-3C6419EB8F62}" type="parTrans" cxnId="{CDE6D75B-8710-4DF5-BB9B-076FA10DE5D8}">
      <dgm:prSet/>
      <dgm:spPr/>
      <dgm:t>
        <a:bodyPr/>
        <a:lstStyle/>
        <a:p>
          <a:endParaRPr lang="en-US"/>
        </a:p>
      </dgm:t>
    </dgm:pt>
    <dgm:pt modelId="{DEAC4710-1F2D-44CE-8805-F7785B029F67}" type="sibTrans" cxnId="{CDE6D75B-8710-4DF5-BB9B-076FA10DE5D8}">
      <dgm:prSet/>
      <dgm:spPr/>
      <dgm:t>
        <a:bodyPr/>
        <a:lstStyle/>
        <a:p>
          <a:endParaRPr lang="en-US"/>
        </a:p>
      </dgm:t>
    </dgm:pt>
    <dgm:pt modelId="{85B2BD9C-BC08-4C93-A3E6-7AA0E49B2959}">
      <dgm:prSet/>
      <dgm:spPr/>
      <dgm:t>
        <a:bodyPr/>
        <a:lstStyle/>
        <a:p>
          <a:r>
            <a:rPr lang="en-US"/>
            <a:t>Writing the prompt as "Sunset image between mountains" may not give you the desired output. The prompt is too brief and lacks a detailed outline of the image you have in mind. You can rewrite the prompt as "Generate an image depicting a calm sunset about a river valley that rests amidst the mountains."</a:t>
          </a:r>
        </a:p>
      </dgm:t>
    </dgm:pt>
    <dgm:pt modelId="{B433D9CF-5BA8-47B0-B10E-EF76A30A8147}" type="parTrans" cxnId="{2D074343-E9E5-4F2C-B708-8BBAAC51295A}">
      <dgm:prSet/>
      <dgm:spPr/>
      <dgm:t>
        <a:bodyPr/>
        <a:lstStyle/>
        <a:p>
          <a:endParaRPr lang="en-US"/>
        </a:p>
      </dgm:t>
    </dgm:pt>
    <dgm:pt modelId="{F5F91090-A5F4-4A44-B71E-921CCEEAD2BA}" type="sibTrans" cxnId="{2D074343-E9E5-4F2C-B708-8BBAAC51295A}">
      <dgm:prSet/>
      <dgm:spPr/>
      <dgm:t>
        <a:bodyPr/>
        <a:lstStyle/>
        <a:p>
          <a:endParaRPr lang="en-US"/>
        </a:p>
      </dgm:t>
    </dgm:pt>
    <dgm:pt modelId="{B35311EC-08DC-4E35-8DD0-B061C0EF0C66}" type="pres">
      <dgm:prSet presAssocID="{D013B1AB-6418-4717-B51C-638DBAAF8505}" presName="root" presStyleCnt="0">
        <dgm:presLayoutVars>
          <dgm:dir/>
          <dgm:resizeHandles val="exact"/>
        </dgm:presLayoutVars>
      </dgm:prSet>
      <dgm:spPr/>
    </dgm:pt>
    <dgm:pt modelId="{5C8CB82A-9DAE-4626-A9C9-B570737683B8}" type="pres">
      <dgm:prSet presAssocID="{D885A792-22E7-4FBC-93BF-02C59D9FEBDE}" presName="compNode" presStyleCnt="0"/>
      <dgm:spPr/>
    </dgm:pt>
    <dgm:pt modelId="{7CF64B77-5082-4224-9328-C5109995428C}" type="pres">
      <dgm:prSet presAssocID="{D885A792-22E7-4FBC-93BF-02C59D9FEBDE}"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ubtitles"/>
        </a:ext>
      </dgm:extLst>
    </dgm:pt>
    <dgm:pt modelId="{C74C828E-F4FE-49B7-ADAE-C0BCF502B420}" type="pres">
      <dgm:prSet presAssocID="{D885A792-22E7-4FBC-93BF-02C59D9FEBDE}" presName="spaceRect" presStyleCnt="0"/>
      <dgm:spPr/>
    </dgm:pt>
    <dgm:pt modelId="{BA4A4219-BAD1-4A7F-870E-B4112C43E593}" type="pres">
      <dgm:prSet presAssocID="{D885A792-22E7-4FBC-93BF-02C59D9FEBDE}" presName="textRect" presStyleLbl="revTx" presStyleIdx="0" presStyleCnt="5">
        <dgm:presLayoutVars>
          <dgm:chMax val="1"/>
          <dgm:chPref val="1"/>
        </dgm:presLayoutVars>
      </dgm:prSet>
      <dgm:spPr/>
    </dgm:pt>
    <dgm:pt modelId="{7E0173D0-76C9-4311-B8B3-691BFB67F86E}" type="pres">
      <dgm:prSet presAssocID="{1C778EE5-2CED-4A39-A446-C7B5ECC1CCB7}" presName="sibTrans" presStyleCnt="0"/>
      <dgm:spPr/>
    </dgm:pt>
    <dgm:pt modelId="{2F36A4FC-4748-42C4-BE06-62C86FFD22B6}" type="pres">
      <dgm:prSet presAssocID="{7355BED9-F4B0-4F2B-A050-2F3DB234F41F}" presName="compNode" presStyleCnt="0"/>
      <dgm:spPr/>
    </dgm:pt>
    <dgm:pt modelId="{568C2093-9907-4C74-9964-9E1A7C35418C}" type="pres">
      <dgm:prSet presAssocID="{7355BED9-F4B0-4F2B-A050-2F3DB234F41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otes"/>
        </a:ext>
      </dgm:extLst>
    </dgm:pt>
    <dgm:pt modelId="{24A13579-42C1-4913-80F0-8A3657AB1ED7}" type="pres">
      <dgm:prSet presAssocID="{7355BED9-F4B0-4F2B-A050-2F3DB234F41F}" presName="spaceRect" presStyleCnt="0"/>
      <dgm:spPr/>
    </dgm:pt>
    <dgm:pt modelId="{35CBBD11-D51B-4695-A2A3-787FBE0E235E}" type="pres">
      <dgm:prSet presAssocID="{7355BED9-F4B0-4F2B-A050-2F3DB234F41F}" presName="textRect" presStyleLbl="revTx" presStyleIdx="1" presStyleCnt="5">
        <dgm:presLayoutVars>
          <dgm:chMax val="1"/>
          <dgm:chPref val="1"/>
        </dgm:presLayoutVars>
      </dgm:prSet>
      <dgm:spPr/>
    </dgm:pt>
    <dgm:pt modelId="{FDE9EC5B-B04F-4CCF-B9A0-2C8508057124}" type="pres">
      <dgm:prSet presAssocID="{C9D784AB-7FA6-4F3A-9DBF-7D8E0A79CA38}" presName="sibTrans" presStyleCnt="0"/>
      <dgm:spPr/>
    </dgm:pt>
    <dgm:pt modelId="{B0EA4511-B61C-4F2D-AC7A-F109B07C8771}" type="pres">
      <dgm:prSet presAssocID="{E34F4812-EE00-47B9-B7BB-76D3FF8CC313}" presName="compNode" presStyleCnt="0"/>
      <dgm:spPr/>
    </dgm:pt>
    <dgm:pt modelId="{0A01753D-61CE-4B7A-A2CF-C63BBFF7CA5B}" type="pres">
      <dgm:prSet presAssocID="{E34F4812-EE00-47B9-B7BB-76D3FF8CC31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arm scene"/>
        </a:ext>
      </dgm:extLst>
    </dgm:pt>
    <dgm:pt modelId="{B673353E-47F1-46E1-A568-4AA3AC5D85D8}" type="pres">
      <dgm:prSet presAssocID="{E34F4812-EE00-47B9-B7BB-76D3FF8CC313}" presName="spaceRect" presStyleCnt="0"/>
      <dgm:spPr/>
    </dgm:pt>
    <dgm:pt modelId="{8B519431-C0DA-46D3-A736-D6276A6E4B71}" type="pres">
      <dgm:prSet presAssocID="{E34F4812-EE00-47B9-B7BB-76D3FF8CC313}" presName="textRect" presStyleLbl="revTx" presStyleIdx="2" presStyleCnt="5">
        <dgm:presLayoutVars>
          <dgm:chMax val="1"/>
          <dgm:chPref val="1"/>
        </dgm:presLayoutVars>
      </dgm:prSet>
      <dgm:spPr/>
    </dgm:pt>
    <dgm:pt modelId="{59919A66-1478-410A-8FC7-1A2D42936D11}" type="pres">
      <dgm:prSet presAssocID="{C222C8B4-AD5B-475E-8A79-B044E996CAC6}" presName="sibTrans" presStyleCnt="0"/>
      <dgm:spPr/>
    </dgm:pt>
    <dgm:pt modelId="{2CB35246-5068-47DF-9CF8-0A81C2B556D5}" type="pres">
      <dgm:prSet presAssocID="{1E867ADB-FBBF-4875-9AD9-8151C4CFB8FE}" presName="compNode" presStyleCnt="0"/>
      <dgm:spPr/>
    </dgm:pt>
    <dgm:pt modelId="{2B6891AD-2400-49A4-99D4-C707C614B118}" type="pres">
      <dgm:prSet presAssocID="{1E867ADB-FBBF-4875-9AD9-8151C4CFB8FE}"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unset scene"/>
        </a:ext>
      </dgm:extLst>
    </dgm:pt>
    <dgm:pt modelId="{7B4664BB-7042-4597-84AD-DF101474CE8A}" type="pres">
      <dgm:prSet presAssocID="{1E867ADB-FBBF-4875-9AD9-8151C4CFB8FE}" presName="spaceRect" presStyleCnt="0"/>
      <dgm:spPr/>
    </dgm:pt>
    <dgm:pt modelId="{1C2071F9-A8CB-4FDE-B5FF-2A1EDFF5C9F8}" type="pres">
      <dgm:prSet presAssocID="{1E867ADB-FBBF-4875-9AD9-8151C4CFB8FE}" presName="textRect" presStyleLbl="revTx" presStyleIdx="3" presStyleCnt="5">
        <dgm:presLayoutVars>
          <dgm:chMax val="1"/>
          <dgm:chPref val="1"/>
        </dgm:presLayoutVars>
      </dgm:prSet>
      <dgm:spPr/>
    </dgm:pt>
    <dgm:pt modelId="{FEC8B70A-EA4D-4447-AC02-9A2BEFBED43C}" type="pres">
      <dgm:prSet presAssocID="{DEAC4710-1F2D-44CE-8805-F7785B029F67}" presName="sibTrans" presStyleCnt="0"/>
      <dgm:spPr/>
    </dgm:pt>
    <dgm:pt modelId="{38AE1107-7508-44A1-A5AB-75C600C98BEF}" type="pres">
      <dgm:prSet presAssocID="{85B2BD9C-BC08-4C93-A3E6-7AA0E49B2959}" presName="compNode" presStyleCnt="0"/>
      <dgm:spPr/>
    </dgm:pt>
    <dgm:pt modelId="{A5BC2698-474D-4D66-B49E-357B786FD7F5}" type="pres">
      <dgm:prSet presAssocID="{85B2BD9C-BC08-4C93-A3E6-7AA0E49B295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artial Sun"/>
        </a:ext>
      </dgm:extLst>
    </dgm:pt>
    <dgm:pt modelId="{B0D06722-1892-4F32-89E8-1BB617E33A41}" type="pres">
      <dgm:prSet presAssocID="{85B2BD9C-BC08-4C93-A3E6-7AA0E49B2959}" presName="spaceRect" presStyleCnt="0"/>
      <dgm:spPr/>
    </dgm:pt>
    <dgm:pt modelId="{E6E03059-51D2-42ED-B65C-B73D6A169118}" type="pres">
      <dgm:prSet presAssocID="{85B2BD9C-BC08-4C93-A3E6-7AA0E49B2959}" presName="textRect" presStyleLbl="revTx" presStyleIdx="4" presStyleCnt="5">
        <dgm:presLayoutVars>
          <dgm:chMax val="1"/>
          <dgm:chPref val="1"/>
        </dgm:presLayoutVars>
      </dgm:prSet>
      <dgm:spPr/>
    </dgm:pt>
  </dgm:ptLst>
  <dgm:cxnLst>
    <dgm:cxn modelId="{194F0D36-C081-45E2-99F1-A832E59FE227}" type="presOf" srcId="{E34F4812-EE00-47B9-B7BB-76D3FF8CC313}" destId="{8B519431-C0DA-46D3-A736-D6276A6E4B71}" srcOrd="0" destOrd="0" presId="urn:microsoft.com/office/officeart/2018/2/layout/IconLabelList"/>
    <dgm:cxn modelId="{D6C4AE3C-331C-43A9-BFB9-97638DD66CFA}" type="presOf" srcId="{85B2BD9C-BC08-4C93-A3E6-7AA0E49B2959}" destId="{E6E03059-51D2-42ED-B65C-B73D6A169118}" srcOrd="0" destOrd="0" presId="urn:microsoft.com/office/officeart/2018/2/layout/IconLabelList"/>
    <dgm:cxn modelId="{D599093D-C1B7-45C1-8625-C3CA74589A70}" type="presOf" srcId="{7355BED9-F4B0-4F2B-A050-2F3DB234F41F}" destId="{35CBBD11-D51B-4695-A2A3-787FBE0E235E}" srcOrd="0" destOrd="0" presId="urn:microsoft.com/office/officeart/2018/2/layout/IconLabelList"/>
    <dgm:cxn modelId="{CDE6D75B-8710-4DF5-BB9B-076FA10DE5D8}" srcId="{D013B1AB-6418-4717-B51C-638DBAAF8505}" destId="{1E867ADB-FBBF-4875-9AD9-8151C4CFB8FE}" srcOrd="3" destOrd="0" parTransId="{9CB017B3-1B26-4225-913D-3C6419EB8F62}" sibTransId="{DEAC4710-1F2D-44CE-8805-F7785B029F67}"/>
    <dgm:cxn modelId="{2D074343-E9E5-4F2C-B708-8BBAAC51295A}" srcId="{D013B1AB-6418-4717-B51C-638DBAAF8505}" destId="{85B2BD9C-BC08-4C93-A3E6-7AA0E49B2959}" srcOrd="4" destOrd="0" parTransId="{B433D9CF-5BA8-47B0-B10E-EF76A30A8147}" sibTransId="{F5F91090-A5F4-4A44-B71E-921CCEEAD2BA}"/>
    <dgm:cxn modelId="{74C3C568-D0CF-47CC-8F84-9E4515680FCB}" type="presOf" srcId="{1E867ADB-FBBF-4875-9AD9-8151C4CFB8FE}" destId="{1C2071F9-A8CB-4FDE-B5FF-2A1EDFF5C9F8}" srcOrd="0" destOrd="0" presId="urn:microsoft.com/office/officeart/2018/2/layout/IconLabelList"/>
    <dgm:cxn modelId="{FE2E6A4F-66D0-4A2F-96C0-5B9602DB2BEF}" srcId="{D013B1AB-6418-4717-B51C-638DBAAF8505}" destId="{E34F4812-EE00-47B9-B7BB-76D3FF8CC313}" srcOrd="2" destOrd="0" parTransId="{DB5E2EBF-6B77-4955-B912-354CCFCFB673}" sibTransId="{C222C8B4-AD5B-475E-8A79-B044E996CAC6}"/>
    <dgm:cxn modelId="{1AEE9652-6C26-4614-9156-E113965E325C}" srcId="{D013B1AB-6418-4717-B51C-638DBAAF8505}" destId="{7355BED9-F4B0-4F2B-A050-2F3DB234F41F}" srcOrd="1" destOrd="0" parTransId="{94ED1C14-8C96-47D8-A623-5F3DE5EE73D3}" sibTransId="{C9D784AB-7FA6-4F3A-9DBF-7D8E0A79CA38}"/>
    <dgm:cxn modelId="{F3B819B0-46D9-41B8-BD06-80025C1B14C7}" type="presOf" srcId="{D885A792-22E7-4FBC-93BF-02C59D9FEBDE}" destId="{BA4A4219-BAD1-4A7F-870E-B4112C43E593}" srcOrd="0" destOrd="0" presId="urn:microsoft.com/office/officeart/2018/2/layout/IconLabelList"/>
    <dgm:cxn modelId="{94E850C3-FADB-4881-ABFF-D920B00E78E3}" srcId="{D013B1AB-6418-4717-B51C-638DBAAF8505}" destId="{D885A792-22E7-4FBC-93BF-02C59D9FEBDE}" srcOrd="0" destOrd="0" parTransId="{3A889CB1-5824-41BA-BB68-6031C9976460}" sibTransId="{1C778EE5-2CED-4A39-A446-C7B5ECC1CCB7}"/>
    <dgm:cxn modelId="{2B701CDE-0AC4-4E65-878E-AD9FE2436BE3}" type="presOf" srcId="{D013B1AB-6418-4717-B51C-638DBAAF8505}" destId="{B35311EC-08DC-4E35-8DD0-B061C0EF0C66}" srcOrd="0" destOrd="0" presId="urn:microsoft.com/office/officeart/2018/2/layout/IconLabelList"/>
    <dgm:cxn modelId="{C694726A-5FAA-4692-A8B3-3FDE2AFB63A8}" type="presParOf" srcId="{B35311EC-08DC-4E35-8DD0-B061C0EF0C66}" destId="{5C8CB82A-9DAE-4626-A9C9-B570737683B8}" srcOrd="0" destOrd="0" presId="urn:microsoft.com/office/officeart/2018/2/layout/IconLabelList"/>
    <dgm:cxn modelId="{7FC07856-E977-4EE4-B883-A3B84B88F9CD}" type="presParOf" srcId="{5C8CB82A-9DAE-4626-A9C9-B570737683B8}" destId="{7CF64B77-5082-4224-9328-C5109995428C}" srcOrd="0" destOrd="0" presId="urn:microsoft.com/office/officeart/2018/2/layout/IconLabelList"/>
    <dgm:cxn modelId="{9A8F6F42-DD9B-49A6-926B-11E00E2A6B2A}" type="presParOf" srcId="{5C8CB82A-9DAE-4626-A9C9-B570737683B8}" destId="{C74C828E-F4FE-49B7-ADAE-C0BCF502B420}" srcOrd="1" destOrd="0" presId="urn:microsoft.com/office/officeart/2018/2/layout/IconLabelList"/>
    <dgm:cxn modelId="{728F614E-2D30-451A-8956-CA30E15E3C06}" type="presParOf" srcId="{5C8CB82A-9DAE-4626-A9C9-B570737683B8}" destId="{BA4A4219-BAD1-4A7F-870E-B4112C43E593}" srcOrd="2" destOrd="0" presId="urn:microsoft.com/office/officeart/2018/2/layout/IconLabelList"/>
    <dgm:cxn modelId="{7F283B5B-73AE-406B-8D65-F285E903DCEB}" type="presParOf" srcId="{B35311EC-08DC-4E35-8DD0-B061C0EF0C66}" destId="{7E0173D0-76C9-4311-B8B3-691BFB67F86E}" srcOrd="1" destOrd="0" presId="urn:microsoft.com/office/officeart/2018/2/layout/IconLabelList"/>
    <dgm:cxn modelId="{63A9D422-7511-4B6F-A551-F87F2AC1175F}" type="presParOf" srcId="{B35311EC-08DC-4E35-8DD0-B061C0EF0C66}" destId="{2F36A4FC-4748-42C4-BE06-62C86FFD22B6}" srcOrd="2" destOrd="0" presId="urn:microsoft.com/office/officeart/2018/2/layout/IconLabelList"/>
    <dgm:cxn modelId="{02BD4E91-D915-4AD3-A1BC-7848F7C3E620}" type="presParOf" srcId="{2F36A4FC-4748-42C4-BE06-62C86FFD22B6}" destId="{568C2093-9907-4C74-9964-9E1A7C35418C}" srcOrd="0" destOrd="0" presId="urn:microsoft.com/office/officeart/2018/2/layout/IconLabelList"/>
    <dgm:cxn modelId="{1FBAD9F3-7D3E-476A-B665-05ED01CE17CD}" type="presParOf" srcId="{2F36A4FC-4748-42C4-BE06-62C86FFD22B6}" destId="{24A13579-42C1-4913-80F0-8A3657AB1ED7}" srcOrd="1" destOrd="0" presId="urn:microsoft.com/office/officeart/2018/2/layout/IconLabelList"/>
    <dgm:cxn modelId="{7D311AFC-577B-4EF3-B2BE-09EAA46C587E}" type="presParOf" srcId="{2F36A4FC-4748-42C4-BE06-62C86FFD22B6}" destId="{35CBBD11-D51B-4695-A2A3-787FBE0E235E}" srcOrd="2" destOrd="0" presId="urn:microsoft.com/office/officeart/2018/2/layout/IconLabelList"/>
    <dgm:cxn modelId="{B3D267C6-501F-4C2F-AC99-91D784C8084D}" type="presParOf" srcId="{B35311EC-08DC-4E35-8DD0-B061C0EF0C66}" destId="{FDE9EC5B-B04F-4CCF-B9A0-2C8508057124}" srcOrd="3" destOrd="0" presId="urn:microsoft.com/office/officeart/2018/2/layout/IconLabelList"/>
    <dgm:cxn modelId="{5DA7A0F1-B930-4AC4-810E-EC368123BA60}" type="presParOf" srcId="{B35311EC-08DC-4E35-8DD0-B061C0EF0C66}" destId="{B0EA4511-B61C-4F2D-AC7A-F109B07C8771}" srcOrd="4" destOrd="0" presId="urn:microsoft.com/office/officeart/2018/2/layout/IconLabelList"/>
    <dgm:cxn modelId="{5E1C9B1C-122A-4513-A7B2-CD6DFB5C49D8}" type="presParOf" srcId="{B0EA4511-B61C-4F2D-AC7A-F109B07C8771}" destId="{0A01753D-61CE-4B7A-A2CF-C63BBFF7CA5B}" srcOrd="0" destOrd="0" presId="urn:microsoft.com/office/officeart/2018/2/layout/IconLabelList"/>
    <dgm:cxn modelId="{D6E0EAE8-61F7-4DE1-B88C-FD1A312E3B94}" type="presParOf" srcId="{B0EA4511-B61C-4F2D-AC7A-F109B07C8771}" destId="{B673353E-47F1-46E1-A568-4AA3AC5D85D8}" srcOrd="1" destOrd="0" presId="urn:microsoft.com/office/officeart/2018/2/layout/IconLabelList"/>
    <dgm:cxn modelId="{2EFB434D-BF7C-4202-B52A-D8F78E35434B}" type="presParOf" srcId="{B0EA4511-B61C-4F2D-AC7A-F109B07C8771}" destId="{8B519431-C0DA-46D3-A736-D6276A6E4B71}" srcOrd="2" destOrd="0" presId="urn:microsoft.com/office/officeart/2018/2/layout/IconLabelList"/>
    <dgm:cxn modelId="{218C7838-B716-4F3D-A123-DE2290306518}" type="presParOf" srcId="{B35311EC-08DC-4E35-8DD0-B061C0EF0C66}" destId="{59919A66-1478-410A-8FC7-1A2D42936D11}" srcOrd="5" destOrd="0" presId="urn:microsoft.com/office/officeart/2018/2/layout/IconLabelList"/>
    <dgm:cxn modelId="{7685B725-E7C7-459B-9B60-08FCD05EFF29}" type="presParOf" srcId="{B35311EC-08DC-4E35-8DD0-B061C0EF0C66}" destId="{2CB35246-5068-47DF-9CF8-0A81C2B556D5}" srcOrd="6" destOrd="0" presId="urn:microsoft.com/office/officeart/2018/2/layout/IconLabelList"/>
    <dgm:cxn modelId="{463F3E7C-00EE-4B69-8162-89D094CF3682}" type="presParOf" srcId="{2CB35246-5068-47DF-9CF8-0A81C2B556D5}" destId="{2B6891AD-2400-49A4-99D4-C707C614B118}" srcOrd="0" destOrd="0" presId="urn:microsoft.com/office/officeart/2018/2/layout/IconLabelList"/>
    <dgm:cxn modelId="{4A377C6B-A39A-465D-BC67-8811DB0C923E}" type="presParOf" srcId="{2CB35246-5068-47DF-9CF8-0A81C2B556D5}" destId="{7B4664BB-7042-4597-84AD-DF101474CE8A}" srcOrd="1" destOrd="0" presId="urn:microsoft.com/office/officeart/2018/2/layout/IconLabelList"/>
    <dgm:cxn modelId="{F3D2F637-4258-4ED4-8BE2-C321685FCAA9}" type="presParOf" srcId="{2CB35246-5068-47DF-9CF8-0A81C2B556D5}" destId="{1C2071F9-A8CB-4FDE-B5FF-2A1EDFF5C9F8}" srcOrd="2" destOrd="0" presId="urn:microsoft.com/office/officeart/2018/2/layout/IconLabelList"/>
    <dgm:cxn modelId="{6E8636A8-4B2F-4786-A16B-446EBD94819D}" type="presParOf" srcId="{B35311EC-08DC-4E35-8DD0-B061C0EF0C66}" destId="{FEC8B70A-EA4D-4447-AC02-9A2BEFBED43C}" srcOrd="7" destOrd="0" presId="urn:microsoft.com/office/officeart/2018/2/layout/IconLabelList"/>
    <dgm:cxn modelId="{415A105B-989D-4476-8D24-B606A4B8B2E5}" type="presParOf" srcId="{B35311EC-08DC-4E35-8DD0-B061C0EF0C66}" destId="{38AE1107-7508-44A1-A5AB-75C600C98BEF}" srcOrd="8" destOrd="0" presId="urn:microsoft.com/office/officeart/2018/2/layout/IconLabelList"/>
    <dgm:cxn modelId="{D2ACCEA2-5F80-4F20-937A-A186B3C805E4}" type="presParOf" srcId="{38AE1107-7508-44A1-A5AB-75C600C98BEF}" destId="{A5BC2698-474D-4D66-B49E-357B786FD7F5}" srcOrd="0" destOrd="0" presId="urn:microsoft.com/office/officeart/2018/2/layout/IconLabelList"/>
    <dgm:cxn modelId="{FF8F269B-28A5-4FBB-A8B3-74E2DFE1C44F}" type="presParOf" srcId="{38AE1107-7508-44A1-A5AB-75C600C98BEF}" destId="{B0D06722-1892-4F32-89E8-1BB617E33A41}" srcOrd="1" destOrd="0" presId="urn:microsoft.com/office/officeart/2018/2/layout/IconLabelList"/>
    <dgm:cxn modelId="{458A6A28-8490-48AC-8670-DAA8B53E431E}" type="presParOf" srcId="{38AE1107-7508-44A1-A5AB-75C600C98BEF}" destId="{E6E03059-51D2-42ED-B65C-B73D6A169118}"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6100FC9-BC73-475B-9193-B1C7E224518E}"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9BCBA462-6B7A-44C9-9CDC-0949135A815F}">
      <dgm:prSet custT="1"/>
      <dgm:spPr/>
      <dgm:t>
        <a:bodyPr/>
        <a:lstStyle/>
        <a:p>
          <a:pPr>
            <a:lnSpc>
              <a:spcPct val="100000"/>
            </a:lnSpc>
            <a:defRPr cap="all"/>
          </a:pPr>
          <a:r>
            <a:rPr lang="en-US" sz="600"/>
            <a:t>Let's understand the step-by-step process involved in creating effective prompts through prompt engineering.</a:t>
          </a:r>
          <a:endParaRPr lang="en-US" sz="600" dirty="0"/>
        </a:p>
      </dgm:t>
    </dgm:pt>
    <dgm:pt modelId="{3E8BF96E-61B8-4C25-A85D-FCE583AD43BD}" type="parTrans" cxnId="{26E2737D-C3BA-4F51-950C-3A02F0CB055E}">
      <dgm:prSet/>
      <dgm:spPr/>
      <dgm:t>
        <a:bodyPr/>
        <a:lstStyle/>
        <a:p>
          <a:endParaRPr lang="en-US"/>
        </a:p>
      </dgm:t>
    </dgm:pt>
    <dgm:pt modelId="{CFBF1960-D2E5-4431-A8AC-2E18774A53E7}" type="sibTrans" cxnId="{26E2737D-C3BA-4F51-950C-3A02F0CB055E}">
      <dgm:prSet/>
      <dgm:spPr/>
      <dgm:t>
        <a:bodyPr/>
        <a:lstStyle/>
        <a:p>
          <a:endParaRPr lang="en-US"/>
        </a:p>
      </dgm:t>
    </dgm:pt>
    <dgm:pt modelId="{E20C28BC-0454-4978-BA5E-A7B1BBD79764}">
      <dgm:prSet custT="1"/>
      <dgm:spPr/>
      <dgm:t>
        <a:bodyPr/>
        <a:lstStyle/>
        <a:p>
          <a:pPr>
            <a:lnSpc>
              <a:spcPct val="100000"/>
            </a:lnSpc>
            <a:defRPr cap="all"/>
          </a:pPr>
          <a:r>
            <a:rPr lang="en-US" sz="600" b="1"/>
            <a:t>Define the goal : </a:t>
          </a:r>
          <a:r>
            <a:rPr lang="en-US" sz="600"/>
            <a:t>The initial step in the process involves establishing a distinct goal. You must know what exactly you want the model to generate. For example, form a brief overview of the benefits and risks associated with artificial intelligence and automobiles.</a:t>
          </a:r>
          <a:endParaRPr lang="en-US" sz="600" dirty="0"/>
        </a:p>
      </dgm:t>
    </dgm:pt>
    <dgm:pt modelId="{4947A863-E160-4B4C-963C-A5F600AB11E1}" type="parTrans" cxnId="{870D17CF-B085-456E-86CD-992D287F8982}">
      <dgm:prSet/>
      <dgm:spPr/>
      <dgm:t>
        <a:bodyPr/>
        <a:lstStyle/>
        <a:p>
          <a:endParaRPr lang="en-US"/>
        </a:p>
      </dgm:t>
    </dgm:pt>
    <dgm:pt modelId="{CC4B584D-7208-4A45-B45B-57F5BB8198F1}" type="sibTrans" cxnId="{870D17CF-B085-456E-86CD-992D287F8982}">
      <dgm:prSet/>
      <dgm:spPr/>
      <dgm:t>
        <a:bodyPr/>
        <a:lstStyle/>
        <a:p>
          <a:endParaRPr lang="en-US"/>
        </a:p>
      </dgm:t>
    </dgm:pt>
    <dgm:pt modelId="{872F2701-A7E4-4C97-B168-AE5C53D9A914}">
      <dgm:prSet custT="1"/>
      <dgm:spPr/>
      <dgm:t>
        <a:bodyPr/>
        <a:lstStyle/>
        <a:p>
          <a:pPr>
            <a:lnSpc>
              <a:spcPct val="100000"/>
            </a:lnSpc>
            <a:defRPr cap="all"/>
          </a:pPr>
          <a:r>
            <a:rPr lang="en-US" sz="600" b="1"/>
            <a:t>Craft initial prompt : </a:t>
          </a:r>
          <a:r>
            <a:rPr lang="en-US" sz="600"/>
            <a:t>Having defined the goal, it's now time to create an initial prompt. This might manifest as a question, a directive, or even a situation depending on the goal. For example, write an article that presents a well-rounded analysis of the benefits and drawbacks associated with the incorporation of artificial intelligence in the field of automobile industry.</a:t>
          </a:r>
          <a:endParaRPr lang="en-US" sz="600" dirty="0"/>
        </a:p>
      </dgm:t>
    </dgm:pt>
    <dgm:pt modelId="{AC86B7EB-F8B9-4CDF-AB4E-CBEA99414434}" type="parTrans" cxnId="{A99792A6-DB4A-4F8E-9DD8-D464FF8EC7AE}">
      <dgm:prSet/>
      <dgm:spPr/>
      <dgm:t>
        <a:bodyPr/>
        <a:lstStyle/>
        <a:p>
          <a:endParaRPr lang="en-US"/>
        </a:p>
      </dgm:t>
    </dgm:pt>
    <dgm:pt modelId="{859C0696-74CE-407C-B8B6-5528E260554F}" type="sibTrans" cxnId="{A99792A6-DB4A-4F8E-9DD8-D464FF8EC7AE}">
      <dgm:prSet/>
      <dgm:spPr/>
      <dgm:t>
        <a:bodyPr/>
        <a:lstStyle/>
        <a:p>
          <a:endParaRPr lang="en-US"/>
        </a:p>
      </dgm:t>
    </dgm:pt>
    <dgm:pt modelId="{C0AB125A-1408-441E-9EEF-D1906640E275}">
      <dgm:prSet custT="1"/>
      <dgm:spPr/>
      <dgm:t>
        <a:bodyPr/>
        <a:lstStyle/>
        <a:p>
          <a:pPr>
            <a:lnSpc>
              <a:spcPct val="100000"/>
            </a:lnSpc>
            <a:defRPr cap="all"/>
          </a:pPr>
          <a:r>
            <a:rPr lang="en-US" sz="600" b="1"/>
            <a:t>Test the prompt : </a:t>
          </a:r>
          <a:r>
            <a:rPr lang="en-US" sz="600"/>
            <a:t>The prompt you created should now be tested and analyzed for its response. While the response might be relevant, it could lack the distinct perspective you are aiming for. For example, the response to the initial prompt directly lays out the benefits and drawbacks of integrating artificial intelligence in the automobile industry. It does not highlight any ethical concerns that might arise. Further, there's no discussion on the positive and negative implications of the scene.</a:t>
          </a:r>
          <a:endParaRPr lang="en-US" sz="600" dirty="0"/>
        </a:p>
      </dgm:t>
    </dgm:pt>
    <dgm:pt modelId="{5B40CCA6-5BF2-401E-968C-FEA5F8EAFC3C}" type="parTrans" cxnId="{16A81A96-FF29-4F3E-8E5D-D66EC5837B63}">
      <dgm:prSet/>
      <dgm:spPr/>
      <dgm:t>
        <a:bodyPr/>
        <a:lstStyle/>
        <a:p>
          <a:endParaRPr lang="en-US"/>
        </a:p>
      </dgm:t>
    </dgm:pt>
    <dgm:pt modelId="{0F3FC7B6-298B-4E8F-A45C-468C2D571C8D}" type="sibTrans" cxnId="{16A81A96-FF29-4F3E-8E5D-D66EC5837B63}">
      <dgm:prSet/>
      <dgm:spPr/>
      <dgm:t>
        <a:bodyPr/>
        <a:lstStyle/>
        <a:p>
          <a:endParaRPr lang="en-US"/>
        </a:p>
      </dgm:t>
    </dgm:pt>
    <dgm:pt modelId="{275EB611-1172-4710-BF5A-CBCADA4AA486}">
      <dgm:prSet custT="1"/>
      <dgm:spPr/>
      <dgm:t>
        <a:bodyPr/>
        <a:lstStyle/>
        <a:p>
          <a:pPr>
            <a:lnSpc>
              <a:spcPct val="100000"/>
            </a:lnSpc>
            <a:defRPr cap="all"/>
          </a:pPr>
          <a:r>
            <a:rPr lang="en-US" sz="600"/>
            <a:t>Analyze the response, you must carefully review the response and examine whether it aligns with your goals. If not, make a note of the areas where it fell short.For example, the initial prompt used fails to cover a comprehensive range of benefits and risks associated with artificial intelligence in the automobile industry.</a:t>
          </a:r>
          <a:endParaRPr lang="en-US" sz="600" dirty="0"/>
        </a:p>
      </dgm:t>
    </dgm:pt>
    <dgm:pt modelId="{6D81B603-945E-4C1D-9713-206EBEA6C9FA}" type="parTrans" cxnId="{2E409BB6-8C15-4C54-919C-AF032A92D1FE}">
      <dgm:prSet/>
      <dgm:spPr/>
      <dgm:t>
        <a:bodyPr/>
        <a:lstStyle/>
        <a:p>
          <a:endParaRPr lang="en-US"/>
        </a:p>
      </dgm:t>
    </dgm:pt>
    <dgm:pt modelId="{8E0AB301-8B96-4AD3-BF20-B3372610F2FE}" type="sibTrans" cxnId="{2E409BB6-8C15-4C54-919C-AF032A92D1FE}">
      <dgm:prSet/>
      <dgm:spPr/>
      <dgm:t>
        <a:bodyPr/>
        <a:lstStyle/>
        <a:p>
          <a:endParaRPr lang="en-US"/>
        </a:p>
      </dgm:t>
    </dgm:pt>
    <dgm:pt modelId="{EDFC8105-FCFD-499F-86F3-424B13E7592C}">
      <dgm:prSet custT="1"/>
      <dgm:spPr/>
      <dgm:t>
        <a:bodyPr/>
        <a:lstStyle/>
        <a:p>
          <a:pPr>
            <a:lnSpc>
              <a:spcPct val="100000"/>
            </a:lnSpc>
            <a:defRPr cap="all"/>
          </a:pPr>
          <a:r>
            <a:rPr lang="en-US" sz="600" b="1" dirty="0"/>
            <a:t>Refine the prompt: </a:t>
          </a:r>
          <a:r>
            <a:rPr lang="en-US" sz="600" dirty="0"/>
            <a:t>Using the knowledge acquired through testing and analysis, it's now appropriate to modify the prompt. This might include enhancing its specificity, incorporating additional context, or rephrasing.</a:t>
          </a:r>
        </a:p>
      </dgm:t>
    </dgm:pt>
    <dgm:pt modelId="{91BA7610-AA8C-45CA-B23F-DB1551083FBB}" type="parTrans" cxnId="{6D27C6A5-F896-4477-8A5C-595EB775075F}">
      <dgm:prSet/>
      <dgm:spPr/>
      <dgm:t>
        <a:bodyPr/>
        <a:lstStyle/>
        <a:p>
          <a:endParaRPr lang="en-US"/>
        </a:p>
      </dgm:t>
    </dgm:pt>
    <dgm:pt modelId="{A4B934CE-55E0-4A52-9873-1AB140826F8E}" type="sibTrans" cxnId="{6D27C6A5-F896-4477-8A5C-595EB775075F}">
      <dgm:prSet/>
      <dgm:spPr/>
      <dgm:t>
        <a:bodyPr/>
        <a:lstStyle/>
        <a:p>
          <a:endParaRPr lang="en-US"/>
        </a:p>
      </dgm:t>
    </dgm:pt>
    <dgm:pt modelId="{5A32618D-9899-4115-9B18-929733FE2B3F}" type="pres">
      <dgm:prSet presAssocID="{A6100FC9-BC73-475B-9193-B1C7E224518E}" presName="root" presStyleCnt="0">
        <dgm:presLayoutVars>
          <dgm:dir/>
          <dgm:resizeHandles val="exact"/>
        </dgm:presLayoutVars>
      </dgm:prSet>
      <dgm:spPr/>
    </dgm:pt>
    <dgm:pt modelId="{27E25849-8877-4626-BA0C-F23D7A52AD60}" type="pres">
      <dgm:prSet presAssocID="{9BCBA462-6B7A-44C9-9CDC-0949135A815F}" presName="compNode" presStyleCnt="0"/>
      <dgm:spPr/>
    </dgm:pt>
    <dgm:pt modelId="{50CEAA75-EB75-4270-B8CE-F6083B2AF1A0}" type="pres">
      <dgm:prSet presAssocID="{9BCBA462-6B7A-44C9-9CDC-0949135A815F}" presName="iconBgRect" presStyleLbl="bgShp" presStyleIdx="0" presStyleCnt="6"/>
      <dgm:spPr>
        <a:prstGeom prst="round2DiagRect">
          <a:avLst>
            <a:gd name="adj1" fmla="val 29727"/>
            <a:gd name="adj2" fmla="val 0"/>
          </a:avLst>
        </a:prstGeom>
      </dgm:spPr>
    </dgm:pt>
    <dgm:pt modelId="{ED78FC99-61AF-4173-8298-08A607D75892}" type="pres">
      <dgm:prSet presAssocID="{9BCBA462-6B7A-44C9-9CDC-0949135A815F}"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orkflow"/>
        </a:ext>
      </dgm:extLst>
    </dgm:pt>
    <dgm:pt modelId="{0A989A03-0EFC-4D9E-996B-70885C51EBF7}" type="pres">
      <dgm:prSet presAssocID="{9BCBA462-6B7A-44C9-9CDC-0949135A815F}" presName="spaceRect" presStyleCnt="0"/>
      <dgm:spPr/>
    </dgm:pt>
    <dgm:pt modelId="{6778CE55-E4C6-440C-8D20-2AE71F534335}" type="pres">
      <dgm:prSet presAssocID="{9BCBA462-6B7A-44C9-9CDC-0949135A815F}" presName="textRect" presStyleLbl="revTx" presStyleIdx="0" presStyleCnt="6">
        <dgm:presLayoutVars>
          <dgm:chMax val="1"/>
          <dgm:chPref val="1"/>
        </dgm:presLayoutVars>
      </dgm:prSet>
      <dgm:spPr/>
    </dgm:pt>
    <dgm:pt modelId="{FA73A86D-A452-453E-BA8E-F0B3BE413205}" type="pres">
      <dgm:prSet presAssocID="{CFBF1960-D2E5-4431-A8AC-2E18774A53E7}" presName="sibTrans" presStyleCnt="0"/>
      <dgm:spPr/>
    </dgm:pt>
    <dgm:pt modelId="{FB2CA428-8234-40E7-B936-6D2150F7B816}" type="pres">
      <dgm:prSet presAssocID="{E20C28BC-0454-4978-BA5E-A7B1BBD79764}" presName="compNode" presStyleCnt="0"/>
      <dgm:spPr/>
    </dgm:pt>
    <dgm:pt modelId="{A74643E4-3887-409C-A963-CE43AE793B91}" type="pres">
      <dgm:prSet presAssocID="{E20C28BC-0454-4978-BA5E-A7B1BBD79764}" presName="iconBgRect" presStyleLbl="bgShp" presStyleIdx="1" presStyleCnt="6"/>
      <dgm:spPr>
        <a:prstGeom prst="round2DiagRect">
          <a:avLst>
            <a:gd name="adj1" fmla="val 29727"/>
            <a:gd name="adj2" fmla="val 0"/>
          </a:avLst>
        </a:prstGeom>
      </dgm:spPr>
    </dgm:pt>
    <dgm:pt modelId="{A57A73D1-0874-4E70-8022-504EE03347C4}" type="pres">
      <dgm:prSet presAssocID="{E20C28BC-0454-4978-BA5E-A7B1BBD79764}"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rget"/>
        </a:ext>
      </dgm:extLst>
    </dgm:pt>
    <dgm:pt modelId="{1ED91CB6-54E5-49A0-9CEB-6BE284873D14}" type="pres">
      <dgm:prSet presAssocID="{E20C28BC-0454-4978-BA5E-A7B1BBD79764}" presName="spaceRect" presStyleCnt="0"/>
      <dgm:spPr/>
    </dgm:pt>
    <dgm:pt modelId="{5DCC949B-ADAD-4E76-A669-CE7C4FE91431}" type="pres">
      <dgm:prSet presAssocID="{E20C28BC-0454-4978-BA5E-A7B1BBD79764}" presName="textRect" presStyleLbl="revTx" presStyleIdx="1" presStyleCnt="6">
        <dgm:presLayoutVars>
          <dgm:chMax val="1"/>
          <dgm:chPref val="1"/>
        </dgm:presLayoutVars>
      </dgm:prSet>
      <dgm:spPr/>
    </dgm:pt>
    <dgm:pt modelId="{274E7178-DA98-48E2-9656-8F526A262BEC}" type="pres">
      <dgm:prSet presAssocID="{CC4B584D-7208-4A45-B45B-57F5BB8198F1}" presName="sibTrans" presStyleCnt="0"/>
      <dgm:spPr/>
    </dgm:pt>
    <dgm:pt modelId="{C82E8CF3-9706-47F1-BE98-269079A72CCC}" type="pres">
      <dgm:prSet presAssocID="{872F2701-A7E4-4C97-B168-AE5C53D9A914}" presName="compNode" presStyleCnt="0"/>
      <dgm:spPr/>
    </dgm:pt>
    <dgm:pt modelId="{FD7C2CF8-1C82-4B45-8ECC-3C65EFE478CC}" type="pres">
      <dgm:prSet presAssocID="{872F2701-A7E4-4C97-B168-AE5C53D9A914}" presName="iconBgRect" presStyleLbl="bgShp" presStyleIdx="2" presStyleCnt="6"/>
      <dgm:spPr>
        <a:prstGeom prst="round2DiagRect">
          <a:avLst>
            <a:gd name="adj1" fmla="val 29727"/>
            <a:gd name="adj2" fmla="val 0"/>
          </a:avLst>
        </a:prstGeom>
      </dgm:spPr>
    </dgm:pt>
    <dgm:pt modelId="{B8882F4F-D976-45B1-993C-5CA602EBC077}" type="pres">
      <dgm:prSet presAssocID="{872F2701-A7E4-4C97-B168-AE5C53D9A914}"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esentation with Checklist"/>
        </a:ext>
      </dgm:extLst>
    </dgm:pt>
    <dgm:pt modelId="{F1AB340D-6D43-4A17-AC02-55C93CA8447F}" type="pres">
      <dgm:prSet presAssocID="{872F2701-A7E4-4C97-B168-AE5C53D9A914}" presName="spaceRect" presStyleCnt="0"/>
      <dgm:spPr/>
    </dgm:pt>
    <dgm:pt modelId="{BEAD3001-C055-489A-B151-6276E90F798F}" type="pres">
      <dgm:prSet presAssocID="{872F2701-A7E4-4C97-B168-AE5C53D9A914}" presName="textRect" presStyleLbl="revTx" presStyleIdx="2" presStyleCnt="6">
        <dgm:presLayoutVars>
          <dgm:chMax val="1"/>
          <dgm:chPref val="1"/>
        </dgm:presLayoutVars>
      </dgm:prSet>
      <dgm:spPr/>
    </dgm:pt>
    <dgm:pt modelId="{D30B86CE-2937-4AD6-89A3-B401FFC6C24E}" type="pres">
      <dgm:prSet presAssocID="{859C0696-74CE-407C-B8B6-5528E260554F}" presName="sibTrans" presStyleCnt="0"/>
      <dgm:spPr/>
    </dgm:pt>
    <dgm:pt modelId="{B699FCC6-BE22-4D44-87CB-B60268073588}" type="pres">
      <dgm:prSet presAssocID="{C0AB125A-1408-441E-9EEF-D1906640E275}" presName="compNode" presStyleCnt="0"/>
      <dgm:spPr/>
    </dgm:pt>
    <dgm:pt modelId="{3C7F8564-27B3-4932-9F46-1D07DB3FB0F6}" type="pres">
      <dgm:prSet presAssocID="{C0AB125A-1408-441E-9EEF-D1906640E275}" presName="iconBgRect" presStyleLbl="bgShp" presStyleIdx="3" presStyleCnt="6"/>
      <dgm:spPr>
        <a:prstGeom prst="round2DiagRect">
          <a:avLst>
            <a:gd name="adj1" fmla="val 29727"/>
            <a:gd name="adj2" fmla="val 0"/>
          </a:avLst>
        </a:prstGeom>
      </dgm:spPr>
    </dgm:pt>
    <dgm:pt modelId="{36A97AE0-B7AC-4258-87EF-EA1622E945D4}" type="pres">
      <dgm:prSet presAssocID="{C0AB125A-1408-441E-9EEF-D1906640E275}"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AEA5EE9B-26F3-46E7-AD22-FE7ECF6F21DD}" type="pres">
      <dgm:prSet presAssocID="{C0AB125A-1408-441E-9EEF-D1906640E275}" presName="spaceRect" presStyleCnt="0"/>
      <dgm:spPr/>
    </dgm:pt>
    <dgm:pt modelId="{0898DB4B-5C41-4D3F-A39A-C68EFB19DC99}" type="pres">
      <dgm:prSet presAssocID="{C0AB125A-1408-441E-9EEF-D1906640E275}" presName="textRect" presStyleLbl="revTx" presStyleIdx="3" presStyleCnt="6">
        <dgm:presLayoutVars>
          <dgm:chMax val="1"/>
          <dgm:chPref val="1"/>
        </dgm:presLayoutVars>
      </dgm:prSet>
      <dgm:spPr/>
    </dgm:pt>
    <dgm:pt modelId="{1B5953DC-3BAF-44C7-B909-74EFEC7345AB}" type="pres">
      <dgm:prSet presAssocID="{0F3FC7B6-298B-4E8F-A45C-468C2D571C8D}" presName="sibTrans" presStyleCnt="0"/>
      <dgm:spPr/>
    </dgm:pt>
    <dgm:pt modelId="{D5F874B1-B213-4A22-90E8-A9114429D0B0}" type="pres">
      <dgm:prSet presAssocID="{275EB611-1172-4710-BF5A-CBCADA4AA486}" presName="compNode" presStyleCnt="0"/>
      <dgm:spPr/>
    </dgm:pt>
    <dgm:pt modelId="{44F8AECB-1A30-49C0-8D90-7F878B2AE20E}" type="pres">
      <dgm:prSet presAssocID="{275EB611-1172-4710-BF5A-CBCADA4AA486}" presName="iconBgRect" presStyleLbl="bgShp" presStyleIdx="4" presStyleCnt="6"/>
      <dgm:spPr>
        <a:prstGeom prst="round2DiagRect">
          <a:avLst>
            <a:gd name="adj1" fmla="val 29727"/>
            <a:gd name="adj2" fmla="val 0"/>
          </a:avLst>
        </a:prstGeom>
      </dgm:spPr>
    </dgm:pt>
    <dgm:pt modelId="{90E16DAC-9A9E-4A61-AF7E-53F96170B688}" type="pres">
      <dgm:prSet presAssocID="{275EB611-1172-4710-BF5A-CBCADA4AA486}"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Magnifying glass"/>
        </a:ext>
      </dgm:extLst>
    </dgm:pt>
    <dgm:pt modelId="{98CB2703-475C-4F70-8440-03462741E4DE}" type="pres">
      <dgm:prSet presAssocID="{275EB611-1172-4710-BF5A-CBCADA4AA486}" presName="spaceRect" presStyleCnt="0"/>
      <dgm:spPr/>
    </dgm:pt>
    <dgm:pt modelId="{A71BCB95-FDAA-42CA-BDEC-431B7865227F}" type="pres">
      <dgm:prSet presAssocID="{275EB611-1172-4710-BF5A-CBCADA4AA486}" presName="textRect" presStyleLbl="revTx" presStyleIdx="4" presStyleCnt="6">
        <dgm:presLayoutVars>
          <dgm:chMax val="1"/>
          <dgm:chPref val="1"/>
        </dgm:presLayoutVars>
      </dgm:prSet>
      <dgm:spPr/>
    </dgm:pt>
    <dgm:pt modelId="{DB6CEFD2-E5B4-4328-8B34-FFE5450C9BC3}" type="pres">
      <dgm:prSet presAssocID="{8E0AB301-8B96-4AD3-BF20-B3372610F2FE}" presName="sibTrans" presStyleCnt="0"/>
      <dgm:spPr/>
    </dgm:pt>
    <dgm:pt modelId="{93B2CE60-FBFC-41B9-AEA8-1AE35B1D9979}" type="pres">
      <dgm:prSet presAssocID="{EDFC8105-FCFD-499F-86F3-424B13E7592C}" presName="compNode" presStyleCnt="0"/>
      <dgm:spPr/>
    </dgm:pt>
    <dgm:pt modelId="{4699D9D7-6705-4137-BE0C-18AD08DB5513}" type="pres">
      <dgm:prSet presAssocID="{EDFC8105-FCFD-499F-86F3-424B13E7592C}" presName="iconBgRect" presStyleLbl="bgShp" presStyleIdx="5" presStyleCnt="6"/>
      <dgm:spPr>
        <a:prstGeom prst="round2DiagRect">
          <a:avLst>
            <a:gd name="adj1" fmla="val 29727"/>
            <a:gd name="adj2" fmla="val 0"/>
          </a:avLst>
        </a:prstGeom>
      </dgm:spPr>
    </dgm:pt>
    <dgm:pt modelId="{B6ADDAAE-41DC-4E33-8D30-44D7D0F6B439}" type="pres">
      <dgm:prSet presAssocID="{EDFC8105-FCFD-499F-86F3-424B13E7592C}"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Light Bulb and Gear"/>
        </a:ext>
      </dgm:extLst>
    </dgm:pt>
    <dgm:pt modelId="{2C60C65A-FB23-4176-9A14-702E0A9F2A68}" type="pres">
      <dgm:prSet presAssocID="{EDFC8105-FCFD-499F-86F3-424B13E7592C}" presName="spaceRect" presStyleCnt="0"/>
      <dgm:spPr/>
    </dgm:pt>
    <dgm:pt modelId="{381211E1-1F46-4C89-9C3B-D634547ADF23}" type="pres">
      <dgm:prSet presAssocID="{EDFC8105-FCFD-499F-86F3-424B13E7592C}" presName="textRect" presStyleLbl="revTx" presStyleIdx="5" presStyleCnt="6">
        <dgm:presLayoutVars>
          <dgm:chMax val="1"/>
          <dgm:chPref val="1"/>
        </dgm:presLayoutVars>
      </dgm:prSet>
      <dgm:spPr/>
    </dgm:pt>
  </dgm:ptLst>
  <dgm:cxnLst>
    <dgm:cxn modelId="{43D25122-C531-446A-81C0-6776F76ECEB6}" type="presOf" srcId="{9BCBA462-6B7A-44C9-9CDC-0949135A815F}" destId="{6778CE55-E4C6-440C-8D20-2AE71F534335}" srcOrd="0" destOrd="0" presId="urn:microsoft.com/office/officeart/2018/5/layout/IconLeafLabelList"/>
    <dgm:cxn modelId="{18A46C38-6488-4AD6-B844-546A7CBC89DA}" type="presOf" srcId="{872F2701-A7E4-4C97-B168-AE5C53D9A914}" destId="{BEAD3001-C055-489A-B151-6276E90F798F}" srcOrd="0" destOrd="0" presId="urn:microsoft.com/office/officeart/2018/5/layout/IconLeafLabelList"/>
    <dgm:cxn modelId="{0825986F-6992-4340-A2A9-F218681EA958}" type="presOf" srcId="{E20C28BC-0454-4978-BA5E-A7B1BBD79764}" destId="{5DCC949B-ADAD-4E76-A669-CE7C4FE91431}" srcOrd="0" destOrd="0" presId="urn:microsoft.com/office/officeart/2018/5/layout/IconLeafLabelList"/>
    <dgm:cxn modelId="{26E2737D-C3BA-4F51-950C-3A02F0CB055E}" srcId="{A6100FC9-BC73-475B-9193-B1C7E224518E}" destId="{9BCBA462-6B7A-44C9-9CDC-0949135A815F}" srcOrd="0" destOrd="0" parTransId="{3E8BF96E-61B8-4C25-A85D-FCE583AD43BD}" sibTransId="{CFBF1960-D2E5-4431-A8AC-2E18774A53E7}"/>
    <dgm:cxn modelId="{16A81A96-FF29-4F3E-8E5D-D66EC5837B63}" srcId="{A6100FC9-BC73-475B-9193-B1C7E224518E}" destId="{C0AB125A-1408-441E-9EEF-D1906640E275}" srcOrd="3" destOrd="0" parTransId="{5B40CCA6-5BF2-401E-968C-FEA5F8EAFC3C}" sibTransId="{0F3FC7B6-298B-4E8F-A45C-468C2D571C8D}"/>
    <dgm:cxn modelId="{44C310A4-7D3E-41E3-8C92-7FF591B30EB2}" type="presOf" srcId="{EDFC8105-FCFD-499F-86F3-424B13E7592C}" destId="{381211E1-1F46-4C89-9C3B-D634547ADF23}" srcOrd="0" destOrd="0" presId="urn:microsoft.com/office/officeart/2018/5/layout/IconLeafLabelList"/>
    <dgm:cxn modelId="{6D27C6A5-F896-4477-8A5C-595EB775075F}" srcId="{A6100FC9-BC73-475B-9193-B1C7E224518E}" destId="{EDFC8105-FCFD-499F-86F3-424B13E7592C}" srcOrd="5" destOrd="0" parTransId="{91BA7610-AA8C-45CA-B23F-DB1551083FBB}" sibTransId="{A4B934CE-55E0-4A52-9873-1AB140826F8E}"/>
    <dgm:cxn modelId="{A99792A6-DB4A-4F8E-9DD8-D464FF8EC7AE}" srcId="{A6100FC9-BC73-475B-9193-B1C7E224518E}" destId="{872F2701-A7E4-4C97-B168-AE5C53D9A914}" srcOrd="2" destOrd="0" parTransId="{AC86B7EB-F8B9-4CDF-AB4E-CBEA99414434}" sibTransId="{859C0696-74CE-407C-B8B6-5528E260554F}"/>
    <dgm:cxn modelId="{D20EBCB1-6246-485A-BA40-D3C7881C0A5E}" type="presOf" srcId="{C0AB125A-1408-441E-9EEF-D1906640E275}" destId="{0898DB4B-5C41-4D3F-A39A-C68EFB19DC99}" srcOrd="0" destOrd="0" presId="urn:microsoft.com/office/officeart/2018/5/layout/IconLeafLabelList"/>
    <dgm:cxn modelId="{2E409BB6-8C15-4C54-919C-AF032A92D1FE}" srcId="{A6100FC9-BC73-475B-9193-B1C7E224518E}" destId="{275EB611-1172-4710-BF5A-CBCADA4AA486}" srcOrd="4" destOrd="0" parTransId="{6D81B603-945E-4C1D-9713-206EBEA6C9FA}" sibTransId="{8E0AB301-8B96-4AD3-BF20-B3372610F2FE}"/>
    <dgm:cxn modelId="{84A799B7-E6BB-4FF1-85D2-7F11700CC18A}" type="presOf" srcId="{275EB611-1172-4710-BF5A-CBCADA4AA486}" destId="{A71BCB95-FDAA-42CA-BDEC-431B7865227F}" srcOrd="0" destOrd="0" presId="urn:microsoft.com/office/officeart/2018/5/layout/IconLeafLabelList"/>
    <dgm:cxn modelId="{870D17CF-B085-456E-86CD-992D287F8982}" srcId="{A6100FC9-BC73-475B-9193-B1C7E224518E}" destId="{E20C28BC-0454-4978-BA5E-A7B1BBD79764}" srcOrd="1" destOrd="0" parTransId="{4947A863-E160-4B4C-963C-A5F600AB11E1}" sibTransId="{CC4B584D-7208-4A45-B45B-57F5BB8198F1}"/>
    <dgm:cxn modelId="{DADFD3F6-A951-4B94-A9DD-6C339E54490B}" type="presOf" srcId="{A6100FC9-BC73-475B-9193-B1C7E224518E}" destId="{5A32618D-9899-4115-9B18-929733FE2B3F}" srcOrd="0" destOrd="0" presId="urn:microsoft.com/office/officeart/2018/5/layout/IconLeafLabelList"/>
    <dgm:cxn modelId="{70170D94-7AA1-47A8-B950-8A84157C6C5E}" type="presParOf" srcId="{5A32618D-9899-4115-9B18-929733FE2B3F}" destId="{27E25849-8877-4626-BA0C-F23D7A52AD60}" srcOrd="0" destOrd="0" presId="urn:microsoft.com/office/officeart/2018/5/layout/IconLeafLabelList"/>
    <dgm:cxn modelId="{BCC37C20-3AF5-4BBE-BDD1-491E98525B3C}" type="presParOf" srcId="{27E25849-8877-4626-BA0C-F23D7A52AD60}" destId="{50CEAA75-EB75-4270-B8CE-F6083B2AF1A0}" srcOrd="0" destOrd="0" presId="urn:microsoft.com/office/officeart/2018/5/layout/IconLeafLabelList"/>
    <dgm:cxn modelId="{CC7D5CA5-BFBC-40FA-96B9-A56F1B47BC9C}" type="presParOf" srcId="{27E25849-8877-4626-BA0C-F23D7A52AD60}" destId="{ED78FC99-61AF-4173-8298-08A607D75892}" srcOrd="1" destOrd="0" presId="urn:microsoft.com/office/officeart/2018/5/layout/IconLeafLabelList"/>
    <dgm:cxn modelId="{8BFBD6CA-CEE5-4C7C-AADE-BB91E466FE49}" type="presParOf" srcId="{27E25849-8877-4626-BA0C-F23D7A52AD60}" destId="{0A989A03-0EFC-4D9E-996B-70885C51EBF7}" srcOrd="2" destOrd="0" presId="urn:microsoft.com/office/officeart/2018/5/layout/IconLeafLabelList"/>
    <dgm:cxn modelId="{121019C6-C45F-4E47-A530-E03F83D6FC0D}" type="presParOf" srcId="{27E25849-8877-4626-BA0C-F23D7A52AD60}" destId="{6778CE55-E4C6-440C-8D20-2AE71F534335}" srcOrd="3" destOrd="0" presId="urn:microsoft.com/office/officeart/2018/5/layout/IconLeafLabelList"/>
    <dgm:cxn modelId="{FCF0D080-359F-40FA-A66C-5B49B033B510}" type="presParOf" srcId="{5A32618D-9899-4115-9B18-929733FE2B3F}" destId="{FA73A86D-A452-453E-BA8E-F0B3BE413205}" srcOrd="1" destOrd="0" presId="urn:microsoft.com/office/officeart/2018/5/layout/IconLeafLabelList"/>
    <dgm:cxn modelId="{3EAEA83B-C230-4A53-86AF-442F16440BD3}" type="presParOf" srcId="{5A32618D-9899-4115-9B18-929733FE2B3F}" destId="{FB2CA428-8234-40E7-B936-6D2150F7B816}" srcOrd="2" destOrd="0" presId="urn:microsoft.com/office/officeart/2018/5/layout/IconLeafLabelList"/>
    <dgm:cxn modelId="{410B5801-5325-43D3-9BE0-6BCE67FC1030}" type="presParOf" srcId="{FB2CA428-8234-40E7-B936-6D2150F7B816}" destId="{A74643E4-3887-409C-A963-CE43AE793B91}" srcOrd="0" destOrd="0" presId="urn:microsoft.com/office/officeart/2018/5/layout/IconLeafLabelList"/>
    <dgm:cxn modelId="{11A1AC82-84F4-41F5-812C-A7B3022FF9F0}" type="presParOf" srcId="{FB2CA428-8234-40E7-B936-6D2150F7B816}" destId="{A57A73D1-0874-4E70-8022-504EE03347C4}" srcOrd="1" destOrd="0" presId="urn:microsoft.com/office/officeart/2018/5/layout/IconLeafLabelList"/>
    <dgm:cxn modelId="{2872BEE7-C9BC-4A0E-9F94-F4E7244495EB}" type="presParOf" srcId="{FB2CA428-8234-40E7-B936-6D2150F7B816}" destId="{1ED91CB6-54E5-49A0-9CEB-6BE284873D14}" srcOrd="2" destOrd="0" presId="urn:microsoft.com/office/officeart/2018/5/layout/IconLeafLabelList"/>
    <dgm:cxn modelId="{CABD84F4-6BDF-496C-905B-FE9A1E5F1CD5}" type="presParOf" srcId="{FB2CA428-8234-40E7-B936-6D2150F7B816}" destId="{5DCC949B-ADAD-4E76-A669-CE7C4FE91431}" srcOrd="3" destOrd="0" presId="urn:microsoft.com/office/officeart/2018/5/layout/IconLeafLabelList"/>
    <dgm:cxn modelId="{7EE47D3D-21F8-4A8A-AAB4-6F887CF5ABEA}" type="presParOf" srcId="{5A32618D-9899-4115-9B18-929733FE2B3F}" destId="{274E7178-DA98-48E2-9656-8F526A262BEC}" srcOrd="3" destOrd="0" presId="urn:microsoft.com/office/officeart/2018/5/layout/IconLeafLabelList"/>
    <dgm:cxn modelId="{8ABD59C6-E5CA-473B-B9DC-31493C879188}" type="presParOf" srcId="{5A32618D-9899-4115-9B18-929733FE2B3F}" destId="{C82E8CF3-9706-47F1-BE98-269079A72CCC}" srcOrd="4" destOrd="0" presId="urn:microsoft.com/office/officeart/2018/5/layout/IconLeafLabelList"/>
    <dgm:cxn modelId="{6134BEF6-6636-4F60-B445-55EE5A02B108}" type="presParOf" srcId="{C82E8CF3-9706-47F1-BE98-269079A72CCC}" destId="{FD7C2CF8-1C82-4B45-8ECC-3C65EFE478CC}" srcOrd="0" destOrd="0" presId="urn:microsoft.com/office/officeart/2018/5/layout/IconLeafLabelList"/>
    <dgm:cxn modelId="{BAA7A854-A5D1-460B-AD8E-0C6A6139A23F}" type="presParOf" srcId="{C82E8CF3-9706-47F1-BE98-269079A72CCC}" destId="{B8882F4F-D976-45B1-993C-5CA602EBC077}" srcOrd="1" destOrd="0" presId="urn:microsoft.com/office/officeart/2018/5/layout/IconLeafLabelList"/>
    <dgm:cxn modelId="{EE021EA7-93B9-4ED5-B47A-4B0545BB428D}" type="presParOf" srcId="{C82E8CF3-9706-47F1-BE98-269079A72CCC}" destId="{F1AB340D-6D43-4A17-AC02-55C93CA8447F}" srcOrd="2" destOrd="0" presId="urn:microsoft.com/office/officeart/2018/5/layout/IconLeafLabelList"/>
    <dgm:cxn modelId="{2B1C1B60-FD5A-4373-AFFA-CAF0824D55B7}" type="presParOf" srcId="{C82E8CF3-9706-47F1-BE98-269079A72CCC}" destId="{BEAD3001-C055-489A-B151-6276E90F798F}" srcOrd="3" destOrd="0" presId="urn:microsoft.com/office/officeart/2018/5/layout/IconLeafLabelList"/>
    <dgm:cxn modelId="{CDCD0CE3-708A-455C-8995-334B4D93EFCE}" type="presParOf" srcId="{5A32618D-9899-4115-9B18-929733FE2B3F}" destId="{D30B86CE-2937-4AD6-89A3-B401FFC6C24E}" srcOrd="5" destOrd="0" presId="urn:microsoft.com/office/officeart/2018/5/layout/IconLeafLabelList"/>
    <dgm:cxn modelId="{57BFDAC7-F5C7-465D-8A9D-08F2A046CC96}" type="presParOf" srcId="{5A32618D-9899-4115-9B18-929733FE2B3F}" destId="{B699FCC6-BE22-4D44-87CB-B60268073588}" srcOrd="6" destOrd="0" presId="urn:microsoft.com/office/officeart/2018/5/layout/IconLeafLabelList"/>
    <dgm:cxn modelId="{0C56DBAC-04E4-4396-9722-0F640BB4D422}" type="presParOf" srcId="{B699FCC6-BE22-4D44-87CB-B60268073588}" destId="{3C7F8564-27B3-4932-9F46-1D07DB3FB0F6}" srcOrd="0" destOrd="0" presId="urn:microsoft.com/office/officeart/2018/5/layout/IconLeafLabelList"/>
    <dgm:cxn modelId="{FBE45FFF-ACF5-4F7A-9922-6B15ABA2AA78}" type="presParOf" srcId="{B699FCC6-BE22-4D44-87CB-B60268073588}" destId="{36A97AE0-B7AC-4258-87EF-EA1622E945D4}" srcOrd="1" destOrd="0" presId="urn:microsoft.com/office/officeart/2018/5/layout/IconLeafLabelList"/>
    <dgm:cxn modelId="{2F22E0FB-19DA-4925-B4C9-441EEC4B264F}" type="presParOf" srcId="{B699FCC6-BE22-4D44-87CB-B60268073588}" destId="{AEA5EE9B-26F3-46E7-AD22-FE7ECF6F21DD}" srcOrd="2" destOrd="0" presId="urn:microsoft.com/office/officeart/2018/5/layout/IconLeafLabelList"/>
    <dgm:cxn modelId="{AF77B214-CA40-4277-80B2-4D8F47E5FF65}" type="presParOf" srcId="{B699FCC6-BE22-4D44-87CB-B60268073588}" destId="{0898DB4B-5C41-4D3F-A39A-C68EFB19DC99}" srcOrd="3" destOrd="0" presId="urn:microsoft.com/office/officeart/2018/5/layout/IconLeafLabelList"/>
    <dgm:cxn modelId="{FB27B9E5-F834-420A-9453-9F61B4736DDB}" type="presParOf" srcId="{5A32618D-9899-4115-9B18-929733FE2B3F}" destId="{1B5953DC-3BAF-44C7-B909-74EFEC7345AB}" srcOrd="7" destOrd="0" presId="urn:microsoft.com/office/officeart/2018/5/layout/IconLeafLabelList"/>
    <dgm:cxn modelId="{7360392C-5C61-4FAD-9409-F3E87C1D3C18}" type="presParOf" srcId="{5A32618D-9899-4115-9B18-929733FE2B3F}" destId="{D5F874B1-B213-4A22-90E8-A9114429D0B0}" srcOrd="8" destOrd="0" presId="urn:microsoft.com/office/officeart/2018/5/layout/IconLeafLabelList"/>
    <dgm:cxn modelId="{82324B63-7692-4008-8580-F46F57CECCE3}" type="presParOf" srcId="{D5F874B1-B213-4A22-90E8-A9114429D0B0}" destId="{44F8AECB-1A30-49C0-8D90-7F878B2AE20E}" srcOrd="0" destOrd="0" presId="urn:microsoft.com/office/officeart/2018/5/layout/IconLeafLabelList"/>
    <dgm:cxn modelId="{DA3333B6-C069-491A-A8A6-DED2C9F43DBC}" type="presParOf" srcId="{D5F874B1-B213-4A22-90E8-A9114429D0B0}" destId="{90E16DAC-9A9E-4A61-AF7E-53F96170B688}" srcOrd="1" destOrd="0" presId="urn:microsoft.com/office/officeart/2018/5/layout/IconLeafLabelList"/>
    <dgm:cxn modelId="{3CC606A3-21A5-4B7A-BDB7-1E7EE136FDB0}" type="presParOf" srcId="{D5F874B1-B213-4A22-90E8-A9114429D0B0}" destId="{98CB2703-475C-4F70-8440-03462741E4DE}" srcOrd="2" destOrd="0" presId="urn:microsoft.com/office/officeart/2018/5/layout/IconLeafLabelList"/>
    <dgm:cxn modelId="{A371FF4E-3520-4FB0-A4F9-294BA262CB37}" type="presParOf" srcId="{D5F874B1-B213-4A22-90E8-A9114429D0B0}" destId="{A71BCB95-FDAA-42CA-BDEC-431B7865227F}" srcOrd="3" destOrd="0" presId="urn:microsoft.com/office/officeart/2018/5/layout/IconLeafLabelList"/>
    <dgm:cxn modelId="{04C8BED8-C3B9-4018-BB23-DE4A94C0864B}" type="presParOf" srcId="{5A32618D-9899-4115-9B18-929733FE2B3F}" destId="{DB6CEFD2-E5B4-4328-8B34-FFE5450C9BC3}" srcOrd="9" destOrd="0" presId="urn:microsoft.com/office/officeart/2018/5/layout/IconLeafLabelList"/>
    <dgm:cxn modelId="{B7F01983-B386-459D-88EF-4D48C537627D}" type="presParOf" srcId="{5A32618D-9899-4115-9B18-929733FE2B3F}" destId="{93B2CE60-FBFC-41B9-AEA8-1AE35B1D9979}" srcOrd="10" destOrd="0" presId="urn:microsoft.com/office/officeart/2018/5/layout/IconLeafLabelList"/>
    <dgm:cxn modelId="{EBC07825-917D-4C80-864C-03E257357A1A}" type="presParOf" srcId="{93B2CE60-FBFC-41B9-AEA8-1AE35B1D9979}" destId="{4699D9D7-6705-4137-BE0C-18AD08DB5513}" srcOrd="0" destOrd="0" presId="urn:microsoft.com/office/officeart/2018/5/layout/IconLeafLabelList"/>
    <dgm:cxn modelId="{67FA9797-12B2-4BD8-B259-54CB02AFB037}" type="presParOf" srcId="{93B2CE60-FBFC-41B9-AEA8-1AE35B1D9979}" destId="{B6ADDAAE-41DC-4E33-8D30-44D7D0F6B439}" srcOrd="1" destOrd="0" presId="urn:microsoft.com/office/officeart/2018/5/layout/IconLeafLabelList"/>
    <dgm:cxn modelId="{A39DB8DD-E1AF-4503-8B88-53923D05375A}" type="presParOf" srcId="{93B2CE60-FBFC-41B9-AEA8-1AE35B1D9979}" destId="{2C60C65A-FB23-4176-9A14-702E0A9F2A68}" srcOrd="2" destOrd="0" presId="urn:microsoft.com/office/officeart/2018/5/layout/IconLeafLabelList"/>
    <dgm:cxn modelId="{6830D252-269B-4F27-9263-0286895C3CF3}" type="presParOf" srcId="{93B2CE60-FBFC-41B9-AEA8-1AE35B1D9979}" destId="{381211E1-1F46-4C89-9C3B-D634547ADF23}"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D890FD-46D3-4D5A-A4B7-0EA46799981F}">
      <dsp:nvSpPr>
        <dsp:cNvPr id="0" name=""/>
        <dsp:cNvSpPr/>
      </dsp:nvSpPr>
      <dsp:spPr>
        <a:xfrm>
          <a:off x="738477" y="513562"/>
          <a:ext cx="1079825" cy="10798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30121F0-7E95-48A3-B156-CCBA7310EE09}">
      <dsp:nvSpPr>
        <dsp:cNvPr id="0" name=""/>
        <dsp:cNvSpPr/>
      </dsp:nvSpPr>
      <dsp:spPr>
        <a:xfrm>
          <a:off x="78583" y="1911041"/>
          <a:ext cx="23996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pPr>
          <a:r>
            <a:rPr lang="en-US" sz="2100" kern="1200"/>
            <a:t>What Is a Prompt?</a:t>
          </a:r>
        </a:p>
      </dsp:txBody>
      <dsp:txXfrm>
        <a:off x="78583" y="1911041"/>
        <a:ext cx="2399612" cy="720000"/>
      </dsp:txXfrm>
    </dsp:sp>
    <dsp:sp modelId="{FC319054-2A75-449A-8E3F-634E88361828}">
      <dsp:nvSpPr>
        <dsp:cNvPr id="0" name=""/>
        <dsp:cNvSpPr/>
      </dsp:nvSpPr>
      <dsp:spPr>
        <a:xfrm>
          <a:off x="3558022" y="513562"/>
          <a:ext cx="1079825" cy="10798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7850432-5814-4950-A077-1F03CED53178}">
      <dsp:nvSpPr>
        <dsp:cNvPr id="0" name=""/>
        <dsp:cNvSpPr/>
      </dsp:nvSpPr>
      <dsp:spPr>
        <a:xfrm>
          <a:off x="2898129" y="1911041"/>
          <a:ext cx="23996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pPr>
          <a:r>
            <a:rPr lang="en-US" sz="2100" kern="1200"/>
            <a:t>Why need Prompt engineering ?</a:t>
          </a:r>
        </a:p>
      </dsp:txBody>
      <dsp:txXfrm>
        <a:off x="2898129" y="1911041"/>
        <a:ext cx="2399612" cy="720000"/>
      </dsp:txXfrm>
    </dsp:sp>
    <dsp:sp modelId="{CAF8742B-22CA-4656-966F-3BCDDF78E1EE}">
      <dsp:nvSpPr>
        <dsp:cNvPr id="0" name=""/>
        <dsp:cNvSpPr/>
      </dsp:nvSpPr>
      <dsp:spPr>
        <a:xfrm>
          <a:off x="6377567" y="513562"/>
          <a:ext cx="1079825" cy="10798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B3902B2-536B-425E-B1F5-92ADD7A0FCA1}">
      <dsp:nvSpPr>
        <dsp:cNvPr id="0" name=""/>
        <dsp:cNvSpPr/>
      </dsp:nvSpPr>
      <dsp:spPr>
        <a:xfrm>
          <a:off x="5717674" y="1911041"/>
          <a:ext cx="23996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pPr>
          <a:r>
            <a:rPr lang="en-US" sz="2100" kern="1200"/>
            <a:t>GEN AIs Project and Prompt engineering ?</a:t>
          </a:r>
        </a:p>
      </dsp:txBody>
      <dsp:txXfrm>
        <a:off x="5717674" y="1911041"/>
        <a:ext cx="2399612"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8E4172-57E3-4861-BD95-E25E5A1203A0}">
      <dsp:nvSpPr>
        <dsp:cNvPr id="0" name=""/>
        <dsp:cNvSpPr/>
      </dsp:nvSpPr>
      <dsp:spPr>
        <a:xfrm>
          <a:off x="720840" y="1560"/>
          <a:ext cx="1570741" cy="942445"/>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a:t>One of the significant capabilities of generative AI models is that their output closely resembles what a human can produce. Relevant, contextual, imaginative, nuanced, and linguistically accurate and one of the critical factors in generating this output is prompt.</a:t>
          </a:r>
        </a:p>
      </dsp:txBody>
      <dsp:txXfrm>
        <a:off x="720840" y="1560"/>
        <a:ext cx="1570741" cy="942445"/>
      </dsp:txXfrm>
    </dsp:sp>
    <dsp:sp modelId="{6F465931-50CD-401D-A9F9-E7E80F4DD6A8}">
      <dsp:nvSpPr>
        <dsp:cNvPr id="0" name=""/>
        <dsp:cNvSpPr/>
      </dsp:nvSpPr>
      <dsp:spPr>
        <a:xfrm>
          <a:off x="2448656" y="1560"/>
          <a:ext cx="1570741" cy="942445"/>
        </a:xfrm>
        <a:prstGeom prst="rect">
          <a:avLst/>
        </a:prstGeom>
        <a:solidFill>
          <a:schemeClr val="accent2">
            <a:hueOff val="425593"/>
            <a:satOff val="-531"/>
            <a:lumOff val="12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b="1" kern="1200"/>
            <a:t>What is a prompt? A prompt is any input you provide to a generative model to produce a desired output.</a:t>
          </a:r>
          <a:endParaRPr lang="en-US" sz="700" kern="1200"/>
        </a:p>
      </dsp:txBody>
      <dsp:txXfrm>
        <a:off x="2448656" y="1560"/>
        <a:ext cx="1570741" cy="942445"/>
      </dsp:txXfrm>
    </dsp:sp>
    <dsp:sp modelId="{86632F8A-72C8-4368-A1EA-068A673395CF}">
      <dsp:nvSpPr>
        <dsp:cNvPr id="0" name=""/>
        <dsp:cNvSpPr/>
      </dsp:nvSpPr>
      <dsp:spPr>
        <a:xfrm>
          <a:off x="4176472" y="1560"/>
          <a:ext cx="1570741" cy="942445"/>
        </a:xfrm>
        <a:prstGeom prst="rect">
          <a:avLst/>
        </a:prstGeom>
        <a:solidFill>
          <a:schemeClr val="accent2">
            <a:hueOff val="851185"/>
            <a:satOff val="-1062"/>
            <a:lumOff val="25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a:t>You can think of it as an instruction you provide to the model.</a:t>
          </a:r>
        </a:p>
      </dsp:txBody>
      <dsp:txXfrm>
        <a:off x="4176472" y="1560"/>
        <a:ext cx="1570741" cy="942445"/>
      </dsp:txXfrm>
    </dsp:sp>
    <dsp:sp modelId="{99B45E7C-BAA7-4798-8208-DC03559C60A5}">
      <dsp:nvSpPr>
        <dsp:cNvPr id="0" name=""/>
        <dsp:cNvSpPr/>
      </dsp:nvSpPr>
      <dsp:spPr>
        <a:xfrm>
          <a:off x="5904288" y="1560"/>
          <a:ext cx="1570741" cy="942445"/>
        </a:xfrm>
        <a:prstGeom prst="rect">
          <a:avLst/>
        </a:prstGeom>
        <a:solidFill>
          <a:schemeClr val="accent2">
            <a:hueOff val="1276778"/>
            <a:satOff val="-1592"/>
            <a:lumOff val="37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a:t>For example, write a small paragraph describing your favorite holiday destination.</a:t>
          </a:r>
        </a:p>
      </dsp:txBody>
      <dsp:txXfrm>
        <a:off x="5904288" y="1560"/>
        <a:ext cx="1570741" cy="942445"/>
      </dsp:txXfrm>
    </dsp:sp>
    <dsp:sp modelId="{7594EAB8-BD4C-4B7A-BBA2-8FC9E52470BC}">
      <dsp:nvSpPr>
        <dsp:cNvPr id="0" name=""/>
        <dsp:cNvSpPr/>
      </dsp:nvSpPr>
      <dsp:spPr>
        <a:xfrm>
          <a:off x="720840" y="1101079"/>
          <a:ext cx="1570741" cy="942445"/>
        </a:xfrm>
        <a:prstGeom prst="rect">
          <a:avLst/>
        </a:prstGeom>
        <a:solidFill>
          <a:schemeClr val="accent2">
            <a:hueOff val="1702371"/>
            <a:satOff val="-2123"/>
            <a:lumOff val="49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b="1" kern="1200"/>
            <a:t>Write HTML code to generate a dropdown selection of cities within an online form.</a:t>
          </a:r>
          <a:endParaRPr lang="en-US" sz="700" kern="1200"/>
        </a:p>
      </dsp:txBody>
      <dsp:txXfrm>
        <a:off x="720840" y="1101079"/>
        <a:ext cx="1570741" cy="942445"/>
      </dsp:txXfrm>
    </dsp:sp>
    <dsp:sp modelId="{56FD6A75-17B5-44EF-A0F8-86A08B221E1D}">
      <dsp:nvSpPr>
        <dsp:cNvPr id="0" name=""/>
        <dsp:cNvSpPr/>
      </dsp:nvSpPr>
      <dsp:spPr>
        <a:xfrm>
          <a:off x="2448656" y="1101079"/>
          <a:ext cx="1570741" cy="942445"/>
        </a:xfrm>
        <a:prstGeom prst="rect">
          <a:avLst/>
        </a:prstGeom>
        <a:solidFill>
          <a:schemeClr val="accent2">
            <a:hueOff val="2127963"/>
            <a:satOff val="-2654"/>
            <a:lumOff val="6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a:t>These are straightforward prompts used to produce a specific output. Prompts can also be a series of instructions that refine the output step by step to achieve the desired result.</a:t>
          </a:r>
        </a:p>
      </dsp:txBody>
      <dsp:txXfrm>
        <a:off x="2448656" y="1101079"/>
        <a:ext cx="1570741" cy="942445"/>
      </dsp:txXfrm>
    </dsp:sp>
    <dsp:sp modelId="{E79DCA12-F876-4802-9F89-1D83D11A2F46}">
      <dsp:nvSpPr>
        <dsp:cNvPr id="0" name=""/>
        <dsp:cNvSpPr/>
      </dsp:nvSpPr>
      <dsp:spPr>
        <a:xfrm>
          <a:off x="4176472" y="1101079"/>
          <a:ext cx="1570741" cy="942445"/>
        </a:xfrm>
        <a:prstGeom prst="rect">
          <a:avLst/>
        </a:prstGeom>
        <a:solidFill>
          <a:schemeClr val="accent2">
            <a:hueOff val="2553556"/>
            <a:satOff val="-3185"/>
            <a:lumOff val="7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b="1" kern="1200"/>
            <a:t>For example, write a short story about a scientist studying life on Mars. What were some of the challenges he faced during his research?</a:t>
          </a:r>
          <a:endParaRPr lang="en-US" sz="700" kern="1200"/>
        </a:p>
      </dsp:txBody>
      <dsp:txXfrm>
        <a:off x="4176472" y="1101079"/>
        <a:ext cx="1570741" cy="942445"/>
      </dsp:txXfrm>
    </dsp:sp>
    <dsp:sp modelId="{8A4803CA-7EEE-43F2-81F9-0F71A194E433}">
      <dsp:nvSpPr>
        <dsp:cNvPr id="0" name=""/>
        <dsp:cNvSpPr/>
      </dsp:nvSpPr>
      <dsp:spPr>
        <a:xfrm>
          <a:off x="5904288" y="1101079"/>
          <a:ext cx="1570741" cy="942445"/>
        </a:xfrm>
        <a:prstGeom prst="rect">
          <a:avLst/>
        </a:prstGeom>
        <a:solidFill>
          <a:schemeClr val="accent2">
            <a:hueOff val="2979148"/>
            <a:satOff val="-3716"/>
            <a:lumOff val="87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a:t>With these examples, it is clear that prompts contain questions, contextual text, guiding patterns or examples, and partial input for the model.</a:t>
          </a:r>
        </a:p>
      </dsp:txBody>
      <dsp:txXfrm>
        <a:off x="5904288" y="1101079"/>
        <a:ext cx="1570741" cy="942445"/>
      </dsp:txXfrm>
    </dsp:sp>
    <dsp:sp modelId="{F579A9FE-DC78-43D7-912D-63F96241FEEC}">
      <dsp:nvSpPr>
        <dsp:cNvPr id="0" name=""/>
        <dsp:cNvSpPr/>
      </dsp:nvSpPr>
      <dsp:spPr>
        <a:xfrm>
          <a:off x="720840" y="2200598"/>
          <a:ext cx="1570741" cy="942445"/>
        </a:xfrm>
        <a:prstGeom prst="rect">
          <a:avLst/>
        </a:prstGeom>
        <a:solidFill>
          <a:schemeClr val="accent2">
            <a:hueOff val="3404741"/>
            <a:satOff val="-4247"/>
            <a:lumOff val="99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a:t>Based on these natural language requests submitted as prompts, generative AI models collect information, derive inferences, and provide creative solutions.</a:t>
          </a:r>
        </a:p>
      </dsp:txBody>
      <dsp:txXfrm>
        <a:off x="720840" y="2200598"/>
        <a:ext cx="1570741" cy="942445"/>
      </dsp:txXfrm>
    </dsp:sp>
    <dsp:sp modelId="{870E236A-8CB2-473B-82BD-5303CAC41B9B}">
      <dsp:nvSpPr>
        <dsp:cNvPr id="0" name=""/>
        <dsp:cNvSpPr/>
      </dsp:nvSpPr>
      <dsp:spPr>
        <a:xfrm>
          <a:off x="2448656" y="2200598"/>
          <a:ext cx="1570741" cy="942445"/>
        </a:xfrm>
        <a:prstGeom prst="rect">
          <a:avLst/>
        </a:prstGeom>
        <a:solidFill>
          <a:schemeClr val="accent2">
            <a:hueOff val="3830334"/>
            <a:satOff val="-4777"/>
            <a:lumOff val="112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a:t>These instructions help the model produce relevant and logical responses or output based on provided inputs. Let's look at some more examples to help us understand this better.</a:t>
          </a:r>
        </a:p>
      </dsp:txBody>
      <dsp:txXfrm>
        <a:off x="2448656" y="2200598"/>
        <a:ext cx="1570741" cy="942445"/>
      </dsp:txXfrm>
    </dsp:sp>
    <dsp:sp modelId="{303BEA33-E05B-49A8-9A76-AE900678EFA7}">
      <dsp:nvSpPr>
        <dsp:cNvPr id="0" name=""/>
        <dsp:cNvSpPr/>
      </dsp:nvSpPr>
      <dsp:spPr>
        <a:xfrm>
          <a:off x="4176472" y="2200598"/>
          <a:ext cx="1570741" cy="942445"/>
        </a:xfrm>
        <a:prstGeom prst="rect">
          <a:avLst/>
        </a:prstGeom>
        <a:solidFill>
          <a:schemeClr val="accent2">
            <a:hueOff val="4255926"/>
            <a:satOff val="-5308"/>
            <a:lumOff val="124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a:t>Suppose you want the model to write a short story about the struggles and achievements of a farmer who became a successful businessman in 10 years. If your prompt is rich man's story from a small town, his struggles and achievements, it'll produce a generic output.</a:t>
          </a:r>
        </a:p>
      </dsp:txBody>
      <dsp:txXfrm>
        <a:off x="4176472" y="2200598"/>
        <a:ext cx="1570741" cy="942445"/>
      </dsp:txXfrm>
    </dsp:sp>
    <dsp:sp modelId="{09188F5E-9C85-46A0-9450-464A0B928A34}">
      <dsp:nvSpPr>
        <dsp:cNvPr id="0" name=""/>
        <dsp:cNvSpPr/>
      </dsp:nvSpPr>
      <dsp:spPr>
        <a:xfrm>
          <a:off x="5904288" y="2200598"/>
          <a:ext cx="1570741" cy="942445"/>
        </a:xfrm>
        <a:prstGeom prst="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b="1" kern="1200"/>
            <a:t>As this is what we call naive prompting.</a:t>
          </a:r>
          <a:endParaRPr lang="en-US" sz="700" kern="1200"/>
        </a:p>
      </dsp:txBody>
      <dsp:txXfrm>
        <a:off x="5904288" y="2200598"/>
        <a:ext cx="1570741" cy="9424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F64B77-5082-4224-9328-C5109995428C}">
      <dsp:nvSpPr>
        <dsp:cNvPr id="0" name=""/>
        <dsp:cNvSpPr/>
      </dsp:nvSpPr>
      <dsp:spPr>
        <a:xfrm>
          <a:off x="399893" y="384255"/>
          <a:ext cx="646259" cy="64625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A4A4219-BAD1-4A7F-870E-B4112C43E593}">
      <dsp:nvSpPr>
        <dsp:cNvPr id="0" name=""/>
        <dsp:cNvSpPr/>
      </dsp:nvSpPr>
      <dsp:spPr>
        <a:xfrm>
          <a:off x="4956" y="1387046"/>
          <a:ext cx="1436132" cy="137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It means asking queries from the model in the simplest possible manner. To convey your intentions to the model, you can make simple adjustments that can radically improve the result.</a:t>
          </a:r>
        </a:p>
      </dsp:txBody>
      <dsp:txXfrm>
        <a:off x="4956" y="1387046"/>
        <a:ext cx="1436132" cy="1373302"/>
      </dsp:txXfrm>
    </dsp:sp>
    <dsp:sp modelId="{568C2093-9907-4C74-9964-9E1A7C35418C}">
      <dsp:nvSpPr>
        <dsp:cNvPr id="0" name=""/>
        <dsp:cNvSpPr/>
      </dsp:nvSpPr>
      <dsp:spPr>
        <a:xfrm>
          <a:off x="2087349" y="384255"/>
          <a:ext cx="646259" cy="64625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5CBBD11-D51B-4695-A2A3-787FBE0E235E}">
      <dsp:nvSpPr>
        <dsp:cNvPr id="0" name=""/>
        <dsp:cNvSpPr/>
      </dsp:nvSpPr>
      <dsp:spPr>
        <a:xfrm>
          <a:off x="1692413" y="1387046"/>
          <a:ext cx="1436132" cy="137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Like your prompt must have context to proper structure and can be comprehensible so you can rewrite the prompt as </a:t>
          </a:r>
        </a:p>
      </dsp:txBody>
      <dsp:txXfrm>
        <a:off x="1692413" y="1387046"/>
        <a:ext cx="1436132" cy="1373302"/>
      </dsp:txXfrm>
    </dsp:sp>
    <dsp:sp modelId="{0A01753D-61CE-4B7A-A2CF-C63BBFF7CA5B}">
      <dsp:nvSpPr>
        <dsp:cNvPr id="0" name=""/>
        <dsp:cNvSpPr/>
      </dsp:nvSpPr>
      <dsp:spPr>
        <a:xfrm>
          <a:off x="3774805" y="384255"/>
          <a:ext cx="646259" cy="64625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B519431-C0DA-46D3-A736-D6276A6E4B71}">
      <dsp:nvSpPr>
        <dsp:cNvPr id="0" name=""/>
        <dsp:cNvSpPr/>
      </dsp:nvSpPr>
      <dsp:spPr>
        <a:xfrm>
          <a:off x="3379869" y="1387046"/>
          <a:ext cx="1436132" cy="137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"Write a short story about the struggles and achievements of a farmer who became a rich and influential businessman in 10 years."</a:t>
          </a:r>
        </a:p>
      </dsp:txBody>
      <dsp:txXfrm>
        <a:off x="3379869" y="1387046"/>
        <a:ext cx="1436132" cy="1373302"/>
      </dsp:txXfrm>
    </dsp:sp>
    <dsp:sp modelId="{2B6891AD-2400-49A4-99D4-C707C614B118}">
      <dsp:nvSpPr>
        <dsp:cNvPr id="0" name=""/>
        <dsp:cNvSpPr/>
      </dsp:nvSpPr>
      <dsp:spPr>
        <a:xfrm>
          <a:off x="5462261" y="384255"/>
          <a:ext cx="646259" cy="64625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C2071F9-A8CB-4FDE-B5FF-2A1EDFF5C9F8}">
      <dsp:nvSpPr>
        <dsp:cNvPr id="0" name=""/>
        <dsp:cNvSpPr/>
      </dsp:nvSpPr>
      <dsp:spPr>
        <a:xfrm>
          <a:off x="5067325" y="1387046"/>
          <a:ext cx="1436132" cy="137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Let's look at another example where you want the model to generate an image of a sunset scenery you have in mind.</a:t>
          </a:r>
        </a:p>
      </dsp:txBody>
      <dsp:txXfrm>
        <a:off x="5067325" y="1387046"/>
        <a:ext cx="1436132" cy="1373302"/>
      </dsp:txXfrm>
    </dsp:sp>
    <dsp:sp modelId="{A5BC2698-474D-4D66-B49E-357B786FD7F5}">
      <dsp:nvSpPr>
        <dsp:cNvPr id="0" name=""/>
        <dsp:cNvSpPr/>
      </dsp:nvSpPr>
      <dsp:spPr>
        <a:xfrm>
          <a:off x="7149717" y="384255"/>
          <a:ext cx="646259" cy="64625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6E03059-51D2-42ED-B65C-B73D6A169118}">
      <dsp:nvSpPr>
        <dsp:cNvPr id="0" name=""/>
        <dsp:cNvSpPr/>
      </dsp:nvSpPr>
      <dsp:spPr>
        <a:xfrm>
          <a:off x="6754781" y="1387046"/>
          <a:ext cx="1436132" cy="137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Writing the prompt as "Sunset image between mountains" may not give you the desired output. The prompt is too brief and lacks a detailed outline of the image you have in mind. You can rewrite the prompt as "Generate an image depicting a calm sunset about a river valley that rests amidst the mountains."</a:t>
          </a:r>
        </a:p>
      </dsp:txBody>
      <dsp:txXfrm>
        <a:off x="6754781" y="1387046"/>
        <a:ext cx="1436132" cy="137330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CEAA75-EB75-4270-B8CE-F6083B2AF1A0}">
      <dsp:nvSpPr>
        <dsp:cNvPr id="0" name=""/>
        <dsp:cNvSpPr/>
      </dsp:nvSpPr>
      <dsp:spPr>
        <a:xfrm>
          <a:off x="233534" y="755269"/>
          <a:ext cx="726996" cy="726996"/>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78FC99-61AF-4173-8298-08A607D75892}">
      <dsp:nvSpPr>
        <dsp:cNvPr id="0" name=""/>
        <dsp:cNvSpPr/>
      </dsp:nvSpPr>
      <dsp:spPr>
        <a:xfrm>
          <a:off x="388467" y="910202"/>
          <a:ext cx="417128" cy="4171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778CE55-E4C6-440C-8D20-2AE71F534335}">
      <dsp:nvSpPr>
        <dsp:cNvPr id="0" name=""/>
        <dsp:cNvSpPr/>
      </dsp:nvSpPr>
      <dsp:spPr>
        <a:xfrm>
          <a:off x="1133" y="1708706"/>
          <a:ext cx="1191796" cy="680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66700">
            <a:lnSpc>
              <a:spcPct val="100000"/>
            </a:lnSpc>
            <a:spcBef>
              <a:spcPct val="0"/>
            </a:spcBef>
            <a:spcAft>
              <a:spcPct val="35000"/>
            </a:spcAft>
            <a:buNone/>
            <a:defRPr cap="all"/>
          </a:pPr>
          <a:r>
            <a:rPr lang="en-US" sz="600" kern="1200"/>
            <a:t>Let's understand the step-by-step process involved in creating effective prompts through prompt engineering.</a:t>
          </a:r>
          <a:endParaRPr lang="en-US" sz="600" kern="1200" dirty="0"/>
        </a:p>
      </dsp:txBody>
      <dsp:txXfrm>
        <a:off x="1133" y="1708706"/>
        <a:ext cx="1191796" cy="680627"/>
      </dsp:txXfrm>
    </dsp:sp>
    <dsp:sp modelId="{A74643E4-3887-409C-A963-CE43AE793B91}">
      <dsp:nvSpPr>
        <dsp:cNvPr id="0" name=""/>
        <dsp:cNvSpPr/>
      </dsp:nvSpPr>
      <dsp:spPr>
        <a:xfrm>
          <a:off x="1633895" y="755269"/>
          <a:ext cx="726996" cy="726996"/>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7A73D1-0874-4E70-8022-504EE03347C4}">
      <dsp:nvSpPr>
        <dsp:cNvPr id="0" name=""/>
        <dsp:cNvSpPr/>
      </dsp:nvSpPr>
      <dsp:spPr>
        <a:xfrm>
          <a:off x="1788829" y="910202"/>
          <a:ext cx="417128" cy="41712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DCC949B-ADAD-4E76-A669-CE7C4FE91431}">
      <dsp:nvSpPr>
        <dsp:cNvPr id="0" name=""/>
        <dsp:cNvSpPr/>
      </dsp:nvSpPr>
      <dsp:spPr>
        <a:xfrm>
          <a:off x="1401495" y="1708706"/>
          <a:ext cx="1191796" cy="680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66700">
            <a:lnSpc>
              <a:spcPct val="100000"/>
            </a:lnSpc>
            <a:spcBef>
              <a:spcPct val="0"/>
            </a:spcBef>
            <a:spcAft>
              <a:spcPct val="35000"/>
            </a:spcAft>
            <a:buNone/>
            <a:defRPr cap="all"/>
          </a:pPr>
          <a:r>
            <a:rPr lang="en-US" sz="600" b="1" kern="1200"/>
            <a:t>Define the goal : </a:t>
          </a:r>
          <a:r>
            <a:rPr lang="en-US" sz="600" kern="1200"/>
            <a:t>The initial step in the process involves establishing a distinct goal. You must know what exactly you want the model to generate. For example, form a brief overview of the benefits and risks associated with artificial intelligence and automobiles.</a:t>
          </a:r>
          <a:endParaRPr lang="en-US" sz="600" kern="1200" dirty="0"/>
        </a:p>
      </dsp:txBody>
      <dsp:txXfrm>
        <a:off x="1401495" y="1708706"/>
        <a:ext cx="1191796" cy="680627"/>
      </dsp:txXfrm>
    </dsp:sp>
    <dsp:sp modelId="{FD7C2CF8-1C82-4B45-8ECC-3C65EFE478CC}">
      <dsp:nvSpPr>
        <dsp:cNvPr id="0" name=""/>
        <dsp:cNvSpPr/>
      </dsp:nvSpPr>
      <dsp:spPr>
        <a:xfrm>
          <a:off x="3034256" y="755269"/>
          <a:ext cx="726996" cy="726996"/>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882F4F-D976-45B1-993C-5CA602EBC077}">
      <dsp:nvSpPr>
        <dsp:cNvPr id="0" name=""/>
        <dsp:cNvSpPr/>
      </dsp:nvSpPr>
      <dsp:spPr>
        <a:xfrm>
          <a:off x="3189190" y="910202"/>
          <a:ext cx="417128" cy="41712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EAD3001-C055-489A-B151-6276E90F798F}">
      <dsp:nvSpPr>
        <dsp:cNvPr id="0" name=""/>
        <dsp:cNvSpPr/>
      </dsp:nvSpPr>
      <dsp:spPr>
        <a:xfrm>
          <a:off x="2801856" y="1708706"/>
          <a:ext cx="1191796" cy="680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66700">
            <a:lnSpc>
              <a:spcPct val="100000"/>
            </a:lnSpc>
            <a:spcBef>
              <a:spcPct val="0"/>
            </a:spcBef>
            <a:spcAft>
              <a:spcPct val="35000"/>
            </a:spcAft>
            <a:buNone/>
            <a:defRPr cap="all"/>
          </a:pPr>
          <a:r>
            <a:rPr lang="en-US" sz="600" b="1" kern="1200"/>
            <a:t>Craft initial prompt : </a:t>
          </a:r>
          <a:r>
            <a:rPr lang="en-US" sz="600" kern="1200"/>
            <a:t>Having defined the goal, it's now time to create an initial prompt. This might manifest as a question, a directive, or even a situation depending on the goal. For example, write an article that presents a well-rounded analysis of the benefits and drawbacks associated with the incorporation of artificial intelligence in the field of automobile industry.</a:t>
          </a:r>
          <a:endParaRPr lang="en-US" sz="600" kern="1200" dirty="0"/>
        </a:p>
      </dsp:txBody>
      <dsp:txXfrm>
        <a:off x="2801856" y="1708706"/>
        <a:ext cx="1191796" cy="680627"/>
      </dsp:txXfrm>
    </dsp:sp>
    <dsp:sp modelId="{3C7F8564-27B3-4932-9F46-1D07DB3FB0F6}">
      <dsp:nvSpPr>
        <dsp:cNvPr id="0" name=""/>
        <dsp:cNvSpPr/>
      </dsp:nvSpPr>
      <dsp:spPr>
        <a:xfrm>
          <a:off x="4434618" y="755269"/>
          <a:ext cx="726996" cy="726996"/>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A97AE0-B7AC-4258-87EF-EA1622E945D4}">
      <dsp:nvSpPr>
        <dsp:cNvPr id="0" name=""/>
        <dsp:cNvSpPr/>
      </dsp:nvSpPr>
      <dsp:spPr>
        <a:xfrm>
          <a:off x="4589551" y="910202"/>
          <a:ext cx="417128" cy="41712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898DB4B-5C41-4D3F-A39A-C68EFB19DC99}">
      <dsp:nvSpPr>
        <dsp:cNvPr id="0" name=""/>
        <dsp:cNvSpPr/>
      </dsp:nvSpPr>
      <dsp:spPr>
        <a:xfrm>
          <a:off x="4202217" y="1708706"/>
          <a:ext cx="1191796" cy="680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66700">
            <a:lnSpc>
              <a:spcPct val="100000"/>
            </a:lnSpc>
            <a:spcBef>
              <a:spcPct val="0"/>
            </a:spcBef>
            <a:spcAft>
              <a:spcPct val="35000"/>
            </a:spcAft>
            <a:buNone/>
            <a:defRPr cap="all"/>
          </a:pPr>
          <a:r>
            <a:rPr lang="en-US" sz="600" b="1" kern="1200"/>
            <a:t>Test the prompt : </a:t>
          </a:r>
          <a:r>
            <a:rPr lang="en-US" sz="600" kern="1200"/>
            <a:t>The prompt you created should now be tested and analyzed for its response. While the response might be relevant, it could lack the distinct perspective you are aiming for. For example, the response to the initial prompt directly lays out the benefits and drawbacks of integrating artificial intelligence in the automobile industry. It does not highlight any ethical concerns that might arise. Further, there's no discussion on the positive and negative implications of the scene.</a:t>
          </a:r>
          <a:endParaRPr lang="en-US" sz="600" kern="1200" dirty="0"/>
        </a:p>
      </dsp:txBody>
      <dsp:txXfrm>
        <a:off x="4202217" y="1708706"/>
        <a:ext cx="1191796" cy="680627"/>
      </dsp:txXfrm>
    </dsp:sp>
    <dsp:sp modelId="{44F8AECB-1A30-49C0-8D90-7F878B2AE20E}">
      <dsp:nvSpPr>
        <dsp:cNvPr id="0" name=""/>
        <dsp:cNvSpPr/>
      </dsp:nvSpPr>
      <dsp:spPr>
        <a:xfrm>
          <a:off x="5834979" y="755269"/>
          <a:ext cx="726996" cy="726996"/>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E16DAC-9A9E-4A61-AF7E-53F96170B688}">
      <dsp:nvSpPr>
        <dsp:cNvPr id="0" name=""/>
        <dsp:cNvSpPr/>
      </dsp:nvSpPr>
      <dsp:spPr>
        <a:xfrm>
          <a:off x="5989913" y="910202"/>
          <a:ext cx="417128" cy="41712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71BCB95-FDAA-42CA-BDEC-431B7865227F}">
      <dsp:nvSpPr>
        <dsp:cNvPr id="0" name=""/>
        <dsp:cNvSpPr/>
      </dsp:nvSpPr>
      <dsp:spPr>
        <a:xfrm>
          <a:off x="5602579" y="1708706"/>
          <a:ext cx="1191796" cy="680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66700">
            <a:lnSpc>
              <a:spcPct val="100000"/>
            </a:lnSpc>
            <a:spcBef>
              <a:spcPct val="0"/>
            </a:spcBef>
            <a:spcAft>
              <a:spcPct val="35000"/>
            </a:spcAft>
            <a:buNone/>
            <a:defRPr cap="all"/>
          </a:pPr>
          <a:r>
            <a:rPr lang="en-US" sz="600" kern="1200"/>
            <a:t>Analyze the response, you must carefully review the response and examine whether it aligns with your goals. If not, make a note of the areas where it fell short.For example, the initial prompt used fails to cover a comprehensive range of benefits and risks associated with artificial intelligence in the automobile industry.</a:t>
          </a:r>
          <a:endParaRPr lang="en-US" sz="600" kern="1200" dirty="0"/>
        </a:p>
      </dsp:txBody>
      <dsp:txXfrm>
        <a:off x="5602579" y="1708706"/>
        <a:ext cx="1191796" cy="680627"/>
      </dsp:txXfrm>
    </dsp:sp>
    <dsp:sp modelId="{4699D9D7-6705-4137-BE0C-18AD08DB5513}">
      <dsp:nvSpPr>
        <dsp:cNvPr id="0" name=""/>
        <dsp:cNvSpPr/>
      </dsp:nvSpPr>
      <dsp:spPr>
        <a:xfrm>
          <a:off x="7235340" y="755269"/>
          <a:ext cx="726996" cy="726996"/>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ADDAAE-41DC-4E33-8D30-44D7D0F6B439}">
      <dsp:nvSpPr>
        <dsp:cNvPr id="0" name=""/>
        <dsp:cNvSpPr/>
      </dsp:nvSpPr>
      <dsp:spPr>
        <a:xfrm>
          <a:off x="7390274" y="910202"/>
          <a:ext cx="417128" cy="41712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81211E1-1F46-4C89-9C3B-D634547ADF23}">
      <dsp:nvSpPr>
        <dsp:cNvPr id="0" name=""/>
        <dsp:cNvSpPr/>
      </dsp:nvSpPr>
      <dsp:spPr>
        <a:xfrm>
          <a:off x="7002940" y="1708706"/>
          <a:ext cx="1191796" cy="680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66700">
            <a:lnSpc>
              <a:spcPct val="100000"/>
            </a:lnSpc>
            <a:spcBef>
              <a:spcPct val="0"/>
            </a:spcBef>
            <a:spcAft>
              <a:spcPct val="35000"/>
            </a:spcAft>
            <a:buNone/>
            <a:defRPr cap="all"/>
          </a:pPr>
          <a:r>
            <a:rPr lang="en-US" sz="600" b="1" kern="1200" dirty="0"/>
            <a:t>Refine the prompt: </a:t>
          </a:r>
          <a:r>
            <a:rPr lang="en-US" sz="600" kern="1200" dirty="0"/>
            <a:t>Using the knowledge acquired through testing and analysis, it's now appropriate to modify the prompt. This might include enhancing its specificity, incorporating additional context, or rephrasing.</a:t>
          </a:r>
        </a:p>
      </dsp:txBody>
      <dsp:txXfrm>
        <a:off x="7002940" y="1708706"/>
        <a:ext cx="1191796" cy="680627"/>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0T17:57:00.178"/>
    </inkml:context>
    <inkml:brush xml:id="br0">
      <inkml:brushProperty name="width" value="0.1" units="cm"/>
      <inkml:brushProperty name="height" value="0.1" units="cm"/>
      <inkml:brushProperty name="color" value="#008C3A"/>
    </inkml:brush>
  </inkml:definitions>
  <inkml:trace contextRef="#ctx0" brushRef="#br0">765 1132 6553,'2'0'115,"0"0"0,0 1 0,0-1-1,-1 0 1,1 1 0,0-1 0,0 1-1,0-1 1,-1 1 0,1 0 0,0 0-1,0 0 1,-1 0 0,1 0-1,-1 0 1,1 0 0,-1 0 0,0 1-1,3 2 1,0 2-41,-1-1 0,1 1-1,-1 1 1,3 7 0,3 7 346,-5-12-141,0 0-1,1 0 1,0 0 0,1-1-1,-1 0 1,2 0-1,-1-1 1,1 1 0,0-1-1,1-1 1,0 1-1,0-2 1,0 1 0,1-1-1,10 5 1,-9-5 162,1 0 1,0-1-1,0-1 0,14 3 1,-21-6-299,1 1 0,-1-1 0,1 0 0,0-1 0,-1 1 0,1-1 0,-1 0 0,1 0 0,-1 0 0,1 0 0,-1-1 0,0 0 0,7-3 0,60-40 1211,-37 24 233,47-24 0,-68 39-1369,0 1 0,1 0 0,-1 1 0,1 1 0,0 0-1,0 1 1,22-1 0,149 13-218,-58-1 0,400-4 0,-347-6 0,41-8-341,-195 6 215,0-2 0,-1 0 0,1-2 0,-1 0 0,0-2 0,33-16 1,-4-3-1896,48-26-1259,-90 47 2826,0-1 1,-1-1 0,0 1-1,-1-2 1,19-20-1,-25 23 129,0 1-1,0-1 0,-1 0 1,1 0-1,-1-1 1,-1 1-1,1 0 1,-2-1-1,1 0 0,1-14 1,-2-8-805,-3-45 0,1 41 99,0-12 692,1 12-177,-8-51-1,6 74 458,0-1-1,-1 1 1,0 0 0,-1 1 0,0-1-1,-1 0 1,0 1 0,-10-13-1,-48-60 60,52 72 0,1 0 0,-1 1 0,-1 0 0,-24-15 0,-16-4 954,-1 2 0,-1 3 0,-64-20 0,24 16 1056,-107-17 0,74 21-3480,-105-18-1047,77 15 4402,34 7 3172,-221-7-1,221 27-4459,-343 10 981,407-4-1578,1 3 0,0 2 0,1 3 0,0 2 0,-102 46 0,118-44 0,2 2 0,0 1 0,-50 38 0,72-47 0,1 0 0,0 1 0,1 0 0,1 1 0,0 0 0,1 1 0,0 0 0,2 1 0,-1 0 0,-9 26 0,15-29 0,0 1 0,1 0 0,0 0 0,1 0 0,0 17 0,5 73 0,-1-53 0,-2-34 0,2 0 0,0-1 0,0 1 0,2-1 0,0 1 0,1-1 0,0 0 0,10 17 0,12 21 0,44 61 0,-60-97 0,11 13 0,39 42 0,-11-14 0,-43-52 0,-1 1 0,1-1 0,1 0 0,-1-1 0,1 1 0,0-1 0,0-1 0,1 0 0,0 0 0,0-1 0,0 0 0,17 5 0,-5-4 0,1-1 0,-1-2 0,1 0 0,40-1 0,147 7 0,-173-5 0,-24-3 0,0 1 0,1 0 0,-1 1 0,13 4 0,-10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0T17:57:02.520"/>
    </inkml:context>
    <inkml:brush xml:id="br0">
      <inkml:brushProperty name="width" value="0.1" units="cm"/>
      <inkml:brushProperty name="height" value="0.1" units="cm"/>
      <inkml:brushProperty name="color" value="#008C3A"/>
    </inkml:brush>
  </inkml:definitions>
  <inkml:trace contextRef="#ctx0" brushRef="#br0">690 918 6553,'43'6'3531,"-10"-1"-1963,366 34 10849,-36-16-11882,2-23-528,-144-2-43,-146 0 36,-1-3 0,108-22 0,-152 21-67,-6 2-266,29-9 1,-45 10 225,0 0 0,0-1 0,0 0 0,0 0 1,0 0-1,-1-1 0,8-7 0,55-44-2764,-40 32 1271,0 0-1,-1-2 1,40-47 0,-57 55 1061,0 0 1,-1 0 0,-1-1-1,-1-1 1,0 0-1,7-29 1,-7 18-310,-3 0-1,0-1 1,2-54-1,-8 79 849,0 0 0,-1 0 0,0 0 0,0 0 0,0 0 0,-1 0 0,0 0 0,0 0 0,-1 0 0,0 1 0,-7-13 0,4 10 0,-1 1 0,0-1 0,0 1 0,-1 0 0,0 1 0,-1 0 0,-9-7 0,-9-2 0,-1 0 0,-1 2 0,0 1 0,-43-13 0,-2 4 2213,-1 3 0,-140-17-1,-157 15 5339,-57 39-3718,-329 29-3833,401-32 0,309-12 0,-66 12 0,98-12 0,1 1 0,-1 1 0,1 0 0,0 0 0,1 2 0,-1 0 0,1 0 0,-15 12 0,22-13 0,0 1 0,0 0 0,1 0 0,0 1 0,0 0 0,0 0 0,1 0 0,1 1 0,-1-1 0,2 1 0,-1 0 0,1 1 0,0-1 0,1 0 0,-2 14 0,-1 16 0,2 0 0,4 59 0,-1-55 0,1-1 0,1 0 0,10 57 0,-8-82 0,0 0 0,1 0 0,1 0 0,0-1 0,2 0 0,-1 0 0,2 0 0,14 19 0,-9-16 0,1-1 0,29 28 0,-38-41 0,1 0 0,-1 1 0,1-2 0,1 1 0,-1-1 0,1 0 0,0-1 0,-1 0 0,2 0 0,13 3 0,50 6 0,1-3 0,94-1 0,204-9 0,-348 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0T17:57:06.70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0,'1308'0,"-1189"9,-11 0,-84-8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0T17:57:08.56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1701 1,'-1680'0,"1660"0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0T17:57:10.81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0,'2082'0,"-2018"3,99 18,-53-5,238 6,-1-21,-240-1,98 13,-36-1,152 10,-278-19,-1-2,1-2,52-7,151 0,-198 8,-25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0T17:57:12.85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1,'139'9,"-12"-1,599 20,-279-8,3-21,-152-1,-216 2,422-11,81 2,-366 11,-186-2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0T17:57:32.662"/>
    </inkml:context>
    <inkml:brush xml:id="br0">
      <inkml:brushProperty name="width" value="0.3" units="cm"/>
      <inkml:brushProperty name="height" value="0.6" units="cm"/>
      <inkml:brushProperty name="color" value="#FFACD5"/>
      <inkml:brushProperty name="tip" value="rectangle"/>
      <inkml:brushProperty name="rasterOp" value="maskPen"/>
      <inkml:brushProperty name="ignorePressure" value="1"/>
    </inkml:brush>
  </inkml:definitions>
  <inkml:trace contextRef="#ctx0" brushRef="#br0">0 1 0,'1384'0'0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0T17:57:34.391"/>
    </inkml:context>
    <inkml:brush xml:id="br0">
      <inkml:brushProperty name="width" value="0.3" units="cm"/>
      <inkml:brushProperty name="height" value="0.6" units="cm"/>
      <inkml:brushProperty name="color" value="#FFACD5"/>
      <inkml:brushProperty name="tip" value="rectangle"/>
      <inkml:brushProperty name="rasterOp" value="maskPen"/>
      <inkml:brushProperty name="ignorePressure" value="1"/>
    </inkml:brush>
  </inkml:definitions>
  <inkml:trace contextRef="#ctx0" brushRef="#br0">1483 1,'-20'6,"-1"0,-41 5,5-1,-130 31,-295 56,409-89,1-2,-97-5,96-3,0-2,-77-15,127 14,2 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0T17:57:38.845"/>
    </inkml:context>
    <inkml:brush xml:id="br0">
      <inkml:brushProperty name="width" value="0.3" units="cm"/>
      <inkml:brushProperty name="height" value="0.6" units="cm"/>
      <inkml:brushProperty name="color" value="#FF40FF"/>
      <inkml:brushProperty name="tip" value="rectangle"/>
      <inkml:brushProperty name="rasterOp" value="maskPen"/>
      <inkml:brushProperty name="ignorePressure" value="1"/>
    </inkml:brush>
  </inkml:definitions>
  <inkml:trace contextRef="#ctx0" brushRef="#br0">1380 20,'-139'-9,"18"1,-618 6,379 3,340-1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0T17:57:40.521"/>
    </inkml:context>
    <inkml:brush xml:id="br0">
      <inkml:brushProperty name="width" value="0.3" units="cm"/>
      <inkml:brushProperty name="height" value="0.6" units="cm"/>
      <inkml:brushProperty name="color" value="#FF40FF"/>
      <inkml:brushProperty name="tip" value="rectangle"/>
      <inkml:brushProperty name="rasterOp" value="maskPen"/>
      <inkml:brushProperty name="ignorePressure" value="1"/>
    </inkml:brush>
  </inkml:definitions>
  <inkml:trace contextRef="#ctx0" brushRef="#br0">1935 0,'-344'21,"248"-13,-399 0,300-10,72-6,15-1,101 9,-64-2,-1 2,-81 12,104-6,-98-4,92-3,36 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0T17:57:45.539"/>
    </inkml:context>
    <inkml:brush xml:id="br0">
      <inkml:brushProperty name="width" value="0.3" units="cm"/>
      <inkml:brushProperty name="height" value="0.6" units="cm"/>
      <inkml:brushProperty name="color" value="#FF40FF"/>
      <inkml:brushProperty name="tip" value="rectangle"/>
      <inkml:brushProperty name="rasterOp" value="maskPen"/>
      <inkml:brushProperty name="ignorePressure" value="1"/>
    </inkml:brush>
  </inkml:definitions>
  <inkml:trace contextRef="#ctx0" brushRef="#br0">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384721"/>
          </a:xfrm>
          <a:prstGeom prst="rect">
            <a:avLst/>
          </a:prstGeom>
        </p:spPr>
        <p:txBody>
          <a:bodyPr wrap="square" lIns="0" tIns="0" rIns="0" bIns="0">
            <a:spAutoFit/>
          </a:bodyPr>
          <a:lstStyle>
            <a:lvl1pPr>
              <a:defRPr sz="2500" b="0" i="0">
                <a:solidFill>
                  <a:schemeClr val="tx1"/>
                </a:solidFill>
                <a:latin typeface="Calibri" panose="020F0502020204030204" pitchFamily="34" charset="0"/>
                <a:cs typeface="Calibri" panose="020F0502020204030204" pitchFamily="34" charset="0"/>
              </a:defRPr>
            </a:lvl1pPr>
          </a:lstStyle>
          <a:p>
            <a:endParaRPr dirty="0"/>
          </a:p>
        </p:txBody>
      </p:sp>
      <p:sp>
        <p:nvSpPr>
          <p:cNvPr id="3" name="Holder 3"/>
          <p:cNvSpPr>
            <a:spLocks noGrp="1"/>
          </p:cNvSpPr>
          <p:nvPr>
            <p:ph type="subTitle" idx="4"/>
          </p:nvPr>
        </p:nvSpPr>
        <p:spPr>
          <a:xfrm>
            <a:off x="1371600" y="2880360"/>
            <a:ext cx="6400800" cy="276999"/>
          </a:xfrm>
          <a:prstGeom prst="rect">
            <a:avLst/>
          </a:prstGeom>
        </p:spPr>
        <p:txBody>
          <a:bodyPr wrap="square" lIns="0" tIns="0" rIns="0" bIns="0">
            <a:spAutoFit/>
          </a:bodyPr>
          <a:lstStyle>
            <a:lvl1pPr>
              <a:defRPr sz="1800" b="0" i="0">
                <a:solidFill>
                  <a:srgbClr val="595959"/>
                </a:solidFill>
                <a:latin typeface="Calibri" panose="020F0502020204030204" pitchFamily="34" charset="0"/>
                <a:cs typeface="Calibri" panose="020F0502020204030204" pitchFamily="34" charset="0"/>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chemeClr val="tx1"/>
                </a:solidFill>
                <a:latin typeface="Calibri" panose="020F0502020204030204" pitchFamily="34" charset="0"/>
                <a:cs typeface="Calibri" panose="020F0502020204030204" pitchFamily="34" charset="0"/>
              </a:defRPr>
            </a:lvl1pPr>
          </a:lstStyle>
          <a:p>
            <a:endParaRPr dirty="0"/>
          </a:p>
        </p:txBody>
      </p:sp>
      <p:sp>
        <p:nvSpPr>
          <p:cNvPr id="3" name="Holder 3"/>
          <p:cNvSpPr>
            <a:spLocks noGrp="1"/>
          </p:cNvSpPr>
          <p:nvPr>
            <p:ph type="body" idx="1"/>
          </p:nvPr>
        </p:nvSpPr>
        <p:spPr/>
        <p:txBody>
          <a:bodyPr lIns="0" tIns="0" rIns="0" bIns="0"/>
          <a:lstStyle>
            <a:lvl1pPr>
              <a:defRPr sz="1800" b="0" i="0">
                <a:solidFill>
                  <a:srgbClr val="595959"/>
                </a:solidFill>
                <a:latin typeface="Calibri" panose="020F0502020204030204" pitchFamily="34" charset="0"/>
                <a:cs typeface="Calibri" panose="020F0502020204030204" pitchFamily="34" charset="0"/>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chemeClr val="tx1"/>
                </a:solidFill>
                <a:latin typeface="Calibri" panose="020F0502020204030204" pitchFamily="34" charset="0"/>
                <a:cs typeface="Calibri" panose="020F0502020204030204" pitchFamily="34" charset="0"/>
              </a:defRPr>
            </a:lvl1pPr>
          </a:lstStyle>
          <a:p>
            <a:endParaRPr dirty="0"/>
          </a:p>
        </p:txBody>
      </p:sp>
      <p:sp>
        <p:nvSpPr>
          <p:cNvPr id="3" name="Holder 3"/>
          <p:cNvSpPr>
            <a:spLocks noGrp="1"/>
          </p:cNvSpPr>
          <p:nvPr>
            <p:ph sz="half" idx="2"/>
          </p:nvPr>
        </p:nvSpPr>
        <p:spPr>
          <a:xfrm>
            <a:off x="457200" y="1183005"/>
            <a:ext cx="3977640" cy="276999"/>
          </a:xfrm>
          <a:prstGeom prst="rect">
            <a:avLst/>
          </a:prstGeom>
        </p:spPr>
        <p:txBody>
          <a:bodyPr wrap="square" lIns="0" tIns="0" rIns="0" bIns="0">
            <a:spAutoFit/>
          </a:bodyPr>
          <a:lstStyle>
            <a:lvl1pPr>
              <a:defRPr>
                <a:latin typeface="Calibri" panose="020F0502020204030204" pitchFamily="34" charset="0"/>
                <a:cs typeface="Calibri" panose="020F0502020204030204" pitchFamily="34" charset="0"/>
              </a:defRPr>
            </a:lvl1pPr>
          </a:lstStyle>
          <a:p>
            <a:endParaRPr dirty="0"/>
          </a:p>
        </p:txBody>
      </p:sp>
      <p:sp>
        <p:nvSpPr>
          <p:cNvPr id="4" name="Holder 4"/>
          <p:cNvSpPr>
            <a:spLocks noGrp="1"/>
          </p:cNvSpPr>
          <p:nvPr>
            <p:ph sz="half" idx="3"/>
          </p:nvPr>
        </p:nvSpPr>
        <p:spPr>
          <a:xfrm>
            <a:off x="4709160" y="1183005"/>
            <a:ext cx="3977640" cy="276999"/>
          </a:xfrm>
          <a:prstGeom prst="rect">
            <a:avLst/>
          </a:prstGeom>
        </p:spPr>
        <p:txBody>
          <a:bodyPr wrap="square" lIns="0" tIns="0" rIns="0" bIns="0">
            <a:spAutoFit/>
          </a:bodyPr>
          <a:lstStyle>
            <a:lvl1pPr>
              <a:defRPr>
                <a:latin typeface="Calibri" panose="020F0502020204030204" pitchFamily="34" charset="0"/>
                <a:cs typeface="Calibri" panose="020F0502020204030204" pitchFamily="34" charset="0"/>
              </a:defRPr>
            </a:lvl1pPr>
          </a:lstStyle>
          <a:p>
            <a:endParaRPr dirty="0"/>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chemeClr val="tx1"/>
                </a:solidFill>
                <a:latin typeface="Calibri" panose="020F0502020204030204" pitchFamily="34" charset="0"/>
                <a:cs typeface="Calibri" panose="020F0502020204030204" pitchFamily="34" charset="0"/>
              </a:defRPr>
            </a:lvl1pPr>
          </a:lstStyle>
          <a:p>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4724" y="505247"/>
            <a:ext cx="5803900" cy="384721"/>
          </a:xfrm>
          <a:prstGeom prst="rect">
            <a:avLst/>
          </a:prstGeom>
        </p:spPr>
        <p:txBody>
          <a:bodyPr wrap="square" lIns="0" tIns="0" rIns="0" bIns="0">
            <a:spAutoFit/>
          </a:bodyPr>
          <a:lstStyle>
            <a:lvl1pPr>
              <a:defRPr sz="2500" b="0" i="0">
                <a:solidFill>
                  <a:schemeClr val="tx1"/>
                </a:solidFill>
                <a:latin typeface="Arial"/>
                <a:cs typeface="Arial"/>
              </a:defRPr>
            </a:lvl1pPr>
          </a:lstStyle>
          <a:p>
            <a:endParaRPr dirty="0"/>
          </a:p>
        </p:txBody>
      </p:sp>
      <p:sp>
        <p:nvSpPr>
          <p:cNvPr id="3" name="Holder 3"/>
          <p:cNvSpPr>
            <a:spLocks noGrp="1"/>
          </p:cNvSpPr>
          <p:nvPr>
            <p:ph type="body" idx="1"/>
          </p:nvPr>
        </p:nvSpPr>
        <p:spPr>
          <a:xfrm>
            <a:off x="384724" y="1205383"/>
            <a:ext cx="8185784" cy="276999"/>
          </a:xfrm>
          <a:prstGeom prst="rect">
            <a:avLst/>
          </a:prstGeom>
        </p:spPr>
        <p:txBody>
          <a:bodyPr wrap="square" lIns="0" tIns="0" rIns="0" bIns="0">
            <a:spAutoFit/>
          </a:bodyPr>
          <a:lstStyle>
            <a:lvl1pPr>
              <a:defRPr sz="1800" b="0" i="0">
                <a:solidFill>
                  <a:srgbClr val="595959"/>
                </a:solidFill>
                <a:latin typeface="Arial"/>
                <a:cs typeface="Arial"/>
              </a:defRPr>
            </a:lvl1pPr>
          </a:lstStyle>
          <a:p>
            <a:endParaRPr dirty="0"/>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3/10/2026</a:t>
            </a:fld>
            <a:endParaRPr lang="en-US" dirty="0"/>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Calibri" panose="020F0502020204030204" pitchFamily="34" charset="0"/>
          <a:ea typeface="+mj-ea"/>
          <a:cs typeface="Calibri" panose="020F0502020204030204" pitchFamily="34" charset="0"/>
        </a:defRPr>
      </a:lvl1pPr>
    </p:titleStyle>
    <p:bodyStyle>
      <a:lvl1pPr marL="0">
        <a:defRPr>
          <a:latin typeface="Calibri" panose="020F0502020204030204" pitchFamily="34" charset="0"/>
          <a:ea typeface="+mn-ea"/>
          <a:cs typeface="Calibri" panose="020F0502020204030204" pitchFamily="34" charset="0"/>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37.png"/><Relationship Id="rId18" Type="http://schemas.openxmlformats.org/officeDocument/2006/relationships/customXml" Target="../ink/ink8.xml"/><Relationship Id="rId3" Type="http://schemas.openxmlformats.org/officeDocument/2006/relationships/image" Target="../media/image32.png"/><Relationship Id="rId21" Type="http://schemas.openxmlformats.org/officeDocument/2006/relationships/image" Target="../media/image41.png"/><Relationship Id="rId7" Type="http://schemas.openxmlformats.org/officeDocument/2006/relationships/image" Target="../media/image34.png"/><Relationship Id="rId12" Type="http://schemas.openxmlformats.org/officeDocument/2006/relationships/customXml" Target="../ink/ink5.xml"/><Relationship Id="rId17" Type="http://schemas.openxmlformats.org/officeDocument/2006/relationships/image" Target="../media/image39.png"/><Relationship Id="rId25" Type="http://schemas.openxmlformats.org/officeDocument/2006/relationships/image" Target="../media/image43.png"/><Relationship Id="rId2" Type="http://schemas.openxmlformats.org/officeDocument/2006/relationships/image" Target="../media/image31.png"/><Relationship Id="rId16" Type="http://schemas.openxmlformats.org/officeDocument/2006/relationships/customXml" Target="../ink/ink7.xml"/><Relationship Id="rId20" Type="http://schemas.openxmlformats.org/officeDocument/2006/relationships/customXml" Target="../ink/ink9.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36.png"/><Relationship Id="rId24" Type="http://schemas.openxmlformats.org/officeDocument/2006/relationships/customXml" Target="../ink/ink11.xml"/><Relationship Id="rId5" Type="http://schemas.openxmlformats.org/officeDocument/2006/relationships/image" Target="../media/image33.png"/><Relationship Id="rId15" Type="http://schemas.openxmlformats.org/officeDocument/2006/relationships/image" Target="../media/image38.png"/><Relationship Id="rId23" Type="http://schemas.openxmlformats.org/officeDocument/2006/relationships/image" Target="../media/image42.png"/><Relationship Id="rId10" Type="http://schemas.openxmlformats.org/officeDocument/2006/relationships/customXml" Target="../ink/ink4.xml"/><Relationship Id="rId19" Type="http://schemas.openxmlformats.org/officeDocument/2006/relationships/image" Target="../media/image40.png"/><Relationship Id="rId4" Type="http://schemas.openxmlformats.org/officeDocument/2006/relationships/customXml" Target="../ink/ink1.xml"/><Relationship Id="rId9" Type="http://schemas.openxmlformats.org/officeDocument/2006/relationships/image" Target="../media/image35.png"/><Relationship Id="rId14" Type="http://schemas.openxmlformats.org/officeDocument/2006/relationships/customXml" Target="../ink/ink6.xml"/><Relationship Id="rId22" Type="http://schemas.openxmlformats.org/officeDocument/2006/relationships/customXml" Target="../ink/ink10.xml"/></Relationships>
</file>

<file path=ppt/slides/_rels/slide18.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181966"/>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182309"/>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80833" y="-3980834"/>
            <a:ext cx="1182335"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4" name="object 2">
            <a:extLst>
              <a:ext uri="{FF2B5EF4-FFF2-40B4-BE49-F238E27FC236}">
                <a16:creationId xmlns:a16="http://schemas.microsoft.com/office/drawing/2014/main" id="{0B1EFD96-A1E1-8D6C-475B-C51219BC90FF}"/>
              </a:ext>
            </a:extLst>
          </p:cNvPr>
          <p:cNvGraphicFramePr/>
          <p:nvPr>
            <p:extLst>
              <p:ext uri="{D42A27DB-BD31-4B8C-83A1-F6EECF244321}">
                <p14:modId xmlns:p14="http://schemas.microsoft.com/office/powerpoint/2010/main" val="1575223602"/>
              </p:ext>
            </p:extLst>
          </p:nvPr>
        </p:nvGraphicFramePr>
        <p:xfrm>
          <a:off x="483042" y="1584434"/>
          <a:ext cx="8195871" cy="31446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181966"/>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182309"/>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80833" y="-3980834"/>
            <a:ext cx="1182335"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4" name="object 2">
            <a:extLst>
              <a:ext uri="{FF2B5EF4-FFF2-40B4-BE49-F238E27FC236}">
                <a16:creationId xmlns:a16="http://schemas.microsoft.com/office/drawing/2014/main" id="{1714B6D2-30AC-C9D9-2E68-AC91027B12E7}"/>
              </a:ext>
            </a:extLst>
          </p:cNvPr>
          <p:cNvGraphicFramePr/>
          <p:nvPr>
            <p:extLst>
              <p:ext uri="{D42A27DB-BD31-4B8C-83A1-F6EECF244321}">
                <p14:modId xmlns:p14="http://schemas.microsoft.com/office/powerpoint/2010/main" val="670779955"/>
              </p:ext>
            </p:extLst>
          </p:nvPr>
        </p:nvGraphicFramePr>
        <p:xfrm>
          <a:off x="483042" y="1584434"/>
          <a:ext cx="8195871" cy="31446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181966"/>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182309"/>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80833" y="-3980834"/>
            <a:ext cx="1182335"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4" name="object 2">
            <a:extLst>
              <a:ext uri="{FF2B5EF4-FFF2-40B4-BE49-F238E27FC236}">
                <a16:creationId xmlns:a16="http://schemas.microsoft.com/office/drawing/2014/main" id="{329FF450-AAC1-BB21-CB38-6081A24B4413}"/>
              </a:ext>
            </a:extLst>
          </p:cNvPr>
          <p:cNvGraphicFramePr/>
          <p:nvPr>
            <p:extLst>
              <p:ext uri="{D42A27DB-BD31-4B8C-83A1-F6EECF244321}">
                <p14:modId xmlns:p14="http://schemas.microsoft.com/office/powerpoint/2010/main" val="2517010252"/>
              </p:ext>
            </p:extLst>
          </p:nvPr>
        </p:nvGraphicFramePr>
        <p:xfrm>
          <a:off x="483042" y="1584434"/>
          <a:ext cx="8195871" cy="31446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20174" y="184560"/>
            <a:ext cx="8606155" cy="4573111"/>
          </a:xfrm>
          <a:prstGeom prst="rect">
            <a:avLst/>
          </a:prstGeom>
        </p:spPr>
        <p:txBody>
          <a:bodyPr vert="horz" wrap="square" lIns="0" tIns="23495" rIns="0" bIns="0" rtlCol="0">
            <a:spAutoFit/>
          </a:bodyPr>
          <a:lstStyle/>
          <a:p>
            <a:pPr marL="12700" marR="234315">
              <a:lnSpc>
                <a:spcPts val="1130"/>
              </a:lnSpc>
              <a:spcBef>
                <a:spcPts val="185"/>
              </a:spcBef>
            </a:pPr>
            <a:r>
              <a:rPr sz="1100" dirty="0">
                <a:solidFill>
                  <a:srgbClr val="595959"/>
                </a:solidFill>
                <a:latin typeface="Calibri" panose="020F0502020204030204" pitchFamily="34" charset="0"/>
                <a:cs typeface="Calibri" panose="020F0502020204030204" pitchFamily="34" charset="0"/>
              </a:rPr>
              <a:t>To</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master</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art</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of</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writing</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effective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prompts,</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let's</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understand</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building</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blocks</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of</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well</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constructed</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prompt</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one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by</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one.</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Instructions,</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give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80" dirty="0">
                <a:solidFill>
                  <a:srgbClr val="595959"/>
                </a:solidFill>
                <a:latin typeface="Calibri" panose="020F0502020204030204" pitchFamily="34" charset="0"/>
                <a:cs typeface="Calibri" panose="020F0502020204030204" pitchFamily="34" charset="0"/>
              </a:rPr>
              <a:t> </a:t>
            </a:r>
            <a:r>
              <a:rPr sz="1100" spc="-10" dirty="0">
                <a:solidFill>
                  <a:srgbClr val="595959"/>
                </a:solidFill>
                <a:latin typeface="Calibri" panose="020F0502020204030204" pitchFamily="34" charset="0"/>
                <a:cs typeface="Calibri" panose="020F0502020204030204" pitchFamily="34" charset="0"/>
              </a:rPr>
              <a:t>model </a:t>
            </a:r>
            <a:r>
              <a:rPr sz="1100" dirty="0">
                <a:solidFill>
                  <a:srgbClr val="595959"/>
                </a:solidFill>
                <a:latin typeface="Calibri" panose="020F0502020204030204" pitchFamily="34" charset="0"/>
                <a:cs typeface="Calibri" panose="020F0502020204030204" pitchFamily="34" charset="0"/>
              </a:rPr>
              <a:t>distinct</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guidelines</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regarding</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task</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you</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wish</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to</a:t>
            </a:r>
            <a:r>
              <a:rPr sz="1100" spc="85" dirty="0">
                <a:solidFill>
                  <a:srgbClr val="595959"/>
                </a:solidFill>
                <a:latin typeface="Calibri" panose="020F0502020204030204" pitchFamily="34" charset="0"/>
                <a:cs typeface="Calibri" panose="020F0502020204030204" pitchFamily="34" charset="0"/>
              </a:rPr>
              <a:t> </a:t>
            </a:r>
            <a:r>
              <a:rPr sz="1100" spc="-10" dirty="0">
                <a:solidFill>
                  <a:srgbClr val="595959"/>
                </a:solidFill>
                <a:latin typeface="Calibri" panose="020F0502020204030204" pitchFamily="34" charset="0"/>
                <a:cs typeface="Calibri" panose="020F0502020204030204" pitchFamily="34" charset="0"/>
              </a:rPr>
              <a:t>execute.</a:t>
            </a:r>
            <a:endParaRPr sz="1100" dirty="0">
              <a:latin typeface="Calibri" panose="020F0502020204030204" pitchFamily="34" charset="0"/>
              <a:cs typeface="Calibri" panose="020F0502020204030204" pitchFamily="34" charset="0"/>
            </a:endParaRPr>
          </a:p>
          <a:p>
            <a:pPr>
              <a:lnSpc>
                <a:spcPct val="100000"/>
              </a:lnSpc>
              <a:spcBef>
                <a:spcPts val="105"/>
              </a:spcBef>
            </a:pPr>
            <a:endParaRPr sz="1100" dirty="0">
              <a:latin typeface="Calibri" panose="020F0502020204030204" pitchFamily="34" charset="0"/>
              <a:cs typeface="Calibri" panose="020F0502020204030204" pitchFamily="34" charset="0"/>
            </a:endParaRPr>
          </a:p>
          <a:p>
            <a:pPr marL="184150" marR="5080" indent="-171450">
              <a:lnSpc>
                <a:spcPts val="1130"/>
              </a:lnSpc>
              <a:buFont typeface="Arial" panose="020B0604020202020204" pitchFamily="34" charset="0"/>
              <a:buChar char="•"/>
            </a:pPr>
            <a:r>
              <a:rPr sz="1100" dirty="0">
                <a:solidFill>
                  <a:srgbClr val="595959"/>
                </a:solidFill>
                <a:latin typeface="Calibri" panose="020F0502020204030204" pitchFamily="34" charset="0"/>
                <a:cs typeface="Calibri" panose="020F0502020204030204" pitchFamily="34" charset="0"/>
              </a:rPr>
              <a:t>Steering</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actions</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of</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generative</a:t>
            </a:r>
            <a:r>
              <a:rPr sz="1100" spc="1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AI</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model</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to</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influence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formation</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of</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its</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response.</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Like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"Write</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an</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essay</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600</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words,</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analyzing</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effects</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of</a:t>
            </a:r>
            <a:r>
              <a:rPr sz="1100" spc="70" dirty="0">
                <a:solidFill>
                  <a:srgbClr val="595959"/>
                </a:solidFill>
                <a:latin typeface="Calibri" panose="020F0502020204030204" pitchFamily="34" charset="0"/>
                <a:cs typeface="Calibri" panose="020F0502020204030204" pitchFamily="34" charset="0"/>
              </a:rPr>
              <a:t> </a:t>
            </a:r>
            <a:r>
              <a:rPr sz="1100" spc="-10" dirty="0">
                <a:solidFill>
                  <a:srgbClr val="595959"/>
                </a:solidFill>
                <a:latin typeface="Calibri" panose="020F0502020204030204" pitchFamily="34" charset="0"/>
                <a:cs typeface="Calibri" panose="020F0502020204030204" pitchFamily="34" charset="0"/>
              </a:rPr>
              <a:t>global </a:t>
            </a:r>
            <a:r>
              <a:rPr sz="1100" dirty="0">
                <a:solidFill>
                  <a:srgbClr val="595959"/>
                </a:solidFill>
                <a:latin typeface="Calibri" panose="020F0502020204030204" pitchFamily="34" charset="0"/>
                <a:cs typeface="Calibri" panose="020F0502020204030204" pitchFamily="34" charset="0"/>
              </a:rPr>
              <a:t>warming</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on</a:t>
            </a:r>
            <a:r>
              <a:rPr sz="1100" spc="9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marine</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life"</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is</a:t>
            </a:r>
            <a:r>
              <a:rPr sz="1100" spc="9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one</a:t>
            </a:r>
            <a:r>
              <a:rPr sz="1100" spc="9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example.</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Context,</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helps</a:t>
            </a:r>
            <a:r>
              <a:rPr sz="1100" spc="9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establish</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9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circumstances</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that</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form</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9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setting</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of</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instruction</a:t>
            </a:r>
            <a:r>
              <a:rPr sz="1100" spc="9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and</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provides</a:t>
            </a:r>
            <a:r>
              <a:rPr sz="1100" spc="9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framework</a:t>
            </a:r>
            <a:r>
              <a:rPr sz="1100" spc="95" dirty="0">
                <a:solidFill>
                  <a:srgbClr val="595959"/>
                </a:solidFill>
                <a:latin typeface="Calibri" panose="020F0502020204030204" pitchFamily="34" charset="0"/>
                <a:cs typeface="Calibri" panose="020F0502020204030204" pitchFamily="34" charset="0"/>
              </a:rPr>
              <a:t> </a:t>
            </a:r>
            <a:r>
              <a:rPr sz="1100" spc="-25" dirty="0">
                <a:solidFill>
                  <a:srgbClr val="595959"/>
                </a:solidFill>
                <a:latin typeface="Calibri" panose="020F0502020204030204" pitchFamily="34" charset="0"/>
                <a:cs typeface="Calibri" panose="020F0502020204030204" pitchFamily="34" charset="0"/>
              </a:rPr>
              <a:t>for </a:t>
            </a:r>
            <a:r>
              <a:rPr sz="1100" dirty="0">
                <a:solidFill>
                  <a:srgbClr val="595959"/>
                </a:solidFill>
                <a:latin typeface="Calibri" panose="020F0502020204030204" pitchFamily="34" charset="0"/>
                <a:cs typeface="Calibri" panose="020F0502020204030204" pitchFamily="34" charset="0"/>
              </a:rPr>
              <a:t>generating</a:t>
            </a:r>
            <a:r>
              <a:rPr sz="1100" spc="12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relevant</a:t>
            </a:r>
            <a:r>
              <a:rPr sz="1100" spc="120" dirty="0">
                <a:solidFill>
                  <a:srgbClr val="595959"/>
                </a:solidFill>
                <a:latin typeface="Calibri" panose="020F0502020204030204" pitchFamily="34" charset="0"/>
                <a:cs typeface="Calibri" panose="020F0502020204030204" pitchFamily="34" charset="0"/>
              </a:rPr>
              <a:t> </a:t>
            </a:r>
            <a:r>
              <a:rPr sz="1100" spc="-10" dirty="0">
                <a:solidFill>
                  <a:srgbClr val="595959"/>
                </a:solidFill>
                <a:latin typeface="Calibri" panose="020F0502020204030204" pitchFamily="34" charset="0"/>
                <a:cs typeface="Calibri" panose="020F0502020204030204" pitchFamily="34" charset="0"/>
              </a:rPr>
              <a:t>content.</a:t>
            </a:r>
            <a:endParaRPr sz="1100" dirty="0">
              <a:latin typeface="Calibri" panose="020F0502020204030204" pitchFamily="34" charset="0"/>
              <a:cs typeface="Calibri" panose="020F0502020204030204" pitchFamily="34" charset="0"/>
            </a:endParaRPr>
          </a:p>
          <a:p>
            <a:pPr marL="171450" indent="-171450">
              <a:lnSpc>
                <a:spcPct val="100000"/>
              </a:lnSpc>
              <a:spcBef>
                <a:spcPts val="100"/>
              </a:spcBef>
              <a:buFont typeface="Arial" panose="020B0604020202020204" pitchFamily="34" charset="0"/>
              <a:buChar char="•"/>
            </a:pPr>
            <a:endParaRPr sz="1100" dirty="0">
              <a:latin typeface="Calibri" panose="020F0502020204030204" pitchFamily="34" charset="0"/>
              <a:cs typeface="Calibri" panose="020F0502020204030204" pitchFamily="34" charset="0"/>
            </a:endParaRPr>
          </a:p>
          <a:p>
            <a:pPr marL="184150" marR="19685" indent="-171450">
              <a:lnSpc>
                <a:spcPts val="1130"/>
              </a:lnSpc>
              <a:spcBef>
                <a:spcPts val="5"/>
              </a:spcBef>
              <a:buFont typeface="Arial" panose="020B0604020202020204" pitchFamily="34" charset="0"/>
              <a:buChar char="•"/>
            </a:pPr>
            <a:r>
              <a:rPr sz="1100" dirty="0">
                <a:solidFill>
                  <a:srgbClr val="595959"/>
                </a:solidFill>
                <a:latin typeface="Calibri" panose="020F0502020204030204" pitchFamily="34" charset="0"/>
                <a:cs typeface="Calibri" panose="020F0502020204030204" pitchFamily="34" charset="0"/>
              </a:rPr>
              <a:t>To</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understand</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this,</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let's</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add</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some</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context</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to</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prompt</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discussed</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previous</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example.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recent</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decades,</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global</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warming</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has</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undergone</a:t>
            </a:r>
            <a:r>
              <a:rPr sz="1100" spc="85" dirty="0">
                <a:solidFill>
                  <a:srgbClr val="595959"/>
                </a:solidFill>
                <a:latin typeface="Calibri" panose="020F0502020204030204" pitchFamily="34" charset="0"/>
                <a:cs typeface="Calibri" panose="020F0502020204030204" pitchFamily="34" charset="0"/>
              </a:rPr>
              <a:t> </a:t>
            </a:r>
            <a:r>
              <a:rPr sz="1100" spc="-10" dirty="0">
                <a:solidFill>
                  <a:srgbClr val="595959"/>
                </a:solidFill>
                <a:latin typeface="Calibri" panose="020F0502020204030204" pitchFamily="34" charset="0"/>
                <a:cs typeface="Calibri" panose="020F0502020204030204" pitchFamily="34" charset="0"/>
              </a:rPr>
              <a:t>significant </a:t>
            </a:r>
            <a:r>
              <a:rPr sz="1100" dirty="0">
                <a:solidFill>
                  <a:srgbClr val="595959"/>
                </a:solidFill>
                <a:latin typeface="Calibri" panose="020F0502020204030204" pitchFamily="34" charset="0"/>
                <a:cs typeface="Calibri" panose="020F0502020204030204" pitchFamily="34" charset="0"/>
              </a:rPr>
              <a:t>shifts,</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leading</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to</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rising</a:t>
            </a:r>
            <a:r>
              <a:rPr sz="1100" spc="9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sea</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levels,</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increased</a:t>
            </a:r>
            <a:r>
              <a:rPr sz="1100" spc="9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storm</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intensity,</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and</a:t>
            </a:r>
            <a:r>
              <a:rPr sz="1100" spc="9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changing</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weather</a:t>
            </a:r>
            <a:r>
              <a:rPr sz="1100" spc="95" dirty="0">
                <a:solidFill>
                  <a:srgbClr val="595959"/>
                </a:solidFill>
                <a:latin typeface="Calibri" panose="020F0502020204030204" pitchFamily="34" charset="0"/>
                <a:cs typeface="Calibri" panose="020F0502020204030204" pitchFamily="34" charset="0"/>
              </a:rPr>
              <a:t> </a:t>
            </a:r>
            <a:r>
              <a:rPr sz="1100" spc="-10" dirty="0">
                <a:solidFill>
                  <a:srgbClr val="595959"/>
                </a:solidFill>
                <a:latin typeface="Calibri" panose="020F0502020204030204" pitchFamily="34" charset="0"/>
                <a:cs typeface="Calibri" panose="020F0502020204030204" pitchFamily="34" charset="0"/>
              </a:rPr>
              <a:t>patterns.</a:t>
            </a:r>
            <a:endParaRPr sz="1100" dirty="0">
              <a:latin typeface="Calibri" panose="020F0502020204030204" pitchFamily="34" charset="0"/>
              <a:cs typeface="Calibri" panose="020F0502020204030204" pitchFamily="34" charset="0"/>
            </a:endParaRPr>
          </a:p>
          <a:p>
            <a:pPr marL="171450" indent="-171450">
              <a:lnSpc>
                <a:spcPct val="100000"/>
              </a:lnSpc>
              <a:spcBef>
                <a:spcPts val="100"/>
              </a:spcBef>
              <a:buFont typeface="Arial" panose="020B0604020202020204" pitchFamily="34" charset="0"/>
              <a:buChar char="•"/>
            </a:pPr>
            <a:endParaRPr sz="1100" dirty="0">
              <a:latin typeface="Calibri" panose="020F0502020204030204" pitchFamily="34" charset="0"/>
              <a:cs typeface="Calibri" panose="020F0502020204030204" pitchFamily="34" charset="0"/>
            </a:endParaRPr>
          </a:p>
          <a:p>
            <a:pPr marL="184150" marR="26670" indent="-171450">
              <a:lnSpc>
                <a:spcPts val="1130"/>
              </a:lnSpc>
              <a:buFont typeface="Arial" panose="020B0604020202020204" pitchFamily="34" charset="0"/>
              <a:buChar char="•"/>
            </a:pPr>
            <a:r>
              <a:rPr sz="1100" dirty="0">
                <a:solidFill>
                  <a:srgbClr val="595959"/>
                </a:solidFill>
                <a:latin typeface="Calibri" panose="020F0502020204030204" pitchFamily="34" charset="0"/>
                <a:cs typeface="Calibri" panose="020F0502020204030204" pitchFamily="34" charset="0"/>
              </a:rPr>
              <a:t>These</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changes</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have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had</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severe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impact</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on</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marine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life.</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Write</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an</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essay</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600</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words</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analyzing</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effects</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of</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global</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warming</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on</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marine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life."</a:t>
            </a:r>
            <a:r>
              <a:rPr sz="1100" spc="5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This</a:t>
            </a:r>
            <a:r>
              <a:rPr sz="1100" spc="80" dirty="0">
                <a:solidFill>
                  <a:srgbClr val="595959"/>
                </a:solidFill>
                <a:latin typeface="Calibri" panose="020F0502020204030204" pitchFamily="34" charset="0"/>
                <a:cs typeface="Calibri" panose="020F0502020204030204" pitchFamily="34" charset="0"/>
              </a:rPr>
              <a:t> </a:t>
            </a:r>
            <a:r>
              <a:rPr sz="1100" spc="-10" dirty="0">
                <a:solidFill>
                  <a:srgbClr val="595959"/>
                </a:solidFill>
                <a:latin typeface="Calibri" panose="020F0502020204030204" pitchFamily="34" charset="0"/>
                <a:cs typeface="Calibri" panose="020F0502020204030204" pitchFamily="34" charset="0"/>
              </a:rPr>
              <a:t>prompt </a:t>
            </a:r>
            <a:r>
              <a:rPr sz="1100" dirty="0">
                <a:solidFill>
                  <a:srgbClr val="595959"/>
                </a:solidFill>
                <a:latin typeface="Calibri" panose="020F0502020204030204" pitchFamily="34" charset="0"/>
                <a:cs typeface="Calibri" panose="020F0502020204030204" pitchFamily="34" charset="0"/>
              </a:rPr>
              <a:t>will</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help</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model</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generate</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output</a:t>
            </a:r>
            <a:r>
              <a:rPr sz="1100" spc="6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aligned</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with</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context.</a:t>
            </a:r>
            <a:r>
              <a:rPr sz="1100" spc="6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Input</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data</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is</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any</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piece</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of</a:t>
            </a:r>
            <a:r>
              <a:rPr sz="1100" spc="6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information</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provided</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by</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you</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as</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part</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of</a:t>
            </a:r>
            <a:r>
              <a:rPr sz="1100" spc="6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prompt.</a:t>
            </a:r>
            <a:r>
              <a:rPr sz="1100" spc="4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This</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can</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be</a:t>
            </a:r>
            <a:r>
              <a:rPr sz="1100" spc="75" dirty="0">
                <a:solidFill>
                  <a:srgbClr val="595959"/>
                </a:solidFill>
                <a:latin typeface="Calibri" panose="020F0502020204030204" pitchFamily="34" charset="0"/>
                <a:cs typeface="Calibri" panose="020F0502020204030204" pitchFamily="34" charset="0"/>
              </a:rPr>
              <a:t> </a:t>
            </a:r>
            <a:r>
              <a:rPr sz="1100" spc="-20" dirty="0">
                <a:solidFill>
                  <a:srgbClr val="595959"/>
                </a:solidFill>
                <a:latin typeface="Calibri" panose="020F0502020204030204" pitchFamily="34" charset="0"/>
                <a:cs typeface="Calibri" panose="020F0502020204030204" pitchFamily="34" charset="0"/>
              </a:rPr>
              <a:t>used</a:t>
            </a:r>
            <a:r>
              <a:rPr sz="1100" spc="50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as</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reference</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for</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generative</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model</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to</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attain</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responses</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with</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specific</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set</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of</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details</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or</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ideas.</a:t>
            </a:r>
            <a:r>
              <a:rPr sz="1100" spc="5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To</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provide</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input</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data,</a:t>
            </a:r>
            <a:r>
              <a:rPr sz="1100" spc="6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same</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prompt</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can</a:t>
            </a:r>
            <a:r>
              <a:rPr sz="1100" spc="75" dirty="0">
                <a:solidFill>
                  <a:srgbClr val="595959"/>
                </a:solidFill>
                <a:latin typeface="Calibri" panose="020F0502020204030204" pitchFamily="34" charset="0"/>
                <a:cs typeface="Calibri" panose="020F0502020204030204" pitchFamily="34" charset="0"/>
              </a:rPr>
              <a:t> </a:t>
            </a:r>
            <a:r>
              <a:rPr sz="1100" spc="-25" dirty="0">
                <a:solidFill>
                  <a:srgbClr val="595959"/>
                </a:solidFill>
                <a:latin typeface="Calibri" panose="020F0502020204030204" pitchFamily="34" charset="0"/>
                <a:cs typeface="Calibri" panose="020F0502020204030204" pitchFamily="34" charset="0"/>
              </a:rPr>
              <a:t>be </a:t>
            </a:r>
            <a:r>
              <a:rPr sz="1100" dirty="0">
                <a:solidFill>
                  <a:srgbClr val="595959"/>
                </a:solidFill>
                <a:latin typeface="Calibri" panose="020F0502020204030204" pitchFamily="34" charset="0"/>
                <a:cs typeface="Calibri" panose="020F0502020204030204" pitchFamily="34" charset="0"/>
              </a:rPr>
              <a:t>reconstructed</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following</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manner.</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"You</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have</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been</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provided</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with</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data</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set</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containing</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temperature</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records</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and</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measurements</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of</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sea</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levels</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a:t>
            </a:r>
            <a:r>
              <a:rPr sz="1100" spc="90" dirty="0">
                <a:solidFill>
                  <a:srgbClr val="595959"/>
                </a:solidFill>
                <a:latin typeface="Calibri" panose="020F0502020204030204" pitchFamily="34" charset="0"/>
                <a:cs typeface="Calibri" panose="020F0502020204030204" pitchFamily="34" charset="0"/>
              </a:rPr>
              <a:t> </a:t>
            </a:r>
            <a:r>
              <a:rPr sz="1100" spc="-25" dirty="0">
                <a:solidFill>
                  <a:srgbClr val="595959"/>
                </a:solidFill>
                <a:latin typeface="Calibri" panose="020F0502020204030204" pitchFamily="34" charset="0"/>
                <a:cs typeface="Calibri" panose="020F0502020204030204" pitchFamily="34" charset="0"/>
              </a:rPr>
              <a:t>the </a:t>
            </a:r>
            <a:r>
              <a:rPr sz="1100" dirty="0">
                <a:solidFill>
                  <a:srgbClr val="595959"/>
                </a:solidFill>
                <a:latin typeface="Calibri" panose="020F0502020204030204" pitchFamily="34" charset="0"/>
                <a:cs typeface="Calibri" panose="020F0502020204030204" pitchFamily="34" charset="0"/>
              </a:rPr>
              <a:t>Pacific</a:t>
            </a:r>
            <a:r>
              <a:rPr sz="1100" spc="120" dirty="0">
                <a:solidFill>
                  <a:srgbClr val="595959"/>
                </a:solidFill>
                <a:latin typeface="Calibri" panose="020F0502020204030204" pitchFamily="34" charset="0"/>
                <a:cs typeface="Calibri" panose="020F0502020204030204" pitchFamily="34" charset="0"/>
              </a:rPr>
              <a:t> </a:t>
            </a:r>
            <a:r>
              <a:rPr sz="1100" spc="-10" dirty="0">
                <a:solidFill>
                  <a:srgbClr val="595959"/>
                </a:solidFill>
                <a:latin typeface="Calibri" panose="020F0502020204030204" pitchFamily="34" charset="0"/>
                <a:cs typeface="Calibri" panose="020F0502020204030204" pitchFamily="34" charset="0"/>
              </a:rPr>
              <a:t>Ocean.</a:t>
            </a:r>
            <a:endParaRPr sz="1100" dirty="0">
              <a:latin typeface="Calibri" panose="020F0502020204030204" pitchFamily="34" charset="0"/>
              <a:cs typeface="Calibri" panose="020F0502020204030204" pitchFamily="34" charset="0"/>
            </a:endParaRPr>
          </a:p>
          <a:p>
            <a:pPr marL="171450" indent="-171450">
              <a:lnSpc>
                <a:spcPct val="100000"/>
              </a:lnSpc>
              <a:spcBef>
                <a:spcPts val="100"/>
              </a:spcBef>
              <a:buFont typeface="Arial" panose="020B0604020202020204" pitchFamily="34" charset="0"/>
              <a:buChar char="•"/>
            </a:pPr>
            <a:endParaRPr sz="1100" dirty="0">
              <a:latin typeface="Calibri" panose="020F0502020204030204" pitchFamily="34" charset="0"/>
              <a:cs typeface="Calibri" panose="020F0502020204030204" pitchFamily="34" charset="0"/>
            </a:endParaRPr>
          </a:p>
          <a:p>
            <a:pPr marL="184150" marR="139700" indent="-171450">
              <a:lnSpc>
                <a:spcPts val="1130"/>
              </a:lnSpc>
              <a:spcBef>
                <a:spcPts val="5"/>
              </a:spcBef>
              <a:buFont typeface="Arial" panose="020B0604020202020204" pitchFamily="34" charset="0"/>
              <a:buChar char="•"/>
            </a:pPr>
            <a:r>
              <a:rPr sz="1100" dirty="0">
                <a:solidFill>
                  <a:srgbClr val="595959"/>
                </a:solidFill>
                <a:latin typeface="Calibri" panose="020F0502020204030204" pitchFamily="34" charset="0"/>
                <a:cs typeface="Calibri" panose="020F0502020204030204" pitchFamily="34" charset="0"/>
              </a:rPr>
              <a:t>Write</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essay</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600</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words,</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analyzing</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effects</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of</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global</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warming</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on</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marine</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life</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Pacific</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Ocean."</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Output</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indicator,</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offers</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benchmarks</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for</a:t>
            </a:r>
            <a:r>
              <a:rPr sz="1100" spc="90" dirty="0">
                <a:solidFill>
                  <a:srgbClr val="595959"/>
                </a:solidFill>
                <a:latin typeface="Calibri" panose="020F0502020204030204" pitchFamily="34" charset="0"/>
                <a:cs typeface="Calibri" panose="020F0502020204030204" pitchFamily="34" charset="0"/>
              </a:rPr>
              <a:t> </a:t>
            </a:r>
            <a:r>
              <a:rPr sz="1100" spc="-10" dirty="0">
                <a:solidFill>
                  <a:srgbClr val="595959"/>
                </a:solidFill>
                <a:latin typeface="Calibri" panose="020F0502020204030204" pitchFamily="34" charset="0"/>
                <a:cs typeface="Calibri" panose="020F0502020204030204" pitchFamily="34" charset="0"/>
              </a:rPr>
              <a:t>assessing </a:t>
            </a:r>
            <a:r>
              <a:rPr sz="1100" dirty="0">
                <a:solidFill>
                  <a:srgbClr val="595959"/>
                </a:solidFill>
                <a:latin typeface="Calibri" panose="020F0502020204030204" pitchFamily="34" charset="0"/>
                <a:cs typeface="Calibri" panose="020F0502020204030204" pitchFamily="34" charset="0"/>
              </a:rPr>
              <a:t>the</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attributes</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of</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output</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generated</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by</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model.</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It</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can</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outline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tone,</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style,</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length,</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and</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other</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qualities</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you</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desire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from</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80" dirty="0">
                <a:solidFill>
                  <a:srgbClr val="595959"/>
                </a:solidFill>
                <a:latin typeface="Calibri" panose="020F0502020204030204" pitchFamily="34" charset="0"/>
                <a:cs typeface="Calibri" panose="020F0502020204030204" pitchFamily="34" charset="0"/>
              </a:rPr>
              <a:t> </a:t>
            </a:r>
            <a:r>
              <a:rPr sz="1100" spc="-10" dirty="0">
                <a:solidFill>
                  <a:srgbClr val="595959"/>
                </a:solidFill>
                <a:latin typeface="Calibri" panose="020F0502020204030204" pitchFamily="34" charset="0"/>
                <a:cs typeface="Calibri" panose="020F0502020204030204" pitchFamily="34" charset="0"/>
              </a:rPr>
              <a:t>output.</a:t>
            </a:r>
            <a:endParaRPr sz="1100" dirty="0">
              <a:latin typeface="Calibri" panose="020F0502020204030204" pitchFamily="34" charset="0"/>
              <a:cs typeface="Calibri" panose="020F0502020204030204" pitchFamily="34" charset="0"/>
            </a:endParaRPr>
          </a:p>
          <a:p>
            <a:pPr marL="171450" indent="-171450">
              <a:lnSpc>
                <a:spcPct val="100000"/>
              </a:lnSpc>
              <a:spcBef>
                <a:spcPts val="100"/>
              </a:spcBef>
              <a:buFont typeface="Arial" panose="020B0604020202020204" pitchFamily="34" charset="0"/>
              <a:buChar char="•"/>
            </a:pPr>
            <a:endParaRPr sz="1100" dirty="0">
              <a:latin typeface="Calibri" panose="020F0502020204030204" pitchFamily="34" charset="0"/>
              <a:cs typeface="Calibri" panose="020F0502020204030204" pitchFamily="34" charset="0"/>
            </a:endParaRPr>
          </a:p>
          <a:p>
            <a:pPr marL="184150" marR="24130" indent="-171450">
              <a:lnSpc>
                <a:spcPts val="1130"/>
              </a:lnSpc>
              <a:spcBef>
                <a:spcPts val="5"/>
              </a:spcBef>
              <a:buFont typeface="Arial" panose="020B0604020202020204" pitchFamily="34" charset="0"/>
              <a:buChar char="•"/>
            </a:pPr>
            <a:r>
              <a:rPr sz="1100" dirty="0">
                <a:solidFill>
                  <a:srgbClr val="595959"/>
                </a:solidFill>
                <a:latin typeface="Calibri" panose="020F0502020204030204" pitchFamily="34" charset="0"/>
                <a:cs typeface="Calibri" panose="020F0502020204030204" pitchFamily="34" charset="0"/>
              </a:rPr>
              <a:t>In</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prompt</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"Write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an</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essay</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600</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words,</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analyzing</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effects</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of</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global</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warming</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on</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marine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life,"</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output</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indicator</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specifies</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that</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output</a:t>
            </a:r>
            <a:r>
              <a:rPr sz="1100" spc="70" dirty="0">
                <a:solidFill>
                  <a:srgbClr val="595959"/>
                </a:solidFill>
                <a:latin typeface="Calibri" panose="020F0502020204030204" pitchFamily="34" charset="0"/>
                <a:cs typeface="Calibri" panose="020F0502020204030204" pitchFamily="34" charset="0"/>
              </a:rPr>
              <a:t> </a:t>
            </a:r>
            <a:r>
              <a:rPr sz="1100" spc="-10" dirty="0">
                <a:solidFill>
                  <a:srgbClr val="595959"/>
                </a:solidFill>
                <a:latin typeface="Calibri" panose="020F0502020204030204" pitchFamily="34" charset="0"/>
                <a:cs typeface="Calibri" panose="020F0502020204030204" pitchFamily="34" charset="0"/>
              </a:rPr>
              <a:t>generated </a:t>
            </a:r>
            <a:r>
              <a:rPr sz="1100" dirty="0">
                <a:solidFill>
                  <a:srgbClr val="595959"/>
                </a:solidFill>
                <a:latin typeface="Calibri" panose="020F0502020204030204" pitchFamily="34" charset="0"/>
                <a:cs typeface="Calibri" panose="020F0502020204030204" pitchFamily="34" charset="0"/>
              </a:rPr>
              <a:t>should</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be</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an</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essay</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of</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600</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words.</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It</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will</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be</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evaluated</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based</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on</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clarity</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of</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analysis</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and</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incorporation</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of</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relevant</a:t>
            </a:r>
            <a:r>
              <a:rPr sz="1100" spc="6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data</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or</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case</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studies.</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Each</a:t>
            </a:r>
            <a:r>
              <a:rPr sz="1100" spc="75" dirty="0">
                <a:solidFill>
                  <a:srgbClr val="595959"/>
                </a:solidFill>
                <a:latin typeface="Calibri" panose="020F0502020204030204" pitchFamily="34" charset="0"/>
                <a:cs typeface="Calibri" panose="020F0502020204030204" pitchFamily="34" charset="0"/>
              </a:rPr>
              <a:t> </a:t>
            </a:r>
            <a:r>
              <a:rPr sz="1100" spc="-25" dirty="0">
                <a:solidFill>
                  <a:srgbClr val="595959"/>
                </a:solidFill>
                <a:latin typeface="Calibri" panose="020F0502020204030204" pitchFamily="34" charset="0"/>
                <a:cs typeface="Calibri" panose="020F0502020204030204" pitchFamily="34" charset="0"/>
              </a:rPr>
              <a:t>of </a:t>
            </a:r>
            <a:r>
              <a:rPr sz="1100" dirty="0">
                <a:solidFill>
                  <a:srgbClr val="595959"/>
                </a:solidFill>
                <a:latin typeface="Calibri" panose="020F0502020204030204" pitchFamily="34" charset="0"/>
                <a:cs typeface="Calibri" panose="020F0502020204030204" pitchFamily="34" charset="0"/>
              </a:rPr>
              <a:t>these</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elements</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plays</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a:t>
            </a:r>
            <a:r>
              <a:rPr sz="1100" spc="9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role</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helping</a:t>
            </a:r>
            <a:r>
              <a:rPr sz="1100" spc="9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generative</a:t>
            </a:r>
            <a:r>
              <a:rPr sz="1100" spc="2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AI</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model</a:t>
            </a:r>
            <a:r>
              <a:rPr sz="1100" spc="9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comprehend</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your</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requirements</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and</a:t>
            </a:r>
            <a:r>
              <a:rPr sz="1100" spc="9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give</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you</a:t>
            </a:r>
            <a:r>
              <a:rPr sz="1100" spc="9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9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desired</a:t>
            </a:r>
            <a:r>
              <a:rPr sz="1100" spc="90" dirty="0">
                <a:solidFill>
                  <a:srgbClr val="595959"/>
                </a:solidFill>
                <a:latin typeface="Calibri" panose="020F0502020204030204" pitchFamily="34" charset="0"/>
                <a:cs typeface="Calibri" panose="020F0502020204030204" pitchFamily="34" charset="0"/>
              </a:rPr>
              <a:t> </a:t>
            </a:r>
            <a:r>
              <a:rPr sz="1100" spc="-10" dirty="0">
                <a:solidFill>
                  <a:srgbClr val="595959"/>
                </a:solidFill>
                <a:latin typeface="Calibri" panose="020F0502020204030204" pitchFamily="34" charset="0"/>
                <a:cs typeface="Calibri" panose="020F0502020204030204" pitchFamily="34" charset="0"/>
              </a:rPr>
              <a:t>output.</a:t>
            </a:r>
            <a:endParaRPr sz="1100" dirty="0">
              <a:latin typeface="Calibri" panose="020F0502020204030204" pitchFamily="34" charset="0"/>
              <a:cs typeface="Calibri" panose="020F0502020204030204" pitchFamily="34" charset="0"/>
            </a:endParaRPr>
          </a:p>
          <a:p>
            <a:pPr marL="171450" indent="-171450">
              <a:lnSpc>
                <a:spcPct val="100000"/>
              </a:lnSpc>
              <a:spcBef>
                <a:spcPts val="55"/>
              </a:spcBef>
              <a:buFont typeface="Arial" panose="020B0604020202020204" pitchFamily="34" charset="0"/>
              <a:buChar char="•"/>
            </a:pPr>
            <a:endParaRPr sz="1100" dirty="0">
              <a:latin typeface="Calibri" panose="020F0502020204030204" pitchFamily="34" charset="0"/>
              <a:cs typeface="Calibri" panose="020F0502020204030204" pitchFamily="34" charset="0"/>
            </a:endParaRPr>
          </a:p>
          <a:p>
            <a:pPr marL="218440" indent="-171450">
              <a:lnSpc>
                <a:spcPct val="100000"/>
              </a:lnSpc>
              <a:buFont typeface="Arial" panose="020B0604020202020204" pitchFamily="34" charset="0"/>
              <a:buChar char="•"/>
            </a:pPr>
            <a:r>
              <a:rPr sz="1100" dirty="0">
                <a:solidFill>
                  <a:srgbClr val="595959"/>
                </a:solidFill>
                <a:latin typeface="Calibri" panose="020F0502020204030204" pitchFamily="34" charset="0"/>
                <a:cs typeface="Calibri" panose="020F0502020204030204" pitchFamily="34" charset="0"/>
              </a:rPr>
              <a:t>Here,</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you</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learned</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that</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prompt</a:t>
            </a:r>
            <a:r>
              <a:rPr sz="1100" spc="7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is</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any</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input</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or</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series</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of</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instructions</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you</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provide</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to</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generative</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model</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to</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produce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desired</a:t>
            </a:r>
            <a:r>
              <a:rPr sz="1100" spc="80" dirty="0">
                <a:solidFill>
                  <a:srgbClr val="595959"/>
                </a:solidFill>
                <a:latin typeface="Calibri" panose="020F0502020204030204" pitchFamily="34" charset="0"/>
                <a:cs typeface="Calibri" panose="020F0502020204030204" pitchFamily="34" charset="0"/>
              </a:rPr>
              <a:t> </a:t>
            </a:r>
            <a:r>
              <a:rPr sz="1100" spc="-10" dirty="0">
                <a:solidFill>
                  <a:srgbClr val="595959"/>
                </a:solidFill>
                <a:latin typeface="Calibri" panose="020F0502020204030204" pitchFamily="34" charset="0"/>
                <a:cs typeface="Calibri" panose="020F0502020204030204" pitchFamily="34" charset="0"/>
              </a:rPr>
              <a:t>output.</a:t>
            </a:r>
            <a:endParaRPr sz="1100" dirty="0">
              <a:latin typeface="Calibri" panose="020F0502020204030204" pitchFamily="34" charset="0"/>
              <a:cs typeface="Calibri" panose="020F0502020204030204" pitchFamily="34" charset="0"/>
            </a:endParaRPr>
          </a:p>
          <a:p>
            <a:pPr marL="171450" indent="-171450">
              <a:lnSpc>
                <a:spcPct val="100000"/>
              </a:lnSpc>
              <a:spcBef>
                <a:spcPts val="140"/>
              </a:spcBef>
              <a:buFont typeface="Arial" panose="020B0604020202020204" pitchFamily="34" charset="0"/>
              <a:buChar char="•"/>
            </a:pPr>
            <a:endParaRPr sz="1100" dirty="0">
              <a:latin typeface="Calibri" panose="020F0502020204030204" pitchFamily="34" charset="0"/>
              <a:cs typeface="Calibri" panose="020F0502020204030204" pitchFamily="34" charset="0"/>
            </a:endParaRPr>
          </a:p>
          <a:p>
            <a:pPr marL="184150" marR="27305" indent="-171450">
              <a:lnSpc>
                <a:spcPts val="1130"/>
              </a:lnSpc>
              <a:buFont typeface="Arial" panose="020B0604020202020204" pitchFamily="34" charset="0"/>
              <a:buChar char="•"/>
            </a:pPr>
            <a:r>
              <a:rPr sz="1100" dirty="0">
                <a:solidFill>
                  <a:srgbClr val="595959"/>
                </a:solidFill>
                <a:latin typeface="Calibri" panose="020F0502020204030204" pitchFamily="34" charset="0"/>
                <a:cs typeface="Calibri" panose="020F0502020204030204" pitchFamily="34" charset="0"/>
              </a:rPr>
              <a:t>These</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instructions</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help</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directing</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creativity</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of</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model</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and</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assist</a:t>
            </a:r>
            <a:r>
              <a:rPr sz="1100" spc="7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it</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producing</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relevant</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and</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logical</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responses.</a:t>
            </a:r>
            <a:r>
              <a:rPr sz="1100" spc="5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building</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blocks</a:t>
            </a:r>
            <a:r>
              <a:rPr sz="1100" spc="8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of</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a:t>
            </a:r>
            <a:r>
              <a:rPr sz="1100" spc="80" dirty="0">
                <a:solidFill>
                  <a:srgbClr val="595959"/>
                </a:solidFill>
                <a:latin typeface="Calibri" panose="020F0502020204030204" pitchFamily="34" charset="0"/>
                <a:cs typeface="Calibri" panose="020F0502020204030204" pitchFamily="34" charset="0"/>
              </a:rPr>
              <a:t> </a:t>
            </a:r>
            <a:r>
              <a:rPr sz="1100" spc="-20" dirty="0">
                <a:solidFill>
                  <a:srgbClr val="595959"/>
                </a:solidFill>
                <a:latin typeface="Calibri" panose="020F0502020204030204" pitchFamily="34" charset="0"/>
                <a:cs typeface="Calibri" panose="020F0502020204030204" pitchFamily="34" charset="0"/>
              </a:rPr>
              <a:t>well </a:t>
            </a:r>
            <a:r>
              <a:rPr sz="1100" dirty="0">
                <a:solidFill>
                  <a:srgbClr val="595959"/>
                </a:solidFill>
                <a:latin typeface="Calibri" panose="020F0502020204030204" pitchFamily="34" charset="0"/>
                <a:cs typeface="Calibri" panose="020F0502020204030204" pitchFamily="34" charset="0"/>
              </a:rPr>
              <a:t>structured</a:t>
            </a:r>
            <a:r>
              <a:rPr sz="1100" spc="10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prompt</a:t>
            </a:r>
            <a:r>
              <a:rPr sz="1100" spc="10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include</a:t>
            </a:r>
            <a:r>
              <a:rPr sz="1100" spc="10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instruction,</a:t>
            </a:r>
            <a:r>
              <a:rPr sz="1100" spc="10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context,</a:t>
            </a:r>
            <a:r>
              <a:rPr sz="1100" spc="9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input</a:t>
            </a:r>
            <a:r>
              <a:rPr sz="1100" spc="10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data,</a:t>
            </a:r>
            <a:r>
              <a:rPr sz="1100" spc="10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and</a:t>
            </a:r>
            <a:r>
              <a:rPr sz="1100" spc="10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output</a:t>
            </a:r>
            <a:r>
              <a:rPr sz="1100" spc="10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indicators.</a:t>
            </a:r>
            <a:r>
              <a:rPr sz="1100" spc="8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These</a:t>
            </a:r>
            <a:r>
              <a:rPr sz="1100" spc="10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elements</a:t>
            </a:r>
            <a:r>
              <a:rPr sz="1100" spc="10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help</a:t>
            </a:r>
            <a:r>
              <a:rPr sz="1100" spc="11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the</a:t>
            </a:r>
            <a:r>
              <a:rPr sz="1100" spc="10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model</a:t>
            </a:r>
            <a:r>
              <a:rPr sz="1100" spc="10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comprehend</a:t>
            </a:r>
            <a:r>
              <a:rPr sz="1100" spc="10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our</a:t>
            </a:r>
            <a:r>
              <a:rPr sz="1100" spc="105"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necessities</a:t>
            </a:r>
            <a:r>
              <a:rPr sz="1100" spc="110" dirty="0">
                <a:solidFill>
                  <a:srgbClr val="595959"/>
                </a:solidFill>
                <a:latin typeface="Calibri" panose="020F0502020204030204" pitchFamily="34" charset="0"/>
                <a:cs typeface="Calibri" panose="020F0502020204030204" pitchFamily="34" charset="0"/>
              </a:rPr>
              <a:t> </a:t>
            </a:r>
            <a:r>
              <a:rPr sz="1100" dirty="0">
                <a:solidFill>
                  <a:srgbClr val="595959"/>
                </a:solidFill>
                <a:latin typeface="Calibri" panose="020F0502020204030204" pitchFamily="34" charset="0"/>
                <a:cs typeface="Calibri" panose="020F0502020204030204" pitchFamily="34" charset="0"/>
              </a:rPr>
              <a:t>and</a:t>
            </a:r>
            <a:r>
              <a:rPr sz="1100" spc="105" dirty="0">
                <a:solidFill>
                  <a:srgbClr val="595959"/>
                </a:solidFill>
                <a:latin typeface="Calibri" panose="020F0502020204030204" pitchFamily="34" charset="0"/>
                <a:cs typeface="Calibri" panose="020F0502020204030204" pitchFamily="34" charset="0"/>
              </a:rPr>
              <a:t> </a:t>
            </a:r>
            <a:r>
              <a:rPr sz="1100" spc="-10" dirty="0">
                <a:solidFill>
                  <a:srgbClr val="595959"/>
                </a:solidFill>
                <a:latin typeface="Calibri" panose="020F0502020204030204" pitchFamily="34" charset="0"/>
                <a:cs typeface="Calibri" panose="020F0502020204030204" pitchFamily="34" charset="0"/>
              </a:rPr>
              <a:t>generate </a:t>
            </a:r>
            <a:r>
              <a:rPr sz="1100" dirty="0">
                <a:solidFill>
                  <a:srgbClr val="595959"/>
                </a:solidFill>
                <a:latin typeface="Calibri" panose="020F0502020204030204" pitchFamily="34" charset="0"/>
                <a:cs typeface="Calibri" panose="020F0502020204030204" pitchFamily="34" charset="0"/>
              </a:rPr>
              <a:t>relevant</a:t>
            </a:r>
            <a:r>
              <a:rPr sz="1100" spc="100" dirty="0">
                <a:solidFill>
                  <a:srgbClr val="595959"/>
                </a:solidFill>
                <a:latin typeface="Calibri" panose="020F0502020204030204" pitchFamily="34" charset="0"/>
                <a:cs typeface="Calibri" panose="020F0502020204030204" pitchFamily="34" charset="0"/>
              </a:rPr>
              <a:t> </a:t>
            </a:r>
            <a:r>
              <a:rPr sz="1100" spc="-10" dirty="0">
                <a:solidFill>
                  <a:srgbClr val="595959"/>
                </a:solidFill>
                <a:latin typeface="Calibri" panose="020F0502020204030204" pitchFamily="34" charset="0"/>
                <a:cs typeface="Calibri" panose="020F0502020204030204" pitchFamily="34" charset="0"/>
              </a:rPr>
              <a:t>responses.</a:t>
            </a:r>
            <a:endParaRPr sz="1100" dirty="0">
              <a:latin typeface="Calibri" panose="020F0502020204030204" pitchFamily="34" charset="0"/>
              <a:cs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dirty="0"/>
              <a:t>Prompt</a:t>
            </a:r>
            <a:r>
              <a:rPr spc="25" dirty="0"/>
              <a:t> </a:t>
            </a:r>
            <a:r>
              <a:rPr dirty="0"/>
              <a:t>Engineering</a:t>
            </a:r>
            <a:r>
              <a:rPr spc="30" dirty="0"/>
              <a:t> </a:t>
            </a:r>
            <a:r>
              <a:rPr spc="-50" dirty="0"/>
              <a:t>?</a:t>
            </a:r>
          </a:p>
        </p:txBody>
      </p:sp>
      <p:sp>
        <p:nvSpPr>
          <p:cNvPr id="3" name="object 3"/>
          <p:cNvSpPr txBox="1"/>
          <p:nvPr/>
        </p:nvSpPr>
        <p:spPr>
          <a:xfrm>
            <a:off x="457200" y="1123950"/>
            <a:ext cx="8305165" cy="3313343"/>
          </a:xfrm>
          <a:prstGeom prst="rect">
            <a:avLst/>
          </a:prstGeom>
        </p:spPr>
        <p:txBody>
          <a:bodyPr vert="horz" wrap="square" lIns="0" tIns="36830" rIns="0" bIns="0" rtlCol="0">
            <a:spAutoFit/>
          </a:bodyPr>
          <a:lstStyle/>
          <a:p>
            <a:pPr marL="298450" marR="6350" indent="-285750">
              <a:lnSpc>
                <a:spcPts val="1510"/>
              </a:lnSpc>
              <a:spcBef>
                <a:spcPts val="290"/>
              </a:spcBef>
              <a:buFont typeface="Arial" panose="020B0604020202020204" pitchFamily="34" charset="0"/>
              <a:buChar char="•"/>
            </a:pPr>
            <a:r>
              <a:rPr sz="1600" dirty="0">
                <a:latin typeface="Calibri" panose="020F0502020204030204" pitchFamily="34" charset="0"/>
                <a:cs typeface="Calibri" panose="020F0502020204030204" pitchFamily="34" charset="0"/>
              </a:rPr>
              <a:t>The</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process</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of</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designing</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effective</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prompts</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to</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generate</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better</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and</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desired</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responses</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is</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called</a:t>
            </a:r>
            <a:r>
              <a:rPr sz="1600" spc="-25" dirty="0">
                <a:latin typeface="Calibri" panose="020F0502020204030204" pitchFamily="34" charset="0"/>
                <a:cs typeface="Calibri" panose="020F0502020204030204" pitchFamily="34" charset="0"/>
              </a:rPr>
              <a:t> </a:t>
            </a:r>
            <a:r>
              <a:rPr sz="1600" spc="-10" dirty="0">
                <a:latin typeface="Calibri" panose="020F0502020204030204" pitchFamily="34" charset="0"/>
                <a:cs typeface="Calibri" panose="020F0502020204030204" pitchFamily="34" charset="0"/>
              </a:rPr>
              <a:t>prompt engineering.</a:t>
            </a:r>
            <a:r>
              <a:rPr sz="1600" spc="-8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Although</a:t>
            </a:r>
            <a:r>
              <a:rPr sz="1600" spc="-15" dirty="0">
                <a:latin typeface="Calibri" panose="020F0502020204030204" pitchFamily="34" charset="0"/>
                <a:cs typeface="Calibri" panose="020F0502020204030204" pitchFamily="34" charset="0"/>
              </a:rPr>
              <a:t> </a:t>
            </a:r>
            <a:r>
              <a:rPr sz="1600" spc="-10" dirty="0">
                <a:latin typeface="Calibri" panose="020F0502020204030204" pitchFamily="34" charset="0"/>
                <a:cs typeface="Calibri" panose="020F0502020204030204" pitchFamily="34" charset="0"/>
              </a:rPr>
              <a:t>generative</a:t>
            </a:r>
            <a:r>
              <a:rPr sz="1600" spc="-8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AI</a:t>
            </a:r>
            <a:r>
              <a:rPr sz="1600" spc="-1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models</a:t>
            </a:r>
            <a:r>
              <a:rPr sz="1600" spc="-1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have</a:t>
            </a:r>
            <a:r>
              <a:rPr sz="1600" spc="-1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the</a:t>
            </a:r>
            <a:r>
              <a:rPr sz="1600" spc="-1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potential</a:t>
            </a:r>
            <a:r>
              <a:rPr sz="1600" spc="-1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to</a:t>
            </a:r>
            <a:r>
              <a:rPr sz="1600" spc="-1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supplement</a:t>
            </a:r>
            <a:r>
              <a:rPr sz="1600" spc="-1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human</a:t>
            </a:r>
            <a:r>
              <a:rPr sz="1600" spc="-10" dirty="0">
                <a:latin typeface="Calibri" panose="020F0502020204030204" pitchFamily="34" charset="0"/>
                <a:cs typeface="Calibri" panose="020F0502020204030204" pitchFamily="34" charset="0"/>
              </a:rPr>
              <a:t> creativity, </a:t>
            </a:r>
            <a:r>
              <a:rPr sz="1600" dirty="0">
                <a:latin typeface="Calibri" panose="020F0502020204030204" pitchFamily="34" charset="0"/>
                <a:cs typeface="Calibri" panose="020F0502020204030204" pitchFamily="34" charset="0"/>
              </a:rPr>
              <a:t>if</a:t>
            </a:r>
            <a:r>
              <a:rPr sz="1600" spc="-1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you</a:t>
            </a:r>
            <a:r>
              <a:rPr sz="1600" spc="-10" dirty="0">
                <a:latin typeface="Calibri" panose="020F0502020204030204" pitchFamily="34" charset="0"/>
                <a:cs typeface="Calibri" panose="020F0502020204030204" pitchFamily="34" charset="0"/>
              </a:rPr>
              <a:t> </a:t>
            </a:r>
            <a:r>
              <a:rPr sz="1600" spc="-20" dirty="0">
                <a:latin typeface="Calibri" panose="020F0502020204030204" pitchFamily="34" charset="0"/>
                <a:cs typeface="Calibri" panose="020F0502020204030204" pitchFamily="34" charset="0"/>
              </a:rPr>
              <a:t>fail</a:t>
            </a:r>
            <a:r>
              <a:rPr sz="1600" spc="50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to</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provide</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precise</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prompts,</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these</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models</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may</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produce</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inadequate</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results</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and</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even</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false</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and</a:t>
            </a:r>
            <a:r>
              <a:rPr sz="1600" spc="-20" dirty="0">
                <a:latin typeface="Calibri" panose="020F0502020204030204" pitchFamily="34" charset="0"/>
                <a:cs typeface="Calibri" panose="020F0502020204030204" pitchFamily="34" charset="0"/>
              </a:rPr>
              <a:t> </a:t>
            </a:r>
            <a:r>
              <a:rPr sz="1600" spc="-10" dirty="0">
                <a:latin typeface="Calibri" panose="020F0502020204030204" pitchFamily="34" charset="0"/>
                <a:cs typeface="Calibri" panose="020F0502020204030204" pitchFamily="34" charset="0"/>
              </a:rPr>
              <a:t>misleading </a:t>
            </a:r>
            <a:r>
              <a:rPr sz="1600" dirty="0">
                <a:latin typeface="Calibri" panose="020F0502020204030204" pitchFamily="34" charset="0"/>
                <a:cs typeface="Calibri" panose="020F0502020204030204" pitchFamily="34" charset="0"/>
              </a:rPr>
              <a:t>information.</a:t>
            </a:r>
            <a:r>
              <a:rPr sz="1600" spc="-3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Prompt</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engineering</a:t>
            </a:r>
            <a:r>
              <a:rPr sz="1600" spc="-3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is</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a</a:t>
            </a:r>
            <a:r>
              <a:rPr sz="1600" spc="-3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blend</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of</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critical</a:t>
            </a:r>
            <a:r>
              <a:rPr sz="1600" spc="-3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analysis,</a:t>
            </a:r>
            <a:r>
              <a:rPr sz="1600" spc="-25" dirty="0">
                <a:latin typeface="Calibri" panose="020F0502020204030204" pitchFamily="34" charset="0"/>
                <a:cs typeface="Calibri" panose="020F0502020204030204" pitchFamily="34" charset="0"/>
              </a:rPr>
              <a:t> </a:t>
            </a:r>
            <a:r>
              <a:rPr sz="1600" spc="-10" dirty="0">
                <a:latin typeface="Calibri" panose="020F0502020204030204" pitchFamily="34" charset="0"/>
                <a:cs typeface="Calibri" panose="020F0502020204030204" pitchFamily="34" charset="0"/>
              </a:rPr>
              <a:t>creativity,</a:t>
            </a:r>
            <a:r>
              <a:rPr sz="1600" spc="-3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and</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technical</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acumen.</a:t>
            </a:r>
            <a:r>
              <a:rPr sz="1600" spc="-3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It</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is</a:t>
            </a:r>
            <a:r>
              <a:rPr sz="1600" spc="-30" dirty="0">
                <a:latin typeface="Calibri" panose="020F0502020204030204" pitchFamily="34" charset="0"/>
                <a:cs typeface="Calibri" panose="020F0502020204030204" pitchFamily="34" charset="0"/>
              </a:rPr>
              <a:t> </a:t>
            </a:r>
            <a:r>
              <a:rPr sz="1600" spc="-25" dirty="0">
                <a:latin typeface="Calibri" panose="020F0502020204030204" pitchFamily="34" charset="0"/>
                <a:cs typeface="Calibri" panose="020F0502020204030204" pitchFamily="34" charset="0"/>
              </a:rPr>
              <a:t>not </a:t>
            </a:r>
            <a:r>
              <a:rPr sz="1600" dirty="0">
                <a:latin typeface="Calibri" panose="020F0502020204030204" pitchFamily="34" charset="0"/>
                <a:cs typeface="Calibri" panose="020F0502020204030204" pitchFamily="34" charset="0"/>
              </a:rPr>
              <a:t>limited</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to</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asking</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the</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right</a:t>
            </a:r>
            <a:r>
              <a:rPr sz="1600" spc="-20" dirty="0">
                <a:latin typeface="Calibri" panose="020F0502020204030204" pitchFamily="34" charset="0"/>
                <a:cs typeface="Calibri" panose="020F0502020204030204" pitchFamily="34" charset="0"/>
              </a:rPr>
              <a:t> </a:t>
            </a:r>
            <a:r>
              <a:rPr sz="1600" spc="-10" dirty="0">
                <a:latin typeface="Calibri" panose="020F0502020204030204" pitchFamily="34" charset="0"/>
                <a:cs typeface="Calibri" panose="020F0502020204030204" pitchFamily="34" charset="0"/>
              </a:rPr>
              <a:t>question.</a:t>
            </a:r>
            <a:endParaRPr sz="1600" dirty="0">
              <a:latin typeface="Calibri" panose="020F0502020204030204" pitchFamily="34" charset="0"/>
              <a:cs typeface="Calibri" panose="020F0502020204030204" pitchFamily="34" charset="0"/>
            </a:endParaRPr>
          </a:p>
          <a:p>
            <a:pPr marL="298450" marR="419734" indent="-285750">
              <a:lnSpc>
                <a:spcPts val="1510"/>
              </a:lnSpc>
              <a:spcBef>
                <a:spcPts val="1520"/>
              </a:spcBef>
              <a:buFont typeface="Arial" panose="020B0604020202020204" pitchFamily="34" charset="0"/>
              <a:buChar char="•"/>
            </a:pPr>
            <a:r>
              <a:rPr sz="1600" dirty="0">
                <a:latin typeface="Calibri" panose="020F0502020204030204" pitchFamily="34" charset="0"/>
                <a:cs typeface="Calibri" panose="020F0502020204030204" pitchFamily="34" charset="0"/>
              </a:rPr>
              <a:t>It</a:t>
            </a:r>
            <a:r>
              <a:rPr sz="1600" spc="-3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includes</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framing</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the</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question</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in</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the</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right</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context</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with</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the</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right</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information</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and</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your</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expectation</a:t>
            </a:r>
            <a:r>
              <a:rPr sz="1600" spc="-20" dirty="0">
                <a:latin typeface="Calibri" panose="020F0502020204030204" pitchFamily="34" charset="0"/>
                <a:cs typeface="Calibri" panose="020F0502020204030204" pitchFamily="34" charset="0"/>
              </a:rPr>
              <a:t> </a:t>
            </a:r>
            <a:r>
              <a:rPr sz="1600" spc="-25" dirty="0">
                <a:latin typeface="Calibri" panose="020F0502020204030204" pitchFamily="34" charset="0"/>
                <a:cs typeface="Calibri" panose="020F0502020204030204" pitchFamily="34" charset="0"/>
              </a:rPr>
              <a:t>of </a:t>
            </a:r>
            <a:r>
              <a:rPr sz="1600" dirty="0">
                <a:latin typeface="Calibri" panose="020F0502020204030204" pitchFamily="34" charset="0"/>
                <a:cs typeface="Calibri" panose="020F0502020204030204" pitchFamily="34" charset="0"/>
              </a:rPr>
              <a:t>desired</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outcomes</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to</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elicit</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the</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most</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appropriate</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response.</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Let's</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understand</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this</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through</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an</a:t>
            </a:r>
            <a:r>
              <a:rPr sz="1600" spc="-20" dirty="0">
                <a:latin typeface="Calibri" panose="020F0502020204030204" pitchFamily="34" charset="0"/>
                <a:cs typeface="Calibri" panose="020F0502020204030204" pitchFamily="34" charset="0"/>
              </a:rPr>
              <a:t> </a:t>
            </a:r>
            <a:r>
              <a:rPr sz="1600" spc="-10" dirty="0">
                <a:latin typeface="Calibri" panose="020F0502020204030204" pitchFamily="34" charset="0"/>
                <a:cs typeface="Calibri" panose="020F0502020204030204" pitchFamily="34" charset="0"/>
              </a:rPr>
              <a:t>example.</a:t>
            </a:r>
            <a:endParaRPr sz="1600" dirty="0">
              <a:latin typeface="Calibri" panose="020F0502020204030204" pitchFamily="34" charset="0"/>
              <a:cs typeface="Calibri" panose="020F0502020204030204" pitchFamily="34" charset="0"/>
            </a:endParaRPr>
          </a:p>
          <a:p>
            <a:pPr marL="298450" marR="5080" indent="-285750">
              <a:lnSpc>
                <a:spcPts val="1510"/>
              </a:lnSpc>
              <a:spcBef>
                <a:spcPts val="1520"/>
              </a:spcBef>
              <a:buFont typeface="Arial" panose="020B0604020202020204" pitchFamily="34" charset="0"/>
              <a:buChar char="•"/>
            </a:pPr>
            <a:r>
              <a:rPr sz="1600" dirty="0">
                <a:latin typeface="Calibri" panose="020F0502020204030204" pitchFamily="34" charset="0"/>
                <a:cs typeface="Calibri" panose="020F0502020204030204" pitchFamily="34" charset="0"/>
              </a:rPr>
              <a:t>A</a:t>
            </a:r>
            <a:r>
              <a:rPr sz="1600" spc="-9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ship</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is</a:t>
            </a:r>
            <a:r>
              <a:rPr sz="1600" spc="-1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sailing</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through</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the</a:t>
            </a:r>
            <a:r>
              <a:rPr sz="1600" spc="-9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Atlantic</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Ocean.</a:t>
            </a:r>
            <a:r>
              <a:rPr sz="1600" spc="-45" dirty="0">
                <a:latin typeface="Calibri" panose="020F0502020204030204" pitchFamily="34" charset="0"/>
                <a:cs typeface="Calibri" panose="020F0502020204030204" pitchFamily="34" charset="0"/>
              </a:rPr>
              <a:t> </a:t>
            </a:r>
            <a:r>
              <a:rPr sz="1600" spc="-75" dirty="0">
                <a:latin typeface="Calibri" panose="020F0502020204030204" pitchFamily="34" charset="0"/>
                <a:cs typeface="Calibri" panose="020F0502020204030204" pitchFamily="34" charset="0"/>
              </a:rPr>
              <a:t>To</a:t>
            </a:r>
            <a:r>
              <a:rPr sz="1600" spc="-1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plan</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his</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voyage,</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the</a:t>
            </a:r>
            <a:r>
              <a:rPr sz="1600" spc="-1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ship's</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captain</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wants</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to</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know</a:t>
            </a:r>
            <a:r>
              <a:rPr sz="1600" spc="-15" dirty="0">
                <a:latin typeface="Calibri" panose="020F0502020204030204" pitchFamily="34" charset="0"/>
                <a:cs typeface="Calibri" panose="020F0502020204030204" pitchFamily="34" charset="0"/>
              </a:rPr>
              <a:t> </a:t>
            </a:r>
            <a:r>
              <a:rPr sz="1600" spc="-25" dirty="0">
                <a:latin typeface="Calibri" panose="020F0502020204030204" pitchFamily="34" charset="0"/>
                <a:cs typeface="Calibri" panose="020F0502020204030204" pitchFamily="34" charset="0"/>
              </a:rPr>
              <a:t>the </a:t>
            </a:r>
            <a:r>
              <a:rPr sz="1600" dirty="0">
                <a:latin typeface="Calibri" panose="020F0502020204030204" pitchFamily="34" charset="0"/>
                <a:cs typeface="Calibri" panose="020F0502020204030204" pitchFamily="34" charset="0"/>
              </a:rPr>
              <a:t>precise</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weather</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forecast</a:t>
            </a:r>
            <a:r>
              <a:rPr sz="1600" spc="-1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for</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a</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specific</a:t>
            </a:r>
            <a:r>
              <a:rPr sz="1600" spc="-1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location</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at</a:t>
            </a:r>
            <a:r>
              <a:rPr sz="1600" spc="-1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a</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specific</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time.</a:t>
            </a:r>
            <a:r>
              <a:rPr sz="1600" spc="-1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In</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this</a:t>
            </a:r>
            <a:r>
              <a:rPr sz="1600" spc="-1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case,</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providing</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the</a:t>
            </a:r>
            <a:r>
              <a:rPr sz="1600" spc="-1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model</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with</a:t>
            </a:r>
            <a:r>
              <a:rPr sz="1600" spc="-15" dirty="0">
                <a:latin typeface="Calibri" panose="020F0502020204030204" pitchFamily="34" charset="0"/>
                <a:cs typeface="Calibri" panose="020F0502020204030204" pitchFamily="34" charset="0"/>
              </a:rPr>
              <a:t> </a:t>
            </a:r>
            <a:r>
              <a:rPr sz="1600" spc="-50" dirty="0">
                <a:latin typeface="Calibri" panose="020F0502020204030204" pitchFamily="34" charset="0"/>
                <a:cs typeface="Calibri" panose="020F0502020204030204" pitchFamily="34" charset="0"/>
              </a:rPr>
              <a:t>a </a:t>
            </a:r>
            <a:r>
              <a:rPr sz="1600" dirty="0">
                <a:latin typeface="Calibri" panose="020F0502020204030204" pitchFamily="34" charset="0"/>
                <a:cs typeface="Calibri" panose="020F0502020204030204" pitchFamily="34" charset="0"/>
              </a:rPr>
              <a:t>simple</a:t>
            </a:r>
            <a:r>
              <a:rPr sz="1600" spc="-3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prompt,</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such</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as</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weather</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forecast</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of</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the</a:t>
            </a:r>
            <a:r>
              <a:rPr sz="1600" spc="-9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Atlantic</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Ocean,</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may</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not</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get</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the</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desired</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results.</a:t>
            </a:r>
            <a:r>
              <a:rPr sz="1600" spc="-45" dirty="0">
                <a:latin typeface="Calibri" panose="020F0502020204030204" pitchFamily="34" charset="0"/>
                <a:cs typeface="Calibri" panose="020F0502020204030204" pitchFamily="34" charset="0"/>
              </a:rPr>
              <a:t> </a:t>
            </a:r>
            <a:r>
              <a:rPr sz="1600" spc="-75" dirty="0">
                <a:latin typeface="Calibri" panose="020F0502020204030204" pitchFamily="34" charset="0"/>
                <a:cs typeface="Calibri" panose="020F0502020204030204" pitchFamily="34" charset="0"/>
              </a:rPr>
              <a:t>To</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get</a:t>
            </a:r>
            <a:r>
              <a:rPr sz="1600" spc="-15" dirty="0">
                <a:latin typeface="Calibri" panose="020F0502020204030204" pitchFamily="34" charset="0"/>
                <a:cs typeface="Calibri" panose="020F0502020204030204" pitchFamily="34" charset="0"/>
              </a:rPr>
              <a:t> </a:t>
            </a:r>
            <a:r>
              <a:rPr sz="1600" spc="-25" dirty="0">
                <a:latin typeface="Calibri" panose="020F0502020204030204" pitchFamily="34" charset="0"/>
                <a:cs typeface="Calibri" panose="020F0502020204030204" pitchFamily="34" charset="0"/>
              </a:rPr>
              <a:t>the </a:t>
            </a:r>
            <a:r>
              <a:rPr sz="1600" dirty="0">
                <a:latin typeface="Calibri" panose="020F0502020204030204" pitchFamily="34" charset="0"/>
                <a:cs typeface="Calibri" panose="020F0502020204030204" pitchFamily="34" charset="0"/>
              </a:rPr>
              <a:t>most</a:t>
            </a:r>
            <a:r>
              <a:rPr sz="1600" spc="-3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accurate</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results,</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the</a:t>
            </a:r>
            <a:r>
              <a:rPr sz="1600" spc="-3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captain</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will</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have</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to</a:t>
            </a:r>
            <a:r>
              <a:rPr sz="1600" spc="-3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engineer</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the</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prompts.</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When</a:t>
            </a:r>
            <a:r>
              <a:rPr sz="1600" spc="-3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designing</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the</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prompt,</a:t>
            </a:r>
            <a:r>
              <a:rPr sz="1600" spc="-25" dirty="0">
                <a:latin typeface="Calibri" panose="020F0502020204030204" pitchFamily="34" charset="0"/>
                <a:cs typeface="Calibri" panose="020F0502020204030204" pitchFamily="34" charset="0"/>
              </a:rPr>
              <a:t> the </a:t>
            </a:r>
            <a:r>
              <a:rPr sz="1600" dirty="0">
                <a:latin typeface="Calibri" panose="020F0502020204030204" pitchFamily="34" charset="0"/>
                <a:cs typeface="Calibri" panose="020F0502020204030204" pitchFamily="34" charset="0"/>
              </a:rPr>
              <a:t>captain</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needs</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to</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define</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the</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context</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to</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include</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details</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such</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as</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the</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intended</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location</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for</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the</a:t>
            </a:r>
            <a:r>
              <a:rPr sz="1600" spc="-20" dirty="0">
                <a:latin typeface="Calibri" panose="020F0502020204030204" pitchFamily="34" charset="0"/>
                <a:cs typeface="Calibri" panose="020F0502020204030204" pitchFamily="34" charset="0"/>
              </a:rPr>
              <a:t> </a:t>
            </a:r>
            <a:r>
              <a:rPr sz="1600" spc="-10" dirty="0">
                <a:latin typeface="Calibri" panose="020F0502020204030204" pitchFamily="34" charset="0"/>
                <a:cs typeface="Calibri" panose="020F0502020204030204" pitchFamily="34" charset="0"/>
              </a:rPr>
              <a:t>weather </a:t>
            </a:r>
            <a:r>
              <a:rPr sz="1600" dirty="0">
                <a:latin typeface="Calibri" panose="020F0502020204030204" pitchFamily="34" charset="0"/>
                <a:cs typeface="Calibri" panose="020F0502020204030204" pitchFamily="34" charset="0"/>
              </a:rPr>
              <a:t>forecast</a:t>
            </a:r>
            <a:r>
              <a:rPr sz="1600" spc="-3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in</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latitude</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and</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longitude</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and</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the</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time</a:t>
            </a:r>
            <a:r>
              <a:rPr sz="1600" spc="-20"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range</a:t>
            </a:r>
            <a:r>
              <a:rPr sz="1600" spc="-25" dirty="0">
                <a:latin typeface="Calibri" panose="020F0502020204030204" pitchFamily="34" charset="0"/>
                <a:cs typeface="Calibri" panose="020F0502020204030204" pitchFamily="34" charset="0"/>
              </a:rPr>
              <a:t> </a:t>
            </a:r>
            <a:r>
              <a:rPr sz="1600" dirty="0">
                <a:latin typeface="Calibri" panose="020F0502020204030204" pitchFamily="34" charset="0"/>
                <a:cs typeface="Calibri" panose="020F0502020204030204" pitchFamily="34" charset="0"/>
              </a:rPr>
              <a:t>for</a:t>
            </a:r>
            <a:r>
              <a:rPr sz="1600" spc="-20" dirty="0">
                <a:latin typeface="Calibri" panose="020F0502020204030204" pitchFamily="34" charset="0"/>
                <a:cs typeface="Calibri" panose="020F0502020204030204" pitchFamily="34" charset="0"/>
              </a:rPr>
              <a:t> </a:t>
            </a:r>
            <a:r>
              <a:rPr sz="1600" spc="-10" dirty="0">
                <a:latin typeface="Calibri" panose="020F0502020204030204" pitchFamily="34" charset="0"/>
                <a:cs typeface="Calibri" panose="020F0502020204030204" pitchFamily="34" charset="0"/>
              </a:rPr>
              <a:t>prediction.</a:t>
            </a:r>
            <a:endParaRPr sz="1600" dirty="0">
              <a:latin typeface="Calibri" panose="020F0502020204030204" pitchFamily="34" charset="0"/>
              <a:cs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89924" y="301687"/>
            <a:ext cx="8418195" cy="2623795"/>
          </a:xfrm>
          <a:prstGeom prst="rect">
            <a:avLst/>
          </a:prstGeom>
        </p:spPr>
        <p:txBody>
          <a:bodyPr vert="horz" wrap="square" lIns="0" tIns="12700" rIns="0" bIns="0" rtlCol="0">
            <a:spAutoFit/>
          </a:bodyPr>
          <a:lstStyle/>
          <a:p>
            <a:pPr marL="12700" marR="25400">
              <a:lnSpc>
                <a:spcPct val="100000"/>
              </a:lnSpc>
              <a:spcBef>
                <a:spcPts val="100"/>
              </a:spcBef>
            </a:pPr>
            <a:r>
              <a:rPr sz="1400" dirty="0">
                <a:latin typeface="Calibri" panose="020F0502020204030204" pitchFamily="34" charset="0"/>
                <a:cs typeface="Calibri" panose="020F0502020204030204" pitchFamily="34" charset="0"/>
              </a:rPr>
              <a:t>For</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example,</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the</a:t>
            </a:r>
            <a:r>
              <a:rPr sz="1400" spc="-1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captain</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of</a:t>
            </a:r>
            <a:r>
              <a:rPr sz="1400" spc="-1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a</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ship</a:t>
            </a:r>
            <a:r>
              <a:rPr sz="1400" spc="-1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is</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planning</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a</a:t>
            </a:r>
            <a:r>
              <a:rPr sz="1400" spc="-1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strategic</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voyage</a:t>
            </a:r>
            <a:r>
              <a:rPr sz="1400" spc="-1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in</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the</a:t>
            </a:r>
            <a:r>
              <a:rPr sz="1400" spc="-9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Atlantic</a:t>
            </a:r>
            <a:r>
              <a:rPr sz="1400" spc="-1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Ocean.</a:t>
            </a:r>
            <a:r>
              <a:rPr sz="1400" spc="-45" dirty="0">
                <a:latin typeface="Calibri" panose="020F0502020204030204" pitchFamily="34" charset="0"/>
                <a:cs typeface="Calibri" panose="020F0502020204030204" pitchFamily="34" charset="0"/>
              </a:rPr>
              <a:t> </a:t>
            </a:r>
            <a:r>
              <a:rPr sz="1400" spc="-75" dirty="0">
                <a:latin typeface="Calibri" panose="020F0502020204030204" pitchFamily="34" charset="0"/>
                <a:cs typeface="Calibri" panose="020F0502020204030204" pitchFamily="34" charset="0"/>
              </a:rPr>
              <a:t>To</a:t>
            </a:r>
            <a:r>
              <a:rPr sz="1400" spc="-1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help</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the</a:t>
            </a:r>
            <a:r>
              <a:rPr sz="1400" spc="-20" dirty="0">
                <a:latin typeface="Calibri" panose="020F0502020204030204" pitchFamily="34" charset="0"/>
                <a:cs typeface="Calibri" panose="020F0502020204030204" pitchFamily="34" charset="0"/>
              </a:rPr>
              <a:t> </a:t>
            </a:r>
            <a:r>
              <a:rPr sz="1400" spc="-10" dirty="0">
                <a:latin typeface="Calibri" panose="020F0502020204030204" pitchFamily="34" charset="0"/>
                <a:cs typeface="Calibri" panose="020F0502020204030204" pitchFamily="34" charset="0"/>
              </a:rPr>
              <a:t>captain </a:t>
            </a:r>
            <a:r>
              <a:rPr sz="1400" dirty="0">
                <a:latin typeface="Calibri" panose="020F0502020204030204" pitchFamily="34" charset="0"/>
                <a:cs typeface="Calibri" panose="020F0502020204030204" pitchFamily="34" charset="0"/>
              </a:rPr>
              <a:t>navigate</a:t>
            </a:r>
            <a:r>
              <a:rPr sz="1400" spc="-20" dirty="0">
                <a:latin typeface="Calibri" panose="020F0502020204030204" pitchFamily="34" charset="0"/>
                <a:cs typeface="Calibri" panose="020F0502020204030204" pitchFamily="34" charset="0"/>
              </a:rPr>
              <a:t> </a:t>
            </a:r>
            <a:r>
              <a:rPr sz="1400" spc="-10" dirty="0">
                <a:latin typeface="Calibri" panose="020F0502020204030204" pitchFamily="34" charset="0"/>
                <a:cs typeface="Calibri" panose="020F0502020204030204" pitchFamily="34" charset="0"/>
              </a:rPr>
              <a:t>effectively,</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provide</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weather</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forecasts</a:t>
            </a:r>
            <a:r>
              <a:rPr sz="1400" spc="-1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for</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the</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upcoming</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week</a:t>
            </a:r>
            <a:r>
              <a:rPr sz="1400" spc="-1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from</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28th</a:t>
            </a:r>
            <a:r>
              <a:rPr sz="1400" spc="-9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August</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2023</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to</a:t>
            </a:r>
            <a:r>
              <a:rPr sz="1400" spc="-15" dirty="0">
                <a:latin typeface="Calibri" panose="020F0502020204030204" pitchFamily="34" charset="0"/>
                <a:cs typeface="Calibri" panose="020F0502020204030204" pitchFamily="34" charset="0"/>
              </a:rPr>
              <a:t> </a:t>
            </a:r>
            <a:r>
              <a:rPr sz="1400" spc="-25" dirty="0">
                <a:latin typeface="Calibri" panose="020F0502020204030204" pitchFamily="34" charset="0"/>
                <a:cs typeface="Calibri" panose="020F0502020204030204" pitchFamily="34" charset="0"/>
              </a:rPr>
              <a:t>1st </a:t>
            </a:r>
            <a:r>
              <a:rPr sz="1400" dirty="0">
                <a:latin typeface="Calibri" panose="020F0502020204030204" pitchFamily="34" charset="0"/>
                <a:cs typeface="Calibri" panose="020F0502020204030204" pitchFamily="34" charset="0"/>
              </a:rPr>
              <a:t>September</a:t>
            </a:r>
            <a:r>
              <a:rPr sz="1400" spc="-3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2023.</a:t>
            </a:r>
            <a:r>
              <a:rPr sz="1400" spc="-4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The</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coordinates</a:t>
            </a:r>
            <a:r>
              <a:rPr sz="1400" spc="-1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of</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the</a:t>
            </a:r>
            <a:r>
              <a:rPr sz="1400" spc="-1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target</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location</a:t>
            </a:r>
            <a:r>
              <a:rPr sz="1400" spc="-1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are</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between</a:t>
            </a:r>
            <a:r>
              <a:rPr sz="1400" spc="-1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20</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degrees</a:t>
            </a:r>
            <a:r>
              <a:rPr sz="1400" spc="-1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north</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and</a:t>
            </a:r>
            <a:r>
              <a:rPr sz="1400" spc="-1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30</a:t>
            </a:r>
            <a:r>
              <a:rPr sz="1400" spc="-15" dirty="0">
                <a:latin typeface="Calibri" panose="020F0502020204030204" pitchFamily="34" charset="0"/>
                <a:cs typeface="Calibri" panose="020F0502020204030204" pitchFamily="34" charset="0"/>
              </a:rPr>
              <a:t> </a:t>
            </a:r>
            <a:r>
              <a:rPr sz="1400" spc="-10" dirty="0">
                <a:latin typeface="Calibri" panose="020F0502020204030204" pitchFamily="34" charset="0"/>
                <a:cs typeface="Calibri" panose="020F0502020204030204" pitchFamily="34" charset="0"/>
              </a:rPr>
              <a:t>degrees </a:t>
            </a:r>
            <a:r>
              <a:rPr sz="1400" dirty="0">
                <a:latin typeface="Calibri" panose="020F0502020204030204" pitchFamily="34" charset="0"/>
                <a:cs typeface="Calibri" panose="020F0502020204030204" pitchFamily="34" charset="0"/>
              </a:rPr>
              <a:t>north</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latitude</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and</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40</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degrees</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west</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and</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20</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degrees</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west</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longitude.</a:t>
            </a:r>
            <a:r>
              <a:rPr sz="1400" spc="-4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The</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captain</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must</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also</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indicate</a:t>
            </a:r>
            <a:r>
              <a:rPr sz="1400" spc="-20" dirty="0">
                <a:latin typeface="Calibri" panose="020F0502020204030204" pitchFamily="34" charset="0"/>
                <a:cs typeface="Calibri" panose="020F0502020204030204" pitchFamily="34" charset="0"/>
              </a:rPr>
              <a:t> </a:t>
            </a:r>
            <a:r>
              <a:rPr sz="1400" spc="-10" dirty="0">
                <a:latin typeface="Calibri" panose="020F0502020204030204" pitchFamily="34" charset="0"/>
                <a:cs typeface="Calibri" panose="020F0502020204030204" pitchFamily="34" charset="0"/>
              </a:rPr>
              <a:t>whether </a:t>
            </a:r>
            <a:r>
              <a:rPr sz="1400" dirty="0">
                <a:latin typeface="Calibri" panose="020F0502020204030204" pitchFamily="34" charset="0"/>
                <a:cs typeface="Calibri" panose="020F0502020204030204" pitchFamily="34" charset="0"/>
              </a:rPr>
              <a:t>he</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requires</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specific</a:t>
            </a:r>
            <a:r>
              <a:rPr sz="1400" spc="-1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output,</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like</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should</a:t>
            </a:r>
            <a:r>
              <a:rPr sz="1400" spc="-1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the</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model</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return</a:t>
            </a:r>
            <a:r>
              <a:rPr sz="1400" spc="-1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information</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on</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other</a:t>
            </a:r>
            <a:r>
              <a:rPr sz="1400" spc="-1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weather</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elements</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that</a:t>
            </a:r>
            <a:r>
              <a:rPr sz="1400" spc="-15" dirty="0">
                <a:latin typeface="Calibri" panose="020F0502020204030204" pitchFamily="34" charset="0"/>
                <a:cs typeface="Calibri" panose="020F0502020204030204" pitchFamily="34" charset="0"/>
              </a:rPr>
              <a:t> </a:t>
            </a:r>
            <a:r>
              <a:rPr sz="1400" spc="-10" dirty="0">
                <a:latin typeface="Calibri" panose="020F0502020204030204" pitchFamily="34" charset="0"/>
                <a:cs typeface="Calibri" panose="020F0502020204030204" pitchFamily="34" charset="0"/>
              </a:rPr>
              <a:t>could </a:t>
            </a:r>
            <a:r>
              <a:rPr sz="1400" dirty="0">
                <a:latin typeface="Calibri" panose="020F0502020204030204" pitchFamily="34" charset="0"/>
                <a:cs typeface="Calibri" panose="020F0502020204030204" pitchFamily="34" charset="0"/>
              </a:rPr>
              <a:t>affect</a:t>
            </a:r>
            <a:r>
              <a:rPr sz="1400" spc="-3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the</a:t>
            </a:r>
            <a:r>
              <a:rPr sz="1400" spc="-35" dirty="0">
                <a:latin typeface="Calibri" panose="020F0502020204030204" pitchFamily="34" charset="0"/>
                <a:cs typeface="Calibri" panose="020F0502020204030204" pitchFamily="34" charset="0"/>
              </a:rPr>
              <a:t> </a:t>
            </a:r>
            <a:r>
              <a:rPr sz="1400" spc="-10" dirty="0">
                <a:latin typeface="Calibri" panose="020F0502020204030204" pitchFamily="34" charset="0"/>
                <a:cs typeface="Calibri" panose="020F0502020204030204" pitchFamily="34" charset="0"/>
              </a:rPr>
              <a:t>voyage.</a:t>
            </a:r>
            <a:endParaRPr sz="1400" dirty="0">
              <a:latin typeface="Calibri" panose="020F0502020204030204" pitchFamily="34" charset="0"/>
              <a:cs typeface="Calibri" panose="020F0502020204030204" pitchFamily="34" charset="0"/>
            </a:endParaRPr>
          </a:p>
          <a:p>
            <a:pPr>
              <a:lnSpc>
                <a:spcPct val="100000"/>
              </a:lnSpc>
              <a:spcBef>
                <a:spcPts val="70"/>
              </a:spcBef>
            </a:pPr>
            <a:endParaRPr sz="1400" dirty="0">
              <a:latin typeface="Calibri" panose="020F0502020204030204" pitchFamily="34" charset="0"/>
              <a:cs typeface="Calibri" panose="020F0502020204030204" pitchFamily="34" charset="0"/>
            </a:endParaRPr>
          </a:p>
          <a:p>
            <a:pPr marL="12700" marR="5080">
              <a:lnSpc>
                <a:spcPct val="100000"/>
              </a:lnSpc>
            </a:pPr>
            <a:r>
              <a:rPr sz="1400" dirty="0">
                <a:latin typeface="Calibri" panose="020F0502020204030204" pitchFamily="34" charset="0"/>
                <a:cs typeface="Calibri" panose="020F0502020204030204" pitchFamily="34" charset="0"/>
              </a:rPr>
              <a:t>For</a:t>
            </a:r>
            <a:r>
              <a:rPr sz="1400" spc="-4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example,</a:t>
            </a:r>
            <a:r>
              <a:rPr sz="1400" spc="-3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to</a:t>
            </a:r>
            <a:r>
              <a:rPr sz="1400" spc="-3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help</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plan</a:t>
            </a:r>
            <a:r>
              <a:rPr sz="1400" spc="-3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an</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effective</a:t>
            </a:r>
            <a:r>
              <a:rPr sz="1400" spc="-3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navigation</a:t>
            </a:r>
            <a:r>
              <a:rPr sz="1400" spc="-3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in</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the</a:t>
            </a:r>
            <a:r>
              <a:rPr sz="1400" spc="-10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Atlantic</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Ocean,</a:t>
            </a:r>
            <a:r>
              <a:rPr sz="1400" spc="-3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provide</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detailed</a:t>
            </a:r>
            <a:r>
              <a:rPr sz="1400" spc="-3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information</a:t>
            </a:r>
            <a:r>
              <a:rPr sz="1400" spc="-25" dirty="0">
                <a:latin typeface="Calibri" panose="020F0502020204030204" pitchFamily="34" charset="0"/>
                <a:cs typeface="Calibri" panose="020F0502020204030204" pitchFamily="34" charset="0"/>
              </a:rPr>
              <a:t> </a:t>
            </a:r>
            <a:r>
              <a:rPr sz="1400" spc="-10" dirty="0">
                <a:latin typeface="Calibri" panose="020F0502020204030204" pitchFamily="34" charset="0"/>
                <a:cs typeface="Calibri" panose="020F0502020204030204" pitchFamily="34" charset="0"/>
              </a:rPr>
              <a:t>about </a:t>
            </a:r>
            <a:r>
              <a:rPr sz="1400" dirty="0">
                <a:latin typeface="Calibri" panose="020F0502020204030204" pitchFamily="34" charset="0"/>
                <a:cs typeface="Calibri" panose="020F0502020204030204" pitchFamily="34" charset="0"/>
              </a:rPr>
              <a:t>expected</a:t>
            </a:r>
            <a:r>
              <a:rPr sz="1400" spc="-4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wind</a:t>
            </a:r>
            <a:r>
              <a:rPr sz="1400" spc="-3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patterns,</a:t>
            </a:r>
            <a:r>
              <a:rPr sz="1400" spc="-4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wave</a:t>
            </a:r>
            <a:r>
              <a:rPr sz="1400" spc="-3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heights,</a:t>
            </a:r>
            <a:r>
              <a:rPr sz="1400" spc="-3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precipitation</a:t>
            </a:r>
            <a:r>
              <a:rPr sz="1400" spc="-4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probabilities,</a:t>
            </a:r>
            <a:r>
              <a:rPr sz="1400" spc="-3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cloud</a:t>
            </a:r>
            <a:r>
              <a:rPr sz="1400" spc="-4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cover,</a:t>
            </a:r>
            <a:r>
              <a:rPr sz="1400" spc="-3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and</a:t>
            </a:r>
            <a:r>
              <a:rPr sz="1400" spc="-3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any</a:t>
            </a:r>
            <a:r>
              <a:rPr sz="1400" spc="-4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potential</a:t>
            </a:r>
            <a:r>
              <a:rPr sz="1400" spc="-3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storms</a:t>
            </a:r>
            <a:r>
              <a:rPr sz="1400" spc="-35" dirty="0">
                <a:latin typeface="Calibri" panose="020F0502020204030204" pitchFamily="34" charset="0"/>
                <a:cs typeface="Calibri" panose="020F0502020204030204" pitchFamily="34" charset="0"/>
              </a:rPr>
              <a:t> </a:t>
            </a:r>
            <a:r>
              <a:rPr sz="1400" spc="-20" dirty="0">
                <a:latin typeface="Calibri" panose="020F0502020204030204" pitchFamily="34" charset="0"/>
                <a:cs typeface="Calibri" panose="020F0502020204030204" pitchFamily="34" charset="0"/>
              </a:rPr>
              <a:t>that </a:t>
            </a:r>
            <a:r>
              <a:rPr sz="1400" dirty="0">
                <a:latin typeface="Calibri" panose="020F0502020204030204" pitchFamily="34" charset="0"/>
                <a:cs typeface="Calibri" panose="020F0502020204030204" pitchFamily="34" charset="0"/>
              </a:rPr>
              <a:t>might</a:t>
            </a:r>
            <a:r>
              <a:rPr sz="1400" spc="-3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affect</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the</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voyage</a:t>
            </a:r>
            <a:r>
              <a:rPr sz="1400" spc="-3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during</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a</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specified</a:t>
            </a:r>
            <a:r>
              <a:rPr sz="1400" spc="-3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time</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frame</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and</a:t>
            </a:r>
            <a:r>
              <a:rPr sz="1400" spc="-25" dirty="0">
                <a:latin typeface="Calibri" panose="020F0502020204030204" pitchFamily="34" charset="0"/>
                <a:cs typeface="Calibri" panose="020F0502020204030204" pitchFamily="34" charset="0"/>
              </a:rPr>
              <a:t> </a:t>
            </a:r>
            <a:r>
              <a:rPr sz="1400" spc="-10" dirty="0">
                <a:latin typeface="Calibri" panose="020F0502020204030204" pitchFamily="34" charset="0"/>
                <a:cs typeface="Calibri" panose="020F0502020204030204" pitchFamily="34" charset="0"/>
              </a:rPr>
              <a:t>location.</a:t>
            </a:r>
            <a:endParaRPr sz="1400" dirty="0">
              <a:latin typeface="Calibri" panose="020F0502020204030204" pitchFamily="34" charset="0"/>
              <a:cs typeface="Calibri" panose="020F0502020204030204" pitchFamily="34" charset="0"/>
            </a:endParaRPr>
          </a:p>
          <a:p>
            <a:pPr>
              <a:lnSpc>
                <a:spcPct val="100000"/>
              </a:lnSpc>
              <a:spcBef>
                <a:spcPts val="70"/>
              </a:spcBef>
            </a:pPr>
            <a:endParaRPr sz="1400" dirty="0">
              <a:latin typeface="Calibri" panose="020F0502020204030204" pitchFamily="34" charset="0"/>
              <a:cs typeface="Calibri" panose="020F0502020204030204" pitchFamily="34" charset="0"/>
            </a:endParaRPr>
          </a:p>
          <a:p>
            <a:pPr marL="12700" marR="41910" indent="48895">
              <a:lnSpc>
                <a:spcPct val="100000"/>
              </a:lnSpc>
            </a:pPr>
            <a:r>
              <a:rPr sz="1400" dirty="0">
                <a:latin typeface="Calibri" panose="020F0502020204030204" pitchFamily="34" charset="0"/>
                <a:cs typeface="Calibri" panose="020F0502020204030204" pitchFamily="34" charset="0"/>
              </a:rPr>
              <a:t>It's</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important</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to</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recognize</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that</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prompt</a:t>
            </a:r>
            <a:r>
              <a:rPr sz="1400" spc="-3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engineering</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is</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a</a:t>
            </a:r>
            <a:r>
              <a:rPr sz="1400" spc="-25" dirty="0">
                <a:latin typeface="Calibri" panose="020F0502020204030204" pitchFamily="34" charset="0"/>
                <a:cs typeface="Calibri" panose="020F0502020204030204" pitchFamily="34" charset="0"/>
              </a:rPr>
              <a:t> </a:t>
            </a:r>
            <a:r>
              <a:rPr sz="1400" spc="-10" dirty="0">
                <a:latin typeface="Calibri" panose="020F0502020204030204" pitchFamily="34" charset="0"/>
                <a:cs typeface="Calibri" panose="020F0502020204030204" pitchFamily="34" charset="0"/>
              </a:rPr>
              <a:t>well-</a:t>
            </a:r>
            <a:r>
              <a:rPr sz="1400" dirty="0">
                <a:latin typeface="Calibri" panose="020F0502020204030204" pitchFamily="34" charset="0"/>
                <a:cs typeface="Calibri" panose="020F0502020204030204" pitchFamily="34" charset="0"/>
              </a:rPr>
              <a:t>structured</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iterative</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process</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that</a:t>
            </a:r>
            <a:r>
              <a:rPr sz="1400" spc="-25" dirty="0">
                <a:latin typeface="Calibri" panose="020F0502020204030204" pitchFamily="34" charset="0"/>
                <a:cs typeface="Calibri" panose="020F0502020204030204" pitchFamily="34" charset="0"/>
              </a:rPr>
              <a:t> </a:t>
            </a:r>
            <a:r>
              <a:rPr sz="1400" spc="-10" dirty="0">
                <a:latin typeface="Calibri" panose="020F0502020204030204" pitchFamily="34" charset="0"/>
                <a:cs typeface="Calibri" panose="020F0502020204030204" pitchFamily="34" charset="0"/>
              </a:rPr>
              <a:t>involves </a:t>
            </a:r>
            <a:r>
              <a:rPr sz="1400" dirty="0">
                <a:latin typeface="Calibri" panose="020F0502020204030204" pitchFamily="34" charset="0"/>
                <a:cs typeface="Calibri" panose="020F0502020204030204" pitchFamily="34" charset="0"/>
              </a:rPr>
              <a:t>refining</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the</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prompts</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and</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experimenting</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with</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various</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factors</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that</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could</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influence</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the</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output</a:t>
            </a:r>
            <a:r>
              <a:rPr sz="1400" spc="-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from</a:t>
            </a:r>
            <a:r>
              <a:rPr sz="1400" spc="-2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the</a:t>
            </a:r>
            <a:r>
              <a:rPr sz="1400" spc="-20" dirty="0">
                <a:latin typeface="Calibri" panose="020F0502020204030204" pitchFamily="34" charset="0"/>
                <a:cs typeface="Calibri" panose="020F0502020204030204" pitchFamily="34" charset="0"/>
              </a:rPr>
              <a:t> </a:t>
            </a:r>
            <a:r>
              <a:rPr sz="1400" spc="-10" dirty="0">
                <a:latin typeface="Calibri" panose="020F0502020204030204" pitchFamily="34" charset="0"/>
                <a:cs typeface="Calibri" panose="020F0502020204030204" pitchFamily="34" charset="0"/>
              </a:rPr>
              <a:t>model.</a:t>
            </a:r>
            <a:endParaRPr sz="1400" dirty="0">
              <a:latin typeface="Calibri" panose="020F0502020204030204" pitchFamily="34" charset="0"/>
              <a:cs typeface="Calibri" panose="020F05020202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181966"/>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182309"/>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80833" y="-3980834"/>
            <a:ext cx="1182335"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object 2"/>
          <p:cNvSpPr txBox="1">
            <a:spLocks noGrp="1"/>
          </p:cNvSpPr>
          <p:nvPr>
            <p:ph type="title"/>
          </p:nvPr>
        </p:nvSpPr>
        <p:spPr>
          <a:xfrm>
            <a:off x="1028697" y="261648"/>
            <a:ext cx="7533018" cy="658297"/>
          </a:xfrm>
          <a:prstGeom prst="rect">
            <a:avLst/>
          </a:prstGeom>
        </p:spPr>
        <p:txBody>
          <a:bodyPr vert="horz" lIns="91440" tIns="45720" rIns="91440" bIns="45720" rtlCol="0" anchor="ctr">
            <a:normAutofit/>
          </a:bodyPr>
          <a:lstStyle/>
          <a:p>
            <a:pPr marL="12700" algn="l" rtl="0">
              <a:lnSpc>
                <a:spcPct val="90000"/>
              </a:lnSpc>
              <a:spcBef>
                <a:spcPct val="0"/>
              </a:spcBef>
            </a:pPr>
            <a:r>
              <a:rPr lang="en-US" sz="3000" kern="1200">
                <a:solidFill>
                  <a:srgbClr val="FFFFFF"/>
                </a:solidFill>
                <a:latin typeface="+mj-lt"/>
                <a:ea typeface="+mj-ea"/>
                <a:cs typeface="+mj-cs"/>
              </a:rPr>
              <a:t>Prompt</a:t>
            </a:r>
            <a:r>
              <a:rPr lang="en-US" sz="3000" kern="1200" spc="20">
                <a:solidFill>
                  <a:srgbClr val="FFFFFF"/>
                </a:solidFill>
                <a:latin typeface="+mj-lt"/>
                <a:ea typeface="+mj-ea"/>
                <a:cs typeface="+mj-cs"/>
              </a:rPr>
              <a:t> </a:t>
            </a:r>
            <a:r>
              <a:rPr lang="en-US" sz="3000" kern="1200">
                <a:solidFill>
                  <a:srgbClr val="FFFFFF"/>
                </a:solidFill>
                <a:latin typeface="+mj-lt"/>
                <a:ea typeface="+mj-ea"/>
                <a:cs typeface="+mj-cs"/>
              </a:rPr>
              <a:t>engineering</a:t>
            </a:r>
            <a:r>
              <a:rPr lang="en-US" sz="3000" kern="1200" spc="20">
                <a:solidFill>
                  <a:srgbClr val="FFFFFF"/>
                </a:solidFill>
                <a:latin typeface="+mj-lt"/>
                <a:ea typeface="+mj-ea"/>
                <a:cs typeface="+mj-cs"/>
              </a:rPr>
              <a:t> </a:t>
            </a:r>
            <a:r>
              <a:rPr lang="en-US" sz="3000" kern="1200">
                <a:solidFill>
                  <a:srgbClr val="FFFFFF"/>
                </a:solidFill>
                <a:latin typeface="+mj-lt"/>
                <a:ea typeface="+mj-ea"/>
                <a:cs typeface="+mj-cs"/>
              </a:rPr>
              <a:t>and</a:t>
            </a:r>
            <a:r>
              <a:rPr lang="en-US" sz="3000" kern="1200" spc="25">
                <a:solidFill>
                  <a:srgbClr val="FFFFFF"/>
                </a:solidFill>
                <a:latin typeface="+mj-lt"/>
                <a:ea typeface="+mj-ea"/>
                <a:cs typeface="+mj-cs"/>
              </a:rPr>
              <a:t> </a:t>
            </a:r>
            <a:r>
              <a:rPr lang="en-US" sz="3000" kern="1200">
                <a:solidFill>
                  <a:srgbClr val="FFFFFF"/>
                </a:solidFill>
                <a:latin typeface="+mj-lt"/>
                <a:ea typeface="+mj-ea"/>
                <a:cs typeface="+mj-cs"/>
              </a:rPr>
              <a:t>Problem</a:t>
            </a:r>
            <a:r>
              <a:rPr lang="en-US" sz="3000" kern="1200" spc="20">
                <a:solidFill>
                  <a:srgbClr val="FFFFFF"/>
                </a:solidFill>
                <a:latin typeface="+mj-lt"/>
                <a:ea typeface="+mj-ea"/>
                <a:cs typeface="+mj-cs"/>
              </a:rPr>
              <a:t> </a:t>
            </a:r>
            <a:r>
              <a:rPr lang="en-US" sz="3000" kern="1200" spc="-10">
                <a:solidFill>
                  <a:srgbClr val="FFFFFF"/>
                </a:solidFill>
                <a:latin typeface="+mj-lt"/>
                <a:ea typeface="+mj-ea"/>
                <a:cs typeface="+mj-cs"/>
              </a:rPr>
              <a:t>solving</a:t>
            </a:r>
          </a:p>
        </p:txBody>
      </p:sp>
      <p:graphicFrame>
        <p:nvGraphicFramePr>
          <p:cNvPr id="5" name="object 3">
            <a:extLst>
              <a:ext uri="{FF2B5EF4-FFF2-40B4-BE49-F238E27FC236}">
                <a16:creationId xmlns:a16="http://schemas.microsoft.com/office/drawing/2014/main" id="{F4F25AC9-4552-F8B8-FA73-BA0918CA5EB8}"/>
              </a:ext>
            </a:extLst>
          </p:cNvPr>
          <p:cNvGraphicFramePr/>
          <p:nvPr>
            <p:extLst>
              <p:ext uri="{D42A27DB-BD31-4B8C-83A1-F6EECF244321}">
                <p14:modId xmlns:p14="http://schemas.microsoft.com/office/powerpoint/2010/main" val="4252198537"/>
              </p:ext>
            </p:extLst>
          </p:nvPr>
        </p:nvGraphicFramePr>
        <p:xfrm>
          <a:off x="483042" y="1584434"/>
          <a:ext cx="8195871" cy="31446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42774" y="220775"/>
            <a:ext cx="8493125" cy="3797935"/>
          </a:xfrm>
          <a:prstGeom prst="rect">
            <a:avLst/>
          </a:prstGeom>
        </p:spPr>
        <p:txBody>
          <a:bodyPr vert="horz" wrap="square" lIns="0" tIns="11430" rIns="0" bIns="0" rtlCol="0">
            <a:spAutoFit/>
          </a:bodyPr>
          <a:lstStyle/>
          <a:p>
            <a:pPr marL="12700" marR="37465">
              <a:lnSpc>
                <a:spcPct val="109400"/>
              </a:lnSpc>
              <a:spcBef>
                <a:spcPts val="90"/>
              </a:spcBef>
            </a:pPr>
            <a:r>
              <a:rPr sz="950" b="1" dirty="0">
                <a:solidFill>
                  <a:schemeClr val="tx1"/>
                </a:solidFill>
                <a:latin typeface="Calibri" panose="020F0502020204030204" pitchFamily="34" charset="0"/>
                <a:cs typeface="Calibri" panose="020F0502020204030204" pitchFamily="34" charset="0"/>
              </a:rPr>
              <a:t>Write</a:t>
            </a:r>
            <a:r>
              <a:rPr sz="950" b="1" spc="10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an</a:t>
            </a:r>
            <a:r>
              <a:rPr sz="950" b="1" spc="10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informative</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article</a:t>
            </a:r>
            <a:r>
              <a:rPr sz="950" b="1" spc="10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discussing</a:t>
            </a:r>
            <a:r>
              <a:rPr sz="950" b="1" spc="10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the</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role</a:t>
            </a:r>
            <a:r>
              <a:rPr sz="950" b="1" spc="10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of</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artificial</a:t>
            </a:r>
            <a:r>
              <a:rPr sz="950" b="1" spc="10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intelligence</a:t>
            </a:r>
            <a:r>
              <a:rPr sz="950" b="1" spc="10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in</a:t>
            </a:r>
            <a:r>
              <a:rPr sz="950" b="1" spc="10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revolutionizing</a:t>
            </a:r>
            <a:r>
              <a:rPr sz="950" b="1" spc="10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the</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automobile</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industry.</a:t>
            </a:r>
            <a:r>
              <a:rPr sz="950" b="1" spc="10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Cover</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specific</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domains</a:t>
            </a:r>
            <a:r>
              <a:rPr sz="950" b="1" spc="110" dirty="0">
                <a:solidFill>
                  <a:schemeClr val="tx1"/>
                </a:solidFill>
                <a:latin typeface="Calibri" panose="020F0502020204030204" pitchFamily="34" charset="0"/>
                <a:cs typeface="Calibri" panose="020F0502020204030204" pitchFamily="34" charset="0"/>
              </a:rPr>
              <a:t> </a:t>
            </a:r>
            <a:r>
              <a:rPr sz="950" b="1" spc="-20" dirty="0">
                <a:solidFill>
                  <a:schemeClr val="tx1"/>
                </a:solidFill>
                <a:latin typeface="Calibri" panose="020F0502020204030204" pitchFamily="34" charset="0"/>
                <a:cs typeface="Calibri" panose="020F0502020204030204" pitchFamily="34" charset="0"/>
              </a:rPr>
              <a:t>like </a:t>
            </a:r>
            <a:r>
              <a:rPr sz="950" b="1" dirty="0">
                <a:solidFill>
                  <a:schemeClr val="tx1"/>
                </a:solidFill>
                <a:latin typeface="Calibri" panose="020F0502020204030204" pitchFamily="34" charset="0"/>
                <a:cs typeface="Calibri" panose="020F0502020204030204" pitchFamily="34" charset="0"/>
              </a:rPr>
              <a:t>autonomous</a:t>
            </a:r>
            <a:r>
              <a:rPr sz="950" b="1" spc="114"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driving</a:t>
            </a:r>
            <a:r>
              <a:rPr sz="950" b="1" spc="114"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and</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real-time</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traffic</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analysis,</a:t>
            </a:r>
            <a:r>
              <a:rPr sz="950" b="1" spc="114"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while</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also</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examining</a:t>
            </a:r>
            <a:r>
              <a:rPr sz="950" b="1" spc="114"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potential</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challenges</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such</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as</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technical</a:t>
            </a:r>
            <a:r>
              <a:rPr sz="950" b="1" spc="114"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complexity</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and</a:t>
            </a:r>
            <a:r>
              <a:rPr sz="950" b="1" spc="110" dirty="0">
                <a:solidFill>
                  <a:schemeClr val="tx1"/>
                </a:solidFill>
                <a:latin typeface="Calibri" panose="020F0502020204030204" pitchFamily="34" charset="0"/>
                <a:cs typeface="Calibri" panose="020F0502020204030204" pitchFamily="34" charset="0"/>
              </a:rPr>
              <a:t> </a:t>
            </a:r>
            <a:r>
              <a:rPr sz="950" b="1" spc="-10" dirty="0">
                <a:solidFill>
                  <a:schemeClr val="tx1"/>
                </a:solidFill>
                <a:latin typeface="Calibri" panose="020F0502020204030204" pitchFamily="34" charset="0"/>
                <a:cs typeface="Calibri" panose="020F0502020204030204" pitchFamily="34" charset="0"/>
              </a:rPr>
              <a:t>cybersecurity </a:t>
            </a:r>
            <a:r>
              <a:rPr sz="950" b="1" dirty="0">
                <a:solidFill>
                  <a:schemeClr val="tx1"/>
                </a:solidFill>
                <a:latin typeface="Calibri" panose="020F0502020204030204" pitchFamily="34" charset="0"/>
                <a:cs typeface="Calibri" panose="020F0502020204030204" pitchFamily="34" charset="0"/>
              </a:rPr>
              <a:t>concerns.</a:t>
            </a:r>
            <a:r>
              <a:rPr sz="950" b="1" spc="6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Address</a:t>
            </a:r>
            <a:r>
              <a:rPr sz="950" b="1" spc="13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key</a:t>
            </a:r>
            <a:r>
              <a:rPr sz="950" b="1" spc="12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aspects</a:t>
            </a:r>
            <a:r>
              <a:rPr sz="950" b="1" spc="12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such</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as</a:t>
            </a:r>
            <a:r>
              <a:rPr sz="950" b="1" spc="13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benefits,</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drawbacks,</a:t>
            </a:r>
            <a:r>
              <a:rPr sz="950" b="1" spc="114"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ethical</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considerations,</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and</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both</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positive</a:t>
            </a:r>
            <a:r>
              <a:rPr sz="950" b="1" spc="12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and</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negative</a:t>
            </a:r>
            <a:r>
              <a:rPr sz="950" b="1" spc="13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implications.</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The</a:t>
            </a:r>
            <a:r>
              <a:rPr sz="950" b="1" spc="125" dirty="0">
                <a:solidFill>
                  <a:schemeClr val="tx1"/>
                </a:solidFill>
                <a:latin typeface="Calibri" panose="020F0502020204030204" pitchFamily="34" charset="0"/>
                <a:cs typeface="Calibri" panose="020F0502020204030204" pitchFamily="34" charset="0"/>
              </a:rPr>
              <a:t> </a:t>
            </a:r>
            <a:r>
              <a:rPr sz="950" b="1" spc="-10" dirty="0">
                <a:solidFill>
                  <a:schemeClr val="tx1"/>
                </a:solidFill>
                <a:latin typeface="Calibri" panose="020F0502020204030204" pitchFamily="34" charset="0"/>
                <a:cs typeface="Calibri" panose="020F0502020204030204" pitchFamily="34" charset="0"/>
              </a:rPr>
              <a:t>initial </a:t>
            </a:r>
            <a:r>
              <a:rPr sz="950" b="1" dirty="0">
                <a:solidFill>
                  <a:schemeClr val="tx1"/>
                </a:solidFill>
                <a:latin typeface="Calibri" panose="020F0502020204030204" pitchFamily="34" charset="0"/>
                <a:cs typeface="Calibri" panose="020F0502020204030204" pitchFamily="34" charset="0"/>
              </a:rPr>
              <a:t>prompt</a:t>
            </a:r>
            <a:r>
              <a:rPr sz="950" b="1" spc="9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can</a:t>
            </a:r>
            <a:r>
              <a:rPr sz="950" b="1" spc="9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be</a:t>
            </a:r>
            <a:r>
              <a:rPr sz="950" b="1" spc="9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refined</a:t>
            </a:r>
            <a:r>
              <a:rPr sz="950" b="1" spc="9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as</a:t>
            </a:r>
            <a:r>
              <a:rPr sz="950" b="1" spc="9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follows.</a:t>
            </a:r>
            <a:r>
              <a:rPr sz="950" b="1" spc="8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Iterate</a:t>
            </a:r>
            <a:r>
              <a:rPr sz="950" b="1" spc="9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the</a:t>
            </a:r>
            <a:r>
              <a:rPr sz="950" b="1" spc="9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process.</a:t>
            </a:r>
            <a:r>
              <a:rPr sz="950" b="1" spc="9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The</a:t>
            </a:r>
            <a:r>
              <a:rPr sz="950" b="1" spc="9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last</a:t>
            </a:r>
            <a:r>
              <a:rPr sz="950" b="1" spc="9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three</a:t>
            </a:r>
            <a:r>
              <a:rPr sz="950" b="1" spc="9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steps</a:t>
            </a:r>
            <a:r>
              <a:rPr sz="950" b="1" spc="9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are</a:t>
            </a:r>
            <a:r>
              <a:rPr sz="950" b="1" spc="9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repeated</a:t>
            </a:r>
            <a:r>
              <a:rPr sz="950" b="1" spc="8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until</a:t>
            </a:r>
            <a:r>
              <a:rPr sz="950" b="1" spc="8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you're</a:t>
            </a:r>
            <a:r>
              <a:rPr sz="950" b="1" spc="9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satisfied</a:t>
            </a:r>
            <a:r>
              <a:rPr sz="950" b="1" spc="9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with</a:t>
            </a:r>
            <a:r>
              <a:rPr sz="950" b="1" spc="8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the</a:t>
            </a:r>
            <a:r>
              <a:rPr sz="950" b="1" spc="95" dirty="0">
                <a:solidFill>
                  <a:schemeClr val="tx1"/>
                </a:solidFill>
                <a:latin typeface="Calibri" panose="020F0502020204030204" pitchFamily="34" charset="0"/>
                <a:cs typeface="Calibri" panose="020F0502020204030204" pitchFamily="34" charset="0"/>
              </a:rPr>
              <a:t> </a:t>
            </a:r>
            <a:r>
              <a:rPr sz="950" b="1" spc="-10" dirty="0">
                <a:solidFill>
                  <a:schemeClr val="tx1"/>
                </a:solidFill>
                <a:latin typeface="Calibri" panose="020F0502020204030204" pitchFamily="34" charset="0"/>
                <a:cs typeface="Calibri" panose="020F0502020204030204" pitchFamily="34" charset="0"/>
              </a:rPr>
              <a:t>response.</a:t>
            </a:r>
            <a:endParaRPr sz="950" dirty="0">
              <a:solidFill>
                <a:schemeClr val="tx1"/>
              </a:solidFill>
              <a:latin typeface="Calibri" panose="020F0502020204030204" pitchFamily="34" charset="0"/>
              <a:cs typeface="Calibri" panose="020F0502020204030204" pitchFamily="34" charset="0"/>
            </a:endParaRPr>
          </a:p>
          <a:p>
            <a:pPr>
              <a:lnSpc>
                <a:spcPct val="100000"/>
              </a:lnSpc>
              <a:spcBef>
                <a:spcPts val="110"/>
              </a:spcBef>
            </a:pPr>
            <a:endParaRPr sz="950" dirty="0">
              <a:solidFill>
                <a:schemeClr val="tx1"/>
              </a:solidFill>
              <a:latin typeface="Calibri" panose="020F0502020204030204" pitchFamily="34" charset="0"/>
              <a:cs typeface="Calibri" panose="020F0502020204030204" pitchFamily="34" charset="0"/>
            </a:endParaRPr>
          </a:p>
          <a:p>
            <a:pPr marL="12700" marR="5080">
              <a:lnSpc>
                <a:spcPct val="109400"/>
              </a:lnSpc>
            </a:pPr>
            <a:r>
              <a:rPr sz="950" b="1" dirty="0">
                <a:solidFill>
                  <a:schemeClr val="tx1"/>
                </a:solidFill>
                <a:latin typeface="Calibri" panose="020F0502020204030204" pitchFamily="34" charset="0"/>
                <a:cs typeface="Calibri" panose="020F0502020204030204" pitchFamily="34" charset="0"/>
              </a:rPr>
              <a:t>Consequently,</a:t>
            </a:r>
            <a:r>
              <a:rPr sz="950" b="1" spc="9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following</a:t>
            </a:r>
            <a:r>
              <a:rPr sz="950" b="1" spc="9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several</a:t>
            </a:r>
            <a:r>
              <a:rPr sz="950" b="1" spc="9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cycles</a:t>
            </a:r>
            <a:r>
              <a:rPr sz="950" b="1" spc="10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of</a:t>
            </a:r>
            <a:r>
              <a:rPr sz="950" b="1" spc="9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refinement,</a:t>
            </a:r>
            <a:r>
              <a:rPr sz="950" b="1" spc="9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the</a:t>
            </a:r>
            <a:r>
              <a:rPr sz="950" b="1" spc="9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final</a:t>
            </a:r>
            <a:r>
              <a:rPr sz="950" b="1" spc="9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prompt</a:t>
            </a:r>
            <a:r>
              <a:rPr sz="950" b="1" spc="9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shall</a:t>
            </a:r>
            <a:r>
              <a:rPr sz="950" b="1" spc="9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take</a:t>
            </a:r>
            <a:r>
              <a:rPr sz="950" b="1" spc="10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this</a:t>
            </a:r>
            <a:r>
              <a:rPr sz="950" b="1" spc="10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form</a:t>
            </a:r>
            <a:r>
              <a:rPr sz="950" b="1" spc="9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t>
            </a:r>
            <a:r>
              <a:rPr sz="950" b="1" spc="10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Write</a:t>
            </a:r>
            <a:r>
              <a:rPr sz="950" b="1" spc="9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an</a:t>
            </a:r>
            <a:r>
              <a:rPr sz="950" b="1" spc="9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article</a:t>
            </a:r>
            <a:r>
              <a:rPr sz="950" b="1" spc="9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highlighting</a:t>
            </a:r>
            <a:r>
              <a:rPr sz="950" b="1" spc="9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how</a:t>
            </a:r>
            <a:r>
              <a:rPr sz="950" b="1" spc="95" dirty="0">
                <a:solidFill>
                  <a:schemeClr val="tx1"/>
                </a:solidFill>
                <a:latin typeface="Calibri" panose="020F0502020204030204" pitchFamily="34" charset="0"/>
                <a:cs typeface="Calibri" panose="020F0502020204030204" pitchFamily="34" charset="0"/>
              </a:rPr>
              <a:t> </a:t>
            </a:r>
            <a:r>
              <a:rPr sz="950" b="1" spc="-10" dirty="0">
                <a:solidFill>
                  <a:schemeClr val="tx1"/>
                </a:solidFill>
                <a:latin typeface="Calibri" panose="020F0502020204030204" pitchFamily="34" charset="0"/>
                <a:cs typeface="Calibri" panose="020F0502020204030204" pitchFamily="34" charset="0"/>
              </a:rPr>
              <a:t>artificial</a:t>
            </a:r>
            <a:r>
              <a:rPr sz="950" b="1" spc="50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intelligence</a:t>
            </a:r>
            <a:r>
              <a:rPr sz="950" b="1" spc="12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is</a:t>
            </a:r>
            <a:r>
              <a:rPr sz="950" b="1" spc="13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reshaping</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the</a:t>
            </a:r>
            <a:r>
              <a:rPr sz="950" b="1" spc="12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automobile</a:t>
            </a:r>
            <a:r>
              <a:rPr sz="950" b="1" spc="13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industry</a:t>
            </a:r>
            <a:r>
              <a:rPr sz="950" b="1" spc="13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focusing</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on</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the</a:t>
            </a:r>
            <a:r>
              <a:rPr sz="950" b="1" spc="13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positive</a:t>
            </a:r>
            <a:r>
              <a:rPr sz="950" b="1" spc="12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advancements,</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particularly</a:t>
            </a:r>
            <a:r>
              <a:rPr sz="950" b="1" spc="13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in</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autonomous</a:t>
            </a:r>
            <a:r>
              <a:rPr sz="950" b="1" spc="13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driving</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and</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real-</a:t>
            </a:r>
            <a:r>
              <a:rPr sz="950" b="1" spc="-20" dirty="0">
                <a:solidFill>
                  <a:schemeClr val="tx1"/>
                </a:solidFill>
                <a:latin typeface="Calibri" panose="020F0502020204030204" pitchFamily="34" charset="0"/>
                <a:cs typeface="Calibri" panose="020F0502020204030204" pitchFamily="34" charset="0"/>
              </a:rPr>
              <a:t>time </a:t>
            </a:r>
            <a:r>
              <a:rPr sz="950" b="1" dirty="0">
                <a:solidFill>
                  <a:schemeClr val="tx1"/>
                </a:solidFill>
                <a:latin typeface="Calibri" panose="020F0502020204030204" pitchFamily="34" charset="0"/>
                <a:cs typeface="Calibri" panose="020F0502020204030204" pitchFamily="34" charset="0"/>
              </a:rPr>
              <a:t>traffic</a:t>
            </a:r>
            <a:r>
              <a:rPr sz="950" b="1" spc="114"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analysis,</a:t>
            </a:r>
            <a:r>
              <a:rPr sz="950" b="1" spc="114"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while</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thoroughly</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exploring</a:t>
            </a:r>
            <a:r>
              <a:rPr sz="950" b="1" spc="114"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concerns</a:t>
            </a:r>
            <a:r>
              <a:rPr sz="950" b="1" spc="114"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related</a:t>
            </a:r>
            <a:r>
              <a:rPr sz="950" b="1" spc="114"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to</a:t>
            </a:r>
            <a:r>
              <a:rPr sz="950" b="1" spc="114"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intricate</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technical</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aspects</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such</a:t>
            </a:r>
            <a:r>
              <a:rPr sz="950" b="1" spc="114"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as</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decision-making</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algorithms</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and</a:t>
            </a:r>
            <a:r>
              <a:rPr sz="950" b="1" spc="114" dirty="0">
                <a:solidFill>
                  <a:schemeClr val="tx1"/>
                </a:solidFill>
                <a:latin typeface="Calibri" panose="020F0502020204030204" pitchFamily="34" charset="0"/>
                <a:cs typeface="Calibri" panose="020F0502020204030204" pitchFamily="34" charset="0"/>
              </a:rPr>
              <a:t> </a:t>
            </a:r>
            <a:r>
              <a:rPr sz="950" b="1" spc="-10" dirty="0">
                <a:solidFill>
                  <a:schemeClr val="tx1"/>
                </a:solidFill>
                <a:latin typeface="Calibri" panose="020F0502020204030204" pitchFamily="34" charset="0"/>
                <a:cs typeface="Calibri" panose="020F0502020204030204" pitchFamily="34" charset="0"/>
              </a:rPr>
              <a:t>potential </a:t>
            </a:r>
            <a:r>
              <a:rPr sz="950" b="1" dirty="0">
                <a:solidFill>
                  <a:schemeClr val="tx1"/>
                </a:solidFill>
                <a:latin typeface="Calibri" panose="020F0502020204030204" pitchFamily="34" charset="0"/>
                <a:cs typeface="Calibri" panose="020F0502020204030204" pitchFamily="34" charset="0"/>
              </a:rPr>
              <a:t>cybersecurity</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breaches.</a:t>
            </a:r>
            <a:r>
              <a:rPr sz="950" b="1" spc="10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Emphasize</a:t>
            </a:r>
            <a:r>
              <a:rPr sz="950" b="1" spc="114"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the</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implications</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these</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concerns</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may</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have</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on</a:t>
            </a:r>
            <a:r>
              <a:rPr sz="950" b="1" spc="10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vehicle</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safety.</a:t>
            </a:r>
            <a:r>
              <a:rPr sz="950" b="1" spc="10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Ensure</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that</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the</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analysis</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is</a:t>
            </a:r>
            <a:r>
              <a:rPr sz="950" b="1" spc="114"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thorough,</a:t>
            </a:r>
            <a:r>
              <a:rPr sz="950" b="1" spc="100" dirty="0">
                <a:solidFill>
                  <a:schemeClr val="tx1"/>
                </a:solidFill>
                <a:latin typeface="Calibri" panose="020F0502020204030204" pitchFamily="34" charset="0"/>
                <a:cs typeface="Calibri" panose="020F0502020204030204" pitchFamily="34" charset="0"/>
              </a:rPr>
              <a:t> </a:t>
            </a:r>
            <a:r>
              <a:rPr sz="950" b="1" spc="-10" dirty="0">
                <a:solidFill>
                  <a:schemeClr val="tx1"/>
                </a:solidFill>
                <a:latin typeface="Calibri" panose="020F0502020204030204" pitchFamily="34" charset="0"/>
                <a:cs typeface="Calibri" panose="020F0502020204030204" pitchFamily="34" charset="0"/>
              </a:rPr>
              <a:t>backed </a:t>
            </a:r>
            <a:r>
              <a:rPr sz="950" b="1" dirty="0">
                <a:solidFill>
                  <a:schemeClr val="tx1"/>
                </a:solidFill>
                <a:latin typeface="Calibri" panose="020F0502020204030204" pitchFamily="34" charset="0"/>
                <a:cs typeface="Calibri" panose="020F0502020204030204" pitchFamily="34" charset="0"/>
              </a:rPr>
              <a:t>with</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examples,</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and</a:t>
            </a:r>
            <a:r>
              <a:rPr sz="950" b="1" spc="11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encourages</a:t>
            </a:r>
            <a:r>
              <a:rPr sz="950" b="1" spc="12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critical</a:t>
            </a:r>
            <a:r>
              <a:rPr sz="950" b="1" spc="110" dirty="0">
                <a:solidFill>
                  <a:schemeClr val="tx1"/>
                </a:solidFill>
                <a:latin typeface="Calibri" panose="020F0502020204030204" pitchFamily="34" charset="0"/>
                <a:cs typeface="Calibri" panose="020F0502020204030204" pitchFamily="34" charset="0"/>
              </a:rPr>
              <a:t> </a:t>
            </a:r>
            <a:r>
              <a:rPr sz="950" b="1" spc="-10" dirty="0">
                <a:solidFill>
                  <a:schemeClr val="tx1"/>
                </a:solidFill>
                <a:latin typeface="Calibri" panose="020F0502020204030204" pitchFamily="34" charset="0"/>
                <a:cs typeface="Calibri" panose="020F0502020204030204" pitchFamily="34" charset="0"/>
              </a:rPr>
              <a:t>thinking.</a:t>
            </a:r>
            <a:endParaRPr sz="950" dirty="0">
              <a:solidFill>
                <a:schemeClr val="tx1"/>
              </a:solidFill>
              <a:latin typeface="Calibri" panose="020F0502020204030204" pitchFamily="34" charset="0"/>
              <a:cs typeface="Calibri" panose="020F0502020204030204" pitchFamily="34" charset="0"/>
            </a:endParaRPr>
          </a:p>
          <a:p>
            <a:pPr>
              <a:lnSpc>
                <a:spcPct val="100000"/>
              </a:lnSpc>
              <a:spcBef>
                <a:spcPts val="215"/>
              </a:spcBef>
            </a:pPr>
            <a:endParaRPr sz="950" dirty="0">
              <a:solidFill>
                <a:schemeClr val="tx1"/>
              </a:solidFill>
              <a:latin typeface="Calibri" panose="020F0502020204030204" pitchFamily="34" charset="0"/>
              <a:cs typeface="Calibri" panose="020F0502020204030204" pitchFamily="34" charset="0"/>
            </a:endParaRPr>
          </a:p>
          <a:p>
            <a:pPr marL="12700">
              <a:lnSpc>
                <a:spcPct val="100000"/>
              </a:lnSpc>
            </a:pPr>
            <a:r>
              <a:rPr sz="950" dirty="0">
                <a:solidFill>
                  <a:schemeClr val="tx1"/>
                </a:solidFill>
                <a:latin typeface="Calibri" panose="020F0502020204030204" pitchFamily="34" charset="0"/>
                <a:cs typeface="Calibri" panose="020F0502020204030204" pitchFamily="34" charset="0"/>
              </a:rPr>
              <a:t>Now</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let's</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summarize</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the</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importance</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and</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relevance</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of</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prompt</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engineering</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and</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generative</a:t>
            </a:r>
            <a:r>
              <a:rPr sz="950" spc="2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AI</a:t>
            </a:r>
            <a:r>
              <a:rPr sz="950" spc="90" dirty="0">
                <a:solidFill>
                  <a:schemeClr val="tx1"/>
                </a:solidFill>
                <a:latin typeface="Calibri" panose="020F0502020204030204" pitchFamily="34" charset="0"/>
                <a:cs typeface="Calibri" panose="020F0502020204030204" pitchFamily="34" charset="0"/>
              </a:rPr>
              <a:t> </a:t>
            </a:r>
            <a:r>
              <a:rPr sz="950" spc="-10" dirty="0">
                <a:solidFill>
                  <a:schemeClr val="tx1"/>
                </a:solidFill>
                <a:latin typeface="Calibri" panose="020F0502020204030204" pitchFamily="34" charset="0"/>
                <a:cs typeface="Calibri" panose="020F0502020204030204" pitchFamily="34" charset="0"/>
              </a:rPr>
              <a:t>models.</a:t>
            </a:r>
            <a:endParaRPr sz="950" dirty="0">
              <a:solidFill>
                <a:schemeClr val="tx1"/>
              </a:solidFill>
              <a:latin typeface="Calibri" panose="020F0502020204030204" pitchFamily="34" charset="0"/>
              <a:cs typeface="Calibri" panose="020F0502020204030204" pitchFamily="34" charset="0"/>
            </a:endParaRPr>
          </a:p>
          <a:p>
            <a:pPr>
              <a:lnSpc>
                <a:spcPct val="100000"/>
              </a:lnSpc>
              <a:spcBef>
                <a:spcPts val="105"/>
              </a:spcBef>
            </a:pPr>
            <a:endParaRPr sz="950" dirty="0">
              <a:solidFill>
                <a:schemeClr val="tx1"/>
              </a:solidFill>
              <a:latin typeface="Calibri" panose="020F0502020204030204" pitchFamily="34" charset="0"/>
              <a:cs typeface="Calibri" panose="020F0502020204030204" pitchFamily="34" charset="0"/>
            </a:endParaRPr>
          </a:p>
          <a:p>
            <a:pPr marL="12700" marR="15240">
              <a:lnSpc>
                <a:spcPct val="109400"/>
              </a:lnSpc>
            </a:pPr>
            <a:r>
              <a:rPr sz="950" b="1" dirty="0">
                <a:solidFill>
                  <a:schemeClr val="tx1"/>
                </a:solidFill>
                <a:latin typeface="Calibri" panose="020F0502020204030204" pitchFamily="34" charset="0"/>
                <a:cs typeface="Calibri" panose="020F0502020204030204" pitchFamily="34" charset="0"/>
              </a:rPr>
              <a:t>Optimizing</a:t>
            </a:r>
            <a:r>
              <a:rPr sz="950" b="1" spc="9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model</a:t>
            </a:r>
            <a:r>
              <a:rPr sz="950" b="1" spc="90"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efficiency</a:t>
            </a:r>
            <a:r>
              <a:rPr sz="950" b="1" spc="95" dirty="0">
                <a:solidFill>
                  <a:schemeClr val="tx1"/>
                </a:solidFill>
                <a:latin typeface="Calibri" panose="020F0502020204030204" pitchFamily="34" charset="0"/>
                <a:cs typeface="Calibri" panose="020F0502020204030204" pitchFamily="34" charset="0"/>
              </a:rPr>
              <a:t> </a:t>
            </a:r>
            <a:r>
              <a:rPr sz="950" b="1" dirty="0">
                <a:solidFill>
                  <a:schemeClr val="tx1"/>
                </a:solidFill>
                <a:latin typeface="Calibri" panose="020F0502020204030204" pitchFamily="34" charset="0"/>
                <a:cs typeface="Calibri" panose="020F0502020204030204" pitchFamily="34" charset="0"/>
              </a:rPr>
              <a:t>:</a:t>
            </a:r>
            <a:r>
              <a:rPr sz="950" b="1"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Prompt</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engineering</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helps</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design</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intelligent</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prompts</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that</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allow</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the</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users</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to</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harness</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the</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full</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capabilities</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of</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these</a:t>
            </a:r>
            <a:r>
              <a:rPr sz="950" spc="95" dirty="0">
                <a:solidFill>
                  <a:schemeClr val="tx1"/>
                </a:solidFill>
                <a:latin typeface="Calibri" panose="020F0502020204030204" pitchFamily="34" charset="0"/>
                <a:cs typeface="Calibri" panose="020F0502020204030204" pitchFamily="34" charset="0"/>
              </a:rPr>
              <a:t> </a:t>
            </a:r>
            <a:r>
              <a:rPr sz="950" spc="-10" dirty="0">
                <a:solidFill>
                  <a:schemeClr val="tx1"/>
                </a:solidFill>
                <a:latin typeface="Calibri" panose="020F0502020204030204" pitchFamily="34" charset="0"/>
                <a:cs typeface="Calibri" panose="020F0502020204030204" pitchFamily="34" charset="0"/>
              </a:rPr>
              <a:t>models </a:t>
            </a:r>
            <a:r>
              <a:rPr sz="950" dirty="0">
                <a:solidFill>
                  <a:schemeClr val="tx1"/>
                </a:solidFill>
                <a:latin typeface="Calibri" panose="020F0502020204030204" pitchFamily="34" charset="0"/>
                <a:cs typeface="Calibri" panose="020F0502020204030204" pitchFamily="34" charset="0"/>
              </a:rPr>
              <a:t>without</a:t>
            </a:r>
            <a:r>
              <a:rPr sz="950" spc="11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requiring</a:t>
            </a:r>
            <a:r>
              <a:rPr sz="950" spc="114"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extensive</a:t>
            </a:r>
            <a:r>
              <a:rPr sz="950" spc="12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retraining.</a:t>
            </a:r>
            <a:r>
              <a:rPr sz="950" spc="11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Boosting</a:t>
            </a:r>
            <a:r>
              <a:rPr sz="950" spc="114"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performance</a:t>
            </a:r>
            <a:r>
              <a:rPr sz="950" spc="12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for</a:t>
            </a:r>
            <a:r>
              <a:rPr sz="950" spc="114"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specific</a:t>
            </a:r>
            <a:r>
              <a:rPr sz="950" spc="12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tasks.</a:t>
            </a:r>
            <a:r>
              <a:rPr sz="950" spc="11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Prompt</a:t>
            </a:r>
            <a:r>
              <a:rPr sz="950" spc="11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engineering</a:t>
            </a:r>
            <a:r>
              <a:rPr sz="950" spc="12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empowers</a:t>
            </a:r>
            <a:r>
              <a:rPr sz="950" spc="114"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generative</a:t>
            </a:r>
            <a:r>
              <a:rPr sz="950" spc="4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AI</a:t>
            </a:r>
            <a:r>
              <a:rPr sz="950" spc="11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models</a:t>
            </a:r>
            <a:r>
              <a:rPr sz="950" spc="12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to</a:t>
            </a:r>
            <a:r>
              <a:rPr sz="950" spc="114"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deliver</a:t>
            </a:r>
            <a:r>
              <a:rPr sz="950" spc="120" dirty="0">
                <a:solidFill>
                  <a:schemeClr val="tx1"/>
                </a:solidFill>
                <a:latin typeface="Calibri" panose="020F0502020204030204" pitchFamily="34" charset="0"/>
                <a:cs typeface="Calibri" panose="020F0502020204030204" pitchFamily="34" charset="0"/>
              </a:rPr>
              <a:t> </a:t>
            </a:r>
            <a:r>
              <a:rPr sz="950" spc="-10" dirty="0">
                <a:solidFill>
                  <a:schemeClr val="tx1"/>
                </a:solidFill>
                <a:latin typeface="Calibri" panose="020F0502020204030204" pitchFamily="34" charset="0"/>
                <a:cs typeface="Calibri" panose="020F0502020204030204" pitchFamily="34" charset="0"/>
              </a:rPr>
              <a:t>responses </a:t>
            </a:r>
            <a:r>
              <a:rPr sz="950" dirty="0">
                <a:solidFill>
                  <a:schemeClr val="tx1"/>
                </a:solidFill>
                <a:latin typeface="Calibri" panose="020F0502020204030204" pitchFamily="34" charset="0"/>
                <a:cs typeface="Calibri" panose="020F0502020204030204" pitchFamily="34" charset="0"/>
              </a:rPr>
              <a:t>that</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are</a:t>
            </a:r>
            <a:r>
              <a:rPr sz="950" spc="10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nuanced</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and</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have</a:t>
            </a:r>
            <a:r>
              <a:rPr sz="950" spc="10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a</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context,</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rendering</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them</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more</a:t>
            </a:r>
            <a:r>
              <a:rPr sz="950" spc="10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effective</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for</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specific</a:t>
            </a:r>
            <a:r>
              <a:rPr sz="950" spc="10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tasks.</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Understanding</a:t>
            </a:r>
            <a:r>
              <a:rPr sz="950" spc="10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model</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constraints.</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Refining</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prompts</a:t>
            </a:r>
            <a:r>
              <a:rPr sz="950" spc="10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through</a:t>
            </a:r>
            <a:r>
              <a:rPr sz="950" spc="100" dirty="0">
                <a:solidFill>
                  <a:schemeClr val="tx1"/>
                </a:solidFill>
                <a:latin typeface="Calibri" panose="020F0502020204030204" pitchFamily="34" charset="0"/>
                <a:cs typeface="Calibri" panose="020F0502020204030204" pitchFamily="34" charset="0"/>
              </a:rPr>
              <a:t> </a:t>
            </a:r>
            <a:r>
              <a:rPr sz="950" spc="-20" dirty="0">
                <a:solidFill>
                  <a:schemeClr val="tx1"/>
                </a:solidFill>
                <a:latin typeface="Calibri" panose="020F0502020204030204" pitchFamily="34" charset="0"/>
                <a:cs typeface="Calibri" panose="020F0502020204030204" pitchFamily="34" charset="0"/>
              </a:rPr>
              <a:t>each </a:t>
            </a:r>
            <a:r>
              <a:rPr sz="950" dirty="0">
                <a:solidFill>
                  <a:schemeClr val="tx1"/>
                </a:solidFill>
                <a:latin typeface="Calibri" panose="020F0502020204030204" pitchFamily="34" charset="0"/>
                <a:cs typeface="Calibri" panose="020F0502020204030204" pitchFamily="34" charset="0"/>
              </a:rPr>
              <a:t>iteration</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and</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studying</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the</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corresponding</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responses</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of</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the</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model</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can</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help</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us</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understand</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its</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strengths</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and</a:t>
            </a:r>
            <a:r>
              <a:rPr sz="950" spc="95" dirty="0">
                <a:solidFill>
                  <a:schemeClr val="tx1"/>
                </a:solidFill>
                <a:latin typeface="Calibri" panose="020F0502020204030204" pitchFamily="34" charset="0"/>
                <a:cs typeface="Calibri" panose="020F0502020204030204" pitchFamily="34" charset="0"/>
              </a:rPr>
              <a:t> </a:t>
            </a:r>
            <a:r>
              <a:rPr sz="950" spc="-10" dirty="0">
                <a:solidFill>
                  <a:schemeClr val="tx1"/>
                </a:solidFill>
                <a:latin typeface="Calibri" panose="020F0502020204030204" pitchFamily="34" charset="0"/>
                <a:cs typeface="Calibri" panose="020F0502020204030204" pitchFamily="34" charset="0"/>
              </a:rPr>
              <a:t>weaknesses.</a:t>
            </a:r>
            <a:endParaRPr sz="950" dirty="0">
              <a:solidFill>
                <a:schemeClr val="tx1"/>
              </a:solidFill>
              <a:latin typeface="Calibri" panose="020F0502020204030204" pitchFamily="34" charset="0"/>
              <a:cs typeface="Calibri" panose="020F0502020204030204" pitchFamily="34" charset="0"/>
            </a:endParaRPr>
          </a:p>
          <a:p>
            <a:pPr>
              <a:lnSpc>
                <a:spcPct val="100000"/>
              </a:lnSpc>
              <a:spcBef>
                <a:spcPts val="110"/>
              </a:spcBef>
            </a:pPr>
            <a:endParaRPr sz="950" dirty="0">
              <a:solidFill>
                <a:schemeClr val="tx1"/>
              </a:solidFill>
              <a:latin typeface="Calibri" panose="020F0502020204030204" pitchFamily="34" charset="0"/>
              <a:cs typeface="Calibri" panose="020F0502020204030204" pitchFamily="34" charset="0"/>
            </a:endParaRPr>
          </a:p>
          <a:p>
            <a:pPr marL="12700" marR="164465">
              <a:lnSpc>
                <a:spcPct val="109400"/>
              </a:lnSpc>
            </a:pPr>
            <a:r>
              <a:rPr sz="950" dirty="0">
                <a:solidFill>
                  <a:schemeClr val="tx1"/>
                </a:solidFill>
                <a:latin typeface="Calibri" panose="020F0502020204030204" pitchFamily="34" charset="0"/>
                <a:cs typeface="Calibri" panose="020F0502020204030204" pitchFamily="34" charset="0"/>
              </a:rPr>
              <a:t>This</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knowledge</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can</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further</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guide</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feature</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enhancement</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or</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complete</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development</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of</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the</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model</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in</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the</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future.</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Enhancing</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model</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security.</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Skilled</a:t>
            </a:r>
            <a:r>
              <a:rPr sz="950" spc="95" dirty="0">
                <a:solidFill>
                  <a:schemeClr val="tx1"/>
                </a:solidFill>
                <a:latin typeface="Calibri" panose="020F0502020204030204" pitchFamily="34" charset="0"/>
                <a:cs typeface="Calibri" panose="020F0502020204030204" pitchFamily="34" charset="0"/>
              </a:rPr>
              <a:t> </a:t>
            </a:r>
            <a:r>
              <a:rPr sz="950" spc="-10" dirty="0">
                <a:solidFill>
                  <a:schemeClr val="tx1"/>
                </a:solidFill>
                <a:latin typeface="Calibri" panose="020F0502020204030204" pitchFamily="34" charset="0"/>
                <a:cs typeface="Calibri" panose="020F0502020204030204" pitchFamily="34" charset="0"/>
              </a:rPr>
              <a:t>prompt </a:t>
            </a:r>
            <a:r>
              <a:rPr sz="950" dirty="0">
                <a:solidFill>
                  <a:schemeClr val="tx1"/>
                </a:solidFill>
                <a:latin typeface="Calibri" panose="020F0502020204030204" pitchFamily="34" charset="0"/>
                <a:cs typeface="Calibri" panose="020F0502020204030204" pitchFamily="34" charset="0"/>
              </a:rPr>
              <a:t>engineering</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can</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prevent</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issues</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of</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harmful</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content</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generation</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due</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to</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poorly</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designed</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prompts,</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thereby</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enhancing</a:t>
            </a:r>
            <a:r>
              <a:rPr sz="950" spc="9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safe</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utilization</a:t>
            </a:r>
            <a:r>
              <a:rPr sz="950" spc="10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of</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the</a:t>
            </a:r>
            <a:r>
              <a:rPr sz="950" spc="95" dirty="0">
                <a:solidFill>
                  <a:schemeClr val="tx1"/>
                </a:solidFill>
                <a:latin typeface="Calibri" panose="020F0502020204030204" pitchFamily="34" charset="0"/>
                <a:cs typeface="Calibri" panose="020F0502020204030204" pitchFamily="34" charset="0"/>
              </a:rPr>
              <a:t> </a:t>
            </a:r>
            <a:r>
              <a:rPr sz="950" spc="-10" dirty="0">
                <a:solidFill>
                  <a:schemeClr val="tx1"/>
                </a:solidFill>
                <a:latin typeface="Calibri" panose="020F0502020204030204" pitchFamily="34" charset="0"/>
                <a:cs typeface="Calibri" panose="020F0502020204030204" pitchFamily="34" charset="0"/>
              </a:rPr>
              <a:t>model.</a:t>
            </a:r>
            <a:endParaRPr sz="950" dirty="0">
              <a:solidFill>
                <a:schemeClr val="tx1"/>
              </a:solidFill>
              <a:latin typeface="Calibri" panose="020F0502020204030204" pitchFamily="34" charset="0"/>
              <a:cs typeface="Calibri" panose="020F0502020204030204" pitchFamily="34" charset="0"/>
            </a:endParaRPr>
          </a:p>
          <a:p>
            <a:pPr>
              <a:lnSpc>
                <a:spcPct val="100000"/>
              </a:lnSpc>
              <a:spcBef>
                <a:spcPts val="105"/>
              </a:spcBef>
            </a:pPr>
            <a:endParaRPr sz="950" dirty="0">
              <a:solidFill>
                <a:schemeClr val="tx1"/>
              </a:solidFill>
              <a:latin typeface="Calibri" panose="020F0502020204030204" pitchFamily="34" charset="0"/>
              <a:cs typeface="Calibri" panose="020F0502020204030204" pitchFamily="34" charset="0"/>
            </a:endParaRPr>
          </a:p>
          <a:p>
            <a:pPr marL="12700" marR="34290">
              <a:lnSpc>
                <a:spcPct val="109400"/>
              </a:lnSpc>
            </a:pPr>
            <a:r>
              <a:rPr sz="950" dirty="0">
                <a:solidFill>
                  <a:schemeClr val="tx1"/>
                </a:solidFill>
                <a:latin typeface="Calibri" panose="020F0502020204030204" pitchFamily="34" charset="0"/>
                <a:cs typeface="Calibri" panose="020F0502020204030204" pitchFamily="34" charset="0"/>
              </a:rPr>
              <a:t>You</a:t>
            </a:r>
            <a:r>
              <a:rPr sz="950" spc="8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learned</a:t>
            </a:r>
            <a:r>
              <a:rPr sz="950" spc="8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that</a:t>
            </a:r>
            <a:r>
              <a:rPr sz="950" spc="8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prompt</a:t>
            </a:r>
            <a:r>
              <a:rPr sz="950" spc="8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engineering</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is</a:t>
            </a:r>
            <a:r>
              <a:rPr sz="950" spc="8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the</a:t>
            </a:r>
            <a:r>
              <a:rPr sz="950" spc="8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process</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of</a:t>
            </a:r>
            <a:r>
              <a:rPr sz="950" spc="8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designing</a:t>
            </a:r>
            <a:r>
              <a:rPr sz="950" spc="8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effective</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prompts</a:t>
            </a:r>
            <a:r>
              <a:rPr sz="950" spc="8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to</a:t>
            </a:r>
            <a:r>
              <a:rPr sz="950" spc="8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leverage</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the</a:t>
            </a:r>
            <a:r>
              <a:rPr sz="950" spc="8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full</a:t>
            </a:r>
            <a:r>
              <a:rPr sz="950" spc="8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capabilities</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of</a:t>
            </a:r>
            <a:r>
              <a:rPr sz="950" spc="8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generative</a:t>
            </a:r>
            <a:r>
              <a:rPr sz="950" spc="1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AI</a:t>
            </a:r>
            <a:r>
              <a:rPr sz="950" spc="8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models</a:t>
            </a:r>
            <a:r>
              <a:rPr sz="950" spc="9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and</a:t>
            </a:r>
            <a:r>
              <a:rPr sz="950" spc="85" dirty="0">
                <a:solidFill>
                  <a:schemeClr val="tx1"/>
                </a:solidFill>
                <a:latin typeface="Calibri" panose="020F0502020204030204" pitchFamily="34" charset="0"/>
                <a:cs typeface="Calibri" panose="020F0502020204030204" pitchFamily="34" charset="0"/>
              </a:rPr>
              <a:t> </a:t>
            </a:r>
            <a:r>
              <a:rPr sz="950" spc="-10" dirty="0">
                <a:solidFill>
                  <a:schemeClr val="tx1"/>
                </a:solidFill>
                <a:latin typeface="Calibri" panose="020F0502020204030204" pitchFamily="34" charset="0"/>
                <a:cs typeface="Calibri" panose="020F0502020204030204" pitchFamily="34" charset="0"/>
              </a:rPr>
              <a:t>producing </a:t>
            </a:r>
            <a:r>
              <a:rPr sz="950" dirty="0">
                <a:solidFill>
                  <a:schemeClr val="tx1"/>
                </a:solidFill>
                <a:latin typeface="Calibri" panose="020F0502020204030204" pitchFamily="34" charset="0"/>
                <a:cs typeface="Calibri" panose="020F0502020204030204" pitchFamily="34" charset="0"/>
              </a:rPr>
              <a:t>optimal</a:t>
            </a:r>
            <a:r>
              <a:rPr sz="950" spc="8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responses.</a:t>
            </a:r>
            <a:r>
              <a:rPr sz="950" spc="5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You</a:t>
            </a:r>
            <a:r>
              <a:rPr sz="950" spc="8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also</a:t>
            </a:r>
            <a:r>
              <a:rPr sz="950" spc="8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learned</a:t>
            </a:r>
            <a:r>
              <a:rPr sz="950" spc="8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the</a:t>
            </a:r>
            <a:r>
              <a:rPr sz="950" spc="8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process</a:t>
            </a:r>
            <a:r>
              <a:rPr sz="950" spc="8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of</a:t>
            </a:r>
            <a:r>
              <a:rPr sz="950" spc="7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refining</a:t>
            </a:r>
            <a:r>
              <a:rPr sz="950" spc="8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a</a:t>
            </a:r>
            <a:r>
              <a:rPr sz="950" spc="8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prompt</a:t>
            </a:r>
            <a:r>
              <a:rPr sz="950" spc="7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via</a:t>
            </a:r>
            <a:r>
              <a:rPr sz="950" spc="8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prompt</a:t>
            </a:r>
            <a:r>
              <a:rPr sz="950" spc="7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engineering.</a:t>
            </a:r>
            <a:r>
              <a:rPr sz="950" spc="1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At</a:t>
            </a:r>
            <a:r>
              <a:rPr sz="950" spc="7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last,</a:t>
            </a:r>
            <a:r>
              <a:rPr sz="950" spc="7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you</a:t>
            </a:r>
            <a:r>
              <a:rPr sz="950" spc="8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learned</a:t>
            </a:r>
            <a:r>
              <a:rPr sz="950" spc="8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the</a:t>
            </a:r>
            <a:r>
              <a:rPr sz="950" spc="8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importance</a:t>
            </a:r>
            <a:r>
              <a:rPr sz="950" spc="8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of</a:t>
            </a:r>
            <a:r>
              <a:rPr sz="950" spc="7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prompt</a:t>
            </a:r>
            <a:r>
              <a:rPr sz="950" spc="75" dirty="0">
                <a:solidFill>
                  <a:schemeClr val="tx1"/>
                </a:solidFill>
                <a:latin typeface="Calibri" panose="020F0502020204030204" pitchFamily="34" charset="0"/>
                <a:cs typeface="Calibri" panose="020F0502020204030204" pitchFamily="34" charset="0"/>
              </a:rPr>
              <a:t> </a:t>
            </a:r>
            <a:r>
              <a:rPr sz="950" spc="-10" dirty="0">
                <a:solidFill>
                  <a:schemeClr val="tx1"/>
                </a:solidFill>
                <a:latin typeface="Calibri" panose="020F0502020204030204" pitchFamily="34" charset="0"/>
                <a:cs typeface="Calibri" panose="020F0502020204030204" pitchFamily="34" charset="0"/>
              </a:rPr>
              <a:t>engineering </a:t>
            </a:r>
            <a:r>
              <a:rPr sz="950" dirty="0">
                <a:solidFill>
                  <a:schemeClr val="tx1"/>
                </a:solidFill>
                <a:latin typeface="Calibri" panose="020F0502020204030204" pitchFamily="34" charset="0"/>
                <a:cs typeface="Calibri" panose="020F0502020204030204" pitchFamily="34" charset="0"/>
              </a:rPr>
              <a:t>and</a:t>
            </a:r>
            <a:r>
              <a:rPr sz="950" spc="11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optimizing</a:t>
            </a:r>
            <a:r>
              <a:rPr sz="950" spc="114"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model</a:t>
            </a:r>
            <a:r>
              <a:rPr sz="950" spc="11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efficiency,</a:t>
            </a:r>
            <a:r>
              <a:rPr sz="950" spc="11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boosting</a:t>
            </a:r>
            <a:r>
              <a:rPr sz="950" spc="11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performance,</a:t>
            </a:r>
            <a:r>
              <a:rPr sz="950" spc="11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understanding</a:t>
            </a:r>
            <a:r>
              <a:rPr sz="950" spc="11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model</a:t>
            </a:r>
            <a:r>
              <a:rPr sz="950" spc="114"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constraints,</a:t>
            </a:r>
            <a:r>
              <a:rPr sz="950" spc="105"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and</a:t>
            </a:r>
            <a:r>
              <a:rPr sz="950" spc="114"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enhancing</a:t>
            </a:r>
            <a:r>
              <a:rPr sz="950" spc="110" dirty="0">
                <a:solidFill>
                  <a:schemeClr val="tx1"/>
                </a:solidFill>
                <a:latin typeface="Calibri" panose="020F0502020204030204" pitchFamily="34" charset="0"/>
                <a:cs typeface="Calibri" panose="020F0502020204030204" pitchFamily="34" charset="0"/>
              </a:rPr>
              <a:t> </a:t>
            </a:r>
            <a:r>
              <a:rPr sz="950" dirty="0">
                <a:solidFill>
                  <a:schemeClr val="tx1"/>
                </a:solidFill>
                <a:latin typeface="Calibri" panose="020F0502020204030204" pitchFamily="34" charset="0"/>
                <a:cs typeface="Calibri" panose="020F0502020204030204" pitchFamily="34" charset="0"/>
              </a:rPr>
              <a:t>its</a:t>
            </a:r>
            <a:r>
              <a:rPr sz="950" spc="114" dirty="0">
                <a:solidFill>
                  <a:schemeClr val="tx1"/>
                </a:solidFill>
                <a:latin typeface="Calibri" panose="020F0502020204030204" pitchFamily="34" charset="0"/>
                <a:cs typeface="Calibri" panose="020F0502020204030204" pitchFamily="34" charset="0"/>
              </a:rPr>
              <a:t> </a:t>
            </a:r>
            <a:r>
              <a:rPr sz="950" spc="-10" dirty="0">
                <a:solidFill>
                  <a:schemeClr val="tx1"/>
                </a:solidFill>
                <a:latin typeface="Calibri" panose="020F0502020204030204" pitchFamily="34" charset="0"/>
                <a:cs typeface="Calibri" panose="020F0502020204030204" pitchFamily="34" charset="0"/>
              </a:rPr>
              <a:t>security.</a:t>
            </a:r>
            <a:endParaRPr sz="950" dirty="0">
              <a:solidFill>
                <a:schemeClr val="tx1"/>
              </a:solidFill>
              <a:latin typeface="Calibri" panose="020F0502020204030204" pitchFamily="34" charset="0"/>
              <a:cs typeface="Calibri" panose="020F050202020403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95" dirty="0"/>
              <a:t>To</a:t>
            </a:r>
            <a:r>
              <a:rPr spc="-10" dirty="0"/>
              <a:t> </a:t>
            </a:r>
            <a:r>
              <a:rPr dirty="0"/>
              <a:t>solve</a:t>
            </a:r>
            <a:r>
              <a:rPr spc="-10" dirty="0"/>
              <a:t> </a:t>
            </a:r>
            <a:r>
              <a:rPr dirty="0"/>
              <a:t>Prompt</a:t>
            </a:r>
            <a:r>
              <a:rPr spc="-10" dirty="0"/>
              <a:t> </a:t>
            </a:r>
            <a:r>
              <a:rPr dirty="0"/>
              <a:t>Engineering</a:t>
            </a:r>
            <a:r>
              <a:rPr spc="-10" dirty="0"/>
              <a:t> Problems</a:t>
            </a:r>
          </a:p>
        </p:txBody>
      </p:sp>
      <p:sp>
        <p:nvSpPr>
          <p:cNvPr id="3" name="object 3"/>
          <p:cNvSpPr txBox="1">
            <a:spLocks noGrp="1"/>
          </p:cNvSpPr>
          <p:nvPr>
            <p:ph type="body" idx="1"/>
          </p:nvPr>
        </p:nvSpPr>
        <p:spPr>
          <a:xfrm>
            <a:off x="384724" y="1205383"/>
            <a:ext cx="8185784" cy="3573350"/>
          </a:xfrm>
          <a:prstGeom prst="rect">
            <a:avLst/>
          </a:prstGeom>
        </p:spPr>
        <p:txBody>
          <a:bodyPr vert="horz" wrap="square" lIns="0" tIns="33019" rIns="0" bIns="0" rtlCol="0">
            <a:spAutoFit/>
          </a:bodyPr>
          <a:lstStyle/>
          <a:p>
            <a:pPr marL="298450" marR="5080" indent="-285750">
              <a:lnSpc>
                <a:spcPts val="2050"/>
              </a:lnSpc>
              <a:spcBef>
                <a:spcPts val="259"/>
              </a:spcBef>
              <a:buFont typeface="Arial" panose="020B0604020202020204" pitchFamily="34" charset="0"/>
              <a:buChar char="•"/>
            </a:pPr>
            <a:r>
              <a:rPr dirty="0">
                <a:solidFill>
                  <a:schemeClr val="tx1"/>
                </a:solidFill>
              </a:rPr>
              <a:t>Identify</a:t>
            </a:r>
            <a:r>
              <a:rPr spc="-25" dirty="0">
                <a:solidFill>
                  <a:schemeClr val="tx1"/>
                </a:solidFill>
              </a:rPr>
              <a:t> </a:t>
            </a:r>
            <a:r>
              <a:rPr dirty="0">
                <a:solidFill>
                  <a:schemeClr val="tx1"/>
                </a:solidFill>
              </a:rPr>
              <a:t>key</a:t>
            </a:r>
            <a:r>
              <a:rPr spc="-10" dirty="0">
                <a:solidFill>
                  <a:schemeClr val="tx1"/>
                </a:solidFill>
              </a:rPr>
              <a:t> </a:t>
            </a:r>
            <a:r>
              <a:rPr dirty="0">
                <a:solidFill>
                  <a:schemeClr val="tx1"/>
                </a:solidFill>
              </a:rPr>
              <a:t>components</a:t>
            </a:r>
            <a:r>
              <a:rPr spc="-15" dirty="0">
                <a:solidFill>
                  <a:schemeClr val="tx1"/>
                </a:solidFill>
              </a:rPr>
              <a:t> </a:t>
            </a:r>
            <a:r>
              <a:rPr dirty="0">
                <a:solidFill>
                  <a:schemeClr val="tx1"/>
                </a:solidFill>
              </a:rPr>
              <a:t>of</a:t>
            </a:r>
            <a:r>
              <a:rPr spc="-10" dirty="0">
                <a:solidFill>
                  <a:schemeClr val="tx1"/>
                </a:solidFill>
              </a:rPr>
              <a:t> </a:t>
            </a:r>
            <a:r>
              <a:rPr dirty="0">
                <a:solidFill>
                  <a:schemeClr val="tx1"/>
                </a:solidFill>
              </a:rPr>
              <a:t>the</a:t>
            </a:r>
            <a:r>
              <a:rPr spc="-10" dirty="0">
                <a:solidFill>
                  <a:schemeClr val="tx1"/>
                </a:solidFill>
              </a:rPr>
              <a:t> Generative</a:t>
            </a:r>
            <a:r>
              <a:rPr spc="-114" dirty="0">
                <a:solidFill>
                  <a:schemeClr val="tx1"/>
                </a:solidFill>
              </a:rPr>
              <a:t> </a:t>
            </a:r>
            <a:r>
              <a:rPr dirty="0">
                <a:solidFill>
                  <a:schemeClr val="tx1"/>
                </a:solidFill>
              </a:rPr>
              <a:t>AI</a:t>
            </a:r>
            <a:r>
              <a:rPr spc="-10" dirty="0">
                <a:solidFill>
                  <a:schemeClr val="tx1"/>
                </a:solidFill>
              </a:rPr>
              <a:t> </a:t>
            </a:r>
            <a:r>
              <a:rPr dirty="0">
                <a:solidFill>
                  <a:schemeClr val="tx1"/>
                </a:solidFill>
              </a:rPr>
              <a:t>lab</a:t>
            </a:r>
            <a:r>
              <a:rPr spc="-10" dirty="0">
                <a:solidFill>
                  <a:schemeClr val="tx1"/>
                </a:solidFill>
              </a:rPr>
              <a:t> </a:t>
            </a:r>
            <a:r>
              <a:rPr dirty="0">
                <a:solidFill>
                  <a:schemeClr val="tx1"/>
                </a:solidFill>
              </a:rPr>
              <a:t>interface,</a:t>
            </a:r>
            <a:r>
              <a:rPr spc="-15" dirty="0">
                <a:solidFill>
                  <a:schemeClr val="tx1"/>
                </a:solidFill>
              </a:rPr>
              <a:t> </a:t>
            </a:r>
            <a:r>
              <a:rPr dirty="0">
                <a:solidFill>
                  <a:schemeClr val="tx1"/>
                </a:solidFill>
              </a:rPr>
              <a:t>including</a:t>
            </a:r>
            <a:r>
              <a:rPr spc="-10" dirty="0">
                <a:solidFill>
                  <a:schemeClr val="tx1"/>
                </a:solidFill>
              </a:rPr>
              <a:t> </a:t>
            </a:r>
            <a:r>
              <a:rPr dirty="0">
                <a:solidFill>
                  <a:schemeClr val="tx1"/>
                </a:solidFill>
              </a:rPr>
              <a:t>chat</a:t>
            </a:r>
            <a:r>
              <a:rPr spc="-10" dirty="0">
                <a:solidFill>
                  <a:schemeClr val="tx1"/>
                </a:solidFill>
              </a:rPr>
              <a:t> history, </a:t>
            </a:r>
            <a:r>
              <a:rPr dirty="0">
                <a:solidFill>
                  <a:schemeClr val="tx1"/>
                </a:solidFill>
              </a:rPr>
              <a:t>prompt</a:t>
            </a:r>
            <a:r>
              <a:rPr spc="-40" dirty="0">
                <a:solidFill>
                  <a:schemeClr val="tx1"/>
                </a:solidFill>
              </a:rPr>
              <a:t> </a:t>
            </a:r>
            <a:r>
              <a:rPr dirty="0">
                <a:solidFill>
                  <a:schemeClr val="tx1"/>
                </a:solidFill>
              </a:rPr>
              <a:t>area,</a:t>
            </a:r>
            <a:r>
              <a:rPr spc="-30" dirty="0">
                <a:solidFill>
                  <a:schemeClr val="tx1"/>
                </a:solidFill>
              </a:rPr>
              <a:t> </a:t>
            </a:r>
            <a:r>
              <a:rPr dirty="0">
                <a:solidFill>
                  <a:schemeClr val="tx1"/>
                </a:solidFill>
              </a:rPr>
              <a:t>and</a:t>
            </a:r>
            <a:r>
              <a:rPr spc="-25" dirty="0">
                <a:solidFill>
                  <a:schemeClr val="tx1"/>
                </a:solidFill>
              </a:rPr>
              <a:t> </a:t>
            </a:r>
            <a:r>
              <a:rPr dirty="0">
                <a:solidFill>
                  <a:schemeClr val="tx1"/>
                </a:solidFill>
              </a:rPr>
              <a:t>model</a:t>
            </a:r>
            <a:r>
              <a:rPr spc="-30" dirty="0">
                <a:solidFill>
                  <a:schemeClr val="tx1"/>
                </a:solidFill>
              </a:rPr>
              <a:t> </a:t>
            </a:r>
            <a:r>
              <a:rPr dirty="0">
                <a:solidFill>
                  <a:schemeClr val="tx1"/>
                </a:solidFill>
              </a:rPr>
              <a:t>selection</a:t>
            </a:r>
            <a:r>
              <a:rPr spc="-25" dirty="0">
                <a:solidFill>
                  <a:schemeClr val="tx1"/>
                </a:solidFill>
              </a:rPr>
              <a:t> </a:t>
            </a:r>
            <a:r>
              <a:rPr spc="-10" dirty="0">
                <a:solidFill>
                  <a:schemeClr val="tx1"/>
                </a:solidFill>
              </a:rPr>
              <a:t>options.</a:t>
            </a:r>
          </a:p>
          <a:p>
            <a:pPr marL="298450" marR="139065" indent="-285750">
              <a:lnSpc>
                <a:spcPts val="2050"/>
              </a:lnSpc>
              <a:spcBef>
                <a:spcPts val="1200"/>
              </a:spcBef>
              <a:buFont typeface="Arial" panose="020B0604020202020204" pitchFamily="34" charset="0"/>
              <a:buChar char="•"/>
            </a:pPr>
            <a:r>
              <a:rPr dirty="0">
                <a:solidFill>
                  <a:schemeClr val="tx1"/>
                </a:solidFill>
              </a:rPr>
              <a:t>Demonstrate</a:t>
            </a:r>
            <a:r>
              <a:rPr spc="-30" dirty="0">
                <a:solidFill>
                  <a:schemeClr val="tx1"/>
                </a:solidFill>
              </a:rPr>
              <a:t> </a:t>
            </a:r>
            <a:r>
              <a:rPr dirty="0">
                <a:solidFill>
                  <a:schemeClr val="tx1"/>
                </a:solidFill>
              </a:rPr>
              <a:t>how</a:t>
            </a:r>
            <a:r>
              <a:rPr spc="-15" dirty="0">
                <a:solidFill>
                  <a:schemeClr val="tx1"/>
                </a:solidFill>
              </a:rPr>
              <a:t> </a:t>
            </a:r>
            <a:r>
              <a:rPr dirty="0">
                <a:solidFill>
                  <a:schemeClr val="tx1"/>
                </a:solidFill>
              </a:rPr>
              <a:t>to</a:t>
            </a:r>
            <a:r>
              <a:rPr spc="-20" dirty="0">
                <a:solidFill>
                  <a:schemeClr val="tx1"/>
                </a:solidFill>
              </a:rPr>
              <a:t> </a:t>
            </a:r>
            <a:r>
              <a:rPr dirty="0">
                <a:solidFill>
                  <a:schemeClr val="tx1"/>
                </a:solidFill>
              </a:rPr>
              <a:t>perform</a:t>
            </a:r>
            <a:r>
              <a:rPr spc="-15" dirty="0">
                <a:solidFill>
                  <a:schemeClr val="tx1"/>
                </a:solidFill>
              </a:rPr>
              <a:t> </a:t>
            </a:r>
            <a:r>
              <a:rPr dirty="0">
                <a:solidFill>
                  <a:schemeClr val="tx1"/>
                </a:solidFill>
              </a:rPr>
              <a:t>basic</a:t>
            </a:r>
            <a:r>
              <a:rPr spc="-20" dirty="0">
                <a:solidFill>
                  <a:schemeClr val="tx1"/>
                </a:solidFill>
              </a:rPr>
              <a:t> </a:t>
            </a:r>
            <a:r>
              <a:rPr dirty="0">
                <a:solidFill>
                  <a:schemeClr val="tx1"/>
                </a:solidFill>
              </a:rPr>
              <a:t>actions</a:t>
            </a:r>
            <a:r>
              <a:rPr spc="-15" dirty="0">
                <a:solidFill>
                  <a:schemeClr val="tx1"/>
                </a:solidFill>
              </a:rPr>
              <a:t> </a:t>
            </a:r>
            <a:r>
              <a:rPr dirty="0">
                <a:solidFill>
                  <a:schemeClr val="tx1"/>
                </a:solidFill>
              </a:rPr>
              <a:t>such</a:t>
            </a:r>
            <a:r>
              <a:rPr spc="-20" dirty="0">
                <a:solidFill>
                  <a:schemeClr val="tx1"/>
                </a:solidFill>
              </a:rPr>
              <a:t> </a:t>
            </a:r>
            <a:r>
              <a:rPr dirty="0">
                <a:solidFill>
                  <a:schemeClr val="tx1"/>
                </a:solidFill>
              </a:rPr>
              <a:t>as</a:t>
            </a:r>
            <a:r>
              <a:rPr spc="-15" dirty="0">
                <a:solidFill>
                  <a:schemeClr val="tx1"/>
                </a:solidFill>
              </a:rPr>
              <a:t> </a:t>
            </a:r>
            <a:r>
              <a:rPr dirty="0">
                <a:solidFill>
                  <a:schemeClr val="tx1"/>
                </a:solidFill>
              </a:rPr>
              <a:t>renaming</a:t>
            </a:r>
            <a:r>
              <a:rPr spc="-20" dirty="0">
                <a:solidFill>
                  <a:schemeClr val="tx1"/>
                </a:solidFill>
              </a:rPr>
              <a:t> </a:t>
            </a:r>
            <a:r>
              <a:rPr dirty="0">
                <a:solidFill>
                  <a:schemeClr val="tx1"/>
                </a:solidFill>
              </a:rPr>
              <a:t>or</a:t>
            </a:r>
            <a:r>
              <a:rPr spc="-15" dirty="0">
                <a:solidFill>
                  <a:schemeClr val="tx1"/>
                </a:solidFill>
              </a:rPr>
              <a:t> </a:t>
            </a:r>
            <a:r>
              <a:rPr dirty="0">
                <a:solidFill>
                  <a:schemeClr val="tx1"/>
                </a:solidFill>
              </a:rPr>
              <a:t>deleting</a:t>
            </a:r>
            <a:r>
              <a:rPr spc="-20" dirty="0">
                <a:solidFill>
                  <a:schemeClr val="tx1"/>
                </a:solidFill>
              </a:rPr>
              <a:t> </a:t>
            </a:r>
            <a:r>
              <a:rPr dirty="0">
                <a:solidFill>
                  <a:schemeClr val="tx1"/>
                </a:solidFill>
              </a:rPr>
              <a:t>a</a:t>
            </a:r>
            <a:r>
              <a:rPr spc="-15" dirty="0">
                <a:solidFill>
                  <a:schemeClr val="tx1"/>
                </a:solidFill>
              </a:rPr>
              <a:t> </a:t>
            </a:r>
            <a:r>
              <a:rPr lang="en-US" spc="-10" dirty="0">
                <a:solidFill>
                  <a:schemeClr val="tx1"/>
                </a:solidFill>
              </a:rPr>
              <a:t>chat and</a:t>
            </a:r>
            <a:r>
              <a:rPr spc="-40" dirty="0">
                <a:solidFill>
                  <a:schemeClr val="tx1"/>
                </a:solidFill>
              </a:rPr>
              <a:t> </a:t>
            </a:r>
            <a:r>
              <a:rPr dirty="0">
                <a:solidFill>
                  <a:schemeClr val="tx1"/>
                </a:solidFill>
              </a:rPr>
              <a:t>entering</a:t>
            </a:r>
            <a:r>
              <a:rPr spc="-30" dirty="0">
                <a:solidFill>
                  <a:schemeClr val="tx1"/>
                </a:solidFill>
              </a:rPr>
              <a:t> </a:t>
            </a:r>
            <a:r>
              <a:rPr dirty="0">
                <a:solidFill>
                  <a:schemeClr val="tx1"/>
                </a:solidFill>
              </a:rPr>
              <a:t>prompt</a:t>
            </a:r>
            <a:r>
              <a:rPr spc="-25" dirty="0">
                <a:solidFill>
                  <a:schemeClr val="tx1"/>
                </a:solidFill>
              </a:rPr>
              <a:t> </a:t>
            </a:r>
            <a:r>
              <a:rPr spc="-10" dirty="0">
                <a:solidFill>
                  <a:schemeClr val="tx1"/>
                </a:solidFill>
              </a:rPr>
              <a:t>instructions.</a:t>
            </a:r>
          </a:p>
          <a:p>
            <a:pPr marL="298450" marR="137795" indent="-285750">
              <a:lnSpc>
                <a:spcPts val="2050"/>
              </a:lnSpc>
              <a:spcBef>
                <a:spcPts val="1205"/>
              </a:spcBef>
              <a:buFont typeface="Arial" panose="020B0604020202020204" pitchFamily="34" charset="0"/>
              <a:buChar char="•"/>
            </a:pPr>
            <a:r>
              <a:rPr dirty="0">
                <a:solidFill>
                  <a:schemeClr val="tx1"/>
                </a:solidFill>
              </a:rPr>
              <a:t>Explore</a:t>
            </a:r>
            <a:r>
              <a:rPr spc="-25" dirty="0">
                <a:solidFill>
                  <a:schemeClr val="tx1"/>
                </a:solidFill>
              </a:rPr>
              <a:t> </a:t>
            </a:r>
            <a:r>
              <a:rPr dirty="0">
                <a:solidFill>
                  <a:schemeClr val="tx1"/>
                </a:solidFill>
              </a:rPr>
              <a:t>the</a:t>
            </a:r>
            <a:r>
              <a:rPr spc="-20" dirty="0">
                <a:solidFill>
                  <a:schemeClr val="tx1"/>
                </a:solidFill>
              </a:rPr>
              <a:t> </a:t>
            </a:r>
            <a:r>
              <a:rPr dirty="0">
                <a:solidFill>
                  <a:schemeClr val="tx1"/>
                </a:solidFill>
              </a:rPr>
              <a:t>model</a:t>
            </a:r>
            <a:r>
              <a:rPr spc="-20" dirty="0">
                <a:solidFill>
                  <a:schemeClr val="tx1"/>
                </a:solidFill>
              </a:rPr>
              <a:t> </a:t>
            </a:r>
            <a:r>
              <a:rPr dirty="0">
                <a:solidFill>
                  <a:schemeClr val="tx1"/>
                </a:solidFill>
              </a:rPr>
              <a:t>response</a:t>
            </a:r>
            <a:r>
              <a:rPr spc="-20" dirty="0">
                <a:solidFill>
                  <a:schemeClr val="tx1"/>
                </a:solidFill>
              </a:rPr>
              <a:t> </a:t>
            </a:r>
            <a:r>
              <a:rPr dirty="0">
                <a:solidFill>
                  <a:schemeClr val="tx1"/>
                </a:solidFill>
              </a:rPr>
              <a:t>behavior</a:t>
            </a:r>
            <a:r>
              <a:rPr spc="-20" dirty="0">
                <a:solidFill>
                  <a:schemeClr val="tx1"/>
                </a:solidFill>
              </a:rPr>
              <a:t> </a:t>
            </a:r>
            <a:r>
              <a:rPr dirty="0">
                <a:solidFill>
                  <a:schemeClr val="tx1"/>
                </a:solidFill>
              </a:rPr>
              <a:t>by</a:t>
            </a:r>
            <a:r>
              <a:rPr spc="-25" dirty="0">
                <a:solidFill>
                  <a:schemeClr val="tx1"/>
                </a:solidFill>
              </a:rPr>
              <a:t> </a:t>
            </a:r>
            <a:r>
              <a:rPr dirty="0">
                <a:solidFill>
                  <a:schemeClr val="tx1"/>
                </a:solidFill>
              </a:rPr>
              <a:t>running</a:t>
            </a:r>
            <a:r>
              <a:rPr spc="-20" dirty="0">
                <a:solidFill>
                  <a:schemeClr val="tx1"/>
                </a:solidFill>
              </a:rPr>
              <a:t> </a:t>
            </a:r>
            <a:r>
              <a:rPr dirty="0">
                <a:solidFill>
                  <a:schemeClr val="tx1"/>
                </a:solidFill>
              </a:rPr>
              <a:t>simple</a:t>
            </a:r>
            <a:r>
              <a:rPr spc="-20" dirty="0">
                <a:solidFill>
                  <a:schemeClr val="tx1"/>
                </a:solidFill>
              </a:rPr>
              <a:t> </a:t>
            </a:r>
            <a:r>
              <a:rPr dirty="0">
                <a:solidFill>
                  <a:schemeClr val="tx1"/>
                </a:solidFill>
              </a:rPr>
              <a:t>prompts</a:t>
            </a:r>
            <a:r>
              <a:rPr spc="-20" dirty="0">
                <a:solidFill>
                  <a:schemeClr val="tx1"/>
                </a:solidFill>
              </a:rPr>
              <a:t> </a:t>
            </a:r>
            <a:r>
              <a:rPr dirty="0">
                <a:solidFill>
                  <a:schemeClr val="tx1"/>
                </a:solidFill>
              </a:rPr>
              <a:t>and</a:t>
            </a:r>
            <a:r>
              <a:rPr spc="-20" dirty="0">
                <a:solidFill>
                  <a:schemeClr val="tx1"/>
                </a:solidFill>
              </a:rPr>
              <a:t> </a:t>
            </a:r>
            <a:r>
              <a:rPr spc="-10" dirty="0">
                <a:solidFill>
                  <a:schemeClr val="tx1"/>
                </a:solidFill>
              </a:rPr>
              <a:t>observing </a:t>
            </a:r>
            <a:r>
              <a:rPr dirty="0">
                <a:solidFill>
                  <a:schemeClr val="tx1"/>
                </a:solidFill>
              </a:rPr>
              <a:t>the</a:t>
            </a:r>
            <a:r>
              <a:rPr spc="-35" dirty="0">
                <a:solidFill>
                  <a:schemeClr val="tx1"/>
                </a:solidFill>
              </a:rPr>
              <a:t> </a:t>
            </a:r>
            <a:r>
              <a:rPr dirty="0">
                <a:solidFill>
                  <a:schemeClr val="tx1"/>
                </a:solidFill>
              </a:rPr>
              <a:t>output</a:t>
            </a:r>
            <a:r>
              <a:rPr spc="-20" dirty="0">
                <a:solidFill>
                  <a:schemeClr val="tx1"/>
                </a:solidFill>
              </a:rPr>
              <a:t> </a:t>
            </a:r>
            <a:r>
              <a:rPr dirty="0">
                <a:solidFill>
                  <a:schemeClr val="tx1"/>
                </a:solidFill>
              </a:rPr>
              <a:t>within</a:t>
            </a:r>
            <a:r>
              <a:rPr spc="-25" dirty="0">
                <a:solidFill>
                  <a:schemeClr val="tx1"/>
                </a:solidFill>
              </a:rPr>
              <a:t> </a:t>
            </a:r>
            <a:r>
              <a:rPr dirty="0">
                <a:solidFill>
                  <a:schemeClr val="tx1"/>
                </a:solidFill>
              </a:rPr>
              <a:t>the</a:t>
            </a:r>
            <a:r>
              <a:rPr spc="-20" dirty="0">
                <a:solidFill>
                  <a:schemeClr val="tx1"/>
                </a:solidFill>
              </a:rPr>
              <a:t> </a:t>
            </a:r>
            <a:r>
              <a:rPr spc="-10" dirty="0">
                <a:solidFill>
                  <a:schemeClr val="tx1"/>
                </a:solidFill>
              </a:rPr>
              <a:t>interface.</a:t>
            </a:r>
          </a:p>
          <a:p>
            <a:pPr marL="298450" indent="-285750">
              <a:lnSpc>
                <a:spcPct val="100000"/>
              </a:lnSpc>
              <a:spcBef>
                <a:spcPts val="1045"/>
              </a:spcBef>
              <a:buFont typeface="Arial" panose="020B0604020202020204" pitchFamily="34" charset="0"/>
              <a:buChar char="•"/>
            </a:pPr>
            <a:r>
              <a:rPr dirty="0">
                <a:solidFill>
                  <a:schemeClr val="tx1"/>
                </a:solidFill>
              </a:rPr>
              <a:t>Prompt</a:t>
            </a:r>
            <a:r>
              <a:rPr spc="-30" dirty="0">
                <a:solidFill>
                  <a:schemeClr val="tx1"/>
                </a:solidFill>
              </a:rPr>
              <a:t> </a:t>
            </a:r>
            <a:r>
              <a:rPr spc="-10" dirty="0">
                <a:solidFill>
                  <a:schemeClr val="tx1"/>
                </a:solidFill>
              </a:rPr>
              <a:t>Structure</a:t>
            </a:r>
          </a:p>
          <a:p>
            <a:pPr marL="298450" marR="4902835" indent="-285750">
              <a:lnSpc>
                <a:spcPct val="150600"/>
              </a:lnSpc>
              <a:buFont typeface="Arial" panose="020B0604020202020204" pitchFamily="34" charset="0"/>
              <a:buChar char="•"/>
            </a:pPr>
            <a:r>
              <a:rPr dirty="0">
                <a:solidFill>
                  <a:schemeClr val="tx1"/>
                </a:solidFill>
              </a:rPr>
              <a:t>Prompts</a:t>
            </a:r>
            <a:r>
              <a:rPr spc="-30" dirty="0">
                <a:solidFill>
                  <a:schemeClr val="tx1"/>
                </a:solidFill>
              </a:rPr>
              <a:t> </a:t>
            </a:r>
            <a:r>
              <a:rPr dirty="0">
                <a:solidFill>
                  <a:schemeClr val="tx1"/>
                </a:solidFill>
              </a:rPr>
              <a:t>in</a:t>
            </a:r>
            <a:r>
              <a:rPr spc="-30" dirty="0">
                <a:solidFill>
                  <a:schemeClr val="tx1"/>
                </a:solidFill>
              </a:rPr>
              <a:t> </a:t>
            </a:r>
            <a:r>
              <a:rPr dirty="0">
                <a:solidFill>
                  <a:schemeClr val="tx1"/>
                </a:solidFill>
              </a:rPr>
              <a:t>different</a:t>
            </a:r>
            <a:r>
              <a:rPr spc="-30" dirty="0">
                <a:solidFill>
                  <a:schemeClr val="tx1"/>
                </a:solidFill>
              </a:rPr>
              <a:t> </a:t>
            </a:r>
            <a:r>
              <a:rPr spc="-10" dirty="0">
                <a:solidFill>
                  <a:schemeClr val="tx1"/>
                </a:solidFill>
              </a:rPr>
              <a:t>formats</a:t>
            </a:r>
            <a:endParaRPr lang="en-US" spc="-10" dirty="0">
              <a:solidFill>
                <a:schemeClr val="tx1"/>
              </a:solidFill>
            </a:endParaRPr>
          </a:p>
          <a:p>
            <a:pPr marL="298450" marR="4902835" indent="-285750">
              <a:lnSpc>
                <a:spcPct val="150600"/>
              </a:lnSpc>
              <a:buFont typeface="Arial" panose="020B0604020202020204" pitchFamily="34" charset="0"/>
              <a:buChar char="•"/>
            </a:pPr>
            <a:r>
              <a:rPr dirty="0">
                <a:solidFill>
                  <a:schemeClr val="tx1"/>
                </a:solidFill>
              </a:rPr>
              <a:t>Limit</a:t>
            </a:r>
            <a:r>
              <a:rPr spc="-35" dirty="0">
                <a:solidFill>
                  <a:schemeClr val="tx1"/>
                </a:solidFill>
              </a:rPr>
              <a:t> </a:t>
            </a:r>
            <a:r>
              <a:rPr dirty="0">
                <a:solidFill>
                  <a:schemeClr val="tx1"/>
                </a:solidFill>
              </a:rPr>
              <a:t>the</a:t>
            </a:r>
            <a:r>
              <a:rPr spc="-20" dirty="0">
                <a:solidFill>
                  <a:schemeClr val="tx1"/>
                </a:solidFill>
              </a:rPr>
              <a:t> </a:t>
            </a:r>
            <a:r>
              <a:rPr dirty="0">
                <a:solidFill>
                  <a:schemeClr val="tx1"/>
                </a:solidFill>
              </a:rPr>
              <a:t>Input</a:t>
            </a:r>
            <a:r>
              <a:rPr spc="-25" dirty="0">
                <a:solidFill>
                  <a:schemeClr val="tx1"/>
                </a:solidFill>
              </a:rPr>
              <a:t> </a:t>
            </a:r>
            <a:r>
              <a:rPr dirty="0">
                <a:solidFill>
                  <a:schemeClr val="tx1"/>
                </a:solidFill>
              </a:rPr>
              <a:t>and</a:t>
            </a:r>
            <a:r>
              <a:rPr spc="-20" dirty="0">
                <a:solidFill>
                  <a:schemeClr val="tx1"/>
                </a:solidFill>
              </a:rPr>
              <a:t> </a:t>
            </a:r>
            <a:r>
              <a:rPr dirty="0">
                <a:solidFill>
                  <a:schemeClr val="tx1"/>
                </a:solidFill>
              </a:rPr>
              <a:t>output</a:t>
            </a:r>
            <a:r>
              <a:rPr lang="en-US" dirty="0">
                <a:solidFill>
                  <a:schemeClr val="tx1"/>
                </a:solidFill>
              </a:rPr>
              <a:t> </a:t>
            </a:r>
            <a:r>
              <a:rPr spc="-10" dirty="0">
                <a:solidFill>
                  <a:schemeClr val="tx1"/>
                </a:solidFill>
              </a:rPr>
              <a:t>length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6199" y="226593"/>
            <a:ext cx="3478529" cy="228600"/>
          </a:xfrm>
          <a:prstGeom prst="rect">
            <a:avLst/>
          </a:prstGeom>
        </p:spPr>
        <p:txBody>
          <a:bodyPr vert="horz" wrap="square" lIns="0" tIns="16510" rIns="0" bIns="0" rtlCol="0">
            <a:spAutoFit/>
          </a:bodyPr>
          <a:lstStyle/>
          <a:p>
            <a:pPr marL="12700">
              <a:lnSpc>
                <a:spcPct val="100000"/>
              </a:lnSpc>
              <a:spcBef>
                <a:spcPts val="130"/>
              </a:spcBef>
            </a:pPr>
            <a:r>
              <a:rPr sz="1300" dirty="0"/>
              <a:t>Steps</a:t>
            </a:r>
            <a:r>
              <a:rPr sz="1300" spc="65" dirty="0"/>
              <a:t> </a:t>
            </a:r>
            <a:r>
              <a:rPr sz="1300" dirty="0"/>
              <a:t>to</a:t>
            </a:r>
            <a:r>
              <a:rPr sz="1300" spc="65" dirty="0"/>
              <a:t> </a:t>
            </a:r>
            <a:r>
              <a:rPr sz="1300" dirty="0"/>
              <a:t>solve</a:t>
            </a:r>
            <a:r>
              <a:rPr sz="1300" spc="70" dirty="0"/>
              <a:t> </a:t>
            </a:r>
            <a:r>
              <a:rPr sz="1300" dirty="0"/>
              <a:t>Prompt</a:t>
            </a:r>
            <a:r>
              <a:rPr sz="1300" spc="65" dirty="0"/>
              <a:t> </a:t>
            </a:r>
            <a:r>
              <a:rPr sz="1300" dirty="0"/>
              <a:t>Engineering</a:t>
            </a:r>
            <a:r>
              <a:rPr sz="1300" spc="65" dirty="0"/>
              <a:t> </a:t>
            </a:r>
            <a:r>
              <a:rPr sz="1300" dirty="0"/>
              <a:t>Problems</a:t>
            </a:r>
            <a:r>
              <a:rPr sz="1300" spc="70" dirty="0"/>
              <a:t> </a:t>
            </a:r>
            <a:r>
              <a:rPr sz="1300" spc="-50" dirty="0"/>
              <a:t>:</a:t>
            </a:r>
            <a:endParaRPr sz="1300"/>
          </a:p>
        </p:txBody>
      </p:sp>
      <p:sp>
        <p:nvSpPr>
          <p:cNvPr id="3" name="object 3"/>
          <p:cNvSpPr txBox="1"/>
          <p:nvPr/>
        </p:nvSpPr>
        <p:spPr>
          <a:xfrm>
            <a:off x="186199" y="594955"/>
            <a:ext cx="8569960" cy="4117409"/>
          </a:xfrm>
          <a:prstGeom prst="rect">
            <a:avLst/>
          </a:prstGeom>
        </p:spPr>
        <p:txBody>
          <a:bodyPr vert="horz" wrap="square" lIns="0" tIns="12065" rIns="0" bIns="0" rtlCol="0">
            <a:spAutoFit/>
          </a:bodyPr>
          <a:lstStyle/>
          <a:p>
            <a:pPr marL="184150" marR="115570" indent="-171450">
              <a:lnSpc>
                <a:spcPct val="115700"/>
              </a:lnSpc>
              <a:spcBef>
                <a:spcPts val="95"/>
              </a:spcBef>
              <a:buFont typeface="Arial" panose="020B0604020202020204" pitchFamily="34" charset="0"/>
              <a:buChar char="•"/>
            </a:pPr>
            <a:r>
              <a:rPr sz="1000" dirty="0">
                <a:solidFill>
                  <a:schemeClr val="tx1"/>
                </a:solidFill>
                <a:latin typeface="Calibri" panose="020F0502020204030204" pitchFamily="34" charset="0"/>
                <a:cs typeface="Calibri" panose="020F0502020204030204" pitchFamily="34" charset="0"/>
              </a:rPr>
              <a:t>Large</a:t>
            </a:r>
            <a:r>
              <a:rPr sz="1000" spc="-3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language</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models</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(LLMs)</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are</a:t>
            </a:r>
            <a:r>
              <a:rPr sz="1000" spc="-20" dirty="0">
                <a:solidFill>
                  <a:schemeClr val="tx1"/>
                </a:solidFill>
                <a:latin typeface="Calibri" panose="020F0502020204030204" pitchFamily="34" charset="0"/>
                <a:cs typeface="Calibri" panose="020F0502020204030204" pitchFamily="34" charset="0"/>
              </a:rPr>
              <a:t> </a:t>
            </a:r>
            <a:r>
              <a:rPr sz="1000" spc="-10" dirty="0">
                <a:solidFill>
                  <a:schemeClr val="tx1"/>
                </a:solidFill>
                <a:latin typeface="Calibri" panose="020F0502020204030204" pitchFamily="34" charset="0"/>
                <a:cs typeface="Calibri" panose="020F0502020204030204" pitchFamily="34" charset="0"/>
              </a:rPr>
              <a:t>pre-</a:t>
            </a:r>
            <a:r>
              <a:rPr sz="1000" dirty="0">
                <a:solidFill>
                  <a:schemeClr val="tx1"/>
                </a:solidFill>
                <a:latin typeface="Calibri" panose="020F0502020204030204" pitchFamily="34" charset="0"/>
                <a:cs typeface="Calibri" panose="020F0502020204030204" pitchFamily="34" charset="0"/>
              </a:rPr>
              <a:t>trained</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on</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vast</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amounts</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of</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data</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to</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generate</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novel</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content,</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including</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text,</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images,</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and</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video.</a:t>
            </a:r>
            <a:r>
              <a:rPr sz="1000" spc="-40" dirty="0">
                <a:solidFill>
                  <a:schemeClr val="tx1"/>
                </a:solidFill>
                <a:latin typeface="Calibri" panose="020F0502020204030204" pitchFamily="34" charset="0"/>
                <a:cs typeface="Calibri" panose="020F0502020204030204" pitchFamily="34" charset="0"/>
              </a:rPr>
              <a:t> </a:t>
            </a:r>
            <a:r>
              <a:rPr sz="1000" spc="-50" dirty="0">
                <a:solidFill>
                  <a:schemeClr val="tx1"/>
                </a:solidFill>
                <a:latin typeface="Calibri" panose="020F0502020204030204" pitchFamily="34" charset="0"/>
                <a:cs typeface="Calibri" panose="020F0502020204030204" pitchFamily="34" charset="0"/>
              </a:rPr>
              <a:t>To</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generate</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the</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desired</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response,</a:t>
            </a:r>
            <a:r>
              <a:rPr sz="1000" spc="-20" dirty="0">
                <a:solidFill>
                  <a:schemeClr val="tx1"/>
                </a:solidFill>
                <a:latin typeface="Calibri" panose="020F0502020204030204" pitchFamily="34" charset="0"/>
                <a:cs typeface="Calibri" panose="020F0502020204030204" pitchFamily="34" charset="0"/>
              </a:rPr>
              <a:t> </a:t>
            </a:r>
            <a:r>
              <a:rPr sz="1000" spc="-25" dirty="0">
                <a:solidFill>
                  <a:schemeClr val="tx1"/>
                </a:solidFill>
                <a:latin typeface="Calibri" panose="020F0502020204030204" pitchFamily="34" charset="0"/>
                <a:cs typeface="Calibri" panose="020F0502020204030204" pitchFamily="34" charset="0"/>
              </a:rPr>
              <a:t>you </a:t>
            </a:r>
            <a:r>
              <a:rPr sz="1000" dirty="0">
                <a:solidFill>
                  <a:schemeClr val="tx1"/>
                </a:solidFill>
                <a:latin typeface="Calibri" panose="020F0502020204030204" pitchFamily="34" charset="0"/>
                <a:cs typeface="Calibri" panose="020F0502020204030204" pitchFamily="34" charset="0"/>
              </a:rPr>
              <a:t>should</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feed</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the</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input</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to</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model</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as</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prompt.</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It</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is</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important</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to</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provide</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a:t>
            </a:r>
            <a:r>
              <a:rPr sz="1000" spc="-20" dirty="0">
                <a:solidFill>
                  <a:schemeClr val="tx1"/>
                </a:solidFill>
                <a:latin typeface="Calibri" panose="020F0502020204030204" pitchFamily="34" charset="0"/>
                <a:cs typeface="Calibri" panose="020F0502020204030204" pitchFamily="34" charset="0"/>
              </a:rPr>
              <a:t> </a:t>
            </a:r>
            <a:r>
              <a:rPr sz="1000" spc="-10" dirty="0">
                <a:solidFill>
                  <a:schemeClr val="tx1"/>
                </a:solidFill>
                <a:latin typeface="Calibri" panose="020F0502020204030204" pitchFamily="34" charset="0"/>
                <a:cs typeface="Calibri" panose="020F0502020204030204" pitchFamily="34" charset="0"/>
              </a:rPr>
              <a:t>context-</a:t>
            </a:r>
            <a:r>
              <a:rPr sz="1000" dirty="0">
                <a:solidFill>
                  <a:schemeClr val="tx1"/>
                </a:solidFill>
                <a:latin typeface="Calibri" panose="020F0502020204030204" pitchFamily="34" charset="0"/>
                <a:cs typeface="Calibri" panose="020F0502020204030204" pitchFamily="34" charset="0"/>
              </a:rPr>
              <a:t>based,</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clear,</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and</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precise</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prompt</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to</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guide</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the</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model</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and</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get</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the</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desired</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output.</a:t>
            </a:r>
            <a:r>
              <a:rPr sz="1000" spc="-3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The</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process</a:t>
            </a:r>
            <a:r>
              <a:rPr sz="1000" spc="-20" dirty="0">
                <a:solidFill>
                  <a:schemeClr val="tx1"/>
                </a:solidFill>
                <a:latin typeface="Calibri" panose="020F0502020204030204" pitchFamily="34" charset="0"/>
                <a:cs typeface="Calibri" panose="020F0502020204030204" pitchFamily="34" charset="0"/>
              </a:rPr>
              <a:t> </a:t>
            </a:r>
            <a:r>
              <a:rPr sz="1000" spc="-25" dirty="0">
                <a:solidFill>
                  <a:schemeClr val="tx1"/>
                </a:solidFill>
                <a:latin typeface="Calibri" panose="020F0502020204030204" pitchFamily="34" charset="0"/>
                <a:cs typeface="Calibri" panose="020F0502020204030204" pitchFamily="34" charset="0"/>
              </a:rPr>
              <a:t>of </a:t>
            </a:r>
            <a:r>
              <a:rPr sz="1000" dirty="0">
                <a:solidFill>
                  <a:schemeClr val="tx1"/>
                </a:solidFill>
                <a:latin typeface="Calibri" panose="020F0502020204030204" pitchFamily="34" charset="0"/>
                <a:cs typeface="Calibri" panose="020F0502020204030204" pitchFamily="34" charset="0"/>
              </a:rPr>
              <a:t>designing</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effective</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prompts</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to</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generate</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better</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and</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desired</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responses</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is</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called</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prompt</a:t>
            </a:r>
            <a:r>
              <a:rPr sz="1000" spc="-20" dirty="0">
                <a:solidFill>
                  <a:schemeClr val="tx1"/>
                </a:solidFill>
                <a:latin typeface="Calibri" panose="020F0502020204030204" pitchFamily="34" charset="0"/>
                <a:cs typeface="Calibri" panose="020F0502020204030204" pitchFamily="34" charset="0"/>
              </a:rPr>
              <a:t> </a:t>
            </a:r>
            <a:r>
              <a:rPr sz="1000" spc="-10" dirty="0">
                <a:solidFill>
                  <a:schemeClr val="tx1"/>
                </a:solidFill>
                <a:latin typeface="Calibri" panose="020F0502020204030204" pitchFamily="34" charset="0"/>
                <a:cs typeface="Calibri" panose="020F0502020204030204" pitchFamily="34" charset="0"/>
              </a:rPr>
              <a:t>engineering.</a:t>
            </a:r>
            <a:endParaRPr sz="1000" dirty="0">
              <a:solidFill>
                <a:schemeClr val="tx1"/>
              </a:solidFill>
              <a:latin typeface="Calibri" panose="020F0502020204030204" pitchFamily="34" charset="0"/>
              <a:cs typeface="Calibri" panose="020F0502020204030204" pitchFamily="34" charset="0"/>
            </a:endParaRPr>
          </a:p>
          <a:p>
            <a:pPr marL="171450" indent="-171450">
              <a:lnSpc>
                <a:spcPct val="100000"/>
              </a:lnSpc>
              <a:spcBef>
                <a:spcPts val="225"/>
              </a:spcBef>
              <a:buFont typeface="Arial" panose="020B0604020202020204" pitchFamily="34" charset="0"/>
              <a:buChar char="•"/>
            </a:pPr>
            <a:endParaRPr sz="1000" dirty="0">
              <a:solidFill>
                <a:schemeClr val="tx1"/>
              </a:solidFill>
              <a:latin typeface="Calibri" panose="020F0502020204030204" pitchFamily="34" charset="0"/>
              <a:cs typeface="Calibri" panose="020F0502020204030204" pitchFamily="34" charset="0"/>
            </a:endParaRPr>
          </a:p>
          <a:p>
            <a:pPr marL="184150" marR="326390" indent="-171450">
              <a:lnSpc>
                <a:spcPct val="115700"/>
              </a:lnSpc>
              <a:buFont typeface="Arial" panose="020B0604020202020204" pitchFamily="34" charset="0"/>
              <a:buChar char="•"/>
            </a:pPr>
            <a:r>
              <a:rPr sz="1000" dirty="0">
                <a:solidFill>
                  <a:schemeClr val="tx1"/>
                </a:solidFill>
                <a:latin typeface="Calibri" panose="020F0502020204030204" pitchFamily="34" charset="0"/>
                <a:cs typeface="Calibri" panose="020F0502020204030204" pitchFamily="34" charset="0"/>
              </a:rPr>
              <a:t>Design</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prompt</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structure</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to</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write</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concise</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prompts</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based</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on</a:t>
            </a:r>
            <a:r>
              <a:rPr sz="1000" spc="-10" dirty="0">
                <a:solidFill>
                  <a:schemeClr val="tx1"/>
                </a:solidFill>
                <a:latin typeface="Calibri" panose="020F0502020204030204" pitchFamily="34" charset="0"/>
                <a:cs typeface="Calibri" panose="020F0502020204030204" pitchFamily="34" charset="0"/>
              </a:rPr>
              <a:t> requirements.Write</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unambiguous</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and</a:t>
            </a:r>
            <a:r>
              <a:rPr sz="1000" spc="-10" dirty="0">
                <a:solidFill>
                  <a:schemeClr val="tx1"/>
                </a:solidFill>
                <a:latin typeface="Calibri" panose="020F0502020204030204" pitchFamily="34" charset="0"/>
                <a:cs typeface="Calibri" panose="020F0502020204030204" pitchFamily="34" charset="0"/>
              </a:rPr>
              <a:t> context-</a:t>
            </a:r>
            <a:r>
              <a:rPr sz="1000" dirty="0">
                <a:solidFill>
                  <a:schemeClr val="tx1"/>
                </a:solidFill>
                <a:latin typeface="Calibri" panose="020F0502020204030204" pitchFamily="34" charset="0"/>
                <a:cs typeface="Calibri" panose="020F0502020204030204" pitchFamily="34" charset="0"/>
              </a:rPr>
              <a:t>based</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prompts</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to</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generate</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the</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desired</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output.</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Write</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prompts</a:t>
            </a:r>
            <a:r>
              <a:rPr sz="1000" spc="-10" dirty="0">
                <a:solidFill>
                  <a:schemeClr val="tx1"/>
                </a:solidFill>
                <a:latin typeface="Calibri" panose="020F0502020204030204" pitchFamily="34" charset="0"/>
                <a:cs typeface="Calibri" panose="020F0502020204030204" pitchFamily="34" charset="0"/>
              </a:rPr>
              <a:t> </a:t>
            </a:r>
            <a:r>
              <a:rPr sz="1000" spc="-25" dirty="0">
                <a:solidFill>
                  <a:schemeClr val="tx1"/>
                </a:solidFill>
                <a:latin typeface="Calibri" panose="020F0502020204030204" pitchFamily="34" charset="0"/>
                <a:cs typeface="Calibri" panose="020F0502020204030204" pitchFamily="34" charset="0"/>
              </a:rPr>
              <a:t>in </a:t>
            </a:r>
            <a:r>
              <a:rPr sz="1000" spc="-10" dirty="0">
                <a:solidFill>
                  <a:schemeClr val="tx1"/>
                </a:solidFill>
                <a:latin typeface="Calibri" panose="020F0502020204030204" pitchFamily="34" charset="0"/>
                <a:cs typeface="Calibri" panose="020F0502020204030204" pitchFamily="34" charset="0"/>
              </a:rPr>
              <a:t>different</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formats,</a:t>
            </a:r>
            <a:r>
              <a:rPr sz="1000" spc="-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such</a:t>
            </a:r>
            <a:r>
              <a:rPr sz="1000" spc="-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as</a:t>
            </a:r>
            <a:r>
              <a:rPr sz="1000" spc="-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questions,</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statements,</a:t>
            </a:r>
            <a:r>
              <a:rPr sz="1000" spc="-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and</a:t>
            </a:r>
            <a:r>
              <a:rPr sz="1000" spc="-5" dirty="0">
                <a:solidFill>
                  <a:schemeClr val="tx1"/>
                </a:solidFill>
                <a:latin typeface="Calibri" panose="020F0502020204030204" pitchFamily="34" charset="0"/>
                <a:cs typeface="Calibri" panose="020F0502020204030204" pitchFamily="34" charset="0"/>
              </a:rPr>
              <a:t> </a:t>
            </a:r>
            <a:r>
              <a:rPr sz="1000" spc="-10" dirty="0">
                <a:solidFill>
                  <a:schemeClr val="tx1"/>
                </a:solidFill>
                <a:latin typeface="Calibri" panose="020F0502020204030204" pitchFamily="34" charset="0"/>
                <a:cs typeface="Calibri" panose="020F0502020204030204" pitchFamily="34" charset="0"/>
              </a:rPr>
              <a:t>instructions.</a:t>
            </a:r>
            <a:r>
              <a:rPr sz="1000" spc="-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Before</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solving</a:t>
            </a:r>
            <a:r>
              <a:rPr sz="1000" spc="-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the</a:t>
            </a:r>
            <a:r>
              <a:rPr sz="1000" spc="-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problem</a:t>
            </a:r>
            <a:r>
              <a:rPr sz="1000" spc="-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you</a:t>
            </a:r>
            <a:r>
              <a:rPr sz="1000" spc="-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must</a:t>
            </a:r>
            <a:r>
              <a:rPr sz="1000" spc="-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set</a:t>
            </a:r>
            <a:r>
              <a:rPr sz="1000" spc="-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up</a:t>
            </a:r>
            <a:r>
              <a:rPr sz="1000" spc="-10" dirty="0">
                <a:solidFill>
                  <a:schemeClr val="tx1"/>
                </a:solidFill>
                <a:latin typeface="Calibri" panose="020F0502020204030204" pitchFamily="34" charset="0"/>
                <a:cs typeface="Calibri" panose="020F0502020204030204" pitchFamily="34" charset="0"/>
              </a:rPr>
              <a:t> the</a:t>
            </a:r>
            <a:r>
              <a:rPr sz="1000" spc="-5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AI</a:t>
            </a:r>
            <a:r>
              <a:rPr sz="1000" spc="-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and</a:t>
            </a:r>
            <a:r>
              <a:rPr sz="1000" spc="-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know</a:t>
            </a:r>
            <a:r>
              <a:rPr sz="1000" spc="-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the</a:t>
            </a:r>
            <a:r>
              <a:rPr sz="1000" spc="-10" dirty="0">
                <a:solidFill>
                  <a:schemeClr val="tx1"/>
                </a:solidFill>
                <a:latin typeface="Calibri" panose="020F0502020204030204" pitchFamily="34" charset="0"/>
                <a:cs typeface="Calibri" panose="020F0502020204030204" pitchFamily="34" charset="0"/>
              </a:rPr>
              <a:t> generative</a:t>
            </a:r>
            <a:r>
              <a:rPr sz="1000" spc="-5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AI</a:t>
            </a:r>
            <a:r>
              <a:rPr sz="1000" spc="-5" dirty="0">
                <a:solidFill>
                  <a:schemeClr val="tx1"/>
                </a:solidFill>
                <a:latin typeface="Calibri" panose="020F0502020204030204" pitchFamily="34" charset="0"/>
                <a:cs typeface="Calibri" panose="020F0502020204030204" pitchFamily="34" charset="0"/>
              </a:rPr>
              <a:t> </a:t>
            </a:r>
            <a:r>
              <a:rPr sz="1000" spc="-10" dirty="0">
                <a:solidFill>
                  <a:schemeClr val="tx1"/>
                </a:solidFill>
                <a:latin typeface="Calibri" panose="020F0502020204030204" pitchFamily="34" charset="0"/>
                <a:cs typeface="Calibri" panose="020F0502020204030204" pitchFamily="34" charset="0"/>
              </a:rPr>
              <a:t>workspace.</a:t>
            </a:r>
            <a:endParaRPr sz="1000" dirty="0">
              <a:solidFill>
                <a:schemeClr val="tx1"/>
              </a:solidFill>
              <a:latin typeface="Calibri" panose="020F0502020204030204" pitchFamily="34" charset="0"/>
              <a:cs typeface="Calibri" panose="020F0502020204030204" pitchFamily="34" charset="0"/>
            </a:endParaRPr>
          </a:p>
          <a:p>
            <a:pPr marL="171450" indent="-171450">
              <a:lnSpc>
                <a:spcPct val="100000"/>
              </a:lnSpc>
              <a:spcBef>
                <a:spcPts val="380"/>
              </a:spcBef>
              <a:buFont typeface="Arial" panose="020B0604020202020204" pitchFamily="34" charset="0"/>
              <a:buChar char="•"/>
            </a:pPr>
            <a:endParaRPr sz="1000" dirty="0">
              <a:solidFill>
                <a:schemeClr val="tx1"/>
              </a:solidFill>
              <a:latin typeface="Calibri" panose="020F0502020204030204" pitchFamily="34" charset="0"/>
              <a:cs typeface="Calibri" panose="020F0502020204030204" pitchFamily="34" charset="0"/>
            </a:endParaRPr>
          </a:p>
          <a:p>
            <a:pPr marL="184150" indent="-171450">
              <a:lnSpc>
                <a:spcPct val="100000"/>
              </a:lnSpc>
              <a:buFont typeface="Arial" panose="020B0604020202020204" pitchFamily="34" charset="0"/>
              <a:buChar char="•"/>
            </a:pPr>
            <a:r>
              <a:rPr sz="1000" b="1" dirty="0">
                <a:solidFill>
                  <a:schemeClr val="tx1"/>
                </a:solidFill>
                <a:latin typeface="Calibri" panose="020F0502020204030204" pitchFamily="34" charset="0"/>
                <a:cs typeface="Calibri" panose="020F0502020204030204" pitchFamily="34" charset="0"/>
              </a:rPr>
              <a:t>Steps</a:t>
            </a:r>
            <a:r>
              <a:rPr sz="1000" b="1" spc="-20" dirty="0">
                <a:solidFill>
                  <a:schemeClr val="tx1"/>
                </a:solidFill>
                <a:latin typeface="Calibri" panose="020F0502020204030204" pitchFamily="34" charset="0"/>
                <a:cs typeface="Calibri" panose="020F0502020204030204" pitchFamily="34" charset="0"/>
              </a:rPr>
              <a:t> </a:t>
            </a:r>
            <a:r>
              <a:rPr sz="1000" b="1" dirty="0">
                <a:solidFill>
                  <a:schemeClr val="tx1"/>
                </a:solidFill>
                <a:latin typeface="Calibri" panose="020F0502020204030204" pitchFamily="34" charset="0"/>
                <a:cs typeface="Calibri" panose="020F0502020204030204" pitchFamily="34" charset="0"/>
              </a:rPr>
              <a:t>in</a:t>
            </a:r>
            <a:r>
              <a:rPr sz="1000" b="1" spc="-20" dirty="0">
                <a:solidFill>
                  <a:schemeClr val="tx1"/>
                </a:solidFill>
                <a:latin typeface="Calibri" panose="020F0502020204030204" pitchFamily="34" charset="0"/>
                <a:cs typeface="Calibri" panose="020F0502020204030204" pitchFamily="34" charset="0"/>
              </a:rPr>
              <a:t> </a:t>
            </a:r>
            <a:r>
              <a:rPr sz="1000" b="1" dirty="0">
                <a:solidFill>
                  <a:schemeClr val="tx1"/>
                </a:solidFill>
                <a:latin typeface="Calibri" panose="020F0502020204030204" pitchFamily="34" charset="0"/>
                <a:cs typeface="Calibri" panose="020F0502020204030204" pitchFamily="34" charset="0"/>
              </a:rPr>
              <a:t>order</a:t>
            </a:r>
            <a:r>
              <a:rPr sz="1000" b="1" spc="-15" dirty="0">
                <a:solidFill>
                  <a:schemeClr val="tx1"/>
                </a:solidFill>
                <a:latin typeface="Calibri" panose="020F0502020204030204" pitchFamily="34" charset="0"/>
                <a:cs typeface="Calibri" panose="020F0502020204030204" pitchFamily="34" charset="0"/>
              </a:rPr>
              <a:t> </a:t>
            </a:r>
            <a:r>
              <a:rPr sz="1000" b="1" spc="-50" dirty="0">
                <a:solidFill>
                  <a:schemeClr val="tx1"/>
                </a:solidFill>
                <a:latin typeface="Calibri" panose="020F0502020204030204" pitchFamily="34" charset="0"/>
                <a:cs typeface="Calibri" panose="020F0502020204030204" pitchFamily="34" charset="0"/>
              </a:rPr>
              <a:t>:</a:t>
            </a:r>
            <a:endParaRPr sz="1000" dirty="0">
              <a:solidFill>
                <a:schemeClr val="tx1"/>
              </a:solidFill>
              <a:latin typeface="Calibri" panose="020F0502020204030204" pitchFamily="34" charset="0"/>
              <a:cs typeface="Calibri" panose="020F0502020204030204" pitchFamily="34" charset="0"/>
            </a:endParaRPr>
          </a:p>
          <a:p>
            <a:pPr marL="171450" indent="-171450">
              <a:lnSpc>
                <a:spcPct val="100000"/>
              </a:lnSpc>
              <a:spcBef>
                <a:spcPts val="225"/>
              </a:spcBef>
              <a:buFont typeface="Arial" panose="020B0604020202020204" pitchFamily="34" charset="0"/>
              <a:buChar char="•"/>
            </a:pPr>
            <a:endParaRPr sz="1000" dirty="0">
              <a:solidFill>
                <a:schemeClr val="tx1"/>
              </a:solidFill>
              <a:latin typeface="Calibri" panose="020F0502020204030204" pitchFamily="34" charset="0"/>
              <a:cs typeface="Calibri" panose="020F0502020204030204" pitchFamily="34" charset="0"/>
            </a:endParaRPr>
          </a:p>
          <a:p>
            <a:pPr marL="184150" marR="5080" indent="-171450">
              <a:lnSpc>
                <a:spcPct val="115700"/>
              </a:lnSpc>
              <a:buFont typeface="Arial" panose="020B0604020202020204" pitchFamily="34" charset="0"/>
              <a:buChar char="•"/>
            </a:pPr>
            <a:r>
              <a:rPr sz="1000" dirty="0">
                <a:solidFill>
                  <a:schemeClr val="tx1"/>
                </a:solidFill>
                <a:latin typeface="Calibri" panose="020F0502020204030204" pitchFamily="34" charset="0"/>
                <a:cs typeface="Calibri" panose="020F0502020204030204" pitchFamily="34" charset="0"/>
              </a:rPr>
              <a:t>Name</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the</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chat</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Choose</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the</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foundation</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model,</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Know</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your</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workspace</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to</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prompt</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the</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foundation</a:t>
            </a:r>
            <a:r>
              <a:rPr sz="1000" spc="-15" dirty="0">
                <a:solidFill>
                  <a:schemeClr val="tx1"/>
                </a:solidFill>
                <a:latin typeface="Calibri" panose="020F0502020204030204" pitchFamily="34" charset="0"/>
                <a:cs typeface="Calibri" panose="020F0502020204030204" pitchFamily="34" charset="0"/>
              </a:rPr>
              <a:t> </a:t>
            </a:r>
            <a:r>
              <a:rPr sz="1000" spc="-10" dirty="0">
                <a:solidFill>
                  <a:schemeClr val="tx1"/>
                </a:solidFill>
                <a:latin typeface="Calibri" panose="020F0502020204030204" pitchFamily="34" charset="0"/>
                <a:cs typeface="Calibri" panose="020F0502020204030204" pitchFamily="34" charset="0"/>
              </a:rPr>
              <a:t>model-</a:t>
            </a:r>
            <a:r>
              <a:rPr sz="1000" dirty="0">
                <a:solidFill>
                  <a:schemeClr val="tx1"/>
                </a:solidFill>
                <a:latin typeface="Calibri" panose="020F0502020204030204" pitchFamily="34" charset="0"/>
                <a:cs typeface="Calibri" panose="020F0502020204030204" pitchFamily="34" charset="0"/>
              </a:rPr>
              <a:t>based</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chatbot</a:t>
            </a:r>
            <a:r>
              <a:rPr sz="1000" spc="-15" dirty="0">
                <a:solidFill>
                  <a:schemeClr val="tx1"/>
                </a:solidFill>
                <a:latin typeface="Calibri" panose="020F0502020204030204" pitchFamily="34" charset="0"/>
                <a:cs typeface="Calibri" panose="020F0502020204030204" pitchFamily="34" charset="0"/>
              </a:rPr>
              <a:t> </a:t>
            </a:r>
            <a:r>
              <a:rPr sz="1000" spc="-10" dirty="0">
                <a:solidFill>
                  <a:schemeClr val="tx1"/>
                </a:solidFill>
                <a:latin typeface="Calibri" panose="020F0502020204030204" pitchFamily="34" charset="0"/>
                <a:cs typeface="Calibri" panose="020F0502020204030204" pitchFamily="34" charset="0"/>
              </a:rPr>
              <a:t>better.</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Use</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prompt</a:t>
            </a:r>
            <a:r>
              <a:rPr sz="1000" spc="-15" dirty="0">
                <a:solidFill>
                  <a:schemeClr val="tx1"/>
                </a:solidFill>
                <a:latin typeface="Calibri" panose="020F0502020204030204" pitchFamily="34" charset="0"/>
                <a:cs typeface="Calibri" panose="020F0502020204030204" pitchFamily="34" charset="0"/>
              </a:rPr>
              <a:t> </a:t>
            </a:r>
            <a:r>
              <a:rPr sz="1000" spc="-10" dirty="0">
                <a:solidFill>
                  <a:schemeClr val="tx1"/>
                </a:solidFill>
                <a:latin typeface="Calibri" panose="020F0502020204030204" pitchFamily="34" charset="0"/>
                <a:cs typeface="Calibri" panose="020F0502020204030204" pitchFamily="34" charset="0"/>
              </a:rPr>
              <a:t>instructions,</a:t>
            </a:r>
            <a:r>
              <a:rPr sz="1000" spc="-35" dirty="0">
                <a:solidFill>
                  <a:schemeClr val="tx1"/>
                </a:solidFill>
                <a:latin typeface="Calibri" panose="020F0502020204030204" pitchFamily="34" charset="0"/>
                <a:cs typeface="Calibri" panose="020F0502020204030204" pitchFamily="34" charset="0"/>
              </a:rPr>
              <a:t> </a:t>
            </a:r>
            <a:r>
              <a:rPr sz="1000" spc="-10" dirty="0">
                <a:solidFill>
                  <a:schemeClr val="tx1"/>
                </a:solidFill>
                <a:latin typeface="Calibri" panose="020F0502020204030204" pitchFamily="34" charset="0"/>
                <a:cs typeface="Calibri" panose="020F0502020204030204" pitchFamily="34" charset="0"/>
              </a:rPr>
              <a:t>Type</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your</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message,</a:t>
            </a:r>
            <a:r>
              <a:rPr sz="1000" spc="-10" dirty="0">
                <a:solidFill>
                  <a:schemeClr val="tx1"/>
                </a:solidFill>
                <a:latin typeface="Calibri" panose="020F0502020204030204" pitchFamily="34" charset="0"/>
                <a:cs typeface="Calibri" panose="020F0502020204030204" pitchFamily="34" charset="0"/>
              </a:rPr>
              <a:t> Manage </a:t>
            </a:r>
            <a:r>
              <a:rPr sz="1000" dirty="0">
                <a:solidFill>
                  <a:schemeClr val="tx1"/>
                </a:solidFill>
                <a:latin typeface="Calibri" panose="020F0502020204030204" pitchFamily="34" charset="0"/>
                <a:cs typeface="Calibri" panose="020F0502020204030204" pitchFamily="34" charset="0"/>
              </a:rPr>
              <a:t>your</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chat,</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Delete</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the</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chat</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from</a:t>
            </a:r>
            <a:r>
              <a:rPr sz="1000" spc="-15" dirty="0">
                <a:solidFill>
                  <a:schemeClr val="tx1"/>
                </a:solidFill>
                <a:latin typeface="Calibri" panose="020F0502020204030204" pitchFamily="34" charset="0"/>
                <a:cs typeface="Calibri" panose="020F0502020204030204" pitchFamily="34" charset="0"/>
              </a:rPr>
              <a:t> </a:t>
            </a:r>
            <a:r>
              <a:rPr sz="1000" spc="-10" dirty="0">
                <a:solidFill>
                  <a:schemeClr val="tx1"/>
                </a:solidFill>
                <a:latin typeface="Calibri" panose="020F0502020204030204" pitchFamily="34" charset="0"/>
                <a:cs typeface="Calibri" panose="020F0502020204030204" pitchFamily="34" charset="0"/>
              </a:rPr>
              <a:t>history,</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Identify</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the</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task</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to</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be</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accomplished</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through</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prompt,</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Before</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you</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draft</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prompt,</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you</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should</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clearly</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understand</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the</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task</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that</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a:t>
            </a:r>
            <a:r>
              <a:rPr sz="1000" spc="-15" dirty="0">
                <a:solidFill>
                  <a:schemeClr val="tx1"/>
                </a:solidFill>
                <a:latin typeface="Calibri" panose="020F0502020204030204" pitchFamily="34" charset="0"/>
                <a:cs typeface="Calibri" panose="020F0502020204030204" pitchFamily="34" charset="0"/>
              </a:rPr>
              <a:t> </a:t>
            </a:r>
            <a:r>
              <a:rPr sz="1000" spc="-10" dirty="0">
                <a:solidFill>
                  <a:schemeClr val="tx1"/>
                </a:solidFill>
                <a:latin typeface="Calibri" panose="020F0502020204030204" pitchFamily="34" charset="0"/>
                <a:cs typeface="Calibri" panose="020F0502020204030204" pitchFamily="34" charset="0"/>
              </a:rPr>
              <a:t>model</a:t>
            </a:r>
            <a:r>
              <a:rPr sz="1000" spc="50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needs</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to </a:t>
            </a:r>
            <a:r>
              <a:rPr sz="1000" spc="-10" dirty="0">
                <a:solidFill>
                  <a:schemeClr val="tx1"/>
                </a:solidFill>
                <a:latin typeface="Calibri" panose="020F0502020204030204" pitchFamily="34" charset="0"/>
                <a:cs typeface="Calibri" panose="020F0502020204030204" pitchFamily="34" charset="0"/>
              </a:rPr>
              <a:t>perform.</a:t>
            </a:r>
            <a:endParaRPr sz="1000" dirty="0">
              <a:solidFill>
                <a:schemeClr val="tx1"/>
              </a:solidFill>
              <a:latin typeface="Calibri" panose="020F0502020204030204" pitchFamily="34" charset="0"/>
              <a:cs typeface="Calibri" panose="020F0502020204030204" pitchFamily="34" charset="0"/>
            </a:endParaRPr>
          </a:p>
          <a:p>
            <a:pPr marL="184150" marR="938530" indent="-171450">
              <a:lnSpc>
                <a:spcPct val="233300"/>
              </a:lnSpc>
              <a:buFont typeface="Arial" panose="020B0604020202020204" pitchFamily="34" charset="0"/>
              <a:buChar char="•"/>
            </a:pPr>
            <a:r>
              <a:rPr sz="1000" dirty="0">
                <a:solidFill>
                  <a:schemeClr val="tx1"/>
                </a:solidFill>
                <a:latin typeface="Calibri" panose="020F0502020204030204" pitchFamily="34" charset="0"/>
                <a:cs typeface="Calibri" panose="020F0502020204030204" pitchFamily="34" charset="0"/>
              </a:rPr>
              <a:t>For</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example,</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do</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you</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want</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the</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model</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to</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generate</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story</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or</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social</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post,</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or</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do</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you</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want</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the</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model</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to</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summarize</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text</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or</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classify</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text</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by</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identifying</a:t>
            </a:r>
            <a:r>
              <a:rPr sz="1000" spc="-15" dirty="0">
                <a:solidFill>
                  <a:schemeClr val="tx1"/>
                </a:solidFill>
                <a:latin typeface="Calibri" panose="020F0502020204030204" pitchFamily="34" charset="0"/>
                <a:cs typeface="Calibri" panose="020F0502020204030204" pitchFamily="34" charset="0"/>
              </a:rPr>
              <a:t> </a:t>
            </a:r>
            <a:r>
              <a:rPr sz="1000" spc="-10" dirty="0">
                <a:solidFill>
                  <a:schemeClr val="tx1"/>
                </a:solidFill>
                <a:latin typeface="Calibri" panose="020F0502020204030204" pitchFamily="34" charset="0"/>
                <a:cs typeface="Calibri" panose="020F0502020204030204" pitchFamily="34" charset="0"/>
              </a:rPr>
              <a:t>sentiments? </a:t>
            </a:r>
            <a:r>
              <a:rPr sz="1000" dirty="0">
                <a:solidFill>
                  <a:schemeClr val="tx1"/>
                </a:solidFill>
                <a:latin typeface="Calibri" panose="020F0502020204030204" pitchFamily="34" charset="0"/>
                <a:cs typeface="Calibri" panose="020F0502020204030204" pitchFamily="34" charset="0"/>
              </a:rPr>
              <a:t>Select</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th</a:t>
            </a:r>
            <a:r>
              <a:rPr lang="en-US" sz="1000" dirty="0">
                <a:solidFill>
                  <a:schemeClr val="tx1"/>
                </a:solidFill>
                <a:latin typeface="Calibri" panose="020F0502020204030204" pitchFamily="34" charset="0"/>
                <a:cs typeface="Calibri" panose="020F0502020204030204" pitchFamily="34" charset="0"/>
              </a:rPr>
              <a:t>e m</a:t>
            </a:r>
            <a:r>
              <a:rPr sz="1000" spc="-10" dirty="0">
                <a:solidFill>
                  <a:schemeClr val="tx1"/>
                </a:solidFill>
                <a:latin typeface="Calibri" panose="020F0502020204030204" pitchFamily="34" charset="0"/>
                <a:cs typeface="Calibri" panose="020F0502020204030204" pitchFamily="34" charset="0"/>
              </a:rPr>
              <a:t>odel</a:t>
            </a:r>
            <a:endParaRPr sz="1000" dirty="0">
              <a:solidFill>
                <a:schemeClr val="tx1"/>
              </a:solidFill>
              <a:latin typeface="Calibri" panose="020F0502020204030204" pitchFamily="34" charset="0"/>
              <a:cs typeface="Calibri" panose="020F0502020204030204" pitchFamily="34" charset="0"/>
            </a:endParaRPr>
          </a:p>
          <a:p>
            <a:pPr marL="171450" indent="-171450">
              <a:lnSpc>
                <a:spcPct val="100000"/>
              </a:lnSpc>
              <a:spcBef>
                <a:spcPts val="380"/>
              </a:spcBef>
              <a:buFont typeface="Arial" panose="020B0604020202020204" pitchFamily="34" charset="0"/>
              <a:buChar char="•"/>
            </a:pPr>
            <a:endParaRPr sz="1000" dirty="0">
              <a:solidFill>
                <a:schemeClr val="tx1"/>
              </a:solidFill>
              <a:latin typeface="Calibri" panose="020F0502020204030204" pitchFamily="34" charset="0"/>
              <a:cs typeface="Calibri" panose="020F0502020204030204" pitchFamily="34" charset="0"/>
            </a:endParaRPr>
          </a:p>
          <a:p>
            <a:pPr marL="184150" indent="-171450">
              <a:lnSpc>
                <a:spcPct val="100000"/>
              </a:lnSpc>
              <a:buFont typeface="Arial" panose="020B0604020202020204" pitchFamily="34" charset="0"/>
              <a:buChar char="•"/>
            </a:pPr>
            <a:r>
              <a:rPr sz="1000" dirty="0">
                <a:solidFill>
                  <a:schemeClr val="tx1"/>
                </a:solidFill>
                <a:latin typeface="Calibri" panose="020F0502020204030204" pitchFamily="34" charset="0"/>
                <a:cs typeface="Calibri" panose="020F0502020204030204" pitchFamily="34" charset="0"/>
              </a:rPr>
              <a:t>Before</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you</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start</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designing</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prompts,</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it</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is</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important</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to</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understand</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the</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model</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you</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will</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leverage</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to</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accomplish</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the</a:t>
            </a:r>
            <a:r>
              <a:rPr sz="1000" spc="-20" dirty="0">
                <a:solidFill>
                  <a:schemeClr val="tx1"/>
                </a:solidFill>
                <a:latin typeface="Calibri" panose="020F0502020204030204" pitchFamily="34" charset="0"/>
                <a:cs typeface="Calibri" panose="020F0502020204030204" pitchFamily="34" charset="0"/>
              </a:rPr>
              <a:t> </a:t>
            </a:r>
            <a:r>
              <a:rPr sz="1000" spc="-10" dirty="0">
                <a:solidFill>
                  <a:schemeClr val="tx1"/>
                </a:solidFill>
                <a:latin typeface="Calibri" panose="020F0502020204030204" pitchFamily="34" charset="0"/>
                <a:cs typeface="Calibri" panose="020F0502020204030204" pitchFamily="34" charset="0"/>
              </a:rPr>
              <a:t>tasks.</a:t>
            </a:r>
            <a:endParaRPr sz="1000" dirty="0">
              <a:solidFill>
                <a:schemeClr val="tx1"/>
              </a:solidFill>
              <a:latin typeface="Calibri" panose="020F0502020204030204" pitchFamily="34" charset="0"/>
              <a:cs typeface="Calibri" panose="020F0502020204030204" pitchFamily="34" charset="0"/>
            </a:endParaRPr>
          </a:p>
          <a:p>
            <a:pPr marL="171450" indent="-171450">
              <a:lnSpc>
                <a:spcPct val="100000"/>
              </a:lnSpc>
              <a:spcBef>
                <a:spcPts val="225"/>
              </a:spcBef>
              <a:buFont typeface="Arial" panose="020B0604020202020204" pitchFamily="34" charset="0"/>
              <a:buChar char="•"/>
            </a:pPr>
            <a:endParaRPr sz="1000" dirty="0">
              <a:solidFill>
                <a:schemeClr val="tx1"/>
              </a:solidFill>
              <a:latin typeface="Calibri" panose="020F0502020204030204" pitchFamily="34" charset="0"/>
              <a:cs typeface="Calibri" panose="020F0502020204030204" pitchFamily="34" charset="0"/>
            </a:endParaRPr>
          </a:p>
          <a:p>
            <a:pPr marL="184150" marR="101600" indent="-171450">
              <a:lnSpc>
                <a:spcPct val="115700"/>
              </a:lnSpc>
              <a:buFont typeface="Arial" panose="020B0604020202020204" pitchFamily="34" charset="0"/>
              <a:buChar char="•"/>
            </a:pPr>
            <a:r>
              <a:rPr sz="1000" dirty="0">
                <a:solidFill>
                  <a:schemeClr val="tx1"/>
                </a:solidFill>
                <a:latin typeface="Calibri" panose="020F0502020204030204" pitchFamily="34" charset="0"/>
                <a:cs typeface="Calibri" panose="020F0502020204030204" pitchFamily="34" charset="0"/>
              </a:rPr>
              <a:t>OpenAI's</a:t>
            </a:r>
            <a:r>
              <a:rPr sz="1000" spc="-25" dirty="0">
                <a:solidFill>
                  <a:schemeClr val="tx1"/>
                </a:solidFill>
                <a:latin typeface="Calibri" panose="020F0502020204030204" pitchFamily="34" charset="0"/>
                <a:cs typeface="Calibri" panose="020F0502020204030204" pitchFamily="34" charset="0"/>
              </a:rPr>
              <a:t> GPT-</a:t>
            </a:r>
            <a:r>
              <a:rPr sz="1000" dirty="0">
                <a:solidFill>
                  <a:schemeClr val="tx1"/>
                </a:solidFill>
                <a:latin typeface="Calibri" panose="020F0502020204030204" pitchFamily="34" charset="0"/>
                <a:cs typeface="Calibri" panose="020F0502020204030204" pitchFamily="34" charset="0"/>
              </a:rPr>
              <a:t>5</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Nano</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is</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an</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advanced</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foundation</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large</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language</a:t>
            </a:r>
            <a:r>
              <a:rPr sz="1000" spc="-10" dirty="0">
                <a:solidFill>
                  <a:schemeClr val="tx1"/>
                </a:solidFill>
                <a:latin typeface="Calibri" panose="020F0502020204030204" pitchFamily="34" charset="0"/>
                <a:cs typeface="Calibri" panose="020F0502020204030204" pitchFamily="34" charset="0"/>
              </a:rPr>
              <a:t> model.</a:t>
            </a:r>
            <a:r>
              <a:rPr sz="1000" spc="-5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As</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powerful</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tool</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for</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generating</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coherent</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and</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contextually</a:t>
            </a:r>
            <a:r>
              <a:rPr sz="1000" spc="-1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relevant</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text,</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the</a:t>
            </a:r>
            <a:r>
              <a:rPr sz="1000" spc="-15" dirty="0">
                <a:solidFill>
                  <a:schemeClr val="tx1"/>
                </a:solidFill>
                <a:latin typeface="Calibri" panose="020F0502020204030204" pitchFamily="34" charset="0"/>
                <a:cs typeface="Calibri" panose="020F0502020204030204" pitchFamily="34" charset="0"/>
              </a:rPr>
              <a:t> </a:t>
            </a:r>
            <a:r>
              <a:rPr sz="1000" spc="-25" dirty="0">
                <a:solidFill>
                  <a:schemeClr val="tx1"/>
                </a:solidFill>
                <a:latin typeface="Calibri" panose="020F0502020204030204" pitchFamily="34" charset="0"/>
                <a:cs typeface="Calibri" panose="020F0502020204030204" pitchFamily="34" charset="0"/>
              </a:rPr>
              <a:t>GPT-</a:t>
            </a:r>
            <a:r>
              <a:rPr sz="1000" dirty="0">
                <a:solidFill>
                  <a:schemeClr val="tx1"/>
                </a:solidFill>
                <a:latin typeface="Calibri" panose="020F0502020204030204" pitchFamily="34" charset="0"/>
                <a:cs typeface="Calibri" panose="020F0502020204030204" pitchFamily="34" charset="0"/>
              </a:rPr>
              <a:t>5</a:t>
            </a:r>
            <a:r>
              <a:rPr sz="1000" spc="-1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Nano</a:t>
            </a:r>
            <a:r>
              <a:rPr sz="1000" spc="-15" dirty="0">
                <a:solidFill>
                  <a:schemeClr val="tx1"/>
                </a:solidFill>
                <a:latin typeface="Calibri" panose="020F0502020204030204" pitchFamily="34" charset="0"/>
                <a:cs typeface="Calibri" panose="020F0502020204030204" pitchFamily="34" charset="0"/>
              </a:rPr>
              <a:t> </a:t>
            </a:r>
            <a:r>
              <a:rPr sz="1000" spc="-10" dirty="0">
                <a:solidFill>
                  <a:schemeClr val="tx1"/>
                </a:solidFill>
                <a:latin typeface="Calibri" panose="020F0502020204030204" pitchFamily="34" charset="0"/>
                <a:cs typeface="Calibri" panose="020F0502020204030204" pitchFamily="34" charset="0"/>
              </a:rPr>
              <a:t>foundation </a:t>
            </a:r>
            <a:r>
              <a:rPr sz="1000" dirty="0">
                <a:solidFill>
                  <a:schemeClr val="tx1"/>
                </a:solidFill>
                <a:latin typeface="Calibri" panose="020F0502020204030204" pitchFamily="34" charset="0"/>
                <a:cs typeface="Calibri" panose="020F0502020204030204" pitchFamily="34" charset="0"/>
              </a:rPr>
              <a:t>model</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can</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be</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used</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for</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various</a:t>
            </a:r>
            <a:r>
              <a:rPr sz="1000" spc="-20" dirty="0">
                <a:solidFill>
                  <a:schemeClr val="tx1"/>
                </a:solidFill>
                <a:latin typeface="Calibri" panose="020F0502020204030204" pitchFamily="34" charset="0"/>
                <a:cs typeface="Calibri" panose="020F0502020204030204" pitchFamily="34" charset="0"/>
              </a:rPr>
              <a:t> </a:t>
            </a:r>
            <a:r>
              <a:rPr sz="1000" spc="-10" dirty="0">
                <a:solidFill>
                  <a:schemeClr val="tx1"/>
                </a:solidFill>
                <a:latin typeface="Calibri" panose="020F0502020204030204" pitchFamily="34" charset="0"/>
                <a:cs typeface="Calibri" panose="020F0502020204030204" pitchFamily="34" charset="0"/>
              </a:rPr>
              <a:t>applications,</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including</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chatbots,</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virtual</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assistants,</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content</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generation,</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and</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more.</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It</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can</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be</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applied</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for</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translating</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languages,</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answering</a:t>
            </a:r>
            <a:r>
              <a:rPr sz="1000" spc="-20" dirty="0">
                <a:solidFill>
                  <a:schemeClr val="tx1"/>
                </a:solidFill>
                <a:latin typeface="Calibri" panose="020F0502020204030204" pitchFamily="34" charset="0"/>
                <a:cs typeface="Calibri" panose="020F0502020204030204" pitchFamily="34" charset="0"/>
              </a:rPr>
              <a:t> </a:t>
            </a:r>
            <a:r>
              <a:rPr sz="1000" spc="-10" dirty="0">
                <a:solidFill>
                  <a:schemeClr val="tx1"/>
                </a:solidFill>
                <a:latin typeface="Calibri" panose="020F0502020204030204" pitchFamily="34" charset="0"/>
                <a:cs typeface="Calibri" panose="020F0502020204030204" pitchFamily="34" charset="0"/>
              </a:rPr>
              <a:t>questions</a:t>
            </a:r>
            <a:r>
              <a:rPr sz="1000" spc="50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in</a:t>
            </a:r>
            <a:r>
              <a:rPr sz="1000" spc="-3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an</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informative</a:t>
            </a:r>
            <a:r>
              <a:rPr sz="1000" spc="-20" dirty="0">
                <a:solidFill>
                  <a:schemeClr val="tx1"/>
                </a:solidFill>
                <a:latin typeface="Calibri" panose="020F0502020204030204" pitchFamily="34" charset="0"/>
                <a:cs typeface="Calibri" panose="020F0502020204030204" pitchFamily="34" charset="0"/>
              </a:rPr>
              <a:t> </a:t>
            </a:r>
            <a:r>
              <a:rPr sz="1000" spc="-10" dirty="0">
                <a:solidFill>
                  <a:schemeClr val="tx1"/>
                </a:solidFill>
                <a:latin typeface="Calibri" panose="020F0502020204030204" pitchFamily="34" charset="0"/>
                <a:cs typeface="Calibri" panose="020F0502020204030204" pitchFamily="34" charset="0"/>
              </a:rPr>
              <a:t>way,</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and</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completing</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tasks</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such</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as</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writing</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poems,</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code,</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scripts,</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musical</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pieces,</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emails,</a:t>
            </a:r>
            <a:r>
              <a:rPr sz="1000" spc="-25"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letters,</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and</a:t>
            </a:r>
            <a:r>
              <a:rPr sz="1000" spc="-20" dirty="0">
                <a:solidFill>
                  <a:schemeClr val="tx1"/>
                </a:solidFill>
                <a:latin typeface="Calibri" panose="020F0502020204030204" pitchFamily="34" charset="0"/>
                <a:cs typeface="Calibri" panose="020F0502020204030204" pitchFamily="34" charset="0"/>
              </a:rPr>
              <a:t> </a:t>
            </a:r>
            <a:r>
              <a:rPr sz="1000" dirty="0">
                <a:solidFill>
                  <a:schemeClr val="tx1"/>
                </a:solidFill>
                <a:latin typeface="Calibri" panose="020F0502020204030204" pitchFamily="34" charset="0"/>
                <a:cs typeface="Calibri" panose="020F0502020204030204" pitchFamily="34" charset="0"/>
              </a:rPr>
              <a:t>so</a:t>
            </a:r>
            <a:r>
              <a:rPr sz="1000" spc="-20" dirty="0">
                <a:solidFill>
                  <a:schemeClr val="tx1"/>
                </a:solidFill>
                <a:latin typeface="Calibri" panose="020F0502020204030204" pitchFamily="34" charset="0"/>
                <a:cs typeface="Calibri" panose="020F0502020204030204" pitchFamily="34" charset="0"/>
              </a:rPr>
              <a:t> </a:t>
            </a:r>
            <a:r>
              <a:rPr sz="1000" spc="-25" dirty="0">
                <a:solidFill>
                  <a:schemeClr val="tx1"/>
                </a:solidFill>
                <a:latin typeface="Calibri" panose="020F0502020204030204" pitchFamily="34" charset="0"/>
                <a:cs typeface="Calibri" panose="020F0502020204030204" pitchFamily="34" charset="0"/>
              </a:rPr>
              <a:t>on.</a:t>
            </a:r>
            <a:endParaRPr sz="1000" dirty="0">
              <a:solidFill>
                <a:schemeClr val="tx1"/>
              </a:solidFill>
              <a:latin typeface="Calibri" panose="020F0502020204030204" pitchFamily="34" charset="0"/>
              <a:cs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52400" y="133350"/>
            <a:ext cx="8597179" cy="3558025"/>
          </a:xfrm>
          <a:prstGeom prst="rect">
            <a:avLst/>
          </a:prstGeom>
        </p:spPr>
        <p:txBody>
          <a:bodyPr vert="horz" wrap="square" lIns="0" tIns="23495" rIns="0" bIns="0" rtlCol="0">
            <a:spAutoFit/>
          </a:bodyPr>
          <a:lstStyle/>
          <a:p>
            <a:pPr marL="184150" marR="50800" indent="-171450">
              <a:spcBef>
                <a:spcPts val="185"/>
              </a:spcBef>
              <a:buFont typeface="Arial" panose="020B0604020202020204" pitchFamily="34" charset="0"/>
              <a:buChar char="•"/>
            </a:pPr>
            <a:r>
              <a:rPr sz="1200" dirty="0">
                <a:solidFill>
                  <a:schemeClr val="tx1"/>
                </a:solidFill>
                <a:latin typeface="Calibri" panose="020F0502020204030204" pitchFamily="34" charset="0"/>
                <a:cs typeface="Calibri" panose="020F0502020204030204" pitchFamily="34" charset="0"/>
              </a:rPr>
              <a:t>Writing</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effective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prompts</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is</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crucial</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for</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utilizing</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full</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potential</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of</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generative</a:t>
            </a:r>
            <a:r>
              <a:rPr sz="1200" spc="1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AI</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models</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to</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produce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relevant</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and</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accurate</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responses.</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By</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applying</a:t>
            </a:r>
            <a:r>
              <a:rPr sz="1200" spc="85" dirty="0">
                <a:solidFill>
                  <a:schemeClr val="tx1"/>
                </a:solidFill>
                <a:latin typeface="Calibri" panose="020F0502020204030204" pitchFamily="34" charset="0"/>
                <a:cs typeface="Calibri" panose="020F0502020204030204" pitchFamily="34" charset="0"/>
              </a:rPr>
              <a:t> </a:t>
            </a:r>
            <a:r>
              <a:rPr sz="1200" spc="-25" dirty="0">
                <a:solidFill>
                  <a:schemeClr val="tx1"/>
                </a:solidFill>
                <a:latin typeface="Calibri" panose="020F0502020204030204" pitchFamily="34" charset="0"/>
                <a:cs typeface="Calibri" panose="020F0502020204030204" pitchFamily="34" charset="0"/>
              </a:rPr>
              <a:t>the </a:t>
            </a:r>
            <a:r>
              <a:rPr sz="1200" dirty="0">
                <a:solidFill>
                  <a:schemeClr val="tx1"/>
                </a:solidFill>
                <a:latin typeface="Calibri" panose="020F0502020204030204" pitchFamily="34" charset="0"/>
                <a:cs typeface="Calibri" panose="020F0502020204030204" pitchFamily="34" charset="0"/>
              </a:rPr>
              <a:t>best</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practices</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for</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creating</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effective</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prompts,</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you</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can</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supervise</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style,</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tone,</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and</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content</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of</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output</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generated.</a:t>
            </a:r>
            <a:r>
              <a:rPr sz="1200" spc="5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You</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can</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apply</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best</a:t>
            </a:r>
            <a:r>
              <a:rPr sz="1200" spc="75" dirty="0">
                <a:solidFill>
                  <a:schemeClr val="tx1"/>
                </a:solidFill>
                <a:latin typeface="Calibri" panose="020F0502020204030204" pitchFamily="34" charset="0"/>
                <a:cs typeface="Calibri" panose="020F0502020204030204" pitchFamily="34" charset="0"/>
              </a:rPr>
              <a:t> </a:t>
            </a:r>
            <a:r>
              <a:rPr sz="1200" spc="-10" dirty="0">
                <a:solidFill>
                  <a:schemeClr val="tx1"/>
                </a:solidFill>
                <a:latin typeface="Calibri" panose="020F0502020204030204" pitchFamily="34" charset="0"/>
                <a:cs typeface="Calibri" panose="020F0502020204030204" pitchFamily="34" charset="0"/>
              </a:rPr>
              <a:t>practices</a:t>
            </a:r>
            <a:r>
              <a:rPr sz="1200" spc="5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for</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crafting</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effective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prompts</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across</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four</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essential</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dimensions:</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clarity,</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context,</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precision,</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and</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role</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play</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or</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persona</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pattern.</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Let's</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explore</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each</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of</a:t>
            </a:r>
            <a:r>
              <a:rPr sz="1200" spc="85" dirty="0">
                <a:solidFill>
                  <a:schemeClr val="tx1"/>
                </a:solidFill>
                <a:latin typeface="Calibri" panose="020F0502020204030204" pitchFamily="34" charset="0"/>
                <a:cs typeface="Calibri" panose="020F0502020204030204" pitchFamily="34" charset="0"/>
              </a:rPr>
              <a:t> </a:t>
            </a:r>
            <a:r>
              <a:rPr sz="1200" spc="-10" dirty="0">
                <a:solidFill>
                  <a:schemeClr val="tx1"/>
                </a:solidFill>
                <a:latin typeface="Calibri" panose="020F0502020204030204" pitchFamily="34" charset="0"/>
                <a:cs typeface="Calibri" panose="020F0502020204030204" pitchFamily="34" charset="0"/>
              </a:rPr>
              <a:t>these </a:t>
            </a:r>
            <a:r>
              <a:rPr sz="1200" dirty="0">
                <a:solidFill>
                  <a:schemeClr val="tx1"/>
                </a:solidFill>
                <a:latin typeface="Calibri" panose="020F0502020204030204" pitchFamily="34" charset="0"/>
                <a:cs typeface="Calibri" panose="020F0502020204030204" pitchFamily="34" charset="0"/>
              </a:rPr>
              <a:t>aspects</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individually.</a:t>
            </a:r>
            <a:r>
              <a:rPr sz="1200" spc="5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To</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have</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clarity</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in</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your</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prompt,</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keep</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following</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points</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in</a:t>
            </a:r>
            <a:r>
              <a:rPr sz="1200" spc="80" dirty="0">
                <a:solidFill>
                  <a:schemeClr val="tx1"/>
                </a:solidFill>
                <a:latin typeface="Calibri" panose="020F0502020204030204" pitchFamily="34" charset="0"/>
                <a:cs typeface="Calibri" panose="020F0502020204030204" pitchFamily="34" charset="0"/>
              </a:rPr>
              <a:t> </a:t>
            </a:r>
            <a:r>
              <a:rPr sz="1200" spc="-10" dirty="0">
                <a:solidFill>
                  <a:schemeClr val="tx1"/>
                </a:solidFill>
                <a:latin typeface="Calibri" panose="020F0502020204030204" pitchFamily="34" charset="0"/>
                <a:cs typeface="Calibri" panose="020F0502020204030204" pitchFamily="34" charset="0"/>
              </a:rPr>
              <a:t>mind.</a:t>
            </a:r>
            <a:endParaRPr sz="1200" dirty="0">
              <a:solidFill>
                <a:schemeClr val="tx1"/>
              </a:solidFill>
              <a:latin typeface="Calibri" panose="020F0502020204030204" pitchFamily="34" charset="0"/>
              <a:cs typeface="Calibri" panose="020F0502020204030204" pitchFamily="34" charset="0"/>
            </a:endParaRPr>
          </a:p>
          <a:p>
            <a:pPr marL="171450" indent="-171450">
              <a:spcBef>
                <a:spcPts val="100"/>
              </a:spcBef>
              <a:buFont typeface="Arial" panose="020B0604020202020204" pitchFamily="34" charset="0"/>
              <a:buChar char="•"/>
            </a:pPr>
            <a:endParaRPr sz="1200" dirty="0">
              <a:solidFill>
                <a:schemeClr val="tx1"/>
              </a:solidFill>
              <a:latin typeface="Calibri" panose="020F0502020204030204" pitchFamily="34" charset="0"/>
              <a:cs typeface="Calibri" panose="020F0502020204030204" pitchFamily="34" charset="0"/>
            </a:endParaRPr>
          </a:p>
          <a:p>
            <a:pPr marL="184150" marR="191135" indent="-171450">
              <a:buFont typeface="Arial" panose="020B0604020202020204" pitchFamily="34" charset="0"/>
              <a:buChar char="•"/>
            </a:pPr>
            <a:r>
              <a:rPr sz="1200" dirty="0">
                <a:solidFill>
                  <a:schemeClr val="tx1"/>
                </a:solidFill>
                <a:latin typeface="Calibri" panose="020F0502020204030204" pitchFamily="34" charset="0"/>
                <a:cs typeface="Calibri" panose="020F0502020204030204" pitchFamily="34" charset="0"/>
              </a:rPr>
              <a:t>Simple</a:t>
            </a:r>
            <a:r>
              <a:rPr sz="1200" spc="10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and</a:t>
            </a:r>
            <a:r>
              <a:rPr sz="1200" spc="11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straightforward</a:t>
            </a:r>
            <a:r>
              <a:rPr sz="1200" spc="11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language</a:t>
            </a:r>
            <a:r>
              <a:rPr sz="1200" spc="11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can</a:t>
            </a:r>
            <a:r>
              <a:rPr sz="1200" spc="11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convey</a:t>
            </a:r>
            <a:r>
              <a:rPr sz="1200" spc="11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instructions</a:t>
            </a:r>
            <a:r>
              <a:rPr sz="1200" spc="11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easily.</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Write</a:t>
            </a:r>
            <a:r>
              <a:rPr sz="1200" spc="11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prompts</a:t>
            </a:r>
            <a:r>
              <a:rPr sz="1200" spc="11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that</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are</a:t>
            </a:r>
            <a:r>
              <a:rPr sz="1200" spc="11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unambiguous</a:t>
            </a:r>
            <a:r>
              <a:rPr sz="1200" spc="11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and</a:t>
            </a:r>
            <a:r>
              <a:rPr sz="1200" spc="11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easy</a:t>
            </a:r>
            <a:r>
              <a:rPr sz="1200" spc="11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to</a:t>
            </a:r>
            <a:r>
              <a:rPr sz="1200" spc="11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comprehend.</a:t>
            </a:r>
            <a:r>
              <a:rPr sz="1200" spc="100" dirty="0">
                <a:solidFill>
                  <a:schemeClr val="tx1"/>
                </a:solidFill>
                <a:latin typeface="Calibri" panose="020F0502020204030204" pitchFamily="34" charset="0"/>
                <a:cs typeface="Calibri" panose="020F0502020204030204" pitchFamily="34" charset="0"/>
              </a:rPr>
              <a:t> </a:t>
            </a:r>
            <a:r>
              <a:rPr sz="1200" spc="-10" dirty="0">
                <a:solidFill>
                  <a:schemeClr val="tx1"/>
                </a:solidFill>
                <a:latin typeface="Calibri" panose="020F0502020204030204" pitchFamily="34" charset="0"/>
                <a:cs typeface="Calibri" panose="020F0502020204030204" pitchFamily="34" charset="0"/>
              </a:rPr>
              <a:t>Specialized </a:t>
            </a:r>
            <a:r>
              <a:rPr sz="1200" dirty="0">
                <a:solidFill>
                  <a:schemeClr val="tx1"/>
                </a:solidFill>
                <a:latin typeface="Calibri" panose="020F0502020204030204" pitchFamily="34" charset="0"/>
                <a:cs typeface="Calibri" panose="020F0502020204030204" pitchFamily="34" charset="0"/>
              </a:rPr>
              <a:t>terminologies</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can</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potentially</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puzzle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model</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or</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users,</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so</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write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prompts</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using</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simple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terms</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that</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can</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be</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understood</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by</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broad</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range</a:t>
            </a:r>
            <a:r>
              <a:rPr sz="1200" spc="85" dirty="0">
                <a:solidFill>
                  <a:schemeClr val="tx1"/>
                </a:solidFill>
                <a:latin typeface="Calibri" panose="020F0502020204030204" pitchFamily="34" charset="0"/>
                <a:cs typeface="Calibri" panose="020F0502020204030204" pitchFamily="34" charset="0"/>
              </a:rPr>
              <a:t> </a:t>
            </a:r>
            <a:r>
              <a:rPr sz="1200" spc="-25" dirty="0">
                <a:solidFill>
                  <a:schemeClr val="tx1"/>
                </a:solidFill>
                <a:latin typeface="Calibri" panose="020F0502020204030204" pitchFamily="34" charset="0"/>
                <a:cs typeface="Calibri" panose="020F0502020204030204" pitchFamily="34" charset="0"/>
              </a:rPr>
              <a:t>of </a:t>
            </a:r>
            <a:r>
              <a:rPr sz="1200" dirty="0">
                <a:solidFill>
                  <a:schemeClr val="tx1"/>
                </a:solidFill>
                <a:latin typeface="Calibri" panose="020F0502020204030204" pitchFamily="34" charset="0"/>
                <a:cs typeface="Calibri" panose="020F0502020204030204" pitchFamily="34" charset="0"/>
              </a:rPr>
              <a:t>audiences.</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Vague</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prompts</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could</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lead</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to</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responses</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that</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do</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not</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align</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with</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your</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intentions,</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therefore,</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you</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must</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provide</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clear</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description</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of</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85" dirty="0">
                <a:solidFill>
                  <a:schemeClr val="tx1"/>
                </a:solidFill>
                <a:latin typeface="Calibri" panose="020F0502020204030204" pitchFamily="34" charset="0"/>
                <a:cs typeface="Calibri" panose="020F0502020204030204" pitchFamily="34" charset="0"/>
              </a:rPr>
              <a:t> </a:t>
            </a:r>
            <a:r>
              <a:rPr sz="1200" spc="-20" dirty="0">
                <a:solidFill>
                  <a:schemeClr val="tx1"/>
                </a:solidFill>
                <a:latin typeface="Calibri" panose="020F0502020204030204" pitchFamily="34" charset="0"/>
                <a:cs typeface="Calibri" panose="020F0502020204030204" pitchFamily="34" charset="0"/>
              </a:rPr>
              <a:t>task </a:t>
            </a:r>
            <a:r>
              <a:rPr sz="1200" dirty="0">
                <a:solidFill>
                  <a:schemeClr val="tx1"/>
                </a:solidFill>
                <a:latin typeface="Calibri" panose="020F0502020204030204" pitchFamily="34" charset="0"/>
                <a:cs typeface="Calibri" panose="020F0502020204030204" pitchFamily="34" charset="0"/>
              </a:rPr>
              <a:t>that</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model</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must</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perform.</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Let's</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understand</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this</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through</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example.</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Discuss</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culinary</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processes</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that</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take</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place</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on</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foliaceous</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stipules</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of</a:t>
            </a:r>
            <a:r>
              <a:rPr sz="1200" spc="95" dirty="0">
                <a:solidFill>
                  <a:schemeClr val="tx1"/>
                </a:solidFill>
                <a:latin typeface="Calibri" panose="020F0502020204030204" pitchFamily="34" charset="0"/>
                <a:cs typeface="Calibri" panose="020F0502020204030204" pitchFamily="34" charset="0"/>
              </a:rPr>
              <a:t> </a:t>
            </a:r>
            <a:r>
              <a:rPr sz="1200" spc="-10" dirty="0">
                <a:solidFill>
                  <a:schemeClr val="tx1"/>
                </a:solidFill>
                <a:latin typeface="Calibri" panose="020F0502020204030204" pitchFamily="34" charset="0"/>
                <a:cs typeface="Calibri" panose="020F0502020204030204" pitchFamily="34" charset="0"/>
              </a:rPr>
              <a:t>plants </a:t>
            </a:r>
            <a:r>
              <a:rPr sz="1200" dirty="0">
                <a:solidFill>
                  <a:schemeClr val="tx1"/>
                </a:solidFill>
                <a:latin typeface="Calibri" panose="020F0502020204030204" pitchFamily="34" charset="0"/>
                <a:cs typeface="Calibri" panose="020F0502020204030204" pitchFamily="34" charset="0"/>
              </a:rPr>
              <a:t>with</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help</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of</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sunlight,</a:t>
            </a:r>
            <a:r>
              <a:rPr sz="1200" spc="6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also</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mention</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green</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thing</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and</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how</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light,</a:t>
            </a:r>
            <a:r>
              <a:rPr sz="1200" spc="6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air,</a:t>
            </a:r>
            <a:r>
              <a:rPr sz="1200" spc="6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and</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water</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are</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important</a:t>
            </a:r>
            <a:r>
              <a:rPr sz="1200" spc="6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for</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aerial</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parts</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of</a:t>
            </a:r>
            <a:r>
              <a:rPr sz="1200" spc="6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plant.</a:t>
            </a:r>
            <a:r>
              <a:rPr sz="1200" spc="4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This</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prompt</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has</a:t>
            </a:r>
            <a:r>
              <a:rPr sz="1200" spc="70" dirty="0">
                <a:solidFill>
                  <a:schemeClr val="tx1"/>
                </a:solidFill>
                <a:latin typeface="Calibri" panose="020F0502020204030204" pitchFamily="34" charset="0"/>
                <a:cs typeface="Calibri" panose="020F0502020204030204" pitchFamily="34" charset="0"/>
              </a:rPr>
              <a:t> </a:t>
            </a:r>
            <a:r>
              <a:rPr sz="1200" spc="-20" dirty="0">
                <a:solidFill>
                  <a:schemeClr val="tx1"/>
                </a:solidFill>
                <a:latin typeface="Calibri" panose="020F0502020204030204" pitchFamily="34" charset="0"/>
                <a:cs typeface="Calibri" panose="020F0502020204030204" pitchFamily="34" charset="0"/>
              </a:rPr>
              <a:t>much </a:t>
            </a:r>
            <a:r>
              <a:rPr sz="1200" spc="-10" dirty="0">
                <a:solidFill>
                  <a:schemeClr val="tx1"/>
                </a:solidFill>
                <a:latin typeface="Calibri" panose="020F0502020204030204" pitchFamily="34" charset="0"/>
                <a:cs typeface="Calibri" panose="020F0502020204030204" pitchFamily="34" charset="0"/>
              </a:rPr>
              <a:t>ambiguity.</a:t>
            </a:r>
            <a:endParaRPr sz="1200" dirty="0">
              <a:solidFill>
                <a:schemeClr val="tx1"/>
              </a:solidFill>
              <a:latin typeface="Calibri" panose="020F0502020204030204" pitchFamily="34" charset="0"/>
              <a:cs typeface="Calibri" panose="020F0502020204030204" pitchFamily="34" charset="0"/>
            </a:endParaRPr>
          </a:p>
          <a:p>
            <a:pPr marL="171450" indent="-171450">
              <a:spcBef>
                <a:spcPts val="100"/>
              </a:spcBef>
              <a:buFont typeface="Arial" panose="020B0604020202020204" pitchFamily="34" charset="0"/>
              <a:buChar char="•"/>
            </a:pPr>
            <a:endParaRPr sz="1200" dirty="0">
              <a:solidFill>
                <a:schemeClr val="tx1"/>
              </a:solidFill>
              <a:latin typeface="Calibri" panose="020F0502020204030204" pitchFamily="34" charset="0"/>
              <a:cs typeface="Calibri" panose="020F0502020204030204" pitchFamily="34" charset="0"/>
            </a:endParaRPr>
          </a:p>
          <a:p>
            <a:pPr marL="184150" marR="5080" indent="-171450">
              <a:buFont typeface="Arial" panose="020B0604020202020204" pitchFamily="34" charset="0"/>
              <a:buChar char="•"/>
            </a:pPr>
            <a:r>
              <a:rPr sz="1200" dirty="0">
                <a:solidFill>
                  <a:schemeClr val="tx1"/>
                </a:solidFill>
                <a:latin typeface="Calibri" panose="020F0502020204030204" pitchFamily="34" charset="0"/>
                <a:cs typeface="Calibri" panose="020F0502020204030204" pitchFamily="34" charset="0"/>
              </a:rPr>
              <a:t>Nowhere</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does</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it</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explicitly</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mention</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process</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you</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want</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to</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discuss.</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prompt</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contains</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complex</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terminologies</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which</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make</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it</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difficult</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to</a:t>
            </a:r>
            <a:r>
              <a:rPr sz="1200" spc="95" dirty="0">
                <a:solidFill>
                  <a:schemeClr val="tx1"/>
                </a:solidFill>
                <a:latin typeface="Calibri" panose="020F0502020204030204" pitchFamily="34" charset="0"/>
                <a:cs typeface="Calibri" panose="020F0502020204030204" pitchFamily="34" charset="0"/>
              </a:rPr>
              <a:t> </a:t>
            </a:r>
            <a:r>
              <a:rPr sz="1200" spc="-10" dirty="0">
                <a:solidFill>
                  <a:schemeClr val="tx1"/>
                </a:solidFill>
                <a:latin typeface="Calibri" panose="020F0502020204030204" pitchFamily="34" charset="0"/>
                <a:cs typeface="Calibri" panose="020F0502020204030204" pitchFamily="34" charset="0"/>
              </a:rPr>
              <a:t>comprehend. </a:t>
            </a:r>
            <a:r>
              <a:rPr sz="1200" dirty="0">
                <a:solidFill>
                  <a:schemeClr val="tx1"/>
                </a:solidFill>
                <a:latin typeface="Calibri" panose="020F0502020204030204" pitchFamily="34" charset="0"/>
                <a:cs typeface="Calibri" panose="020F0502020204030204" pitchFamily="34" charset="0"/>
              </a:rPr>
              <a:t>It's</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also</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vague</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and</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does</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not</a:t>
            </a:r>
            <a:r>
              <a:rPr sz="1200" spc="6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clearly</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describe</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task</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at</a:t>
            </a:r>
            <a:r>
              <a:rPr sz="1200" spc="6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hand.</a:t>
            </a:r>
            <a:r>
              <a:rPr sz="1200" spc="5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To</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ensure</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clarity,</a:t>
            </a:r>
            <a:r>
              <a:rPr sz="1200" spc="6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you</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can</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rewrite</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this</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prompt</a:t>
            </a:r>
            <a:r>
              <a:rPr sz="1200" spc="6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as,</a:t>
            </a:r>
            <a:r>
              <a:rPr sz="1200" spc="6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explain</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process</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of</a:t>
            </a:r>
            <a:r>
              <a:rPr sz="1200" spc="60" dirty="0">
                <a:solidFill>
                  <a:schemeClr val="tx1"/>
                </a:solidFill>
                <a:latin typeface="Calibri" panose="020F0502020204030204" pitchFamily="34" charset="0"/>
                <a:cs typeface="Calibri" panose="020F0502020204030204" pitchFamily="34" charset="0"/>
              </a:rPr>
              <a:t> </a:t>
            </a:r>
            <a:r>
              <a:rPr sz="1200" spc="-10" dirty="0">
                <a:solidFill>
                  <a:schemeClr val="tx1"/>
                </a:solidFill>
                <a:latin typeface="Calibri" panose="020F0502020204030204" pitchFamily="34" charset="0"/>
                <a:cs typeface="Calibri" panose="020F0502020204030204" pitchFamily="34" charset="0"/>
              </a:rPr>
              <a:t>photosynthesis</a:t>
            </a:r>
            <a:r>
              <a:rPr sz="1200" spc="5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in</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plants,</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detailing</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role</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of</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chlorophyll</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and</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how</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sunlight,</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carbon</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dioxide,</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and</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water</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contribute</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to</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this</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biological</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function.</a:t>
            </a:r>
            <a:r>
              <a:rPr sz="1200" spc="6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revised</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prompt</a:t>
            </a:r>
            <a:r>
              <a:rPr sz="1200" spc="80" dirty="0">
                <a:solidFill>
                  <a:schemeClr val="tx1"/>
                </a:solidFill>
                <a:latin typeface="Calibri" panose="020F0502020204030204" pitchFamily="34" charset="0"/>
                <a:cs typeface="Calibri" panose="020F0502020204030204" pitchFamily="34" charset="0"/>
              </a:rPr>
              <a:t> </a:t>
            </a:r>
            <a:r>
              <a:rPr sz="1200" spc="-25" dirty="0">
                <a:solidFill>
                  <a:schemeClr val="tx1"/>
                </a:solidFill>
                <a:latin typeface="Calibri" panose="020F0502020204030204" pitchFamily="34" charset="0"/>
                <a:cs typeface="Calibri" panose="020F0502020204030204" pitchFamily="34" charset="0"/>
              </a:rPr>
              <a:t>has </a:t>
            </a:r>
            <a:r>
              <a:rPr sz="1200" dirty="0">
                <a:solidFill>
                  <a:schemeClr val="tx1"/>
                </a:solidFill>
                <a:latin typeface="Calibri" panose="020F0502020204030204" pitchFamily="34" charset="0"/>
                <a:cs typeface="Calibri" panose="020F0502020204030204" pitchFamily="34" charset="0"/>
              </a:rPr>
              <a:t>simple,</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clear,</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and</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concise</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language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and</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explicitly</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states</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that</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you</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want</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to</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discuss</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process</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of</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photosynthesis</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in</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plants.</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Moving</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on</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to</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90" dirty="0">
                <a:solidFill>
                  <a:schemeClr val="tx1"/>
                </a:solidFill>
                <a:latin typeface="Calibri" panose="020F0502020204030204" pitchFamily="34" charset="0"/>
                <a:cs typeface="Calibri" panose="020F0502020204030204" pitchFamily="34" charset="0"/>
              </a:rPr>
              <a:t> </a:t>
            </a:r>
            <a:r>
              <a:rPr sz="1200" spc="-20" dirty="0">
                <a:solidFill>
                  <a:schemeClr val="tx1"/>
                </a:solidFill>
                <a:latin typeface="Calibri" panose="020F0502020204030204" pitchFamily="34" charset="0"/>
                <a:cs typeface="Calibri" panose="020F0502020204030204" pitchFamily="34" charset="0"/>
              </a:rPr>
              <a:t>next </a:t>
            </a:r>
            <a:r>
              <a:rPr sz="1200" dirty="0">
                <a:solidFill>
                  <a:schemeClr val="tx1"/>
                </a:solidFill>
                <a:latin typeface="Calibri" panose="020F0502020204030204" pitchFamily="34" charset="0"/>
                <a:cs typeface="Calibri" panose="020F0502020204030204" pitchFamily="34" charset="0"/>
              </a:rPr>
              <a:t>essential</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dimension,</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which</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is</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context.</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Context</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always</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helps</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model</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understand</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situation</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or</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90" dirty="0">
                <a:solidFill>
                  <a:schemeClr val="tx1"/>
                </a:solidFill>
                <a:latin typeface="Calibri" panose="020F0502020204030204" pitchFamily="34" charset="0"/>
                <a:cs typeface="Calibri" panose="020F0502020204030204" pitchFamily="34" charset="0"/>
              </a:rPr>
              <a:t> </a:t>
            </a:r>
            <a:r>
              <a:rPr sz="1200" spc="-10" dirty="0">
                <a:solidFill>
                  <a:schemeClr val="tx1"/>
                </a:solidFill>
                <a:latin typeface="Calibri" panose="020F0502020204030204" pitchFamily="34" charset="0"/>
                <a:cs typeface="Calibri" panose="020F0502020204030204" pitchFamily="34" charset="0"/>
              </a:rPr>
              <a:t>subject.</a:t>
            </a:r>
            <a:endParaRPr sz="1200" dirty="0">
              <a:solidFill>
                <a:schemeClr val="tx1"/>
              </a:solidFill>
              <a:latin typeface="Calibri" panose="020F0502020204030204" pitchFamily="34" charset="0"/>
              <a:cs typeface="Calibri" panose="020F050202020403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3349" y="347138"/>
            <a:ext cx="8510905" cy="4183068"/>
          </a:xfrm>
          <a:prstGeom prst="rect">
            <a:avLst/>
          </a:prstGeom>
        </p:spPr>
        <p:txBody>
          <a:bodyPr vert="horz" wrap="square" lIns="0" tIns="11430" rIns="0" bIns="0" rtlCol="0">
            <a:spAutoFit/>
          </a:bodyPr>
          <a:lstStyle/>
          <a:p>
            <a:pPr marL="184150" marR="5080" indent="-171450">
              <a:lnSpc>
                <a:spcPct val="119800"/>
              </a:lnSpc>
              <a:spcBef>
                <a:spcPts val="90"/>
              </a:spcBef>
              <a:buFont typeface="Arial" panose="020B0604020202020204" pitchFamily="34" charset="0"/>
              <a:buChar char="•"/>
            </a:pPr>
            <a:r>
              <a:rPr sz="1200" dirty="0">
                <a:solidFill>
                  <a:schemeClr val="tx1"/>
                </a:solidFill>
                <a:latin typeface="Calibri" panose="020F0502020204030204" pitchFamily="34" charset="0"/>
                <a:cs typeface="Calibri" panose="020F0502020204030204" pitchFamily="34" charset="0"/>
              </a:rPr>
              <a:t>This</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could</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involve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giving</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brief</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introduction</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or</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explanation</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of</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circumstances</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in</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which</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response</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is</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required,</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relevant</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information</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or</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specific</a:t>
            </a:r>
            <a:r>
              <a:rPr sz="1200" spc="90" dirty="0">
                <a:solidFill>
                  <a:schemeClr val="tx1"/>
                </a:solidFill>
                <a:latin typeface="Calibri" panose="020F0502020204030204" pitchFamily="34" charset="0"/>
                <a:cs typeface="Calibri" panose="020F0502020204030204" pitchFamily="34" charset="0"/>
              </a:rPr>
              <a:t> </a:t>
            </a:r>
            <a:r>
              <a:rPr sz="1200" spc="-10" dirty="0">
                <a:solidFill>
                  <a:schemeClr val="tx1"/>
                </a:solidFill>
                <a:latin typeface="Calibri" panose="020F0502020204030204" pitchFamily="34" charset="0"/>
                <a:cs typeface="Calibri" panose="020F0502020204030204" pitchFamily="34" charset="0"/>
              </a:rPr>
              <a:t>details </a:t>
            </a:r>
            <a:r>
              <a:rPr sz="1200" dirty="0">
                <a:solidFill>
                  <a:schemeClr val="tx1"/>
                </a:solidFill>
                <a:latin typeface="Calibri" panose="020F0502020204030204" pitchFamily="34" charset="0"/>
                <a:cs typeface="Calibri" panose="020F0502020204030204" pitchFamily="34" charset="0"/>
              </a:rPr>
              <a:t>like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people,</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places,</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events,</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or</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concepts</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help</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guide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understanding</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of</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model.</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It's</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important</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to</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incorporate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such</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details</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while</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writing</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prompts.</a:t>
            </a:r>
            <a:r>
              <a:rPr sz="1200" spc="85" dirty="0">
                <a:solidFill>
                  <a:schemeClr val="tx1"/>
                </a:solidFill>
                <a:latin typeface="Calibri" panose="020F0502020204030204" pitchFamily="34" charset="0"/>
                <a:cs typeface="Calibri" panose="020F0502020204030204" pitchFamily="34" charset="0"/>
              </a:rPr>
              <a:t> </a:t>
            </a:r>
            <a:r>
              <a:rPr sz="1200" spc="-25" dirty="0">
                <a:solidFill>
                  <a:schemeClr val="tx1"/>
                </a:solidFill>
                <a:latin typeface="Calibri" panose="020F0502020204030204" pitchFamily="34" charset="0"/>
                <a:cs typeface="Calibri" panose="020F0502020204030204" pitchFamily="34" charset="0"/>
              </a:rPr>
              <a:t>For </a:t>
            </a:r>
            <a:r>
              <a:rPr sz="1200" dirty="0">
                <a:solidFill>
                  <a:schemeClr val="tx1"/>
                </a:solidFill>
                <a:latin typeface="Calibri" panose="020F0502020204030204" pitchFamily="34" charset="0"/>
                <a:cs typeface="Calibri" panose="020F0502020204030204" pitchFamily="34" charset="0"/>
              </a:rPr>
              <a:t>example,</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prompt,</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write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what</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happened</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during</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outbreak</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of</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Revolutionary</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War</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in</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1775</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does</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not</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contain</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adequate</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context</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and</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specific</a:t>
            </a:r>
            <a:r>
              <a:rPr sz="1200" spc="90" dirty="0">
                <a:solidFill>
                  <a:schemeClr val="tx1"/>
                </a:solidFill>
                <a:latin typeface="Calibri" panose="020F0502020204030204" pitchFamily="34" charset="0"/>
                <a:cs typeface="Calibri" panose="020F0502020204030204" pitchFamily="34" charset="0"/>
              </a:rPr>
              <a:t> </a:t>
            </a:r>
            <a:r>
              <a:rPr sz="1200" spc="-10" dirty="0">
                <a:solidFill>
                  <a:schemeClr val="tx1"/>
                </a:solidFill>
                <a:latin typeface="Calibri" panose="020F0502020204030204" pitchFamily="34" charset="0"/>
                <a:cs typeface="Calibri" panose="020F0502020204030204" pitchFamily="34" charset="0"/>
              </a:rPr>
              <a:t>details</a:t>
            </a:r>
            <a:r>
              <a:rPr lang="en-US" sz="1200" spc="-1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to</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guide</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understanding</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of</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model.</a:t>
            </a:r>
            <a:r>
              <a:rPr sz="1200" spc="5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To</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establish</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right</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context</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and</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include</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relevant</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information,</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you</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can</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rewrite</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this</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prompt</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as,</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describe</a:t>
            </a:r>
            <a:r>
              <a:rPr sz="1200" spc="75" dirty="0">
                <a:solidFill>
                  <a:schemeClr val="tx1"/>
                </a:solidFill>
                <a:latin typeface="Calibri" panose="020F0502020204030204" pitchFamily="34" charset="0"/>
                <a:cs typeface="Calibri" panose="020F0502020204030204" pitchFamily="34" charset="0"/>
              </a:rPr>
              <a:t> </a:t>
            </a:r>
            <a:r>
              <a:rPr sz="1200" spc="-25" dirty="0">
                <a:solidFill>
                  <a:schemeClr val="tx1"/>
                </a:solidFill>
                <a:latin typeface="Calibri" panose="020F0502020204030204" pitchFamily="34" charset="0"/>
                <a:cs typeface="Calibri" panose="020F0502020204030204" pitchFamily="34" charset="0"/>
              </a:rPr>
              <a:t>the </a:t>
            </a:r>
            <a:r>
              <a:rPr sz="1200" dirty="0">
                <a:solidFill>
                  <a:schemeClr val="tx1"/>
                </a:solidFill>
                <a:latin typeface="Calibri" panose="020F0502020204030204" pitchFamily="34" charset="0"/>
                <a:cs typeface="Calibri" panose="020F0502020204030204" pitchFamily="34" charset="0"/>
              </a:rPr>
              <a:t>historical</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events</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leading</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to</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1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American</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Revolutionary</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War,</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focusing</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on</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key</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incidents</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like</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Boston</a:t>
            </a:r>
            <a:r>
              <a:rPr sz="1200" spc="5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Tea</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Party,</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Battle</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of</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Saratoga</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and</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so</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on.</a:t>
            </a:r>
            <a:r>
              <a:rPr sz="1200" spc="70" dirty="0">
                <a:solidFill>
                  <a:schemeClr val="tx1"/>
                </a:solidFill>
                <a:latin typeface="Calibri" panose="020F0502020204030204" pitchFamily="34" charset="0"/>
                <a:cs typeface="Calibri" panose="020F0502020204030204" pitchFamily="34" charset="0"/>
              </a:rPr>
              <a:t> </a:t>
            </a:r>
            <a:r>
              <a:rPr sz="1200" spc="-10" dirty="0">
                <a:solidFill>
                  <a:schemeClr val="tx1"/>
                </a:solidFill>
                <a:latin typeface="Calibri" panose="020F0502020204030204" pitchFamily="34" charset="0"/>
                <a:cs typeface="Calibri" panose="020F0502020204030204" pitchFamily="34" charset="0"/>
              </a:rPr>
              <a:t>Highlight</a:t>
            </a:r>
            <a:r>
              <a:rPr sz="1200" spc="5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tensions</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between</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2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American</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colonies</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and</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British</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government</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and</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explain</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how</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these</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events</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led</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to</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outbreak</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of</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Revolutionary</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War</a:t>
            </a:r>
            <a:r>
              <a:rPr sz="1200" spc="95" dirty="0">
                <a:solidFill>
                  <a:schemeClr val="tx1"/>
                </a:solidFill>
                <a:latin typeface="Calibri" panose="020F0502020204030204" pitchFamily="34" charset="0"/>
                <a:cs typeface="Calibri" panose="020F0502020204030204" pitchFamily="34" charset="0"/>
              </a:rPr>
              <a:t> </a:t>
            </a:r>
            <a:r>
              <a:rPr sz="1200" spc="-25" dirty="0">
                <a:solidFill>
                  <a:schemeClr val="tx1"/>
                </a:solidFill>
                <a:latin typeface="Calibri" panose="020F0502020204030204" pitchFamily="34" charset="0"/>
                <a:cs typeface="Calibri" panose="020F0502020204030204" pitchFamily="34" charset="0"/>
              </a:rPr>
              <a:t>in </a:t>
            </a:r>
            <a:r>
              <a:rPr sz="1200" dirty="0">
                <a:solidFill>
                  <a:schemeClr val="tx1"/>
                </a:solidFill>
                <a:latin typeface="Calibri" panose="020F0502020204030204" pitchFamily="34" charset="0"/>
                <a:cs typeface="Calibri" panose="020F0502020204030204" pitchFamily="34" charset="0"/>
              </a:rPr>
              <a:t>1775.</a:t>
            </a:r>
            <a:r>
              <a:rPr sz="1200" spc="2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Another</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important</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dimension</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for</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creating</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effective</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prompts</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is</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precision.</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Precision</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helps</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outline</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your</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request</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in</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100" dirty="0">
                <a:solidFill>
                  <a:schemeClr val="tx1"/>
                </a:solidFill>
                <a:latin typeface="Calibri" panose="020F0502020204030204" pitchFamily="34" charset="0"/>
                <a:cs typeface="Calibri" panose="020F0502020204030204" pitchFamily="34" charset="0"/>
              </a:rPr>
              <a:t> </a:t>
            </a:r>
            <a:r>
              <a:rPr sz="1200" spc="-10" dirty="0">
                <a:solidFill>
                  <a:schemeClr val="tx1"/>
                </a:solidFill>
                <a:latin typeface="Calibri" panose="020F0502020204030204" pitchFamily="34" charset="0"/>
                <a:cs typeface="Calibri" panose="020F0502020204030204" pitchFamily="34" charset="0"/>
              </a:rPr>
              <a:t>prompt.</a:t>
            </a:r>
            <a:endParaRPr sz="1200" dirty="0">
              <a:solidFill>
                <a:schemeClr val="tx1"/>
              </a:solidFill>
              <a:latin typeface="Calibri" panose="020F0502020204030204" pitchFamily="34" charset="0"/>
              <a:cs typeface="Calibri" panose="020F0502020204030204" pitchFamily="34" charset="0"/>
            </a:endParaRPr>
          </a:p>
          <a:p>
            <a:pPr marL="171450" indent="-171450">
              <a:lnSpc>
                <a:spcPct val="100000"/>
              </a:lnSpc>
              <a:spcBef>
                <a:spcPts val="110"/>
              </a:spcBef>
              <a:buFont typeface="Arial" panose="020B0604020202020204" pitchFamily="34" charset="0"/>
              <a:buChar char="•"/>
            </a:pPr>
            <a:endParaRPr sz="1200" dirty="0">
              <a:solidFill>
                <a:schemeClr val="tx1"/>
              </a:solidFill>
              <a:latin typeface="Calibri" panose="020F0502020204030204" pitchFamily="34" charset="0"/>
              <a:cs typeface="Calibri" panose="020F0502020204030204" pitchFamily="34" charset="0"/>
            </a:endParaRPr>
          </a:p>
          <a:p>
            <a:pPr marL="184150" marR="5715" indent="-171450">
              <a:lnSpc>
                <a:spcPct val="119800"/>
              </a:lnSpc>
              <a:buFont typeface="Arial" panose="020B0604020202020204" pitchFamily="34" charset="0"/>
              <a:buChar char="•"/>
            </a:pPr>
            <a:r>
              <a:rPr sz="1200" dirty="0">
                <a:solidFill>
                  <a:schemeClr val="tx1"/>
                </a:solidFill>
                <a:latin typeface="Calibri" panose="020F0502020204030204" pitchFamily="34" charset="0"/>
                <a:cs typeface="Calibri" panose="020F0502020204030204" pitchFamily="34" charset="0"/>
              </a:rPr>
              <a:t>If</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you're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searching</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for</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particular</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kind</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of</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response,</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express</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that</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with</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clarity.</a:t>
            </a:r>
            <a:r>
              <a:rPr sz="1200" spc="85" dirty="0">
                <a:solidFill>
                  <a:schemeClr val="tx1"/>
                </a:solidFill>
                <a:latin typeface="Calibri" panose="020F0502020204030204" pitchFamily="34" charset="0"/>
                <a:cs typeface="Calibri" panose="020F0502020204030204" pitchFamily="34" charset="0"/>
              </a:rPr>
              <a:t> </a:t>
            </a:r>
            <a:endParaRPr lang="en-US" sz="1200" spc="85" dirty="0">
              <a:solidFill>
                <a:schemeClr val="tx1"/>
              </a:solidFill>
              <a:latin typeface="Calibri" panose="020F0502020204030204" pitchFamily="34" charset="0"/>
              <a:cs typeface="Calibri" panose="020F0502020204030204" pitchFamily="34" charset="0"/>
            </a:endParaRPr>
          </a:p>
          <a:p>
            <a:pPr marL="184150" marR="5715" indent="-171450">
              <a:lnSpc>
                <a:spcPct val="119800"/>
              </a:lnSpc>
              <a:buFont typeface="Arial" panose="020B0604020202020204" pitchFamily="34" charset="0"/>
              <a:buChar char="•"/>
            </a:pPr>
            <a:endParaRPr lang="en-US" sz="1200" spc="85" dirty="0">
              <a:solidFill>
                <a:schemeClr val="tx1"/>
              </a:solidFill>
              <a:latin typeface="Calibri" panose="020F0502020204030204" pitchFamily="34" charset="0"/>
              <a:cs typeface="Calibri" panose="020F0502020204030204" pitchFamily="34" charset="0"/>
            </a:endParaRPr>
          </a:p>
          <a:p>
            <a:pPr marL="184150" marR="5715" indent="-171450">
              <a:lnSpc>
                <a:spcPct val="119800"/>
              </a:lnSpc>
              <a:buFont typeface="Arial" panose="020B0604020202020204" pitchFamily="34" charset="0"/>
              <a:buChar char="•"/>
            </a:pPr>
            <a:r>
              <a:rPr sz="1200" dirty="0">
                <a:solidFill>
                  <a:schemeClr val="tx1"/>
                </a:solidFill>
                <a:latin typeface="Calibri" panose="020F0502020204030204" pitchFamily="34" charset="0"/>
                <a:cs typeface="Calibri" panose="020F0502020204030204" pitchFamily="34" charset="0"/>
              </a:rPr>
              <a:t>Examples</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incorporated</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within</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your</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prompts</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can</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help</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model</a:t>
            </a:r>
            <a:r>
              <a:rPr sz="1200" spc="90" dirty="0">
                <a:solidFill>
                  <a:schemeClr val="tx1"/>
                </a:solidFill>
                <a:latin typeface="Calibri" panose="020F0502020204030204" pitchFamily="34" charset="0"/>
                <a:cs typeface="Calibri" panose="020F0502020204030204" pitchFamily="34" charset="0"/>
              </a:rPr>
              <a:t> </a:t>
            </a:r>
            <a:r>
              <a:rPr sz="1200" spc="-10" dirty="0">
                <a:solidFill>
                  <a:schemeClr val="tx1"/>
                </a:solidFill>
                <a:latin typeface="Calibri" panose="020F0502020204030204" pitchFamily="34" charset="0"/>
                <a:cs typeface="Calibri" panose="020F0502020204030204" pitchFamily="34" charset="0"/>
              </a:rPr>
              <a:t>understand </a:t>
            </a:r>
            <a:r>
              <a:rPr sz="1200" dirty="0">
                <a:solidFill>
                  <a:schemeClr val="tx1"/>
                </a:solidFill>
                <a:latin typeface="Calibri" panose="020F0502020204030204" pitchFamily="34" charset="0"/>
                <a:cs typeface="Calibri" panose="020F0502020204030204" pitchFamily="34" charset="0"/>
              </a:rPr>
              <a:t>what</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kind</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of</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response</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you're</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looking</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for</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and</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direct</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its</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thought</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process.</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For</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example,</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in</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prompt</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talk</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about</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supply</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and</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demand</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and</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how</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it</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is</a:t>
            </a:r>
            <a:r>
              <a:rPr sz="1200" spc="75" dirty="0">
                <a:solidFill>
                  <a:schemeClr val="tx1"/>
                </a:solidFill>
                <a:latin typeface="Calibri" panose="020F0502020204030204" pitchFamily="34" charset="0"/>
                <a:cs typeface="Calibri" panose="020F0502020204030204" pitchFamily="34" charset="0"/>
              </a:rPr>
              <a:t> </a:t>
            </a:r>
            <a:r>
              <a:rPr sz="1200" spc="-10" dirty="0">
                <a:solidFill>
                  <a:schemeClr val="tx1"/>
                </a:solidFill>
                <a:latin typeface="Calibri" panose="020F0502020204030204" pitchFamily="34" charset="0"/>
                <a:cs typeface="Calibri" panose="020F0502020204030204" pitchFamily="34" charset="0"/>
              </a:rPr>
              <a:t>affected</a:t>
            </a:r>
            <a:r>
              <a:rPr sz="1200" spc="5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in</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economics,</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there's</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no</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precise</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outline</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of</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particular</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kind</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of</a:t>
            </a:r>
            <a:r>
              <a:rPr sz="1200" spc="7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response</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and</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no</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examples.</a:t>
            </a:r>
            <a:r>
              <a:rPr sz="1200" spc="5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To</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ensure</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precision,</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you</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can</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rewrite</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this</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prompt</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as</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explain</a:t>
            </a:r>
            <a:r>
              <a:rPr sz="1200" spc="80" dirty="0">
                <a:solidFill>
                  <a:schemeClr val="tx1"/>
                </a:solidFill>
                <a:latin typeface="Calibri" panose="020F0502020204030204" pitchFamily="34" charset="0"/>
                <a:cs typeface="Calibri" panose="020F0502020204030204" pitchFamily="34" charset="0"/>
              </a:rPr>
              <a:t> </a:t>
            </a:r>
            <a:r>
              <a:rPr sz="1200" spc="-25" dirty="0">
                <a:solidFill>
                  <a:schemeClr val="tx1"/>
                </a:solidFill>
                <a:latin typeface="Calibri" panose="020F0502020204030204" pitchFamily="34" charset="0"/>
                <a:cs typeface="Calibri" panose="020F0502020204030204" pitchFamily="34" charset="0"/>
              </a:rPr>
              <a:t>the </a:t>
            </a:r>
            <a:r>
              <a:rPr sz="1200" dirty="0">
                <a:solidFill>
                  <a:schemeClr val="tx1"/>
                </a:solidFill>
                <a:latin typeface="Calibri" panose="020F0502020204030204" pitchFamily="34" charset="0"/>
                <a:cs typeface="Calibri" panose="020F0502020204030204" pitchFamily="34" charset="0"/>
              </a:rPr>
              <a:t>concept</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of</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supply</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and</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demand</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in</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economics,</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describe</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how</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increase</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in</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demand</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can</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influence</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pricing</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with</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help</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of</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an</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illustrative</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example</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like</a:t>
            </a:r>
            <a:r>
              <a:rPr sz="1200" spc="85" dirty="0">
                <a:solidFill>
                  <a:schemeClr val="tx1"/>
                </a:solidFill>
                <a:latin typeface="Calibri" panose="020F0502020204030204" pitchFamily="34" charset="0"/>
                <a:cs typeface="Calibri" panose="020F0502020204030204" pitchFamily="34" charset="0"/>
              </a:rPr>
              <a:t> </a:t>
            </a:r>
            <a:r>
              <a:rPr sz="1200" spc="-25" dirty="0">
                <a:solidFill>
                  <a:schemeClr val="tx1"/>
                </a:solidFill>
                <a:latin typeface="Calibri" panose="020F0502020204030204" pitchFamily="34" charset="0"/>
                <a:cs typeface="Calibri" panose="020F0502020204030204" pitchFamily="34" charset="0"/>
              </a:rPr>
              <a:t>the </a:t>
            </a:r>
            <a:r>
              <a:rPr sz="1200" dirty="0">
                <a:solidFill>
                  <a:schemeClr val="tx1"/>
                </a:solidFill>
                <a:latin typeface="Calibri" panose="020F0502020204030204" pitchFamily="34" charset="0"/>
                <a:cs typeface="Calibri" panose="020F0502020204030204" pitchFamily="34" charset="0"/>
              </a:rPr>
              <a:t>smartphone</a:t>
            </a:r>
            <a:r>
              <a:rPr sz="1200" spc="10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market.</a:t>
            </a:r>
            <a:r>
              <a:rPr sz="1200" spc="9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Similarly,</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explain</a:t>
            </a:r>
            <a:r>
              <a:rPr sz="1200" spc="10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10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repercussions</a:t>
            </a:r>
            <a:r>
              <a:rPr sz="1200" spc="10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of</a:t>
            </a:r>
            <a:r>
              <a:rPr sz="1200" spc="1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reduced</a:t>
            </a:r>
            <a:r>
              <a:rPr sz="1200" spc="10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supply</a:t>
            </a:r>
            <a:r>
              <a:rPr sz="1200" spc="10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on</a:t>
            </a:r>
            <a:r>
              <a:rPr sz="1200" spc="10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pricing</a:t>
            </a:r>
            <a:r>
              <a:rPr sz="1200" spc="10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by</a:t>
            </a:r>
            <a:r>
              <a:rPr sz="1200" spc="10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drawing</a:t>
            </a:r>
            <a:r>
              <a:rPr sz="1200" spc="10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parallels</a:t>
            </a:r>
            <a:r>
              <a:rPr sz="1200" spc="10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with</a:t>
            </a:r>
            <a:r>
              <a:rPr sz="1200" spc="10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situations</a:t>
            </a:r>
            <a:r>
              <a:rPr sz="1200" spc="10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like</a:t>
            </a:r>
            <a:r>
              <a:rPr sz="1200" spc="10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disruptions</a:t>
            </a:r>
            <a:r>
              <a:rPr sz="1200" spc="10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in</a:t>
            </a:r>
            <a:r>
              <a:rPr sz="1200" spc="105" dirty="0">
                <a:solidFill>
                  <a:schemeClr val="tx1"/>
                </a:solidFill>
                <a:latin typeface="Calibri" panose="020F0502020204030204" pitchFamily="34" charset="0"/>
                <a:cs typeface="Calibri" panose="020F0502020204030204" pitchFamily="34" charset="0"/>
              </a:rPr>
              <a:t> </a:t>
            </a:r>
            <a:r>
              <a:rPr sz="1200" spc="-25" dirty="0">
                <a:solidFill>
                  <a:schemeClr val="tx1"/>
                </a:solidFill>
                <a:latin typeface="Calibri" panose="020F0502020204030204" pitchFamily="34" charset="0"/>
                <a:cs typeface="Calibri" panose="020F0502020204030204" pitchFamily="34" charset="0"/>
              </a:rPr>
              <a:t>oil</a:t>
            </a:r>
            <a:r>
              <a:rPr lang="en-US" sz="1200" spc="50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production.</a:t>
            </a:r>
            <a:r>
              <a:rPr sz="1200" spc="6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This</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prompt</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clearly</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expresses</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that</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you</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want</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to</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explain</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a</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concept</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with</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help</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of</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examples.</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Finally,</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let's</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discuss</a:t>
            </a:r>
            <a:r>
              <a:rPr sz="1200" spc="9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the</a:t>
            </a:r>
            <a:r>
              <a:rPr sz="1200" spc="8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last</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dimension,</a:t>
            </a:r>
            <a:r>
              <a:rPr sz="1200" spc="80"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which</a:t>
            </a:r>
            <a:r>
              <a:rPr sz="1200" spc="90" dirty="0">
                <a:solidFill>
                  <a:schemeClr val="tx1"/>
                </a:solidFill>
                <a:latin typeface="Calibri" panose="020F0502020204030204" pitchFamily="34" charset="0"/>
                <a:cs typeface="Calibri" panose="020F0502020204030204" pitchFamily="34" charset="0"/>
              </a:rPr>
              <a:t> </a:t>
            </a:r>
            <a:r>
              <a:rPr sz="1200" spc="-25" dirty="0">
                <a:solidFill>
                  <a:schemeClr val="tx1"/>
                </a:solidFill>
                <a:latin typeface="Calibri" panose="020F0502020204030204" pitchFamily="34" charset="0"/>
                <a:cs typeface="Calibri" panose="020F0502020204030204" pitchFamily="34" charset="0"/>
              </a:rPr>
              <a:t>is </a:t>
            </a:r>
            <a:r>
              <a:rPr sz="1200" dirty="0">
                <a:solidFill>
                  <a:schemeClr val="tx1"/>
                </a:solidFill>
                <a:latin typeface="Calibri" panose="020F0502020204030204" pitchFamily="34" charset="0"/>
                <a:cs typeface="Calibri" panose="020F0502020204030204" pitchFamily="34" charset="0"/>
              </a:rPr>
              <a:t>role</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play</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or</a:t>
            </a:r>
            <a:r>
              <a:rPr sz="1200" spc="75" dirty="0">
                <a:solidFill>
                  <a:schemeClr val="tx1"/>
                </a:solidFill>
                <a:latin typeface="Calibri" panose="020F0502020204030204" pitchFamily="34" charset="0"/>
                <a:cs typeface="Calibri" panose="020F0502020204030204" pitchFamily="34" charset="0"/>
              </a:rPr>
              <a:t> </a:t>
            </a:r>
            <a:r>
              <a:rPr sz="1200" dirty="0">
                <a:solidFill>
                  <a:schemeClr val="tx1"/>
                </a:solidFill>
                <a:latin typeface="Calibri" panose="020F0502020204030204" pitchFamily="34" charset="0"/>
                <a:cs typeface="Calibri" panose="020F0502020204030204" pitchFamily="34" charset="0"/>
              </a:rPr>
              <a:t>persona</a:t>
            </a:r>
            <a:r>
              <a:rPr sz="1200" spc="80" dirty="0">
                <a:solidFill>
                  <a:schemeClr val="tx1"/>
                </a:solidFill>
                <a:latin typeface="Calibri" panose="020F0502020204030204" pitchFamily="34" charset="0"/>
                <a:cs typeface="Calibri" panose="020F0502020204030204" pitchFamily="34" charset="0"/>
              </a:rPr>
              <a:t> </a:t>
            </a:r>
            <a:r>
              <a:rPr sz="1200" spc="-10" dirty="0">
                <a:solidFill>
                  <a:schemeClr val="tx1"/>
                </a:solidFill>
                <a:latin typeface="Calibri" panose="020F0502020204030204" pitchFamily="34" charset="0"/>
                <a:cs typeface="Calibri" panose="020F0502020204030204" pitchFamily="34" charset="0"/>
              </a:rPr>
              <a:t>pattern.</a:t>
            </a:r>
            <a:endParaRPr sz="1200" dirty="0">
              <a:solidFill>
                <a:schemeClr val="tx1"/>
              </a:solidFill>
              <a:latin typeface="Calibri" panose="020F0502020204030204" pitchFamily="34" charset="0"/>
              <a:cs typeface="Calibri" panose="020F050202020403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71073" y="219267"/>
            <a:ext cx="8453755" cy="4365938"/>
          </a:xfrm>
          <a:prstGeom prst="rect">
            <a:avLst/>
          </a:prstGeom>
        </p:spPr>
        <p:txBody>
          <a:bodyPr vert="horz" wrap="square" lIns="0" tIns="26034" rIns="0" bIns="0" rtlCol="0">
            <a:spAutoFit/>
          </a:bodyPr>
          <a:lstStyle/>
          <a:p>
            <a:pPr marL="298450" marR="5080" indent="-285750">
              <a:spcBef>
                <a:spcPts val="204"/>
              </a:spcBef>
              <a:buFont typeface="Arial" panose="020B0604020202020204" pitchFamily="34" charset="0"/>
              <a:buChar char="•"/>
            </a:pPr>
            <a:r>
              <a:rPr sz="1400" dirty="0">
                <a:solidFill>
                  <a:schemeClr val="tx1"/>
                </a:solidFill>
                <a:latin typeface="Calibri" panose="020F0502020204030204" pitchFamily="34" charset="0"/>
                <a:cs typeface="Calibri" panose="020F0502020204030204" pitchFamily="34" charset="0"/>
              </a:rPr>
              <a:t>Prompts</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written</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from</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the</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perspective</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of</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specific</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character</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or</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persona</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can</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help</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the</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model</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generate</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responses</a:t>
            </a:r>
            <a:r>
              <a:rPr sz="1400" spc="-10" dirty="0">
                <a:solidFill>
                  <a:schemeClr val="tx1"/>
                </a:solidFill>
                <a:latin typeface="Calibri" panose="020F0502020204030204" pitchFamily="34" charset="0"/>
                <a:cs typeface="Calibri" panose="020F0502020204030204" pitchFamily="34" charset="0"/>
              </a:rPr>
              <a:t> aligned </a:t>
            </a:r>
            <a:r>
              <a:rPr sz="1400" dirty="0">
                <a:solidFill>
                  <a:schemeClr val="tx1"/>
                </a:solidFill>
                <a:latin typeface="Calibri" panose="020F0502020204030204" pitchFamily="34" charset="0"/>
                <a:cs typeface="Calibri" panose="020F0502020204030204" pitchFamily="34" charset="0"/>
              </a:rPr>
              <a:t>with</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that</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perspective.</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Essential</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contextual</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details</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enable</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the</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model</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to</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effectively</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assume</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particular</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role.</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If</a:t>
            </a:r>
            <a:r>
              <a:rPr sz="1400" spc="-15" dirty="0">
                <a:solidFill>
                  <a:schemeClr val="tx1"/>
                </a:solidFill>
                <a:latin typeface="Calibri" panose="020F0502020204030204" pitchFamily="34" charset="0"/>
                <a:cs typeface="Calibri" panose="020F0502020204030204" pitchFamily="34" charset="0"/>
              </a:rPr>
              <a:t> </a:t>
            </a:r>
            <a:r>
              <a:rPr sz="1400" spc="-10" dirty="0">
                <a:solidFill>
                  <a:schemeClr val="tx1"/>
                </a:solidFill>
                <a:latin typeface="Calibri" panose="020F0502020204030204" pitchFamily="34" charset="0"/>
                <a:cs typeface="Calibri" panose="020F0502020204030204" pitchFamily="34" charset="0"/>
              </a:rPr>
              <a:t>you're </a:t>
            </a:r>
            <a:r>
              <a:rPr sz="1400" dirty="0">
                <a:solidFill>
                  <a:schemeClr val="tx1"/>
                </a:solidFill>
                <a:latin typeface="Calibri" panose="020F0502020204030204" pitchFamily="34" charset="0"/>
                <a:cs typeface="Calibri" panose="020F0502020204030204" pitchFamily="34" charset="0"/>
              </a:rPr>
              <a:t>requesting</a:t>
            </a:r>
            <a:r>
              <a:rPr sz="1400" spc="-2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the</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model</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to</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reply</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from</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the</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standpoint</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of</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historical</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figure,</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fictional</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character</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or</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specific</a:t>
            </a:r>
            <a:r>
              <a:rPr sz="1400" spc="-10" dirty="0">
                <a:solidFill>
                  <a:schemeClr val="tx1"/>
                </a:solidFill>
                <a:latin typeface="Calibri" panose="020F0502020204030204" pitchFamily="34" charset="0"/>
                <a:cs typeface="Calibri" panose="020F0502020204030204" pitchFamily="34" charset="0"/>
              </a:rPr>
              <a:t> profession,</a:t>
            </a:r>
            <a:r>
              <a:rPr sz="1400" spc="50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then</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provide</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contextual</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details.</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Let's</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look</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at</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this</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example</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here.</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Write</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log</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entry</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describing</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the</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strange</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flora</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and</a:t>
            </a:r>
            <a:r>
              <a:rPr sz="1400" spc="-15" dirty="0">
                <a:solidFill>
                  <a:schemeClr val="tx1"/>
                </a:solidFill>
                <a:latin typeface="Calibri" panose="020F0502020204030204" pitchFamily="34" charset="0"/>
                <a:cs typeface="Calibri" panose="020F0502020204030204" pitchFamily="34" charset="0"/>
              </a:rPr>
              <a:t> </a:t>
            </a:r>
            <a:r>
              <a:rPr sz="1400" spc="-10" dirty="0">
                <a:solidFill>
                  <a:schemeClr val="tx1"/>
                </a:solidFill>
                <a:latin typeface="Calibri" panose="020F0502020204030204" pitchFamily="34" charset="0"/>
                <a:cs typeface="Calibri" panose="020F0502020204030204" pitchFamily="34" charset="0"/>
              </a:rPr>
              <a:t>fauna </a:t>
            </a:r>
            <a:r>
              <a:rPr sz="1400" dirty="0">
                <a:solidFill>
                  <a:schemeClr val="tx1"/>
                </a:solidFill>
                <a:latin typeface="Calibri" panose="020F0502020204030204" pitchFamily="34" charset="0"/>
                <a:cs typeface="Calibri" panose="020F0502020204030204" pitchFamily="34" charset="0"/>
              </a:rPr>
              <a:t>of</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an</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uncharted</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alien</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planet.</a:t>
            </a:r>
            <a:r>
              <a:rPr sz="1400" spc="-3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This</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prompt</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will</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simply</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give</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scientific</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details</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about</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the</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alien</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planet</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and</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will</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not</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explain</a:t>
            </a:r>
            <a:r>
              <a:rPr sz="1400" spc="-15" dirty="0">
                <a:solidFill>
                  <a:schemeClr val="tx1"/>
                </a:solidFill>
                <a:latin typeface="Calibri" panose="020F0502020204030204" pitchFamily="34" charset="0"/>
                <a:cs typeface="Calibri" panose="020F0502020204030204" pitchFamily="34" charset="0"/>
              </a:rPr>
              <a:t> </a:t>
            </a:r>
            <a:r>
              <a:rPr sz="1400" spc="-25" dirty="0">
                <a:solidFill>
                  <a:schemeClr val="tx1"/>
                </a:solidFill>
                <a:latin typeface="Calibri" panose="020F0502020204030204" pitchFamily="34" charset="0"/>
                <a:cs typeface="Calibri" panose="020F0502020204030204" pitchFamily="34" charset="0"/>
              </a:rPr>
              <a:t>its </a:t>
            </a:r>
            <a:r>
              <a:rPr sz="1400" dirty="0">
                <a:solidFill>
                  <a:schemeClr val="tx1"/>
                </a:solidFill>
                <a:latin typeface="Calibri" panose="020F0502020204030204" pitchFamily="34" charset="0"/>
                <a:cs typeface="Calibri" panose="020F0502020204030204" pitchFamily="34" charset="0"/>
              </a:rPr>
              <a:t>answer</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from</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the</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perspective</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of</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professional.</a:t>
            </a:r>
            <a:r>
              <a:rPr sz="1400" spc="-45" dirty="0">
                <a:solidFill>
                  <a:schemeClr val="tx1"/>
                </a:solidFill>
                <a:latin typeface="Calibri" panose="020F0502020204030204" pitchFamily="34" charset="0"/>
                <a:cs typeface="Calibri" panose="020F0502020204030204" pitchFamily="34" charset="0"/>
              </a:rPr>
              <a:t> </a:t>
            </a:r>
            <a:r>
              <a:rPr sz="1400" spc="-20" dirty="0">
                <a:solidFill>
                  <a:schemeClr val="tx1"/>
                </a:solidFill>
                <a:latin typeface="Calibri" panose="020F0502020204030204" pitchFamily="34" charset="0"/>
                <a:cs typeface="Calibri" panose="020F0502020204030204" pitchFamily="34" charset="0"/>
              </a:rPr>
              <a:t>You</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can</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rewrite</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the</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prompt</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as</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pretend</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you</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are</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an</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astronaut</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who</a:t>
            </a:r>
            <a:r>
              <a:rPr sz="1400" spc="-15" dirty="0">
                <a:solidFill>
                  <a:schemeClr val="tx1"/>
                </a:solidFill>
                <a:latin typeface="Calibri" panose="020F0502020204030204" pitchFamily="34" charset="0"/>
                <a:cs typeface="Calibri" panose="020F0502020204030204" pitchFamily="34" charset="0"/>
              </a:rPr>
              <a:t> </a:t>
            </a:r>
            <a:r>
              <a:rPr sz="1400" spc="-25" dirty="0">
                <a:solidFill>
                  <a:schemeClr val="tx1"/>
                </a:solidFill>
                <a:latin typeface="Calibri" panose="020F0502020204030204" pitchFamily="34" charset="0"/>
                <a:cs typeface="Calibri" panose="020F0502020204030204" pitchFamily="34" charset="0"/>
              </a:rPr>
              <a:t>has</a:t>
            </a:r>
            <a:r>
              <a:rPr sz="1400" spc="50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just</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landed</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on</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an</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uncharted</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alien</a:t>
            </a:r>
            <a:r>
              <a:rPr sz="1400" spc="-15" dirty="0">
                <a:solidFill>
                  <a:schemeClr val="tx1"/>
                </a:solidFill>
                <a:latin typeface="Calibri" panose="020F0502020204030204" pitchFamily="34" charset="0"/>
                <a:cs typeface="Calibri" panose="020F0502020204030204" pitchFamily="34" charset="0"/>
              </a:rPr>
              <a:t> </a:t>
            </a:r>
            <a:r>
              <a:rPr sz="1400" spc="-10" dirty="0">
                <a:solidFill>
                  <a:schemeClr val="tx1"/>
                </a:solidFill>
                <a:latin typeface="Calibri" panose="020F0502020204030204" pitchFamily="34" charset="0"/>
                <a:cs typeface="Calibri" panose="020F0502020204030204" pitchFamily="34" charset="0"/>
              </a:rPr>
              <a:t>planet.</a:t>
            </a:r>
            <a:endParaRPr sz="1400" dirty="0">
              <a:solidFill>
                <a:schemeClr val="tx1"/>
              </a:solidFill>
              <a:latin typeface="Calibri" panose="020F0502020204030204" pitchFamily="34" charset="0"/>
              <a:cs typeface="Calibri" panose="020F0502020204030204" pitchFamily="34" charset="0"/>
            </a:endParaRPr>
          </a:p>
          <a:p>
            <a:pPr marL="298450" marR="45720" indent="-285750">
              <a:spcBef>
                <a:spcPts val="1175"/>
              </a:spcBef>
              <a:buFont typeface="Arial" panose="020B0604020202020204" pitchFamily="34" charset="0"/>
              <a:buChar char="•"/>
            </a:pPr>
            <a:r>
              <a:rPr sz="1400" dirty="0">
                <a:solidFill>
                  <a:schemeClr val="tx1"/>
                </a:solidFill>
                <a:latin typeface="Calibri" panose="020F0502020204030204" pitchFamily="34" charset="0"/>
                <a:cs typeface="Calibri" panose="020F0502020204030204" pitchFamily="34" charset="0"/>
              </a:rPr>
              <a:t>Write</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log</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entry</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describing</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the</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strange</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flora</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and</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fauna</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you've</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encountered,</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like</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the</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color</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of</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the</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sky</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and</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the</a:t>
            </a:r>
            <a:r>
              <a:rPr sz="1400" spc="-15" dirty="0">
                <a:solidFill>
                  <a:schemeClr val="tx1"/>
                </a:solidFill>
                <a:latin typeface="Calibri" panose="020F0502020204030204" pitchFamily="34" charset="0"/>
                <a:cs typeface="Calibri" panose="020F0502020204030204" pitchFamily="34" charset="0"/>
              </a:rPr>
              <a:t> </a:t>
            </a:r>
            <a:r>
              <a:rPr sz="1400" spc="-10" dirty="0">
                <a:solidFill>
                  <a:schemeClr val="tx1"/>
                </a:solidFill>
                <a:latin typeface="Calibri" panose="020F0502020204030204" pitchFamily="34" charset="0"/>
                <a:cs typeface="Calibri" panose="020F0502020204030204" pitchFamily="34" charset="0"/>
              </a:rPr>
              <a:t>unfamiliar </a:t>
            </a:r>
            <a:r>
              <a:rPr sz="1400" dirty="0">
                <a:solidFill>
                  <a:schemeClr val="tx1"/>
                </a:solidFill>
                <a:latin typeface="Calibri" panose="020F0502020204030204" pitchFamily="34" charset="0"/>
                <a:cs typeface="Calibri" panose="020F0502020204030204" pitchFamily="34" charset="0"/>
              </a:rPr>
              <a:t>sounds</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echoing</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through</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the</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alien</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landscape.</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Express</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your</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feelings</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of</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excitement,</a:t>
            </a:r>
            <a:r>
              <a:rPr sz="1400" spc="-15" dirty="0">
                <a:solidFill>
                  <a:schemeClr val="tx1"/>
                </a:solidFill>
                <a:latin typeface="Calibri" panose="020F0502020204030204" pitchFamily="34" charset="0"/>
                <a:cs typeface="Calibri" panose="020F0502020204030204" pitchFamily="34" charset="0"/>
              </a:rPr>
              <a:t> </a:t>
            </a:r>
            <a:r>
              <a:rPr sz="1400" spc="-10" dirty="0">
                <a:solidFill>
                  <a:schemeClr val="tx1"/>
                </a:solidFill>
                <a:latin typeface="Calibri" panose="020F0502020204030204" pitchFamily="34" charset="0"/>
                <a:cs typeface="Calibri" panose="020F0502020204030204" pitchFamily="34" charset="0"/>
              </a:rPr>
              <a:t>curiosity,</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and</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hint</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of</a:t>
            </a:r>
            <a:r>
              <a:rPr sz="1400" spc="-10" dirty="0">
                <a:solidFill>
                  <a:schemeClr val="tx1"/>
                </a:solidFill>
                <a:latin typeface="Calibri" panose="020F0502020204030204" pitchFamily="34" charset="0"/>
                <a:cs typeface="Calibri" panose="020F0502020204030204" pitchFamily="34" charset="0"/>
              </a:rPr>
              <a:t> apprehension </a:t>
            </a:r>
            <a:r>
              <a:rPr sz="1400" dirty="0">
                <a:solidFill>
                  <a:schemeClr val="tx1"/>
                </a:solidFill>
                <a:latin typeface="Calibri" panose="020F0502020204030204" pitchFamily="34" charset="0"/>
                <a:cs typeface="Calibri" panose="020F0502020204030204" pitchFamily="34" charset="0"/>
              </a:rPr>
              <a:t>as</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you</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document</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this</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extraordinary</a:t>
            </a:r>
            <a:r>
              <a:rPr sz="1400" spc="-10" dirty="0">
                <a:solidFill>
                  <a:schemeClr val="tx1"/>
                </a:solidFill>
                <a:latin typeface="Calibri" panose="020F0502020204030204" pitchFamily="34" charset="0"/>
                <a:cs typeface="Calibri" panose="020F0502020204030204" pitchFamily="34" charset="0"/>
              </a:rPr>
              <a:t> journey.</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In</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this</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example,</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you</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explicitly</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gave</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contextual</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details</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and</a:t>
            </a:r>
            <a:r>
              <a:rPr sz="1400" spc="-10" dirty="0">
                <a:solidFill>
                  <a:schemeClr val="tx1"/>
                </a:solidFill>
                <a:latin typeface="Calibri" panose="020F0502020204030204" pitchFamily="34" charset="0"/>
                <a:cs typeface="Calibri" panose="020F0502020204030204" pitchFamily="34" charset="0"/>
              </a:rPr>
              <a:t> assumed </a:t>
            </a:r>
            <a:r>
              <a:rPr sz="1400" dirty="0">
                <a:solidFill>
                  <a:schemeClr val="tx1"/>
                </a:solidFill>
                <a:latin typeface="Calibri" panose="020F0502020204030204" pitchFamily="34" charset="0"/>
                <a:cs typeface="Calibri" panose="020F0502020204030204" pitchFamily="34" charset="0"/>
              </a:rPr>
              <a:t>yourself</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to</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be</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an</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astronaut.</a:t>
            </a:r>
            <a:r>
              <a:rPr sz="1400" spc="-4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This</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prompt</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will</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generate</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response</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aligned</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with</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the</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perspective</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of</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an</a:t>
            </a:r>
            <a:r>
              <a:rPr sz="1400" spc="-20" dirty="0">
                <a:solidFill>
                  <a:schemeClr val="tx1"/>
                </a:solidFill>
                <a:latin typeface="Calibri" panose="020F0502020204030204" pitchFamily="34" charset="0"/>
                <a:cs typeface="Calibri" panose="020F0502020204030204" pitchFamily="34" charset="0"/>
              </a:rPr>
              <a:t> </a:t>
            </a:r>
            <a:r>
              <a:rPr sz="1400" spc="-10" dirty="0">
                <a:solidFill>
                  <a:schemeClr val="tx1"/>
                </a:solidFill>
                <a:latin typeface="Calibri" panose="020F0502020204030204" pitchFamily="34" charset="0"/>
                <a:cs typeface="Calibri" panose="020F0502020204030204" pitchFamily="34" charset="0"/>
              </a:rPr>
              <a:t>astronaut.</a:t>
            </a:r>
            <a:endParaRPr sz="1400" dirty="0">
              <a:solidFill>
                <a:schemeClr val="tx1"/>
              </a:solidFill>
              <a:latin typeface="Calibri" panose="020F0502020204030204" pitchFamily="34" charset="0"/>
              <a:cs typeface="Calibri" panose="020F0502020204030204" pitchFamily="34" charset="0"/>
            </a:endParaRPr>
          </a:p>
          <a:p>
            <a:pPr marL="298450" marR="46355" indent="-285750">
              <a:spcBef>
                <a:spcPts val="1185"/>
              </a:spcBef>
              <a:buFont typeface="Arial" panose="020B0604020202020204" pitchFamily="34" charset="0"/>
              <a:buChar char="•"/>
            </a:pPr>
            <a:r>
              <a:rPr sz="1400" spc="-20" dirty="0">
                <a:solidFill>
                  <a:schemeClr val="tx1"/>
                </a:solidFill>
                <a:latin typeface="Calibri" panose="020F0502020204030204" pitchFamily="34" charset="0"/>
                <a:cs typeface="Calibri" panose="020F0502020204030204" pitchFamily="34" charset="0"/>
              </a:rPr>
              <a:t>You</a:t>
            </a:r>
            <a:r>
              <a:rPr sz="1400" spc="-2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learned</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that</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writing</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effective</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prompts</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for</a:t>
            </a:r>
            <a:r>
              <a:rPr sz="1400" spc="-20" dirty="0">
                <a:solidFill>
                  <a:schemeClr val="tx1"/>
                </a:solidFill>
                <a:latin typeface="Calibri" panose="020F0502020204030204" pitchFamily="34" charset="0"/>
                <a:cs typeface="Calibri" panose="020F0502020204030204" pitchFamily="34" charset="0"/>
              </a:rPr>
              <a:t> </a:t>
            </a:r>
            <a:r>
              <a:rPr sz="1400" spc="-10" dirty="0">
                <a:solidFill>
                  <a:schemeClr val="tx1"/>
                </a:solidFill>
                <a:latin typeface="Calibri" panose="020F0502020204030204" pitchFamily="34" charset="0"/>
                <a:cs typeface="Calibri" panose="020F0502020204030204" pitchFamily="34" charset="0"/>
              </a:rPr>
              <a:t>generative</a:t>
            </a:r>
            <a:r>
              <a:rPr sz="1400" spc="-7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AI</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models</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is</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essential</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for</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supervising</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the</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style,</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tone,</a:t>
            </a:r>
            <a:r>
              <a:rPr sz="1400" spc="-20" dirty="0">
                <a:solidFill>
                  <a:schemeClr val="tx1"/>
                </a:solidFill>
                <a:latin typeface="Calibri" panose="020F0502020204030204" pitchFamily="34" charset="0"/>
                <a:cs typeface="Calibri" panose="020F0502020204030204" pitchFamily="34" charset="0"/>
              </a:rPr>
              <a:t> </a:t>
            </a:r>
            <a:r>
              <a:rPr sz="1400" spc="-25" dirty="0">
                <a:solidFill>
                  <a:schemeClr val="tx1"/>
                </a:solidFill>
                <a:latin typeface="Calibri" panose="020F0502020204030204" pitchFamily="34" charset="0"/>
                <a:cs typeface="Calibri" panose="020F0502020204030204" pitchFamily="34" charset="0"/>
              </a:rPr>
              <a:t>and </a:t>
            </a:r>
            <a:r>
              <a:rPr sz="1400" dirty="0">
                <a:solidFill>
                  <a:schemeClr val="tx1"/>
                </a:solidFill>
                <a:latin typeface="Calibri" panose="020F0502020204030204" pitchFamily="34" charset="0"/>
                <a:cs typeface="Calibri" panose="020F0502020204030204" pitchFamily="34" charset="0"/>
              </a:rPr>
              <a:t>content</a:t>
            </a:r>
            <a:r>
              <a:rPr sz="1400" spc="-3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of</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the</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output.</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Best</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practices</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for</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writing</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effective</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prompts</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can</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be</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implemented</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across</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four</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dimensions:</a:t>
            </a:r>
            <a:r>
              <a:rPr sz="1400" spc="-15" dirty="0">
                <a:solidFill>
                  <a:schemeClr val="tx1"/>
                </a:solidFill>
                <a:latin typeface="Calibri" panose="020F0502020204030204" pitchFamily="34" charset="0"/>
                <a:cs typeface="Calibri" panose="020F0502020204030204" pitchFamily="34" charset="0"/>
              </a:rPr>
              <a:t> </a:t>
            </a:r>
            <a:r>
              <a:rPr sz="1400" spc="-10" dirty="0">
                <a:solidFill>
                  <a:schemeClr val="tx1"/>
                </a:solidFill>
                <a:latin typeface="Calibri" panose="020F0502020204030204" pitchFamily="34" charset="0"/>
                <a:cs typeface="Calibri" panose="020F0502020204030204" pitchFamily="34" charset="0"/>
              </a:rPr>
              <a:t>clarity, </a:t>
            </a:r>
            <a:r>
              <a:rPr sz="1400" dirty="0">
                <a:solidFill>
                  <a:schemeClr val="tx1"/>
                </a:solidFill>
                <a:latin typeface="Calibri" panose="020F0502020204030204" pitchFamily="34" charset="0"/>
                <a:cs typeface="Calibri" panose="020F0502020204030204" pitchFamily="34" charset="0"/>
              </a:rPr>
              <a:t>context,</a:t>
            </a:r>
            <a:r>
              <a:rPr sz="1400" spc="-2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precision,</a:t>
            </a:r>
            <a:r>
              <a:rPr sz="1400" spc="-2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and</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role</a:t>
            </a:r>
            <a:r>
              <a:rPr sz="1400" spc="-25" dirty="0">
                <a:solidFill>
                  <a:schemeClr val="tx1"/>
                </a:solidFill>
                <a:latin typeface="Calibri" panose="020F0502020204030204" pitchFamily="34" charset="0"/>
                <a:cs typeface="Calibri" panose="020F0502020204030204" pitchFamily="34" charset="0"/>
              </a:rPr>
              <a:t> </a:t>
            </a:r>
            <a:r>
              <a:rPr sz="1400" spc="-10" dirty="0">
                <a:solidFill>
                  <a:schemeClr val="tx1"/>
                </a:solidFill>
                <a:latin typeface="Calibri" panose="020F0502020204030204" pitchFamily="34" charset="0"/>
                <a:cs typeface="Calibri" panose="020F0502020204030204" pitchFamily="34" charset="0"/>
              </a:rPr>
              <a:t>play.</a:t>
            </a:r>
            <a:r>
              <a:rPr sz="1400" spc="-2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Clarity</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includes</a:t>
            </a:r>
            <a:r>
              <a:rPr sz="1400" spc="-2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using</a:t>
            </a:r>
            <a:r>
              <a:rPr sz="1400" spc="-2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simple</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and</a:t>
            </a:r>
            <a:r>
              <a:rPr sz="1400" spc="-2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concise</a:t>
            </a:r>
            <a:r>
              <a:rPr sz="1400" spc="-2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language,</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context</a:t>
            </a:r>
            <a:r>
              <a:rPr sz="1400" spc="-2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provides</a:t>
            </a:r>
            <a:r>
              <a:rPr sz="1400" spc="-2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background</a:t>
            </a:r>
            <a:r>
              <a:rPr sz="1400" spc="-20" dirty="0">
                <a:solidFill>
                  <a:schemeClr val="tx1"/>
                </a:solidFill>
                <a:latin typeface="Calibri" panose="020F0502020204030204" pitchFamily="34" charset="0"/>
                <a:cs typeface="Calibri" panose="020F0502020204030204" pitchFamily="34" charset="0"/>
              </a:rPr>
              <a:t> </a:t>
            </a:r>
            <a:r>
              <a:rPr sz="1400" spc="-25" dirty="0">
                <a:solidFill>
                  <a:schemeClr val="tx1"/>
                </a:solidFill>
                <a:latin typeface="Calibri" panose="020F0502020204030204" pitchFamily="34" charset="0"/>
                <a:cs typeface="Calibri" panose="020F0502020204030204" pitchFamily="34" charset="0"/>
              </a:rPr>
              <a:t>and </a:t>
            </a:r>
            <a:r>
              <a:rPr sz="1400" dirty="0">
                <a:solidFill>
                  <a:schemeClr val="tx1"/>
                </a:solidFill>
                <a:latin typeface="Calibri" panose="020F0502020204030204" pitchFamily="34" charset="0"/>
                <a:cs typeface="Calibri" panose="020F0502020204030204" pitchFamily="34" charset="0"/>
              </a:rPr>
              <a:t>required</a:t>
            </a:r>
            <a:r>
              <a:rPr sz="1400" spc="-2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details,</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precision</a:t>
            </a:r>
            <a:r>
              <a:rPr sz="1400" spc="-2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means</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being</a:t>
            </a:r>
            <a:r>
              <a:rPr sz="1400" spc="-2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specific</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and</a:t>
            </a:r>
            <a:r>
              <a:rPr sz="1400" spc="-2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providing</a:t>
            </a:r>
            <a:r>
              <a:rPr sz="1400" spc="-20" dirty="0">
                <a:solidFill>
                  <a:schemeClr val="tx1"/>
                </a:solidFill>
                <a:latin typeface="Calibri" panose="020F0502020204030204" pitchFamily="34" charset="0"/>
                <a:cs typeface="Calibri" panose="020F0502020204030204" pitchFamily="34" charset="0"/>
              </a:rPr>
              <a:t> </a:t>
            </a:r>
            <a:r>
              <a:rPr sz="1400" spc="-10" dirty="0">
                <a:solidFill>
                  <a:schemeClr val="tx1"/>
                </a:solidFill>
                <a:latin typeface="Calibri" panose="020F0502020204030204" pitchFamily="34" charset="0"/>
                <a:cs typeface="Calibri" panose="020F0502020204030204" pitchFamily="34" charset="0"/>
              </a:rPr>
              <a:t>examples.</a:t>
            </a:r>
            <a:endParaRPr sz="1400" dirty="0">
              <a:solidFill>
                <a:schemeClr val="tx1"/>
              </a:solidFill>
              <a:latin typeface="Calibri" panose="020F0502020204030204" pitchFamily="34" charset="0"/>
              <a:cs typeface="Calibri" panose="020F0502020204030204" pitchFamily="34" charset="0"/>
            </a:endParaRPr>
          </a:p>
          <a:p>
            <a:pPr marL="298450" marR="527685" indent="-285750">
              <a:spcBef>
                <a:spcPts val="1185"/>
              </a:spcBef>
              <a:buFont typeface="Arial" panose="020B0604020202020204" pitchFamily="34" charset="0"/>
              <a:buChar char="•"/>
            </a:pPr>
            <a:r>
              <a:rPr sz="1400" dirty="0">
                <a:solidFill>
                  <a:schemeClr val="tx1"/>
                </a:solidFill>
                <a:latin typeface="Calibri" panose="020F0502020204030204" pitchFamily="34" charset="0"/>
                <a:cs typeface="Calibri" panose="020F0502020204030204" pitchFamily="34" charset="0"/>
              </a:rPr>
              <a:t>Role</a:t>
            </a:r>
            <a:r>
              <a:rPr sz="1400" spc="-3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play</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can</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enhance</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responses</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by</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assuming</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persona</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and</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offering</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relevant</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context.</a:t>
            </a:r>
            <a:r>
              <a:rPr sz="1400" spc="-4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These</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practices</a:t>
            </a:r>
            <a:r>
              <a:rPr sz="1400" spc="-2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can</a:t>
            </a:r>
            <a:r>
              <a:rPr sz="1400" spc="-15" dirty="0">
                <a:solidFill>
                  <a:schemeClr val="tx1"/>
                </a:solidFill>
                <a:latin typeface="Calibri" panose="020F0502020204030204" pitchFamily="34" charset="0"/>
                <a:cs typeface="Calibri" panose="020F0502020204030204" pitchFamily="34" charset="0"/>
              </a:rPr>
              <a:t> </a:t>
            </a:r>
            <a:r>
              <a:rPr sz="1400" spc="-25" dirty="0">
                <a:solidFill>
                  <a:schemeClr val="tx1"/>
                </a:solidFill>
                <a:latin typeface="Calibri" panose="020F0502020204030204" pitchFamily="34" charset="0"/>
                <a:cs typeface="Calibri" panose="020F0502020204030204" pitchFamily="34" charset="0"/>
              </a:rPr>
              <a:t>be </a:t>
            </a:r>
            <a:r>
              <a:rPr sz="1400" dirty="0">
                <a:solidFill>
                  <a:schemeClr val="tx1"/>
                </a:solidFill>
                <a:latin typeface="Calibri" panose="020F0502020204030204" pitchFamily="34" charset="0"/>
                <a:cs typeface="Calibri" panose="020F0502020204030204" pitchFamily="34" charset="0"/>
              </a:rPr>
              <a:t>adapted</a:t>
            </a:r>
            <a:r>
              <a:rPr sz="1400" spc="-15"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to</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specific</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needs</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for</a:t>
            </a:r>
            <a:r>
              <a:rPr sz="1400" spc="-10" dirty="0">
                <a:solidFill>
                  <a:schemeClr val="tx1"/>
                </a:solidFill>
                <a:latin typeface="Calibri" panose="020F0502020204030204" pitchFamily="34" charset="0"/>
                <a:cs typeface="Calibri" panose="020F0502020204030204" pitchFamily="34" charset="0"/>
              </a:rPr>
              <a:t> </a:t>
            </a:r>
            <a:r>
              <a:rPr sz="1400" dirty="0">
                <a:solidFill>
                  <a:schemeClr val="tx1"/>
                </a:solidFill>
                <a:latin typeface="Calibri" panose="020F0502020204030204" pitchFamily="34" charset="0"/>
                <a:cs typeface="Calibri" panose="020F0502020204030204" pitchFamily="34" charset="0"/>
              </a:rPr>
              <a:t>optimal</a:t>
            </a:r>
            <a:r>
              <a:rPr sz="1400" spc="-10" dirty="0">
                <a:solidFill>
                  <a:schemeClr val="tx1"/>
                </a:solidFill>
                <a:latin typeface="Calibri" panose="020F0502020204030204" pitchFamily="34" charset="0"/>
                <a:cs typeface="Calibri" panose="020F0502020204030204" pitchFamily="34" charset="0"/>
              </a:rPr>
              <a:t> results.</a:t>
            </a:r>
            <a:endParaRPr sz="1400" dirty="0">
              <a:solidFill>
                <a:schemeClr val="tx1"/>
              </a:solidFill>
              <a:latin typeface="Calibri" panose="020F0502020204030204" pitchFamily="34" charset="0"/>
              <a:cs typeface="Calibri" panose="020F050202020403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548176" cy="5143500"/>
            <a:chOff x="651279" y="598259"/>
            <a:chExt cx="10889442" cy="5680742"/>
          </a:xfrm>
        </p:grpSpPr>
        <p:sp>
          <p:nvSpPr>
            <p:cNvPr id="49"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7" name="Group 26">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3" y="0"/>
            <a:ext cx="9141717" cy="5143498"/>
            <a:chOff x="0" y="0"/>
            <a:chExt cx="12188952" cy="6858000"/>
          </a:xfrm>
        </p:grpSpPr>
        <p:sp>
          <p:nvSpPr>
            <p:cNvPr id="50" name="Freeform: Shape 49">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0" name="Freeform: Shape 29">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1" name="Freeform: Shape 30">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2" name="Freeform: Shape 31">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3" name="Freeform: Shape 32">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4" name="Freeform: Shape 33">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B41E3537-AA37-EB94-AFC9-2B569CEDD244}"/>
              </a:ext>
            </a:extLst>
          </p:cNvPr>
          <p:cNvSpPr>
            <a:spLocks noGrp="1"/>
          </p:cNvSpPr>
          <p:nvPr>
            <p:ph type="title"/>
          </p:nvPr>
        </p:nvSpPr>
        <p:spPr>
          <a:xfrm>
            <a:off x="589788" y="630936"/>
            <a:ext cx="3847200" cy="4005072"/>
          </a:xfrm>
        </p:spPr>
        <p:txBody>
          <a:bodyPr vert="horz" lIns="91440" tIns="45720" rIns="91440" bIns="45720" rtlCol="0" anchor="ctr">
            <a:normAutofit fontScale="90000"/>
          </a:bodyPr>
          <a:lstStyle/>
          <a:p>
            <a:pPr algn="l" rtl="0">
              <a:lnSpc>
                <a:spcPct val="90000"/>
              </a:lnSpc>
              <a:spcBef>
                <a:spcPct val="0"/>
              </a:spcBef>
            </a:pPr>
            <a:br>
              <a:rPr lang="en-US" sz="900" b="1" kern="1200" dirty="0">
                <a:solidFill>
                  <a:schemeClr val="bg1"/>
                </a:solidFill>
                <a:latin typeface="+mj-lt"/>
                <a:ea typeface="+mj-ea"/>
                <a:cs typeface="+mj-cs"/>
              </a:rPr>
            </a:br>
            <a:br>
              <a:rPr lang="en-US" sz="900" b="1" kern="1200" dirty="0">
                <a:solidFill>
                  <a:schemeClr val="bg1"/>
                </a:solidFill>
                <a:latin typeface="+mj-lt"/>
                <a:ea typeface="+mj-ea"/>
                <a:cs typeface="+mj-cs"/>
              </a:rPr>
            </a:br>
            <a:br>
              <a:rPr lang="en-US" sz="900" b="1" kern="1200" dirty="0">
                <a:solidFill>
                  <a:schemeClr val="bg1"/>
                </a:solidFill>
                <a:latin typeface="+mj-lt"/>
                <a:ea typeface="+mj-ea"/>
                <a:cs typeface="+mj-cs"/>
              </a:rPr>
            </a:br>
            <a:br>
              <a:rPr lang="en-US" sz="900" b="1" kern="1200" dirty="0">
                <a:solidFill>
                  <a:schemeClr val="bg1"/>
                </a:solidFill>
                <a:latin typeface="+mj-lt"/>
                <a:ea typeface="+mj-ea"/>
                <a:cs typeface="+mj-cs"/>
              </a:rPr>
            </a:br>
            <a:br>
              <a:rPr lang="en-US" sz="900" b="1" kern="1200" dirty="0">
                <a:solidFill>
                  <a:schemeClr val="bg1"/>
                </a:solidFill>
                <a:latin typeface="+mj-lt"/>
                <a:ea typeface="+mj-ea"/>
                <a:cs typeface="+mj-cs"/>
              </a:rPr>
            </a:br>
            <a:br>
              <a:rPr lang="en-US" sz="900" b="1" kern="1200" dirty="0">
                <a:solidFill>
                  <a:schemeClr val="bg1"/>
                </a:solidFill>
                <a:latin typeface="+mj-lt"/>
                <a:ea typeface="+mj-ea"/>
                <a:cs typeface="+mj-cs"/>
              </a:rPr>
            </a:br>
            <a:br>
              <a:rPr lang="en-US" sz="1200" b="1" kern="1200" dirty="0">
                <a:latin typeface="+mn-lt"/>
                <a:ea typeface="+mj-ea"/>
                <a:cs typeface="+mj-cs"/>
              </a:rPr>
            </a:br>
            <a:br>
              <a:rPr lang="en-US" sz="1200" kern="1200" dirty="0">
                <a:latin typeface="+mn-lt"/>
                <a:ea typeface="+mj-ea"/>
                <a:cs typeface="+mj-cs"/>
              </a:rPr>
            </a:br>
            <a:r>
              <a:rPr lang="en-US" sz="1200" b="1" kern="1200" dirty="0">
                <a:latin typeface="+mn-lt"/>
                <a:ea typeface="+mj-ea"/>
                <a:cs typeface="+mj-cs"/>
              </a:rPr>
              <a:t>Chain of thought : </a:t>
            </a:r>
            <a:r>
              <a:rPr lang="en-US" sz="1200" kern="1200" dirty="0">
                <a:latin typeface="+mn-lt"/>
                <a:ea typeface="+mj-ea"/>
                <a:cs typeface="+mj-cs"/>
              </a:rPr>
              <a:t>Significantly bolsters the cognitive performance of AI models by segmenting complex tasks into more manageable steps. By adopting this prompting strategy, AI models can demonstrate heightened cognitive abilities and offer a deeper understanding of their reasoning processes.</a:t>
            </a:r>
            <a:br>
              <a:rPr lang="en-US" sz="1200" kern="1200" dirty="0">
                <a:latin typeface="+mn-lt"/>
                <a:ea typeface="+mj-ea"/>
                <a:cs typeface="+mj-cs"/>
              </a:rPr>
            </a:br>
            <a:br>
              <a:rPr lang="en-US" sz="1200" kern="1200" dirty="0">
                <a:latin typeface="+mn-lt"/>
                <a:ea typeface="+mj-ea"/>
                <a:cs typeface="+mj-cs"/>
              </a:rPr>
            </a:br>
            <a:r>
              <a:rPr lang="en-US" sz="1200" kern="1200" dirty="0">
                <a:latin typeface="+mn-lt"/>
                <a:ea typeface="+mj-ea"/>
                <a:cs typeface="+mj-cs"/>
              </a:rPr>
              <a:t>This approach is an example of prompt-based learning, and it requires feeding the model with questions and their corresponding solutions before posing related subsequent questions to it. In other words, our </a:t>
            </a:r>
            <a:r>
              <a:rPr lang="en-US" sz="1200" kern="1200" dirty="0" err="1">
                <a:latin typeface="+mn-lt"/>
                <a:ea typeface="+mj-ea"/>
                <a:cs typeface="+mj-cs"/>
              </a:rPr>
              <a:t>CoT</a:t>
            </a:r>
            <a:r>
              <a:rPr lang="en-US" sz="1200" kern="1200" dirty="0">
                <a:latin typeface="+mn-lt"/>
                <a:ea typeface="+mj-ea"/>
                <a:cs typeface="+mj-cs"/>
              </a:rPr>
              <a:t> prompt teaches the model to reason about the problem and mimic the same reasoning to respond to further queries correctly.</a:t>
            </a:r>
            <a:br>
              <a:rPr lang="en-US" sz="1200" kern="1200" dirty="0">
                <a:latin typeface="+mn-lt"/>
                <a:ea typeface="+mj-ea"/>
                <a:cs typeface="+mj-cs"/>
              </a:rPr>
            </a:br>
            <a:br>
              <a:rPr lang="en-US" sz="1200" kern="1200" dirty="0">
                <a:latin typeface="+mn-lt"/>
                <a:ea typeface="+mj-ea"/>
                <a:cs typeface="+mj-cs"/>
              </a:rPr>
            </a:br>
            <a:r>
              <a:rPr lang="en-US" sz="1200" b="1" kern="1200" dirty="0">
                <a:latin typeface="+mn-lt"/>
                <a:ea typeface="+mj-ea"/>
                <a:cs typeface="+mj-cs"/>
              </a:rPr>
              <a:t>Chain of thought : ​</a:t>
            </a:r>
            <a:r>
              <a:rPr lang="en-US" sz="1200" kern="1200" dirty="0">
                <a:latin typeface="+mn-lt"/>
                <a:ea typeface="+mj-ea"/>
                <a:cs typeface="+mj-cs"/>
              </a:rPr>
              <a:t>Phrases such as, let's think step-by-step or let's work this out step-by-step to ensure ​we have the right answer are added to the prompt to help the system devise methods to solve ​the problem independently. ​Let's take the same pen case problem and see how it is solved using the Zero-Shot method. ​The prompt is given as follows. ​If a store sells pen cases on a buy-one-get-one-free offer, and each pen case costs $5, how much ​would 10 pen cases cost? ​Let's think step-by-step. ​In this case, the system doesn't rely on a sample or example beforehand. ​Instead, it tries to reason through the problem on its own. </a:t>
            </a:r>
            <a:br>
              <a:rPr lang="en-US" sz="1200" kern="1200" dirty="0">
                <a:latin typeface="+mn-lt"/>
                <a:ea typeface="+mj-ea"/>
                <a:cs typeface="+mj-cs"/>
              </a:rPr>
            </a:br>
            <a:br>
              <a:rPr lang="en-US" sz="1200" kern="1200" dirty="0">
                <a:latin typeface="+mn-lt"/>
                <a:ea typeface="+mj-ea"/>
                <a:cs typeface="+mj-cs"/>
              </a:rPr>
            </a:br>
            <a:br>
              <a:rPr lang="en-US" sz="900" kern="1200" dirty="0">
                <a:solidFill>
                  <a:schemeClr val="bg1"/>
                </a:solidFill>
                <a:latin typeface="+mj-lt"/>
                <a:ea typeface="+mj-ea"/>
                <a:cs typeface="+mj-cs"/>
              </a:rPr>
            </a:br>
            <a:endParaRPr lang="en-US" sz="900" kern="1200" dirty="0">
              <a:solidFill>
                <a:schemeClr val="bg1"/>
              </a:solidFill>
              <a:latin typeface="+mj-lt"/>
              <a:ea typeface="+mj-ea"/>
              <a:cs typeface="+mj-cs"/>
            </a:endParaRPr>
          </a:p>
        </p:txBody>
      </p:sp>
      <p:sp>
        <p:nvSpPr>
          <p:cNvPr id="51" name="TextBox 50">
            <a:extLst>
              <a:ext uri="{FF2B5EF4-FFF2-40B4-BE49-F238E27FC236}">
                <a16:creationId xmlns:a16="http://schemas.microsoft.com/office/drawing/2014/main" id="{DD09E59E-E895-50D2-BFBF-8C21CB26A0A6}"/>
              </a:ext>
            </a:extLst>
          </p:cNvPr>
          <p:cNvSpPr txBox="1"/>
          <p:nvPr/>
        </p:nvSpPr>
        <p:spPr>
          <a:xfrm>
            <a:off x="4848307" y="630935"/>
            <a:ext cx="3363402" cy="4005073"/>
          </a:xfrm>
          <a:prstGeom prst="rect">
            <a:avLst/>
          </a:prstGeom>
        </p:spPr>
        <p:txBody>
          <a:bodyPr vert="horz" lIns="91440" tIns="45720" rIns="91440" bIns="45720" rtlCol="0" anchor="ctr">
            <a:normAutofit/>
          </a:bodyPr>
          <a:lstStyle/>
          <a:p>
            <a:pPr indent="-228600" algn="l" rtl="0">
              <a:lnSpc>
                <a:spcPct val="90000"/>
              </a:lnSpc>
              <a:spcAft>
                <a:spcPts val="600"/>
              </a:spcAft>
              <a:buFont typeface="Arial" panose="020B0604020202020204" pitchFamily="34" charset="0"/>
              <a:buChar char="•"/>
            </a:pPr>
            <a:r>
              <a:rPr lang="en-US" sz="1100" b="1" kern="1200" dirty="0">
                <a:solidFill>
                  <a:schemeClr val="tx1"/>
                </a:solidFill>
                <a:latin typeface="+mn-lt"/>
                <a:ea typeface="+mn-ea"/>
                <a:cs typeface="+mn-cs"/>
              </a:rPr>
              <a:t>The tree-of-thought approach : </a:t>
            </a:r>
            <a:r>
              <a:rPr lang="en-US" sz="1100" kern="1200" dirty="0">
                <a:solidFill>
                  <a:schemeClr val="tx1"/>
                </a:solidFill>
                <a:latin typeface="+mn-lt"/>
                <a:ea typeface="+mn-ea"/>
                <a:cs typeface="+mn-cs"/>
              </a:rPr>
              <a:t>Enhances AI reasoning by structuring prompts like a tree with hierarchical ​branches representing different lines of thought. ​It allows the AI to evaluate multiple possibilities simultaneously, assess potential outcomes, ​and focus on the most promising options. ​This technique is valuable for solving complex problems by offering explicit guidance and ​exploring various solutions. ​ </a:t>
            </a:r>
          </a:p>
          <a:p>
            <a:pPr indent="-228600" algn="l" rtl="0">
              <a:lnSpc>
                <a:spcPct val="90000"/>
              </a:lnSpc>
              <a:spcAft>
                <a:spcPts val="600"/>
              </a:spcAft>
              <a:buFont typeface="Arial" panose="020B0604020202020204" pitchFamily="34" charset="0"/>
              <a:buChar char="•"/>
            </a:pPr>
            <a:r>
              <a:rPr lang="en-US" sz="1100" b="1" kern="1200" dirty="0">
                <a:solidFill>
                  <a:schemeClr val="tx1"/>
                </a:solidFill>
                <a:latin typeface="+mn-lt"/>
                <a:ea typeface="+mn-ea"/>
                <a:cs typeface="+mn-cs"/>
              </a:rPr>
              <a:t>Tree of thought : </a:t>
            </a:r>
            <a:r>
              <a:rPr lang="en-US" sz="1100" kern="1200" dirty="0">
                <a:solidFill>
                  <a:schemeClr val="tx1"/>
                </a:solidFill>
                <a:latin typeface="+mn-lt"/>
                <a:ea typeface="+mn-ea"/>
                <a:cs typeface="+mn-cs"/>
              </a:rPr>
              <a:t>The prompt is, our online store has seen a 20% drop in sales over the past three months ​despite steady website traffic. ​What could be causing this and how should we approach fixing it? ​Think of three possible reasons and try to approach the solution from multiple directions ​giving a single structured plan of action. ​As a response to the prompt, the model begins by identifying and clearly outlining the three ​most likely causes of the sales decline, poor conversion rate, product or pricing issues, ​or external market factors. ​It then proposes a multi-directional approach to fixing the targeted issue where a strategy ​is developed for each of the principal reasons identified. ​Finally, the model presents a structured implementation plan addressing the issue across ​short-term, medium-term, and long-term actions. ​</a:t>
            </a:r>
          </a:p>
        </p:txBody>
      </p:sp>
    </p:spTree>
    <p:extLst>
      <p:ext uri="{BB962C8B-B14F-4D97-AF65-F5344CB8AC3E}">
        <p14:creationId xmlns:p14="http://schemas.microsoft.com/office/powerpoint/2010/main" val="3872730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85748" y="285751"/>
            <a:ext cx="5143501" cy="4571996"/>
          </a:xfrm>
          <a:prstGeom prst="rect">
            <a:avLst/>
          </a:prstGeom>
          <a:ln>
            <a:noFill/>
          </a:ln>
          <a:effectLst>
            <a:outerShdw blurRad="381000" dist="101600" sx="99000" sy="99000" algn="l"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7BF3AE-B3CF-6752-519A-BA1594F6B5B1}"/>
              </a:ext>
            </a:extLst>
          </p:cNvPr>
          <p:cNvSpPr>
            <a:spLocks noGrp="1"/>
          </p:cNvSpPr>
          <p:nvPr>
            <p:ph type="ctrTitle"/>
          </p:nvPr>
        </p:nvSpPr>
        <p:spPr>
          <a:xfrm>
            <a:off x="530559" y="3408528"/>
            <a:ext cx="3594477" cy="1358733"/>
          </a:xfrm>
        </p:spPr>
        <p:txBody>
          <a:bodyPr anchor="ctr">
            <a:normAutofit/>
          </a:bodyPr>
          <a:lstStyle/>
          <a:p>
            <a:r>
              <a:rPr lang="en-US" sz="3000"/>
              <a:t>Interview Pattern approach </a:t>
            </a:r>
          </a:p>
        </p:txBody>
      </p:sp>
      <p:pic>
        <p:nvPicPr>
          <p:cNvPr id="5" name="Picture 4">
            <a:extLst>
              <a:ext uri="{FF2B5EF4-FFF2-40B4-BE49-F238E27FC236}">
                <a16:creationId xmlns:a16="http://schemas.microsoft.com/office/drawing/2014/main" id="{C5F7CF92-B385-56B2-6C29-B7892694678F}"/>
              </a:ext>
            </a:extLst>
          </p:cNvPr>
          <p:cNvPicPr>
            <a:picLocks noChangeAspect="1"/>
          </p:cNvPicPr>
          <p:nvPr/>
        </p:nvPicPr>
        <p:blipFill>
          <a:blip r:embed="rId2" cstate="print">
            <a:extLst>
              <a:ext uri="{28A0092B-C50C-407E-A947-70E740481C1C}">
                <a14:useLocalDpi xmlns:a14="http://schemas.microsoft.com/office/drawing/2010/main" val="0"/>
              </a:ext>
            </a:extLst>
          </a:blip>
          <a:srcRect r="3" b="33346"/>
          <a:stretch>
            <a:fillRect/>
          </a:stretch>
        </p:blipFill>
        <p:spPr>
          <a:xfrm>
            <a:off x="20" y="10"/>
            <a:ext cx="4571980" cy="3086090"/>
          </a:xfrm>
          <a:prstGeom prst="rect">
            <a:avLst/>
          </a:prstGeom>
        </p:spPr>
      </p:pic>
      <p:sp>
        <p:nvSpPr>
          <p:cNvPr id="3" name="Subtitle 2">
            <a:extLst>
              <a:ext uri="{FF2B5EF4-FFF2-40B4-BE49-F238E27FC236}">
                <a16:creationId xmlns:a16="http://schemas.microsoft.com/office/drawing/2014/main" id="{91DD72E4-D55B-1D80-C5FA-D31D7CCBE4B5}"/>
              </a:ext>
            </a:extLst>
          </p:cNvPr>
          <p:cNvSpPr>
            <a:spLocks noGrp="1"/>
          </p:cNvSpPr>
          <p:nvPr>
            <p:ph type="subTitle" idx="4"/>
          </p:nvPr>
        </p:nvSpPr>
        <p:spPr>
          <a:xfrm>
            <a:off x="5102557" y="518934"/>
            <a:ext cx="3439235" cy="4105629"/>
          </a:xfrm>
        </p:spPr>
        <p:txBody>
          <a:bodyPr anchor="ctr">
            <a:normAutofit/>
          </a:bodyPr>
          <a:lstStyle/>
          <a:p>
            <a:pPr>
              <a:lnSpc>
                <a:spcPct val="90000"/>
              </a:lnSpc>
              <a:spcAft>
                <a:spcPts val="600"/>
              </a:spcAft>
            </a:pPr>
            <a:r>
              <a:rPr lang="en-US" sz="1200"/>
              <a:t>This approach requires meticulous optimization of the prompt to ​ensure the model generates responses that precisely meet your objectives. ​It involves providing specific prompt instructions to the model in response to ​which the model asks necessary follow-up questions from the user. ​Depending on the response to these follow-up questions, ​the model draws information relevant to its task, processes it, and ​provides a well optimized response to the user. </a:t>
            </a:r>
          </a:p>
          <a:p>
            <a:pPr>
              <a:lnSpc>
                <a:spcPct val="90000"/>
              </a:lnSpc>
              <a:spcAft>
                <a:spcPts val="600"/>
              </a:spcAft>
            </a:pPr>
            <a:endParaRPr lang="en-US" sz="1200"/>
          </a:p>
          <a:p>
            <a:pPr>
              <a:lnSpc>
                <a:spcPct val="90000"/>
              </a:lnSpc>
              <a:spcAft>
                <a:spcPts val="600"/>
              </a:spcAft>
            </a:pPr>
            <a:r>
              <a:rPr lang="en-US" sz="1200"/>
              <a:t>Naïve : We'll query AI in the simplest way possible, like most people would. The result will be alright, but we'll see how a simple adjustment can radically improve the results later in the lab. </a:t>
            </a:r>
          </a:p>
          <a:p>
            <a:pPr>
              <a:lnSpc>
                <a:spcPct val="90000"/>
              </a:lnSpc>
              <a:spcAft>
                <a:spcPts val="600"/>
              </a:spcAft>
            </a:pPr>
            <a:endParaRPr lang="en-US" sz="1200"/>
          </a:p>
          <a:p>
            <a:pPr>
              <a:lnSpc>
                <a:spcPct val="90000"/>
              </a:lnSpc>
              <a:spcAft>
                <a:spcPts val="600"/>
              </a:spcAft>
            </a:pPr>
            <a:r>
              <a:rPr lang="en-US" sz="1200"/>
              <a:t>Persona : The persona pattern in prompt engineering instructs a Large Language Model (LLM) to "act as" a specific character, professional, or persona to tailor its tone, style, and expertise to a task.</a:t>
            </a:r>
          </a:p>
          <a:p>
            <a:pPr>
              <a:lnSpc>
                <a:spcPct val="90000"/>
              </a:lnSpc>
              <a:spcAft>
                <a:spcPts val="600"/>
              </a:spcAft>
            </a:pPr>
            <a:endParaRPr lang="en-US" sz="1200"/>
          </a:p>
        </p:txBody>
      </p:sp>
    </p:spTree>
    <p:extLst>
      <p:ext uri="{BB962C8B-B14F-4D97-AF65-F5344CB8AC3E}">
        <p14:creationId xmlns:p14="http://schemas.microsoft.com/office/powerpoint/2010/main" val="2393032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D70660-FF83-8E9A-E6CA-54EA2FB05DB7}"/>
              </a:ext>
            </a:extLst>
          </p:cNvPr>
          <p:cNvSpPr>
            <a:spLocks noGrp="1"/>
          </p:cNvSpPr>
          <p:nvPr>
            <p:ph type="ctrTitle"/>
          </p:nvPr>
        </p:nvSpPr>
        <p:spPr>
          <a:xfrm>
            <a:off x="152400" y="133350"/>
            <a:ext cx="8305800" cy="384721"/>
          </a:xfrm>
        </p:spPr>
        <p:txBody>
          <a:bodyPr/>
          <a:lstStyle/>
          <a:p>
            <a:r>
              <a:rPr lang="en-US" dirty="0"/>
              <a:t>The Playoff Method</a:t>
            </a:r>
          </a:p>
        </p:txBody>
      </p:sp>
      <p:sp>
        <p:nvSpPr>
          <p:cNvPr id="5" name="Subtitle 4">
            <a:extLst>
              <a:ext uri="{FF2B5EF4-FFF2-40B4-BE49-F238E27FC236}">
                <a16:creationId xmlns:a16="http://schemas.microsoft.com/office/drawing/2014/main" id="{CF5B6948-C787-0EC5-5ACF-A34E2A3CB3FC}"/>
              </a:ext>
            </a:extLst>
          </p:cNvPr>
          <p:cNvSpPr>
            <a:spLocks noGrp="1"/>
          </p:cNvSpPr>
          <p:nvPr>
            <p:ph type="subTitle" idx="4"/>
          </p:nvPr>
        </p:nvSpPr>
        <p:spPr>
          <a:xfrm>
            <a:off x="152400" y="742950"/>
            <a:ext cx="4038600" cy="3810000"/>
          </a:xfrm>
        </p:spPr>
        <p:txBody>
          <a:bodyPr/>
          <a:lstStyle/>
          <a:p>
            <a:r>
              <a:rPr lang="en-US" dirty="0">
                <a:solidFill>
                  <a:schemeClr val="tx1"/>
                </a:solidFill>
              </a:rPr>
              <a:t>This is a strategy used to compare responses generated from multiple prompts.</a:t>
            </a:r>
          </a:p>
          <a:p>
            <a:endParaRPr lang="en-US" dirty="0">
              <a:solidFill>
                <a:schemeClr val="tx1"/>
              </a:solidFill>
            </a:endParaRPr>
          </a:p>
          <a:p>
            <a:r>
              <a:rPr lang="en-US" dirty="0">
                <a:solidFill>
                  <a:schemeClr val="tx1"/>
                </a:solidFill>
              </a:rPr>
              <a:t>The idea is to generate several different prompts for a given task, then compare the responses from each prompt through a pairwise comparison to determine which prompt results in the best output.</a:t>
            </a:r>
          </a:p>
        </p:txBody>
      </p:sp>
      <p:pic>
        <p:nvPicPr>
          <p:cNvPr id="7" name="Picture 6">
            <a:extLst>
              <a:ext uri="{FF2B5EF4-FFF2-40B4-BE49-F238E27FC236}">
                <a16:creationId xmlns:a16="http://schemas.microsoft.com/office/drawing/2014/main" id="{345F5717-2B24-55FC-FDD5-1D418D9B67A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05300" y="153708"/>
            <a:ext cx="4733123" cy="4832312"/>
          </a:xfrm>
          <a:prstGeom prst="rect">
            <a:avLst/>
          </a:prstGeom>
        </p:spPr>
      </p:pic>
    </p:spTree>
    <p:extLst>
      <p:ext uri="{BB962C8B-B14F-4D97-AF65-F5344CB8AC3E}">
        <p14:creationId xmlns:p14="http://schemas.microsoft.com/office/powerpoint/2010/main" val="4241001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3B57CE-46B4-DC34-CA95-7CC78764CB7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 y="133350"/>
            <a:ext cx="4419600" cy="4417233"/>
          </a:xfrm>
          <a:prstGeom prst="rect">
            <a:avLst/>
          </a:prstGeom>
        </p:spPr>
      </p:pic>
      <p:pic>
        <p:nvPicPr>
          <p:cNvPr id="9" name="Picture 8">
            <a:extLst>
              <a:ext uri="{FF2B5EF4-FFF2-40B4-BE49-F238E27FC236}">
                <a16:creationId xmlns:a16="http://schemas.microsoft.com/office/drawing/2014/main" id="{D8B7FA98-03E5-605A-D2D0-34909F1AB9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07560" y="133350"/>
            <a:ext cx="4367918" cy="4417233"/>
          </a:xfrm>
          <a:prstGeom prst="rect">
            <a:avLst/>
          </a:prstGeom>
        </p:spPr>
      </p:pic>
      <mc:AlternateContent xmlns:mc="http://schemas.openxmlformats.org/markup-compatibility/2006">
        <mc:Choice xmlns:p14="http://schemas.microsoft.com/office/powerpoint/2010/main" Requires="p14">
          <p:contentPart p14:bwMode="auto" r:id="rId4">
            <p14:nvContentPartPr>
              <p14:cNvPr id="10" name="Ink 9">
                <a:extLst>
                  <a:ext uri="{FF2B5EF4-FFF2-40B4-BE49-F238E27FC236}">
                    <a16:creationId xmlns:a16="http://schemas.microsoft.com/office/drawing/2014/main" id="{7FE97DF8-2EAE-C84F-18A0-833B18F7016B}"/>
                  </a:ext>
                </a:extLst>
              </p14:cNvPr>
              <p14:cNvContentPartPr/>
              <p14:nvPr/>
            </p14:nvContentPartPr>
            <p14:xfrm>
              <a:off x="3417180" y="309980"/>
              <a:ext cx="1125720" cy="487440"/>
            </p14:xfrm>
          </p:contentPart>
        </mc:Choice>
        <mc:Fallback>
          <p:pic>
            <p:nvPicPr>
              <p:cNvPr id="10" name="Ink 9">
                <a:extLst>
                  <a:ext uri="{FF2B5EF4-FFF2-40B4-BE49-F238E27FC236}">
                    <a16:creationId xmlns:a16="http://schemas.microsoft.com/office/drawing/2014/main" id="{7FE97DF8-2EAE-C84F-18A0-833B18F7016B}"/>
                  </a:ext>
                </a:extLst>
              </p:cNvPr>
              <p:cNvPicPr/>
              <p:nvPr/>
            </p:nvPicPr>
            <p:blipFill>
              <a:blip r:embed="rId5"/>
              <a:stretch>
                <a:fillRect/>
              </a:stretch>
            </p:blipFill>
            <p:spPr>
              <a:xfrm>
                <a:off x="3399180" y="292340"/>
                <a:ext cx="1161360" cy="5230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1" name="Ink 10">
                <a:extLst>
                  <a:ext uri="{FF2B5EF4-FFF2-40B4-BE49-F238E27FC236}">
                    <a16:creationId xmlns:a16="http://schemas.microsoft.com/office/drawing/2014/main" id="{B8A058A5-C34D-B5FE-F94E-176CC4784A25}"/>
                  </a:ext>
                </a:extLst>
              </p14:cNvPr>
              <p14:cNvContentPartPr/>
              <p14:nvPr/>
            </p14:nvContentPartPr>
            <p14:xfrm>
              <a:off x="7870020" y="310700"/>
              <a:ext cx="1064880" cy="372600"/>
            </p14:xfrm>
          </p:contentPart>
        </mc:Choice>
        <mc:Fallback>
          <p:pic>
            <p:nvPicPr>
              <p:cNvPr id="11" name="Ink 10">
                <a:extLst>
                  <a:ext uri="{FF2B5EF4-FFF2-40B4-BE49-F238E27FC236}">
                    <a16:creationId xmlns:a16="http://schemas.microsoft.com/office/drawing/2014/main" id="{B8A058A5-C34D-B5FE-F94E-176CC4784A25}"/>
                  </a:ext>
                </a:extLst>
              </p:cNvPr>
              <p:cNvPicPr/>
              <p:nvPr/>
            </p:nvPicPr>
            <p:blipFill>
              <a:blip r:embed="rId7"/>
              <a:stretch>
                <a:fillRect/>
              </a:stretch>
            </p:blipFill>
            <p:spPr>
              <a:xfrm>
                <a:off x="7852020" y="292700"/>
                <a:ext cx="1100520" cy="4082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2" name="Ink 11">
                <a:extLst>
                  <a:ext uri="{FF2B5EF4-FFF2-40B4-BE49-F238E27FC236}">
                    <a16:creationId xmlns:a16="http://schemas.microsoft.com/office/drawing/2014/main" id="{E207B7DE-592D-5219-5F77-953C0D06BD36}"/>
                  </a:ext>
                </a:extLst>
              </p14:cNvPr>
              <p14:cNvContentPartPr/>
              <p14:nvPr/>
            </p14:nvContentPartPr>
            <p14:xfrm>
              <a:off x="3323940" y="291980"/>
              <a:ext cx="561960" cy="6840"/>
            </p14:xfrm>
          </p:contentPart>
        </mc:Choice>
        <mc:Fallback>
          <p:pic>
            <p:nvPicPr>
              <p:cNvPr id="12" name="Ink 11">
                <a:extLst>
                  <a:ext uri="{FF2B5EF4-FFF2-40B4-BE49-F238E27FC236}">
                    <a16:creationId xmlns:a16="http://schemas.microsoft.com/office/drawing/2014/main" id="{E207B7DE-592D-5219-5F77-953C0D06BD36}"/>
                  </a:ext>
                </a:extLst>
              </p:cNvPr>
              <p:cNvPicPr/>
              <p:nvPr/>
            </p:nvPicPr>
            <p:blipFill>
              <a:blip r:embed="rId9"/>
              <a:stretch>
                <a:fillRect/>
              </a:stretch>
            </p:blipFill>
            <p:spPr>
              <a:xfrm>
                <a:off x="3270300" y="183980"/>
                <a:ext cx="669600" cy="2224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3" name="Ink 12">
                <a:extLst>
                  <a:ext uri="{FF2B5EF4-FFF2-40B4-BE49-F238E27FC236}">
                    <a16:creationId xmlns:a16="http://schemas.microsoft.com/office/drawing/2014/main" id="{FA73A09A-EC26-0EF2-595C-14BD6893AB92}"/>
                  </a:ext>
                </a:extLst>
              </p14:cNvPr>
              <p14:cNvContentPartPr/>
              <p14:nvPr/>
            </p14:nvContentPartPr>
            <p14:xfrm>
              <a:off x="7753740" y="244100"/>
              <a:ext cx="612720" cy="360"/>
            </p14:xfrm>
          </p:contentPart>
        </mc:Choice>
        <mc:Fallback>
          <p:pic>
            <p:nvPicPr>
              <p:cNvPr id="13" name="Ink 12">
                <a:extLst>
                  <a:ext uri="{FF2B5EF4-FFF2-40B4-BE49-F238E27FC236}">
                    <a16:creationId xmlns:a16="http://schemas.microsoft.com/office/drawing/2014/main" id="{FA73A09A-EC26-0EF2-595C-14BD6893AB92}"/>
                  </a:ext>
                </a:extLst>
              </p:cNvPr>
              <p:cNvPicPr/>
              <p:nvPr/>
            </p:nvPicPr>
            <p:blipFill>
              <a:blip r:embed="rId11"/>
              <a:stretch>
                <a:fillRect/>
              </a:stretch>
            </p:blipFill>
            <p:spPr>
              <a:xfrm>
                <a:off x="7700100" y="136460"/>
                <a:ext cx="720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4" name="Ink 13">
                <a:extLst>
                  <a:ext uri="{FF2B5EF4-FFF2-40B4-BE49-F238E27FC236}">
                    <a16:creationId xmlns:a16="http://schemas.microsoft.com/office/drawing/2014/main" id="{3614AC9A-34A4-E7C0-470B-F88C6C172742}"/>
                  </a:ext>
                </a:extLst>
              </p14:cNvPr>
              <p14:cNvContentPartPr/>
              <p14:nvPr/>
            </p14:nvContentPartPr>
            <p14:xfrm>
              <a:off x="4927380" y="517340"/>
              <a:ext cx="1604520" cy="41400"/>
            </p14:xfrm>
          </p:contentPart>
        </mc:Choice>
        <mc:Fallback>
          <p:pic>
            <p:nvPicPr>
              <p:cNvPr id="14" name="Ink 13">
                <a:extLst>
                  <a:ext uri="{FF2B5EF4-FFF2-40B4-BE49-F238E27FC236}">
                    <a16:creationId xmlns:a16="http://schemas.microsoft.com/office/drawing/2014/main" id="{3614AC9A-34A4-E7C0-470B-F88C6C172742}"/>
                  </a:ext>
                </a:extLst>
              </p:cNvPr>
              <p:cNvPicPr/>
              <p:nvPr/>
            </p:nvPicPr>
            <p:blipFill>
              <a:blip r:embed="rId13"/>
              <a:stretch>
                <a:fillRect/>
              </a:stretch>
            </p:blipFill>
            <p:spPr>
              <a:xfrm>
                <a:off x="4873740" y="409340"/>
                <a:ext cx="1712160" cy="2570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5" name="Ink 14">
                <a:extLst>
                  <a:ext uri="{FF2B5EF4-FFF2-40B4-BE49-F238E27FC236}">
                    <a16:creationId xmlns:a16="http://schemas.microsoft.com/office/drawing/2014/main" id="{A19D5B4A-571E-08A1-0BFF-664E16EDCB4B}"/>
                  </a:ext>
                </a:extLst>
              </p14:cNvPr>
              <p14:cNvContentPartPr/>
              <p14:nvPr/>
            </p14:nvContentPartPr>
            <p14:xfrm>
              <a:off x="444300" y="526700"/>
              <a:ext cx="1300320" cy="24120"/>
            </p14:xfrm>
          </p:contentPart>
        </mc:Choice>
        <mc:Fallback>
          <p:pic>
            <p:nvPicPr>
              <p:cNvPr id="15" name="Ink 14">
                <a:extLst>
                  <a:ext uri="{FF2B5EF4-FFF2-40B4-BE49-F238E27FC236}">
                    <a16:creationId xmlns:a16="http://schemas.microsoft.com/office/drawing/2014/main" id="{A19D5B4A-571E-08A1-0BFF-664E16EDCB4B}"/>
                  </a:ext>
                </a:extLst>
              </p:cNvPr>
              <p:cNvPicPr/>
              <p:nvPr/>
            </p:nvPicPr>
            <p:blipFill>
              <a:blip r:embed="rId15"/>
              <a:stretch>
                <a:fillRect/>
              </a:stretch>
            </p:blipFill>
            <p:spPr>
              <a:xfrm>
                <a:off x="390660" y="419060"/>
                <a:ext cx="1407960" cy="2397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7" name="Ink 16">
                <a:extLst>
                  <a:ext uri="{FF2B5EF4-FFF2-40B4-BE49-F238E27FC236}">
                    <a16:creationId xmlns:a16="http://schemas.microsoft.com/office/drawing/2014/main" id="{405F15FA-E056-D235-0ECD-8B784454DC58}"/>
                  </a:ext>
                </a:extLst>
              </p14:cNvPr>
              <p14:cNvContentPartPr/>
              <p14:nvPr/>
            </p14:nvContentPartPr>
            <p14:xfrm>
              <a:off x="1301820" y="1091900"/>
              <a:ext cx="498600" cy="360"/>
            </p14:xfrm>
          </p:contentPart>
        </mc:Choice>
        <mc:Fallback>
          <p:pic>
            <p:nvPicPr>
              <p:cNvPr id="17" name="Ink 16">
                <a:extLst>
                  <a:ext uri="{FF2B5EF4-FFF2-40B4-BE49-F238E27FC236}">
                    <a16:creationId xmlns:a16="http://schemas.microsoft.com/office/drawing/2014/main" id="{405F15FA-E056-D235-0ECD-8B784454DC58}"/>
                  </a:ext>
                </a:extLst>
              </p:cNvPr>
              <p:cNvPicPr/>
              <p:nvPr/>
            </p:nvPicPr>
            <p:blipFill>
              <a:blip r:embed="rId17"/>
              <a:stretch>
                <a:fillRect/>
              </a:stretch>
            </p:blipFill>
            <p:spPr>
              <a:xfrm>
                <a:off x="1247820" y="984260"/>
                <a:ext cx="6062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8" name="Ink 17">
                <a:extLst>
                  <a:ext uri="{FF2B5EF4-FFF2-40B4-BE49-F238E27FC236}">
                    <a16:creationId xmlns:a16="http://schemas.microsoft.com/office/drawing/2014/main" id="{6D755D55-37EB-88FC-D790-A7C63086545C}"/>
                  </a:ext>
                </a:extLst>
              </p14:cNvPr>
              <p14:cNvContentPartPr/>
              <p14:nvPr/>
            </p14:nvContentPartPr>
            <p14:xfrm>
              <a:off x="5670060" y="1056980"/>
              <a:ext cx="534240" cy="67320"/>
            </p14:xfrm>
          </p:contentPart>
        </mc:Choice>
        <mc:Fallback>
          <p:pic>
            <p:nvPicPr>
              <p:cNvPr id="18" name="Ink 17">
                <a:extLst>
                  <a:ext uri="{FF2B5EF4-FFF2-40B4-BE49-F238E27FC236}">
                    <a16:creationId xmlns:a16="http://schemas.microsoft.com/office/drawing/2014/main" id="{6D755D55-37EB-88FC-D790-A7C63086545C}"/>
                  </a:ext>
                </a:extLst>
              </p:cNvPr>
              <p:cNvPicPr/>
              <p:nvPr/>
            </p:nvPicPr>
            <p:blipFill>
              <a:blip r:embed="rId19"/>
              <a:stretch>
                <a:fillRect/>
              </a:stretch>
            </p:blipFill>
            <p:spPr>
              <a:xfrm>
                <a:off x="5616060" y="949340"/>
                <a:ext cx="641880" cy="2829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9" name="Ink 18">
                <a:extLst>
                  <a:ext uri="{FF2B5EF4-FFF2-40B4-BE49-F238E27FC236}">
                    <a16:creationId xmlns:a16="http://schemas.microsoft.com/office/drawing/2014/main" id="{B30525CC-F365-843D-008E-43DC54E0E4A3}"/>
                  </a:ext>
                </a:extLst>
              </p14:cNvPr>
              <p14:cNvContentPartPr/>
              <p14:nvPr/>
            </p14:nvContentPartPr>
            <p14:xfrm>
              <a:off x="2376780" y="1085060"/>
              <a:ext cx="496800" cy="7200"/>
            </p14:xfrm>
          </p:contentPart>
        </mc:Choice>
        <mc:Fallback>
          <p:pic>
            <p:nvPicPr>
              <p:cNvPr id="19" name="Ink 18">
                <a:extLst>
                  <a:ext uri="{FF2B5EF4-FFF2-40B4-BE49-F238E27FC236}">
                    <a16:creationId xmlns:a16="http://schemas.microsoft.com/office/drawing/2014/main" id="{B30525CC-F365-843D-008E-43DC54E0E4A3}"/>
                  </a:ext>
                </a:extLst>
              </p:cNvPr>
              <p:cNvPicPr/>
              <p:nvPr/>
            </p:nvPicPr>
            <p:blipFill>
              <a:blip r:embed="rId21"/>
              <a:stretch>
                <a:fillRect/>
              </a:stretch>
            </p:blipFill>
            <p:spPr>
              <a:xfrm>
                <a:off x="2323140" y="977420"/>
                <a:ext cx="604440" cy="2228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0" name="Ink 19">
                <a:extLst>
                  <a:ext uri="{FF2B5EF4-FFF2-40B4-BE49-F238E27FC236}">
                    <a16:creationId xmlns:a16="http://schemas.microsoft.com/office/drawing/2014/main" id="{D2BAF88D-6F39-1D37-031B-1479C6486BA0}"/>
                  </a:ext>
                </a:extLst>
              </p14:cNvPr>
              <p14:cNvContentPartPr/>
              <p14:nvPr/>
            </p14:nvContentPartPr>
            <p14:xfrm>
              <a:off x="6745740" y="1085780"/>
              <a:ext cx="696600" cy="13680"/>
            </p14:xfrm>
          </p:contentPart>
        </mc:Choice>
        <mc:Fallback>
          <p:pic>
            <p:nvPicPr>
              <p:cNvPr id="20" name="Ink 19">
                <a:extLst>
                  <a:ext uri="{FF2B5EF4-FFF2-40B4-BE49-F238E27FC236}">
                    <a16:creationId xmlns:a16="http://schemas.microsoft.com/office/drawing/2014/main" id="{D2BAF88D-6F39-1D37-031B-1479C6486BA0}"/>
                  </a:ext>
                </a:extLst>
              </p:cNvPr>
              <p:cNvPicPr/>
              <p:nvPr/>
            </p:nvPicPr>
            <p:blipFill>
              <a:blip r:embed="rId23"/>
              <a:stretch>
                <a:fillRect/>
              </a:stretch>
            </p:blipFill>
            <p:spPr>
              <a:xfrm>
                <a:off x="6692100" y="977780"/>
                <a:ext cx="804240" cy="2293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1" name="Ink 20">
                <a:extLst>
                  <a:ext uri="{FF2B5EF4-FFF2-40B4-BE49-F238E27FC236}">
                    <a16:creationId xmlns:a16="http://schemas.microsoft.com/office/drawing/2014/main" id="{FFE58BD5-C30A-2E56-34CD-66033060E825}"/>
                  </a:ext>
                </a:extLst>
              </p14:cNvPr>
              <p14:cNvContentPartPr/>
              <p14:nvPr/>
            </p14:nvContentPartPr>
            <p14:xfrm>
              <a:off x="-231780" y="-25540"/>
              <a:ext cx="360" cy="360"/>
            </p14:xfrm>
          </p:contentPart>
        </mc:Choice>
        <mc:Fallback>
          <p:pic>
            <p:nvPicPr>
              <p:cNvPr id="21" name="Ink 20">
                <a:extLst>
                  <a:ext uri="{FF2B5EF4-FFF2-40B4-BE49-F238E27FC236}">
                    <a16:creationId xmlns:a16="http://schemas.microsoft.com/office/drawing/2014/main" id="{FFE58BD5-C30A-2E56-34CD-66033060E825}"/>
                  </a:ext>
                </a:extLst>
              </p:cNvPr>
              <p:cNvPicPr/>
              <p:nvPr/>
            </p:nvPicPr>
            <p:blipFill>
              <a:blip r:embed="rId25"/>
              <a:stretch>
                <a:fillRect/>
              </a:stretch>
            </p:blipFill>
            <p:spPr>
              <a:xfrm>
                <a:off x="-285780" y="-133540"/>
                <a:ext cx="108000" cy="216000"/>
              </a:xfrm>
              <a:prstGeom prst="rect">
                <a:avLst/>
              </a:prstGeom>
            </p:spPr>
          </p:pic>
        </mc:Fallback>
      </mc:AlternateContent>
    </p:spTree>
    <p:extLst>
      <p:ext uri="{BB962C8B-B14F-4D97-AF65-F5344CB8AC3E}">
        <p14:creationId xmlns:p14="http://schemas.microsoft.com/office/powerpoint/2010/main" val="27278555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85748" y="285751"/>
            <a:ext cx="5143501" cy="4571996"/>
          </a:xfrm>
          <a:prstGeom prst="rect">
            <a:avLst/>
          </a:prstGeom>
          <a:ln>
            <a:noFill/>
          </a:ln>
          <a:effectLst>
            <a:outerShdw blurRad="381000" dist="101600" sx="99000" sy="99000" algn="l"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2CF57A-1481-F683-A167-3E3EE5987742}"/>
              </a:ext>
            </a:extLst>
          </p:cNvPr>
          <p:cNvSpPr>
            <a:spLocks noGrp="1"/>
          </p:cNvSpPr>
          <p:nvPr>
            <p:ph type="title"/>
          </p:nvPr>
        </p:nvSpPr>
        <p:spPr>
          <a:xfrm>
            <a:off x="530559" y="3408528"/>
            <a:ext cx="3594477" cy="1358733"/>
          </a:xfrm>
        </p:spPr>
        <p:txBody>
          <a:bodyPr anchor="ctr">
            <a:normAutofit/>
          </a:bodyPr>
          <a:lstStyle/>
          <a:p>
            <a:r>
              <a:rPr lang="en-US" sz="3000"/>
              <a:t>Multimodal prompts : </a:t>
            </a:r>
          </a:p>
        </p:txBody>
      </p:sp>
      <p:pic>
        <p:nvPicPr>
          <p:cNvPr id="5" name="Picture 4" descr="Multi-colored paper-craft art">
            <a:extLst>
              <a:ext uri="{FF2B5EF4-FFF2-40B4-BE49-F238E27FC236}">
                <a16:creationId xmlns:a16="http://schemas.microsoft.com/office/drawing/2014/main" id="{A68DE4AA-30D7-61A7-23A4-0A76F9BA4D13}"/>
              </a:ext>
            </a:extLst>
          </p:cNvPr>
          <p:cNvPicPr>
            <a:picLocks noChangeAspect="1"/>
          </p:cNvPicPr>
          <p:nvPr/>
        </p:nvPicPr>
        <p:blipFill>
          <a:blip r:embed="rId2"/>
          <a:srcRect l="1111" r="-3" b="-3"/>
          <a:stretch>
            <a:fillRect/>
          </a:stretch>
        </p:blipFill>
        <p:spPr>
          <a:xfrm>
            <a:off x="20" y="10"/>
            <a:ext cx="4571980" cy="3086090"/>
          </a:xfrm>
          <a:prstGeom prst="rect">
            <a:avLst/>
          </a:prstGeom>
        </p:spPr>
      </p:pic>
      <p:sp>
        <p:nvSpPr>
          <p:cNvPr id="3" name="Text Placeholder 2">
            <a:extLst>
              <a:ext uri="{FF2B5EF4-FFF2-40B4-BE49-F238E27FC236}">
                <a16:creationId xmlns:a16="http://schemas.microsoft.com/office/drawing/2014/main" id="{6D8FEE2C-61A3-A39B-62B5-C29822E57BB9}"/>
              </a:ext>
            </a:extLst>
          </p:cNvPr>
          <p:cNvSpPr>
            <a:spLocks noGrp="1"/>
          </p:cNvSpPr>
          <p:nvPr>
            <p:ph type="body" idx="1"/>
          </p:nvPr>
        </p:nvSpPr>
        <p:spPr>
          <a:xfrm>
            <a:off x="5102557" y="518934"/>
            <a:ext cx="3439235" cy="4105629"/>
          </a:xfrm>
        </p:spPr>
        <p:txBody>
          <a:bodyPr anchor="ctr">
            <a:normAutofit/>
          </a:bodyPr>
          <a:lstStyle/>
          <a:p>
            <a:pPr>
              <a:lnSpc>
                <a:spcPct val="90000"/>
              </a:lnSpc>
              <a:spcAft>
                <a:spcPts val="600"/>
              </a:spcAft>
            </a:pPr>
            <a:r>
              <a:rPr lang="en-US" sz="1100"/>
              <a:t>Summarize multimodal content from a PDF document using generative AI</a:t>
            </a:r>
          </a:p>
          <a:p>
            <a:pPr>
              <a:lnSpc>
                <a:spcPct val="90000"/>
              </a:lnSpc>
              <a:spcAft>
                <a:spcPts val="600"/>
              </a:spcAft>
            </a:pPr>
            <a:r>
              <a:rPr lang="en-US" sz="1100"/>
              <a:t>Analyze and extract key data points from an image using multimodal prompt techniques :</a:t>
            </a:r>
          </a:p>
          <a:p>
            <a:pPr>
              <a:lnSpc>
                <a:spcPct val="90000"/>
              </a:lnSpc>
              <a:spcAft>
                <a:spcPts val="600"/>
              </a:spcAft>
            </a:pPr>
            <a:endParaRPr lang="en-US" sz="1100"/>
          </a:p>
          <a:p>
            <a:pPr>
              <a:lnSpc>
                <a:spcPct val="90000"/>
              </a:lnSpc>
              <a:spcAft>
                <a:spcPts val="600"/>
              </a:spcAft>
            </a:pPr>
            <a:r>
              <a:rPr lang="en-US" sz="1100" b="1"/>
              <a:t>Generate a creative narrative or description inspired by a visual image</a:t>
            </a:r>
          </a:p>
          <a:p>
            <a:pPr>
              <a:lnSpc>
                <a:spcPct val="90000"/>
              </a:lnSpc>
              <a:spcAft>
                <a:spcPts val="600"/>
              </a:spcAft>
            </a:pPr>
            <a:endParaRPr lang="en-US" sz="1100"/>
          </a:p>
          <a:p>
            <a:pPr>
              <a:lnSpc>
                <a:spcPct val="90000"/>
              </a:lnSpc>
              <a:spcAft>
                <a:spcPts val="600"/>
              </a:spcAft>
            </a:pPr>
            <a:r>
              <a:rPr lang="en-US" sz="1100"/>
              <a:t>Multimodal prompts is one of the key advancements in the constantly evolving field of AI. It enables generative AI (GenAI) models to leverage content from different modalities (such as text and images) and provide a more robust, more structured response to the user queries.</a:t>
            </a:r>
          </a:p>
          <a:p>
            <a:pPr>
              <a:lnSpc>
                <a:spcPct val="90000"/>
              </a:lnSpc>
              <a:spcAft>
                <a:spcPts val="600"/>
              </a:spcAft>
            </a:pPr>
            <a:endParaRPr lang="en-US" sz="1100"/>
          </a:p>
          <a:p>
            <a:pPr>
              <a:lnSpc>
                <a:spcPct val="90000"/>
              </a:lnSpc>
              <a:spcAft>
                <a:spcPts val="600"/>
              </a:spcAft>
            </a:pPr>
            <a:r>
              <a:rPr lang="en-US" sz="1100"/>
              <a:t>You will make use of publicly available GenAI tools like OpenAI's ChatGPT and Google's Gemini to explore how these tools interpret and respond to multimodal inputs. You will experiment with combining text and images in your prompts to observe how each tool handles contextual understanding, reasoning, and creativity across different modalities. </a:t>
            </a:r>
          </a:p>
        </p:txBody>
      </p:sp>
    </p:spTree>
    <p:extLst>
      <p:ext uri="{BB962C8B-B14F-4D97-AF65-F5344CB8AC3E}">
        <p14:creationId xmlns:p14="http://schemas.microsoft.com/office/powerpoint/2010/main" val="1007161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85748" y="285751"/>
            <a:ext cx="5143501" cy="4571996"/>
          </a:xfrm>
          <a:prstGeom prst="rect">
            <a:avLst/>
          </a:prstGeom>
          <a:ln>
            <a:noFill/>
          </a:ln>
          <a:effectLst>
            <a:outerShdw blurRad="381000" dist="101600" sx="99000" sy="99000" algn="l"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CF8525-0EC4-929C-B564-6F21D9B0CFBF}"/>
              </a:ext>
            </a:extLst>
          </p:cNvPr>
          <p:cNvSpPr>
            <a:spLocks noGrp="1"/>
          </p:cNvSpPr>
          <p:nvPr>
            <p:ph type="title"/>
          </p:nvPr>
        </p:nvSpPr>
        <p:spPr>
          <a:xfrm>
            <a:off x="530559" y="3408528"/>
            <a:ext cx="3594477" cy="1358733"/>
          </a:xfrm>
        </p:spPr>
        <p:txBody>
          <a:bodyPr anchor="ctr">
            <a:normAutofit/>
          </a:bodyPr>
          <a:lstStyle/>
          <a:p>
            <a:r>
              <a:rPr lang="en-US" sz="3000"/>
              <a:t>Multimodal Prompts </a:t>
            </a:r>
          </a:p>
        </p:txBody>
      </p:sp>
      <p:pic>
        <p:nvPicPr>
          <p:cNvPr id="5" name="Picture 4" descr="Multi-colored paper-craft art">
            <a:extLst>
              <a:ext uri="{FF2B5EF4-FFF2-40B4-BE49-F238E27FC236}">
                <a16:creationId xmlns:a16="http://schemas.microsoft.com/office/drawing/2014/main" id="{77F1F18C-C3B7-DE34-280F-FA9943ACD8C6}"/>
              </a:ext>
            </a:extLst>
          </p:cNvPr>
          <p:cNvPicPr>
            <a:picLocks noChangeAspect="1"/>
          </p:cNvPicPr>
          <p:nvPr/>
        </p:nvPicPr>
        <p:blipFill>
          <a:blip r:embed="rId2"/>
          <a:srcRect l="1111" r="-3" b="-3"/>
          <a:stretch>
            <a:fillRect/>
          </a:stretch>
        </p:blipFill>
        <p:spPr>
          <a:xfrm>
            <a:off x="20" y="10"/>
            <a:ext cx="4571980" cy="3086090"/>
          </a:xfrm>
          <a:prstGeom prst="rect">
            <a:avLst/>
          </a:prstGeom>
        </p:spPr>
      </p:pic>
      <p:sp>
        <p:nvSpPr>
          <p:cNvPr id="3" name="Text Placeholder 2">
            <a:extLst>
              <a:ext uri="{FF2B5EF4-FFF2-40B4-BE49-F238E27FC236}">
                <a16:creationId xmlns:a16="http://schemas.microsoft.com/office/drawing/2014/main" id="{250BE51A-4DDA-ECFF-E55D-40D67C413E3F}"/>
              </a:ext>
            </a:extLst>
          </p:cNvPr>
          <p:cNvSpPr>
            <a:spLocks noGrp="1"/>
          </p:cNvSpPr>
          <p:nvPr>
            <p:ph type="body" idx="1"/>
          </p:nvPr>
        </p:nvSpPr>
        <p:spPr>
          <a:xfrm>
            <a:off x="5102557" y="518934"/>
            <a:ext cx="3439235" cy="4105629"/>
          </a:xfrm>
        </p:spPr>
        <p:txBody>
          <a:bodyPr anchor="ctr">
            <a:normAutofit/>
          </a:bodyPr>
          <a:lstStyle/>
          <a:p>
            <a:pPr>
              <a:lnSpc>
                <a:spcPct val="90000"/>
              </a:lnSpc>
              <a:spcAft>
                <a:spcPts val="600"/>
              </a:spcAft>
            </a:pPr>
            <a:r>
              <a:rPr lang="en-US" sz="900" b="1"/>
              <a:t>Task 1: Multimodal PDF content analysis: </a:t>
            </a:r>
          </a:p>
          <a:p>
            <a:pPr>
              <a:lnSpc>
                <a:spcPct val="90000"/>
              </a:lnSpc>
              <a:spcAft>
                <a:spcPts val="600"/>
              </a:spcAft>
            </a:pPr>
            <a:endParaRPr lang="en-US" sz="900"/>
          </a:p>
          <a:p>
            <a:pPr>
              <a:lnSpc>
                <a:spcPct val="90000"/>
              </a:lnSpc>
              <a:spcAft>
                <a:spcPts val="600"/>
              </a:spcAft>
            </a:pPr>
            <a:r>
              <a:rPr lang="en-US" sz="900"/>
              <a:t>You are part of a research team analyzing how GenAI is being adopted in everyday tasks. Your team has received a PDF survey report titled "Adoption of GenAI in Day-to-Day Tasks," which includes a mix of text, tables, and charts.</a:t>
            </a:r>
          </a:p>
          <a:p>
            <a:pPr>
              <a:lnSpc>
                <a:spcPct val="90000"/>
              </a:lnSpc>
              <a:spcAft>
                <a:spcPts val="600"/>
              </a:spcAft>
            </a:pPr>
            <a:endParaRPr lang="en-US" sz="900"/>
          </a:p>
          <a:p>
            <a:pPr>
              <a:lnSpc>
                <a:spcPct val="90000"/>
              </a:lnSpc>
              <a:spcAft>
                <a:spcPts val="600"/>
              </a:spcAft>
            </a:pPr>
            <a:r>
              <a:rPr lang="en-US" sz="900"/>
              <a:t>In this task, you will use a multimodal GenAI model to extract insights from both the textual and visual elements of the document. Your goal is to understand how well the model interprets complex, multimodal content and to evaluate its ability to summarize findings, identify trends, and answer specific questions based on the PDF.</a:t>
            </a:r>
          </a:p>
          <a:p>
            <a:pPr>
              <a:lnSpc>
                <a:spcPct val="90000"/>
              </a:lnSpc>
              <a:spcAft>
                <a:spcPts val="600"/>
              </a:spcAft>
            </a:pPr>
            <a:endParaRPr lang="en-US" sz="900"/>
          </a:p>
          <a:p>
            <a:pPr>
              <a:lnSpc>
                <a:spcPct val="90000"/>
              </a:lnSpc>
              <a:spcAft>
                <a:spcPts val="600"/>
              </a:spcAft>
            </a:pPr>
            <a:r>
              <a:rPr lang="en-US" sz="900" b="1"/>
              <a:t>Sample prompt to summarize the multimodal document :</a:t>
            </a:r>
          </a:p>
          <a:p>
            <a:pPr>
              <a:lnSpc>
                <a:spcPct val="90000"/>
              </a:lnSpc>
              <a:spcAft>
                <a:spcPts val="600"/>
              </a:spcAft>
            </a:pPr>
            <a:endParaRPr lang="en-US" sz="900"/>
          </a:p>
          <a:p>
            <a:pPr>
              <a:lnSpc>
                <a:spcPct val="90000"/>
              </a:lnSpc>
              <a:spcAft>
                <a:spcPts val="600"/>
              </a:spcAft>
            </a:pPr>
            <a:r>
              <a:rPr lang="en-US" sz="900"/>
              <a:t>Briefly Summarize the key findings of this PDF survey, including both the text and any visual data like charts or tables.</a:t>
            </a:r>
          </a:p>
          <a:p>
            <a:pPr>
              <a:lnSpc>
                <a:spcPct val="90000"/>
              </a:lnSpc>
              <a:spcAft>
                <a:spcPts val="600"/>
              </a:spcAft>
            </a:pPr>
            <a:endParaRPr lang="en-US" sz="900"/>
          </a:p>
          <a:p>
            <a:pPr>
              <a:lnSpc>
                <a:spcPct val="90000"/>
              </a:lnSpc>
              <a:spcAft>
                <a:spcPts val="600"/>
              </a:spcAft>
            </a:pPr>
            <a:r>
              <a:rPr lang="en-US" sz="900"/>
              <a:t>What are the most common day-to-day tasks where users report adopting GenAI, based on the content of this document?</a:t>
            </a:r>
          </a:p>
          <a:p>
            <a:pPr>
              <a:lnSpc>
                <a:spcPct val="90000"/>
              </a:lnSpc>
              <a:spcAft>
                <a:spcPts val="600"/>
              </a:spcAft>
            </a:pPr>
            <a:endParaRPr lang="en-US" sz="900"/>
          </a:p>
          <a:p>
            <a:pPr>
              <a:lnSpc>
                <a:spcPct val="90000"/>
              </a:lnSpc>
              <a:spcAft>
                <a:spcPts val="600"/>
              </a:spcAft>
            </a:pPr>
            <a:endParaRPr lang="en-US" sz="900"/>
          </a:p>
        </p:txBody>
      </p:sp>
    </p:spTree>
    <p:extLst>
      <p:ext uri="{BB962C8B-B14F-4D97-AF65-F5344CB8AC3E}">
        <p14:creationId xmlns:p14="http://schemas.microsoft.com/office/powerpoint/2010/main" val="12588019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85748" y="285751"/>
            <a:ext cx="5143501" cy="4571996"/>
          </a:xfrm>
          <a:prstGeom prst="rect">
            <a:avLst/>
          </a:prstGeom>
          <a:ln>
            <a:noFill/>
          </a:ln>
          <a:effectLst>
            <a:outerShdw blurRad="381000" dist="101600" sx="99000" sy="99000" algn="l"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9BE60B-DD0E-655C-A5EB-FDCF34837760}"/>
              </a:ext>
            </a:extLst>
          </p:cNvPr>
          <p:cNvSpPr>
            <a:spLocks noGrp="1"/>
          </p:cNvSpPr>
          <p:nvPr>
            <p:ph type="title"/>
          </p:nvPr>
        </p:nvSpPr>
        <p:spPr>
          <a:xfrm>
            <a:off x="530559" y="3408528"/>
            <a:ext cx="3594477" cy="1358733"/>
          </a:xfrm>
        </p:spPr>
        <p:txBody>
          <a:bodyPr anchor="ctr">
            <a:normAutofit/>
          </a:bodyPr>
          <a:lstStyle/>
          <a:p>
            <a:r>
              <a:rPr lang="en-US" sz="3000"/>
              <a:t>Multimodal Prompts</a:t>
            </a:r>
          </a:p>
        </p:txBody>
      </p:sp>
      <p:pic>
        <p:nvPicPr>
          <p:cNvPr id="5" name="Picture 4" descr="Vegetables in a tote bag">
            <a:extLst>
              <a:ext uri="{FF2B5EF4-FFF2-40B4-BE49-F238E27FC236}">
                <a16:creationId xmlns:a16="http://schemas.microsoft.com/office/drawing/2014/main" id="{7737BACE-DDB8-84D3-BAFB-79F064667F4E}"/>
              </a:ext>
            </a:extLst>
          </p:cNvPr>
          <p:cNvPicPr>
            <a:picLocks noChangeAspect="1"/>
          </p:cNvPicPr>
          <p:nvPr/>
        </p:nvPicPr>
        <p:blipFill>
          <a:blip r:embed="rId2"/>
          <a:srcRect r="1108" b="-3"/>
          <a:stretch>
            <a:fillRect/>
          </a:stretch>
        </p:blipFill>
        <p:spPr>
          <a:xfrm>
            <a:off x="20" y="10"/>
            <a:ext cx="4571980" cy="3086090"/>
          </a:xfrm>
          <a:prstGeom prst="rect">
            <a:avLst/>
          </a:prstGeom>
        </p:spPr>
      </p:pic>
      <p:sp>
        <p:nvSpPr>
          <p:cNvPr id="3" name="Text Placeholder 2">
            <a:extLst>
              <a:ext uri="{FF2B5EF4-FFF2-40B4-BE49-F238E27FC236}">
                <a16:creationId xmlns:a16="http://schemas.microsoft.com/office/drawing/2014/main" id="{07491B71-A433-2D3C-4E7E-4C671323745D}"/>
              </a:ext>
            </a:extLst>
          </p:cNvPr>
          <p:cNvSpPr>
            <a:spLocks noGrp="1"/>
          </p:cNvSpPr>
          <p:nvPr>
            <p:ph type="body" idx="1"/>
          </p:nvPr>
        </p:nvSpPr>
        <p:spPr>
          <a:xfrm>
            <a:off x="5102557" y="518934"/>
            <a:ext cx="3439235" cy="4105629"/>
          </a:xfrm>
        </p:spPr>
        <p:txBody>
          <a:bodyPr anchor="ctr">
            <a:normAutofit/>
          </a:bodyPr>
          <a:lstStyle/>
          <a:p>
            <a:pPr>
              <a:lnSpc>
                <a:spcPct val="90000"/>
              </a:lnSpc>
              <a:spcAft>
                <a:spcPts val="600"/>
              </a:spcAft>
            </a:pPr>
            <a:r>
              <a:rPr lang="en-US" sz="900" b="1"/>
              <a:t>Task 2: Image analysis : </a:t>
            </a:r>
          </a:p>
          <a:p>
            <a:pPr>
              <a:lnSpc>
                <a:spcPct val="90000"/>
              </a:lnSpc>
              <a:spcAft>
                <a:spcPts val="600"/>
              </a:spcAft>
            </a:pPr>
            <a:endParaRPr lang="en-US" sz="900"/>
          </a:p>
          <a:p>
            <a:pPr>
              <a:lnSpc>
                <a:spcPct val="90000"/>
              </a:lnSpc>
              <a:spcAft>
                <a:spcPts val="600"/>
              </a:spcAft>
            </a:pPr>
            <a:r>
              <a:rPr lang="en-US" sz="900" b="1"/>
              <a:t>Scenario: Personal expense tracking</a:t>
            </a:r>
          </a:p>
          <a:p>
            <a:pPr>
              <a:lnSpc>
                <a:spcPct val="90000"/>
              </a:lnSpc>
              <a:spcAft>
                <a:spcPts val="600"/>
              </a:spcAft>
            </a:pPr>
            <a:endParaRPr lang="en-US" sz="900"/>
          </a:p>
          <a:p>
            <a:pPr>
              <a:lnSpc>
                <a:spcPct val="90000"/>
              </a:lnSpc>
              <a:spcAft>
                <a:spcPts val="600"/>
              </a:spcAft>
            </a:pPr>
            <a:r>
              <a:rPr lang="en-US" sz="900"/>
              <a:t>You are part of a consumer analytics team for a grocery chain. You've been given the receipt (as an image) from a customer's purchase at Fresh Foods Market. Your goal is to extract insights from the receipt to support various business and customer service objectives, such as inventory planning, price comparison, tax calculations, and trend analysis. </a:t>
            </a:r>
          </a:p>
          <a:p>
            <a:pPr>
              <a:lnSpc>
                <a:spcPct val="90000"/>
              </a:lnSpc>
              <a:spcAft>
                <a:spcPts val="600"/>
              </a:spcAft>
            </a:pPr>
            <a:endParaRPr lang="en-US" sz="900"/>
          </a:p>
          <a:p>
            <a:pPr>
              <a:lnSpc>
                <a:spcPct val="90000"/>
              </a:lnSpc>
              <a:spcAft>
                <a:spcPts val="600"/>
              </a:spcAft>
            </a:pPr>
            <a:r>
              <a:rPr lang="en-US" sz="900" b="1"/>
              <a:t>Sample prompt to extract data from the image : </a:t>
            </a:r>
            <a:r>
              <a:rPr lang="en-US" sz="900"/>
              <a:t>Extract the list of all items purchased, including quantities, unit prices, and total prices.</a:t>
            </a:r>
          </a:p>
          <a:p>
            <a:pPr>
              <a:lnSpc>
                <a:spcPct val="90000"/>
              </a:lnSpc>
              <a:spcAft>
                <a:spcPts val="600"/>
              </a:spcAft>
            </a:pPr>
            <a:endParaRPr lang="en-US" sz="900"/>
          </a:p>
          <a:p>
            <a:pPr>
              <a:lnSpc>
                <a:spcPct val="90000"/>
              </a:lnSpc>
              <a:spcAft>
                <a:spcPts val="600"/>
              </a:spcAft>
            </a:pPr>
            <a:r>
              <a:rPr lang="en-US" sz="900" b="1"/>
              <a:t>Sample prompt for conducting mathematical reasoning to calculate the average price per item category : </a:t>
            </a:r>
            <a:r>
              <a:rPr lang="en-US" sz="900"/>
              <a:t>Calculate the average price per item category (produce, dairy, meat, pantry).</a:t>
            </a:r>
          </a:p>
          <a:p>
            <a:pPr>
              <a:lnSpc>
                <a:spcPct val="90000"/>
              </a:lnSpc>
              <a:spcAft>
                <a:spcPts val="600"/>
              </a:spcAft>
            </a:pPr>
            <a:endParaRPr lang="en-US" sz="900"/>
          </a:p>
          <a:p>
            <a:pPr>
              <a:lnSpc>
                <a:spcPct val="90000"/>
              </a:lnSpc>
              <a:spcAft>
                <a:spcPts val="600"/>
              </a:spcAft>
            </a:pPr>
            <a:r>
              <a:rPr lang="en-US" sz="900" b="1"/>
              <a:t>Sample prompt for decision-making and optimization: </a:t>
            </a:r>
            <a:r>
              <a:rPr lang="en-US" sz="900"/>
              <a:t>A prompt to analyze the purchased items and suggest which could be omitted or replaced with cheaper alternatives to stay within budget (of $80).</a:t>
            </a:r>
          </a:p>
          <a:p>
            <a:pPr>
              <a:lnSpc>
                <a:spcPct val="90000"/>
              </a:lnSpc>
              <a:spcAft>
                <a:spcPts val="600"/>
              </a:spcAft>
            </a:pPr>
            <a:endParaRPr lang="en-US" sz="900"/>
          </a:p>
          <a:p>
            <a:pPr>
              <a:lnSpc>
                <a:spcPct val="90000"/>
              </a:lnSpc>
              <a:spcAft>
                <a:spcPts val="600"/>
              </a:spcAft>
            </a:pPr>
            <a:r>
              <a:rPr lang="en-US" sz="900"/>
              <a:t>Imagine this shopper had a strict budget of $80 for this trip. Based on the items purchased, which items, if any, could they have potentially omitted or swapped for cheaper alternatives to stay within budget, while still acquiring a reasonable variety of groceries? Justify your suggestions.</a:t>
            </a:r>
          </a:p>
          <a:p>
            <a:pPr>
              <a:lnSpc>
                <a:spcPct val="90000"/>
              </a:lnSpc>
              <a:spcAft>
                <a:spcPts val="600"/>
              </a:spcAft>
            </a:pPr>
            <a:endParaRPr lang="en-US" sz="900"/>
          </a:p>
        </p:txBody>
      </p:sp>
    </p:spTree>
    <p:extLst>
      <p:ext uri="{BB962C8B-B14F-4D97-AF65-F5344CB8AC3E}">
        <p14:creationId xmlns:p14="http://schemas.microsoft.com/office/powerpoint/2010/main" val="37484043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85748" y="285751"/>
            <a:ext cx="5143501" cy="4571996"/>
          </a:xfrm>
          <a:prstGeom prst="rect">
            <a:avLst/>
          </a:prstGeom>
          <a:ln>
            <a:noFill/>
          </a:ln>
          <a:effectLst>
            <a:outerShdw blurRad="381000" dist="101600" sx="99000" sy="99000" algn="l"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CF5295-AA25-E828-0CDC-B555082AC77C}"/>
              </a:ext>
            </a:extLst>
          </p:cNvPr>
          <p:cNvSpPr>
            <a:spLocks noGrp="1"/>
          </p:cNvSpPr>
          <p:nvPr>
            <p:ph type="title"/>
          </p:nvPr>
        </p:nvSpPr>
        <p:spPr>
          <a:xfrm>
            <a:off x="530559" y="3408528"/>
            <a:ext cx="3594477" cy="1358733"/>
          </a:xfrm>
        </p:spPr>
        <p:txBody>
          <a:bodyPr anchor="ctr">
            <a:normAutofit/>
          </a:bodyPr>
          <a:lstStyle/>
          <a:p>
            <a:r>
              <a:rPr lang="en-US" sz="3000"/>
              <a:t>Multimodal Prompts</a:t>
            </a:r>
          </a:p>
        </p:txBody>
      </p:sp>
      <p:pic>
        <p:nvPicPr>
          <p:cNvPr id="4" name="Picture 3">
            <a:extLst>
              <a:ext uri="{FF2B5EF4-FFF2-40B4-BE49-F238E27FC236}">
                <a16:creationId xmlns:a16="http://schemas.microsoft.com/office/drawing/2014/main" id="{F15C6B8C-90BC-172F-37B8-B1D3B5ED04CA}"/>
              </a:ext>
            </a:extLst>
          </p:cNvPr>
          <p:cNvPicPr>
            <a:picLocks noChangeAspect="1"/>
          </p:cNvPicPr>
          <p:nvPr/>
        </p:nvPicPr>
        <p:blipFill>
          <a:blip r:embed="rId2"/>
          <a:srcRect l="16860" r="22187" b="-1"/>
          <a:stretch>
            <a:fillRect/>
          </a:stretch>
        </p:blipFill>
        <p:spPr>
          <a:xfrm>
            <a:off x="20" y="10"/>
            <a:ext cx="4571980" cy="3086090"/>
          </a:xfrm>
          <a:prstGeom prst="rect">
            <a:avLst/>
          </a:prstGeom>
        </p:spPr>
      </p:pic>
      <p:sp>
        <p:nvSpPr>
          <p:cNvPr id="3" name="Text Placeholder 2">
            <a:extLst>
              <a:ext uri="{FF2B5EF4-FFF2-40B4-BE49-F238E27FC236}">
                <a16:creationId xmlns:a16="http://schemas.microsoft.com/office/drawing/2014/main" id="{D85DF36B-7375-7BF1-D8C2-2D2D336632C2}"/>
              </a:ext>
            </a:extLst>
          </p:cNvPr>
          <p:cNvSpPr>
            <a:spLocks noGrp="1"/>
          </p:cNvSpPr>
          <p:nvPr>
            <p:ph type="body" idx="1"/>
          </p:nvPr>
        </p:nvSpPr>
        <p:spPr>
          <a:xfrm>
            <a:off x="5102557" y="518934"/>
            <a:ext cx="3439235" cy="4105629"/>
          </a:xfrm>
        </p:spPr>
        <p:txBody>
          <a:bodyPr anchor="ctr">
            <a:normAutofit/>
          </a:bodyPr>
          <a:lstStyle/>
          <a:p>
            <a:pPr>
              <a:lnSpc>
                <a:spcPct val="90000"/>
              </a:lnSpc>
              <a:spcAft>
                <a:spcPts val="600"/>
              </a:spcAft>
            </a:pPr>
            <a:r>
              <a:rPr lang="en-US" sz="900" b="1"/>
              <a:t>Task 3: Creative content generation</a:t>
            </a:r>
          </a:p>
          <a:p>
            <a:pPr>
              <a:lnSpc>
                <a:spcPct val="90000"/>
              </a:lnSpc>
              <a:spcAft>
                <a:spcPts val="600"/>
              </a:spcAft>
            </a:pPr>
            <a:endParaRPr lang="en-US" sz="900"/>
          </a:p>
          <a:p>
            <a:pPr>
              <a:lnSpc>
                <a:spcPct val="90000"/>
              </a:lnSpc>
              <a:spcAft>
                <a:spcPts val="600"/>
              </a:spcAft>
            </a:pPr>
            <a:r>
              <a:rPr lang="en-US" sz="900" b="1"/>
              <a:t>Scenario: </a:t>
            </a:r>
            <a:r>
              <a:rPr lang="en-US" sz="900"/>
              <a:t>You are a content designer for an immersive narrative app that generates personalized creative content based on photos users upload. Your task is to develop a written piece, inspired by a mysterious image sent by a user — a serene alpine landscape at sunset, with a small cabin, a glowing campfire, and four people gathered around it.</a:t>
            </a:r>
          </a:p>
          <a:p>
            <a:pPr>
              <a:lnSpc>
                <a:spcPct val="90000"/>
              </a:lnSpc>
              <a:spcAft>
                <a:spcPts val="600"/>
              </a:spcAft>
            </a:pPr>
            <a:endParaRPr lang="en-US" sz="900"/>
          </a:p>
          <a:p>
            <a:pPr>
              <a:lnSpc>
                <a:spcPct val="90000"/>
              </a:lnSpc>
              <a:spcAft>
                <a:spcPts val="600"/>
              </a:spcAft>
            </a:pPr>
            <a:r>
              <a:rPr lang="en-US" sz="900" b="1"/>
              <a:t>Sample prompt to generate a short story : </a:t>
            </a:r>
          </a:p>
          <a:p>
            <a:pPr>
              <a:lnSpc>
                <a:spcPct val="90000"/>
              </a:lnSpc>
              <a:spcAft>
                <a:spcPts val="600"/>
              </a:spcAft>
            </a:pPr>
            <a:endParaRPr lang="en-US" sz="900"/>
          </a:p>
          <a:p>
            <a:pPr>
              <a:lnSpc>
                <a:spcPct val="90000"/>
              </a:lnSpc>
              <a:spcAft>
                <a:spcPts val="600"/>
              </a:spcAft>
            </a:pPr>
            <a:r>
              <a:rPr lang="en-US" sz="900"/>
              <a:t>Write a short story inspired by this image . Focus on the people around the campfire and what brings them to this remote location at sunset.</a:t>
            </a:r>
          </a:p>
          <a:p>
            <a:pPr>
              <a:lnSpc>
                <a:spcPct val="90000"/>
              </a:lnSpc>
              <a:spcAft>
                <a:spcPts val="600"/>
              </a:spcAft>
            </a:pPr>
            <a:endParaRPr lang="en-US" sz="900"/>
          </a:p>
          <a:p>
            <a:pPr>
              <a:lnSpc>
                <a:spcPct val="90000"/>
              </a:lnSpc>
              <a:spcAft>
                <a:spcPts val="600"/>
              </a:spcAft>
            </a:pPr>
            <a:r>
              <a:rPr lang="en-US" sz="900"/>
              <a:t>Generate a poem or a lyrical piece that captures the mood and beauty of this landscape at dusk, reflecting on themes of nature, connection, or tranquility.</a:t>
            </a:r>
          </a:p>
          <a:p>
            <a:pPr>
              <a:lnSpc>
                <a:spcPct val="90000"/>
              </a:lnSpc>
              <a:spcAft>
                <a:spcPts val="600"/>
              </a:spcAft>
            </a:pPr>
            <a:endParaRPr lang="en-US" sz="900"/>
          </a:p>
          <a:p>
            <a:pPr>
              <a:lnSpc>
                <a:spcPct val="90000"/>
              </a:lnSpc>
              <a:spcAft>
                <a:spcPts val="600"/>
              </a:spcAft>
            </a:pPr>
            <a:r>
              <a:rPr lang="en-US" sz="900"/>
              <a:t>By using multimodal prompts, you experienced firsthand how AI can interpret visual content, extract information from integrated text and images, and generate creative responses that draw upon both seeing and reading. This capability reflects GenAI's growing ability to interact with data in ways that are closer to human perception, opening up possibilities for richer analysis, more intuitive information retrieval, and innovative content creation from diverse sources.</a:t>
            </a:r>
          </a:p>
          <a:p>
            <a:pPr>
              <a:lnSpc>
                <a:spcPct val="90000"/>
              </a:lnSpc>
              <a:spcAft>
                <a:spcPts val="600"/>
              </a:spcAft>
            </a:pPr>
            <a:endParaRPr lang="en-US" sz="900"/>
          </a:p>
          <a:p>
            <a:pPr>
              <a:lnSpc>
                <a:spcPct val="90000"/>
              </a:lnSpc>
              <a:spcAft>
                <a:spcPts val="600"/>
              </a:spcAft>
            </a:pPr>
            <a:endParaRPr lang="en-US" sz="900" dirty="0"/>
          </a:p>
        </p:txBody>
      </p:sp>
    </p:spTree>
    <p:extLst>
      <p:ext uri="{BB962C8B-B14F-4D97-AF65-F5344CB8AC3E}">
        <p14:creationId xmlns:p14="http://schemas.microsoft.com/office/powerpoint/2010/main" val="15802970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80</TotalTime>
  <Words>4933</Words>
  <Application>Microsoft Office PowerPoint</Application>
  <PresentationFormat>On-screen Show (16:9)</PresentationFormat>
  <Paragraphs>156</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Prompt Engineering ?</vt:lpstr>
      <vt:lpstr>PowerPoint Presentation</vt:lpstr>
      <vt:lpstr>Prompt engineering and Problem solving</vt:lpstr>
      <vt:lpstr>PowerPoint Presentation</vt:lpstr>
      <vt:lpstr>To solve Prompt Engineering Problems</vt:lpstr>
      <vt:lpstr>Steps to solve Prompt Engineering Problems :</vt:lpstr>
      <vt:lpstr>PowerPoint Presentation</vt:lpstr>
      <vt:lpstr>PowerPoint Presentation</vt:lpstr>
      <vt:lpstr>PowerPoint Presentation</vt:lpstr>
      <vt:lpstr>        Chain of thought : Significantly bolsters the cognitive performance of AI models by segmenting complex tasks into more manageable steps. By adopting this prompting strategy, AI models can demonstrate heightened cognitive abilities and offer a deeper understanding of their reasoning processes.  This approach is an example of prompt-based learning, and it requires feeding the model with questions and their corresponding solutions before posing related subsequent questions to it. In other words, our CoT prompt teaches the model to reason about the problem and mimic the same reasoning to respond to further queries correctly.  Chain of thought : ​Phrases such as, let's think step-by-step or let's work this out step-by-step to ensure ​we have the right answer are added to the prompt to help the system devise methods to solve ​the problem independently. ​Let's take the same pen case problem and see how it is solved using the Zero-Shot method. ​The prompt is given as follows. ​If a store sells pen cases on a buy-one-get-one-free offer, and each pen case costs $5, how much ​would 10 pen cases cost? ​Let's think step-by-step. ​In this case, the system doesn't rely on a sample or example beforehand. ​Instead, it tries to reason through the problem on its own.    </vt:lpstr>
      <vt:lpstr>Interview Pattern approach </vt:lpstr>
      <vt:lpstr>The Playoff Method</vt:lpstr>
      <vt:lpstr>PowerPoint Presentation</vt:lpstr>
      <vt:lpstr>Multimodal prompts : </vt:lpstr>
      <vt:lpstr>Multimodal Prompts </vt:lpstr>
      <vt:lpstr>Multimodal Prompts</vt:lpstr>
      <vt:lpstr>Multimodal Prompts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dc:title>
  <cp:lastModifiedBy>Sayanti Roy</cp:lastModifiedBy>
  <cp:revision>1</cp:revision>
  <dcterms:created xsi:type="dcterms:W3CDTF">2026-03-10T17:33:11Z</dcterms:created>
  <dcterms:modified xsi:type="dcterms:W3CDTF">2026-03-10T18:54:21Z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2026-03-10T00:00:00Z</vt:filetime>
  </property>
  <property fmtid="{D5CDD505-2E9C-101B-9397-08002B2CF9AE}" pid="3" name="Creator">
    <vt:lpwstr>Google</vt:lpwstr>
  </property>
  <property fmtid="{D5CDD505-2E9C-101B-9397-08002B2CF9AE}" pid="4" name="LastSaved">
    <vt:filetime>2026-03-10T00:00:00Z</vt:filetime>
  </property>
  <property fmtid="{D5CDD505-2E9C-101B-9397-08002B2CF9AE}" pid="5" name="Producer">
    <vt:lpwstr>3-Heights(TM) PDF Security Shell 4.8.25.2 (http://www.pdf-tools.com)</vt:lpwstr>
  </property>
</Properties>
</file>