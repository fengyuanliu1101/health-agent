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 id="259" r:id="rId5"/>
    <p:sldId id="258"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8B0AB3-D2FC-4A0B-8342-C4F11DCBC189}" v="33" dt="2026-02-26T19:37:12.0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81" autoAdjust="0"/>
    <p:restoredTop sz="94660"/>
  </p:normalViewPr>
  <p:slideViewPr>
    <p:cSldViewPr snapToGrid="0">
      <p:cViewPr varScale="1">
        <p:scale>
          <a:sx n="152" d="100"/>
          <a:sy n="152" d="100"/>
        </p:scale>
        <p:origin x="1236" y="10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yanti Roy" userId="13325ee0d423e633" providerId="LiveId" clId="{80388DA5-6D2F-46CF-A377-2F70F9F4EBCB}"/>
    <pc:docChg chg="undo custSel addSld delSld modSld sldOrd">
      <pc:chgData name="Sayanti Roy" userId="13325ee0d423e633" providerId="LiveId" clId="{80388DA5-6D2F-46CF-A377-2F70F9F4EBCB}" dt="2026-02-26T20:14:52.813" v="1363" actId="20577"/>
      <pc:docMkLst>
        <pc:docMk/>
      </pc:docMkLst>
      <pc:sldChg chg="new del">
        <pc:chgData name="Sayanti Roy" userId="13325ee0d423e633" providerId="LiveId" clId="{80388DA5-6D2F-46CF-A377-2F70F9F4EBCB}" dt="2026-02-26T18:18:30.099" v="2" actId="47"/>
        <pc:sldMkLst>
          <pc:docMk/>
          <pc:sldMk cId="463891967" sldId="256"/>
        </pc:sldMkLst>
      </pc:sldChg>
      <pc:sldChg chg="modSp new mod">
        <pc:chgData name="Sayanti Roy" userId="13325ee0d423e633" providerId="LiveId" clId="{80388DA5-6D2F-46CF-A377-2F70F9F4EBCB}" dt="2026-02-26T20:06:02.940" v="1360" actId="14"/>
        <pc:sldMkLst>
          <pc:docMk/>
          <pc:sldMk cId="2496881017" sldId="257"/>
        </pc:sldMkLst>
        <pc:spChg chg="mod">
          <ac:chgData name="Sayanti Roy" userId="13325ee0d423e633" providerId="LiveId" clId="{80388DA5-6D2F-46CF-A377-2F70F9F4EBCB}" dt="2026-02-26T18:23:00.017" v="115" actId="20577"/>
          <ac:spMkLst>
            <pc:docMk/>
            <pc:sldMk cId="2496881017" sldId="257"/>
            <ac:spMk id="2" creationId="{2FF89695-7E9B-2079-6374-EA3D7635CCF7}"/>
          </ac:spMkLst>
        </pc:spChg>
        <pc:spChg chg="mod">
          <ac:chgData name="Sayanti Roy" userId="13325ee0d423e633" providerId="LiveId" clId="{80388DA5-6D2F-46CF-A377-2F70F9F4EBCB}" dt="2026-02-26T20:06:02.940" v="1360" actId="14"/>
          <ac:spMkLst>
            <pc:docMk/>
            <pc:sldMk cId="2496881017" sldId="257"/>
            <ac:spMk id="3" creationId="{D89BD224-B01F-0DBB-1510-CF61A7EB147C}"/>
          </ac:spMkLst>
        </pc:spChg>
      </pc:sldChg>
      <pc:sldChg chg="modSp new mod">
        <pc:chgData name="Sayanti Roy" userId="13325ee0d423e633" providerId="LiveId" clId="{80388DA5-6D2F-46CF-A377-2F70F9F4EBCB}" dt="2026-02-26T18:20:38.514" v="94" actId="27636"/>
        <pc:sldMkLst>
          <pc:docMk/>
          <pc:sldMk cId="2470129869" sldId="258"/>
        </pc:sldMkLst>
        <pc:spChg chg="mod">
          <ac:chgData name="Sayanti Roy" userId="13325ee0d423e633" providerId="LiveId" clId="{80388DA5-6D2F-46CF-A377-2F70F9F4EBCB}" dt="2026-02-26T18:20:30.561" v="90" actId="313"/>
          <ac:spMkLst>
            <pc:docMk/>
            <pc:sldMk cId="2470129869" sldId="258"/>
            <ac:spMk id="2" creationId="{E7B42E40-8C06-BCF4-4D2B-32465D4422A5}"/>
          </ac:spMkLst>
        </pc:spChg>
        <pc:spChg chg="mod">
          <ac:chgData name="Sayanti Roy" userId="13325ee0d423e633" providerId="LiveId" clId="{80388DA5-6D2F-46CF-A377-2F70F9F4EBCB}" dt="2026-02-26T18:20:38.514" v="94" actId="27636"/>
          <ac:spMkLst>
            <pc:docMk/>
            <pc:sldMk cId="2470129869" sldId="258"/>
            <ac:spMk id="3" creationId="{CE638C41-D0BC-061F-0C14-DB662FC0091A}"/>
          </ac:spMkLst>
        </pc:spChg>
      </pc:sldChg>
      <pc:sldChg chg="addSp delSp modSp new mod">
        <pc:chgData name="Sayanti Roy" userId="13325ee0d423e633" providerId="LiveId" clId="{80388DA5-6D2F-46CF-A377-2F70F9F4EBCB}" dt="2026-02-26T19:26:55.437" v="870" actId="947"/>
        <pc:sldMkLst>
          <pc:docMk/>
          <pc:sldMk cId="1320454209" sldId="259"/>
        </pc:sldMkLst>
        <pc:spChg chg="mod">
          <ac:chgData name="Sayanti Roy" userId="13325ee0d423e633" providerId="LiveId" clId="{80388DA5-6D2F-46CF-A377-2F70F9F4EBCB}" dt="2026-02-26T18:41:50.879" v="284" actId="20577"/>
          <ac:spMkLst>
            <pc:docMk/>
            <pc:sldMk cId="1320454209" sldId="259"/>
            <ac:spMk id="2" creationId="{0FAFD610-E1D3-6117-C7E1-ACD270D7E6AD}"/>
          </ac:spMkLst>
        </pc:spChg>
        <pc:spChg chg="del">
          <ac:chgData name="Sayanti Roy" userId="13325ee0d423e633" providerId="LiveId" clId="{80388DA5-6D2F-46CF-A377-2F70F9F4EBCB}" dt="2026-02-26T18:41:53.974" v="286"/>
          <ac:spMkLst>
            <pc:docMk/>
            <pc:sldMk cId="1320454209" sldId="259"/>
            <ac:spMk id="3" creationId="{DA070988-CB99-35BD-486D-9E66BC6BAB81}"/>
          </ac:spMkLst>
        </pc:spChg>
        <pc:spChg chg="add mod">
          <ac:chgData name="Sayanti Roy" userId="13325ee0d423e633" providerId="LiveId" clId="{80388DA5-6D2F-46CF-A377-2F70F9F4EBCB}" dt="2026-02-26T19:26:55.437" v="870" actId="947"/>
          <ac:spMkLst>
            <pc:docMk/>
            <pc:sldMk cId="1320454209" sldId="259"/>
            <ac:spMk id="7" creationId="{CA4E78F0-9CC2-2598-9B76-B1D2756302DD}"/>
          </ac:spMkLst>
        </pc:spChg>
        <pc:picChg chg="add mod ord">
          <ac:chgData name="Sayanti Roy" userId="13325ee0d423e633" providerId="LiveId" clId="{80388DA5-6D2F-46CF-A377-2F70F9F4EBCB}" dt="2026-02-26T18:43:11.291" v="332" actId="1076"/>
          <ac:picMkLst>
            <pc:docMk/>
            <pc:sldMk cId="1320454209" sldId="259"/>
            <ac:picMk id="5" creationId="{8D8EC310-D5C2-52F5-84BD-4572E3415B1A}"/>
          </ac:picMkLst>
        </pc:picChg>
      </pc:sldChg>
      <pc:sldChg chg="modSp new mod">
        <pc:chgData name="Sayanti Roy" userId="13325ee0d423e633" providerId="LiveId" clId="{80388DA5-6D2F-46CF-A377-2F70F9F4EBCB}" dt="2026-02-26T20:14:52.813" v="1363" actId="20577"/>
        <pc:sldMkLst>
          <pc:docMk/>
          <pc:sldMk cId="3915252240" sldId="260"/>
        </pc:sldMkLst>
        <pc:spChg chg="mod">
          <ac:chgData name="Sayanti Roy" userId="13325ee0d423e633" providerId="LiveId" clId="{80388DA5-6D2F-46CF-A377-2F70F9F4EBCB}" dt="2026-02-26T20:10:43.077" v="1361" actId="20577"/>
          <ac:spMkLst>
            <pc:docMk/>
            <pc:sldMk cId="3915252240" sldId="260"/>
            <ac:spMk id="2" creationId="{3505E24F-F073-0C82-F754-4EA16F42DECE}"/>
          </ac:spMkLst>
        </pc:spChg>
        <pc:spChg chg="mod">
          <ac:chgData name="Sayanti Roy" userId="13325ee0d423e633" providerId="LiveId" clId="{80388DA5-6D2F-46CF-A377-2F70F9F4EBCB}" dt="2026-02-26T20:14:52.813" v="1363" actId="20577"/>
          <ac:spMkLst>
            <pc:docMk/>
            <pc:sldMk cId="3915252240" sldId="260"/>
            <ac:spMk id="3" creationId="{09A3C12C-F860-DC3E-5E3F-A9A298F0168F}"/>
          </ac:spMkLst>
        </pc:spChg>
      </pc:sldChg>
      <pc:sldChg chg="addSp delSp modSp new mod">
        <pc:chgData name="Sayanti Roy" userId="13325ee0d423e633" providerId="LiveId" clId="{80388DA5-6D2F-46CF-A377-2F70F9F4EBCB}" dt="2026-02-26T19:10:06.477" v="788" actId="1035"/>
        <pc:sldMkLst>
          <pc:docMk/>
          <pc:sldMk cId="1563112975" sldId="261"/>
        </pc:sldMkLst>
        <pc:spChg chg="del">
          <ac:chgData name="Sayanti Roy" userId="13325ee0d423e633" providerId="LiveId" clId="{80388DA5-6D2F-46CF-A377-2F70F9F4EBCB}" dt="2026-02-26T18:54:22.726" v="439" actId="478"/>
          <ac:spMkLst>
            <pc:docMk/>
            <pc:sldMk cId="1563112975" sldId="261"/>
            <ac:spMk id="2" creationId="{8B914C7E-0FCF-741D-9EDF-75818360C619}"/>
          </ac:spMkLst>
        </pc:spChg>
        <pc:spChg chg="add del mod">
          <ac:chgData name="Sayanti Roy" userId="13325ee0d423e633" providerId="LiveId" clId="{80388DA5-6D2F-46CF-A377-2F70F9F4EBCB}" dt="2026-02-26T19:09:42.412" v="649" actId="27636"/>
          <ac:spMkLst>
            <pc:docMk/>
            <pc:sldMk cId="1563112975" sldId="261"/>
            <ac:spMk id="3" creationId="{EDA27355-2802-1BEB-BA6C-3A385109C994}"/>
          </ac:spMkLst>
        </pc:spChg>
        <pc:spChg chg="add mod">
          <ac:chgData name="Sayanti Roy" userId="13325ee0d423e633" providerId="LiveId" clId="{80388DA5-6D2F-46CF-A377-2F70F9F4EBCB}" dt="2026-02-26T19:10:06.477" v="788" actId="1035"/>
          <ac:spMkLst>
            <pc:docMk/>
            <pc:sldMk cId="1563112975" sldId="261"/>
            <ac:spMk id="9" creationId="{AA3A3F22-72E8-F823-C55C-B73FC8148286}"/>
          </ac:spMkLst>
        </pc:spChg>
        <pc:picChg chg="add del mod ord">
          <ac:chgData name="Sayanti Roy" userId="13325ee0d423e633" providerId="LiveId" clId="{80388DA5-6D2F-46CF-A377-2F70F9F4EBCB}" dt="2026-02-26T18:54:40.367" v="444" actId="22"/>
          <ac:picMkLst>
            <pc:docMk/>
            <pc:sldMk cId="1563112975" sldId="261"/>
            <ac:picMk id="5" creationId="{815337C8-6406-E1F5-CBBA-95F58B7C1902}"/>
          </ac:picMkLst>
        </pc:picChg>
        <pc:picChg chg="add del">
          <ac:chgData name="Sayanti Roy" userId="13325ee0d423e633" providerId="LiveId" clId="{80388DA5-6D2F-46CF-A377-2F70F9F4EBCB}" dt="2026-02-26T19:09:30.900" v="646" actId="22"/>
          <ac:picMkLst>
            <pc:docMk/>
            <pc:sldMk cId="1563112975" sldId="261"/>
            <ac:picMk id="7" creationId="{9E5BCA39-0EE2-AE0C-4226-C8DE08887027}"/>
          </ac:picMkLst>
        </pc:picChg>
      </pc:sldChg>
      <pc:sldChg chg="delSp modSp new del mod">
        <pc:chgData name="Sayanti Roy" userId="13325ee0d423e633" providerId="LiveId" clId="{80388DA5-6D2F-46CF-A377-2F70F9F4EBCB}" dt="2026-02-26T19:10:10.188" v="789" actId="47"/>
        <pc:sldMkLst>
          <pc:docMk/>
          <pc:sldMk cId="1221774664" sldId="262"/>
        </pc:sldMkLst>
        <pc:spChg chg="del">
          <ac:chgData name="Sayanti Roy" userId="13325ee0d423e633" providerId="LiveId" clId="{80388DA5-6D2F-46CF-A377-2F70F9F4EBCB}" dt="2026-02-26T18:55:15.378" v="450" actId="478"/>
          <ac:spMkLst>
            <pc:docMk/>
            <pc:sldMk cId="1221774664" sldId="262"/>
            <ac:spMk id="2" creationId="{5F7157A9-DC04-97CD-BE7A-E9ED21E2BF51}"/>
          </ac:spMkLst>
        </pc:spChg>
        <pc:spChg chg="mod">
          <ac:chgData name="Sayanti Roy" userId="13325ee0d423e633" providerId="LiveId" clId="{80388DA5-6D2F-46CF-A377-2F70F9F4EBCB}" dt="2026-02-26T19:09:21.215" v="644" actId="21"/>
          <ac:spMkLst>
            <pc:docMk/>
            <pc:sldMk cId="1221774664" sldId="262"/>
            <ac:spMk id="3" creationId="{E80729E8-42B1-0139-5DD1-EDBBDFDEFEE1}"/>
          </ac:spMkLst>
        </pc:spChg>
      </pc:sldChg>
      <pc:sldChg chg="new del">
        <pc:chgData name="Sayanti Roy" userId="13325ee0d423e633" providerId="LiveId" clId="{80388DA5-6D2F-46CF-A377-2F70F9F4EBCB}" dt="2026-02-26T19:14:05.981" v="834" actId="47"/>
        <pc:sldMkLst>
          <pc:docMk/>
          <pc:sldMk cId="2145448592" sldId="262"/>
        </pc:sldMkLst>
      </pc:sldChg>
      <pc:sldChg chg="modSp new mod">
        <pc:chgData name="Sayanti Roy" userId="13325ee0d423e633" providerId="LiveId" clId="{80388DA5-6D2F-46CF-A377-2F70F9F4EBCB}" dt="2026-02-26T19:38:02.484" v="1261" actId="14100"/>
        <pc:sldMkLst>
          <pc:docMk/>
          <pc:sldMk cId="2721950939" sldId="262"/>
        </pc:sldMkLst>
        <pc:spChg chg="mod">
          <ac:chgData name="Sayanti Roy" userId="13325ee0d423e633" providerId="LiveId" clId="{80388DA5-6D2F-46CF-A377-2F70F9F4EBCB}" dt="2026-02-26T19:38:00.246" v="1260" actId="14100"/>
          <ac:spMkLst>
            <pc:docMk/>
            <pc:sldMk cId="2721950939" sldId="262"/>
            <ac:spMk id="2" creationId="{9A729A9A-74A1-8512-25E3-F22A13404E08}"/>
          </ac:spMkLst>
        </pc:spChg>
        <pc:spChg chg="mod">
          <ac:chgData name="Sayanti Roy" userId="13325ee0d423e633" providerId="LiveId" clId="{80388DA5-6D2F-46CF-A377-2F70F9F4EBCB}" dt="2026-02-26T19:38:02.484" v="1261" actId="14100"/>
          <ac:spMkLst>
            <pc:docMk/>
            <pc:sldMk cId="2721950939" sldId="262"/>
            <ac:spMk id="3" creationId="{481CA090-36C7-A970-2597-6AC5C7E69560}"/>
          </ac:spMkLst>
        </pc:spChg>
      </pc:sldChg>
      <pc:sldChg chg="modSp new mod ord">
        <pc:chgData name="Sayanti Roy" userId="13325ee0d423e633" providerId="LiveId" clId="{80388DA5-6D2F-46CF-A377-2F70F9F4EBCB}" dt="2026-02-26T19:43:47.695" v="1358" actId="20577"/>
        <pc:sldMkLst>
          <pc:docMk/>
          <pc:sldMk cId="3492982839" sldId="263"/>
        </pc:sldMkLst>
        <pc:spChg chg="mod">
          <ac:chgData name="Sayanti Roy" userId="13325ee0d423e633" providerId="LiveId" clId="{80388DA5-6D2F-46CF-A377-2F70F9F4EBCB}" dt="2026-02-26T19:43:37.800" v="1355" actId="20577"/>
          <ac:spMkLst>
            <pc:docMk/>
            <pc:sldMk cId="3492982839" sldId="263"/>
            <ac:spMk id="2" creationId="{977F6BF3-0771-33EA-60ED-53A8E1888CD0}"/>
          </ac:spMkLst>
        </pc:spChg>
        <pc:spChg chg="mod">
          <ac:chgData name="Sayanti Roy" userId="13325ee0d423e633" providerId="LiveId" clId="{80388DA5-6D2F-46CF-A377-2F70F9F4EBCB}" dt="2026-02-26T19:43:47.695" v="1358" actId="20577"/>
          <ac:spMkLst>
            <pc:docMk/>
            <pc:sldMk cId="3492982839" sldId="263"/>
            <ac:spMk id="3" creationId="{1CB25D3D-9F79-9DE1-B05E-19106D584BD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96AD6-AA8A-D487-34EA-5E572FF2D8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899D12-249F-8967-6EA9-0D761883F6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D7F35F-2946-7CAB-BEB6-415A1D9F4B31}"/>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5" name="Footer Placeholder 4">
            <a:extLst>
              <a:ext uri="{FF2B5EF4-FFF2-40B4-BE49-F238E27FC236}">
                <a16:creationId xmlns:a16="http://schemas.microsoft.com/office/drawing/2014/main" id="{EA5AC5AA-0DDA-9572-9106-B43034929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774BF-74FA-34BB-6DEB-7257487C999B}"/>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3672630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C3377-4623-3CA5-F4FD-D646EBFC54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26F280-0C83-0345-8181-B863181A66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4A2B9D-2507-A485-8910-164ABBA58D08}"/>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5" name="Footer Placeholder 4">
            <a:extLst>
              <a:ext uri="{FF2B5EF4-FFF2-40B4-BE49-F238E27FC236}">
                <a16:creationId xmlns:a16="http://schemas.microsoft.com/office/drawing/2014/main" id="{8C021235-452A-2392-16EF-D3E43A5B6F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3C0358-FDBB-90DE-C972-1A7BC3FCB2B4}"/>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2459876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1ECD-42FB-9DB0-DF6E-82F1FCC1C5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507D9F-F50E-A579-EBD0-2BF4F06BA6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5C4EC2-B076-1985-D4E7-15CA3CB1464A}"/>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5" name="Footer Placeholder 4">
            <a:extLst>
              <a:ext uri="{FF2B5EF4-FFF2-40B4-BE49-F238E27FC236}">
                <a16:creationId xmlns:a16="http://schemas.microsoft.com/office/drawing/2014/main" id="{83140C88-3E12-C8CF-3265-92E9F5418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FEED62-483F-8333-68D6-9FD4C655C030}"/>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3773215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23AC-21FC-04B5-C504-82C8370C6A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21686A-8F9D-908E-6771-5911EE5D54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322C70-4CF3-890B-C855-167CC19EE9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8F66CE-28A8-9A9F-C537-77381F0DA6B9}"/>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6" name="Footer Placeholder 5">
            <a:extLst>
              <a:ext uri="{FF2B5EF4-FFF2-40B4-BE49-F238E27FC236}">
                <a16:creationId xmlns:a16="http://schemas.microsoft.com/office/drawing/2014/main" id="{CEC9370E-1615-72A7-FE1E-681853C880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EC4804-D2B7-C8C7-D32B-3CB2A3D53099}"/>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1247707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5E15-268F-0ED5-33F3-F177BE2D65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7AE59C-7CA6-C504-0EE4-FCEEE78DD4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7C816A-FB7B-D459-F46D-9115EA44F4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DF35B7-972D-25AE-C44E-14EBB5536A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5F6403-8CE4-94D3-505E-45CF9546A4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291FFA-1D1E-5C49-0446-0284A9D42103}"/>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8" name="Footer Placeholder 7">
            <a:extLst>
              <a:ext uri="{FF2B5EF4-FFF2-40B4-BE49-F238E27FC236}">
                <a16:creationId xmlns:a16="http://schemas.microsoft.com/office/drawing/2014/main" id="{0BDCA7CD-9D31-4551-858D-EE2A238183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96C648-E273-CF31-FF45-FBD574DCB88E}"/>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175552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660C5-E960-B7FD-773A-BD39CC0B34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84C240-30D2-67C2-6FB4-BE55B7B23BAF}"/>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4" name="Footer Placeholder 3">
            <a:extLst>
              <a:ext uri="{FF2B5EF4-FFF2-40B4-BE49-F238E27FC236}">
                <a16:creationId xmlns:a16="http://schemas.microsoft.com/office/drawing/2014/main" id="{FCB8F1C2-EAC2-5F9B-ED27-95F4A83C54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29D1C2-C236-8FD1-A575-77AED9D7AFCB}"/>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663328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F717E6-CEAD-4DE8-DCBB-EC1BBFD56071}"/>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3" name="Footer Placeholder 2">
            <a:extLst>
              <a:ext uri="{FF2B5EF4-FFF2-40B4-BE49-F238E27FC236}">
                <a16:creationId xmlns:a16="http://schemas.microsoft.com/office/drawing/2014/main" id="{43108FF5-46E1-A45C-E550-7722F8F6E3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F5827F-3D15-5FFA-670F-8949B729EF80}"/>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2239958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D304-FE47-44D1-1D3C-A896EB302E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A138E4-B245-D28F-4704-CADB664D06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6F0BC3-43F8-A960-583D-CD4375A50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789FC5-2018-07E2-98BF-40584502C9A1}"/>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6" name="Footer Placeholder 5">
            <a:extLst>
              <a:ext uri="{FF2B5EF4-FFF2-40B4-BE49-F238E27FC236}">
                <a16:creationId xmlns:a16="http://schemas.microsoft.com/office/drawing/2014/main" id="{67BFAC8A-F3C0-4AC9-8F3B-A21EC9EE6D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3F3E42-12DC-3540-0335-C34179941ACF}"/>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2034953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7D63E-1E56-D0ED-00B2-5C95D5120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CD8925-C456-2B95-80EA-46C84E52FF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92B693-9C86-76A7-1F3F-42BC99D33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FF28FF-7740-BA47-D9F1-F9B4570EC82A}"/>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6" name="Footer Placeholder 5">
            <a:extLst>
              <a:ext uri="{FF2B5EF4-FFF2-40B4-BE49-F238E27FC236}">
                <a16:creationId xmlns:a16="http://schemas.microsoft.com/office/drawing/2014/main" id="{82A60680-56FB-CF8C-4F12-B667C632C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81B845-7624-9A86-3C2F-8E0FA33F4ED9}"/>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613802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5589A-4437-9983-0669-717CE37DD0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B718FF-D196-388F-7959-1E09C673E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8BFCE9-8F43-9632-34D3-D1AA0488045B}"/>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5" name="Footer Placeholder 4">
            <a:extLst>
              <a:ext uri="{FF2B5EF4-FFF2-40B4-BE49-F238E27FC236}">
                <a16:creationId xmlns:a16="http://schemas.microsoft.com/office/drawing/2014/main" id="{42031B45-DC71-07D6-ADD1-336D3D1C2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D9892B-F6F2-ECFC-C466-468F3FFCFE17}"/>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1084275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CF7C89-3AA9-1BB3-AC86-E590CCC64A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E722B0-51ED-8A34-1340-8E0EAFAB7B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01EA04-9640-96AF-C8DF-4ABFFEA9A3C4}"/>
              </a:ext>
            </a:extLst>
          </p:cNvPr>
          <p:cNvSpPr>
            <a:spLocks noGrp="1"/>
          </p:cNvSpPr>
          <p:nvPr>
            <p:ph type="dt" sz="half" idx="10"/>
          </p:nvPr>
        </p:nvSpPr>
        <p:spPr/>
        <p:txBody>
          <a:bodyPr/>
          <a:lstStyle/>
          <a:p>
            <a:fld id="{FDCAC813-AFA3-44B8-9FD9-1D1F4465EBB8}" type="datetimeFigureOut">
              <a:rPr lang="en-US" smtClean="0"/>
              <a:t>2/26/2026</a:t>
            </a:fld>
            <a:endParaRPr lang="en-US"/>
          </a:p>
        </p:txBody>
      </p:sp>
      <p:sp>
        <p:nvSpPr>
          <p:cNvPr id="5" name="Footer Placeholder 4">
            <a:extLst>
              <a:ext uri="{FF2B5EF4-FFF2-40B4-BE49-F238E27FC236}">
                <a16:creationId xmlns:a16="http://schemas.microsoft.com/office/drawing/2014/main" id="{FB18B7CE-B6A2-92F5-D613-2F7A3DE0E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095776-D4D4-7E0B-6B16-C68D020098CA}"/>
              </a:ext>
            </a:extLst>
          </p:cNvPr>
          <p:cNvSpPr>
            <a:spLocks noGrp="1"/>
          </p:cNvSpPr>
          <p:nvPr>
            <p:ph type="sldNum" sz="quarter" idx="12"/>
          </p:nvPr>
        </p:nvSpPr>
        <p:spPr/>
        <p:txBody>
          <a:bodyPr/>
          <a:lstStyle/>
          <a:p>
            <a:fld id="{91B2C9B3-1457-4A11-876B-3EFE8A610B25}" type="slidenum">
              <a:rPr lang="en-US" smtClean="0"/>
              <a:t>‹#›</a:t>
            </a:fld>
            <a:endParaRPr lang="en-US"/>
          </a:p>
        </p:txBody>
      </p:sp>
    </p:spTree>
    <p:extLst>
      <p:ext uri="{BB962C8B-B14F-4D97-AF65-F5344CB8AC3E}">
        <p14:creationId xmlns:p14="http://schemas.microsoft.com/office/powerpoint/2010/main" val="3693613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47730A-AA00-C259-2A19-B36F9E1376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52B500-4DD4-6C8F-393B-380E9994C7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477303-0067-4385-67D1-7ECACE4B32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CAC813-AFA3-44B8-9FD9-1D1F4465EBB8}" type="datetimeFigureOut">
              <a:rPr lang="en-US" smtClean="0"/>
              <a:t>2/26/2026</a:t>
            </a:fld>
            <a:endParaRPr lang="en-US"/>
          </a:p>
        </p:txBody>
      </p:sp>
      <p:sp>
        <p:nvSpPr>
          <p:cNvPr id="5" name="Footer Placeholder 4">
            <a:extLst>
              <a:ext uri="{FF2B5EF4-FFF2-40B4-BE49-F238E27FC236}">
                <a16:creationId xmlns:a16="http://schemas.microsoft.com/office/drawing/2014/main" id="{518E4ED5-F5A2-9609-5F05-07DF798928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BC3351-406F-29C9-8ADA-F0EBF3B856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B2C9B3-1457-4A11-876B-3EFE8A610B25}" type="slidenum">
              <a:rPr lang="en-US" smtClean="0"/>
              <a:t>‹#›</a:t>
            </a:fld>
            <a:endParaRPr lang="en-US"/>
          </a:p>
        </p:txBody>
      </p:sp>
    </p:spTree>
    <p:extLst>
      <p:ext uri="{BB962C8B-B14F-4D97-AF65-F5344CB8AC3E}">
        <p14:creationId xmlns:p14="http://schemas.microsoft.com/office/powerpoint/2010/main" val="378304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89695-7E9B-2079-6374-EA3D7635CCF7}"/>
              </a:ext>
            </a:extLst>
          </p:cNvPr>
          <p:cNvSpPr>
            <a:spLocks noGrp="1"/>
          </p:cNvSpPr>
          <p:nvPr>
            <p:ph type="title"/>
          </p:nvPr>
        </p:nvSpPr>
        <p:spPr/>
        <p:txBody>
          <a:bodyPr/>
          <a:lstStyle/>
          <a:p>
            <a:r>
              <a:rPr lang="en-US" dirty="0"/>
              <a:t>Actor – Critic Framework </a:t>
            </a:r>
          </a:p>
        </p:txBody>
      </p:sp>
      <p:sp>
        <p:nvSpPr>
          <p:cNvPr id="3" name="Content Placeholder 2">
            <a:extLst>
              <a:ext uri="{FF2B5EF4-FFF2-40B4-BE49-F238E27FC236}">
                <a16:creationId xmlns:a16="http://schemas.microsoft.com/office/drawing/2014/main" id="{D89BD224-B01F-0DBB-1510-CF61A7EB147C}"/>
              </a:ext>
            </a:extLst>
          </p:cNvPr>
          <p:cNvSpPr>
            <a:spLocks noGrp="1"/>
          </p:cNvSpPr>
          <p:nvPr>
            <p:ph idx="1"/>
          </p:nvPr>
        </p:nvSpPr>
        <p:spPr>
          <a:xfrm>
            <a:off x="838200" y="1375794"/>
            <a:ext cx="10515600" cy="4801169"/>
          </a:xfrm>
        </p:spPr>
        <p:txBody>
          <a:bodyPr>
            <a:normAutofit fontScale="85000" lnSpcReduction="20000"/>
          </a:bodyPr>
          <a:lstStyle/>
          <a:p>
            <a:r>
              <a:rPr lang="en-US" dirty="0"/>
              <a:t>So far :</a:t>
            </a:r>
          </a:p>
          <a:p>
            <a:pPr lvl="1"/>
            <a:r>
              <a:rPr lang="en-US" dirty="0"/>
              <a:t>The values of state–action pairs and then used those action values directly to implement the policy (e.g., ε-greedy) and select actions.</a:t>
            </a:r>
          </a:p>
          <a:p>
            <a:pPr lvl="1"/>
            <a:endParaRPr lang="en-US" dirty="0"/>
          </a:p>
          <a:p>
            <a:r>
              <a:rPr lang="en-US" dirty="0"/>
              <a:t>Actor – Critic Method </a:t>
            </a:r>
          </a:p>
          <a:p>
            <a:endParaRPr lang="en-US" dirty="0"/>
          </a:p>
          <a:p>
            <a:pPr lvl="1"/>
            <a:r>
              <a:rPr lang="en-US" dirty="0"/>
              <a:t>Not exactly action-value methods. They may still compute action (or state) values, but they do not use them directly to select actions. </a:t>
            </a:r>
          </a:p>
          <a:p>
            <a:pPr lvl="1"/>
            <a:endParaRPr lang="en-US" dirty="0"/>
          </a:p>
          <a:p>
            <a:pPr lvl="1"/>
            <a:r>
              <a:rPr lang="en-US" dirty="0"/>
              <a:t>Actor–critic methods are </a:t>
            </a:r>
            <a:r>
              <a:rPr lang="en-US" b="1" dirty="0"/>
              <a:t>Temporal Difference </a:t>
            </a:r>
            <a:r>
              <a:rPr lang="en-US" dirty="0"/>
              <a:t>methods that have a separate memory structure to explicitly represent the policy independent of the value function. The policy structure is known as the actor, because it is used to select actions, and the estimated value function is known as the critic, because it criticizes the actions made by the actor. The critic must learn about and critique whatever policy is currently being followed by the actor. The critique takes the form of a TD error. This scalar signal is the sole output of the critic and drives all learning in both actor and critic. Typically, the critic is a state-value function. After each action selection, the critic evaluates the new state to determine whether things have gone better or worse than expected.</a:t>
            </a:r>
          </a:p>
        </p:txBody>
      </p:sp>
    </p:spTree>
    <p:extLst>
      <p:ext uri="{BB962C8B-B14F-4D97-AF65-F5344CB8AC3E}">
        <p14:creationId xmlns:p14="http://schemas.microsoft.com/office/powerpoint/2010/main" val="2496881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5E24F-F073-0C82-F754-4EA16F42DECE}"/>
              </a:ext>
            </a:extLst>
          </p:cNvPr>
          <p:cNvSpPr>
            <a:spLocks noGrp="1"/>
          </p:cNvSpPr>
          <p:nvPr>
            <p:ph type="title"/>
          </p:nvPr>
        </p:nvSpPr>
        <p:spPr>
          <a:xfrm>
            <a:off x="838200" y="310602"/>
            <a:ext cx="10515600" cy="889024"/>
          </a:xfrm>
        </p:spPr>
        <p:txBody>
          <a:bodyPr>
            <a:normAutofit fontScale="90000"/>
          </a:bodyPr>
          <a:lstStyle/>
          <a:p>
            <a:r>
              <a:rPr lang="en-US" dirty="0"/>
              <a:t>Working Principle of Actor – Critic </a:t>
            </a:r>
            <a:r>
              <a:rPr lang="en-US" dirty="0">
                <a:sym typeface="Wingdings" panose="05000000000000000000" pitchFamily="2" charset="2"/>
              </a:rPr>
              <a:t> RL exclusively using NN</a:t>
            </a:r>
            <a:endParaRPr lang="en-US" dirty="0"/>
          </a:p>
        </p:txBody>
      </p:sp>
      <p:sp>
        <p:nvSpPr>
          <p:cNvPr id="3" name="Content Placeholder 2">
            <a:extLst>
              <a:ext uri="{FF2B5EF4-FFF2-40B4-BE49-F238E27FC236}">
                <a16:creationId xmlns:a16="http://schemas.microsoft.com/office/drawing/2014/main" id="{09A3C12C-F860-DC3E-5E3F-A9A298F0168F}"/>
              </a:ext>
            </a:extLst>
          </p:cNvPr>
          <p:cNvSpPr>
            <a:spLocks noGrp="1"/>
          </p:cNvSpPr>
          <p:nvPr>
            <p:ph idx="1"/>
          </p:nvPr>
        </p:nvSpPr>
        <p:spPr>
          <a:xfrm>
            <a:off x="838200" y="1707160"/>
            <a:ext cx="10515600" cy="4469804"/>
          </a:xfrm>
        </p:spPr>
        <p:txBody>
          <a:bodyPr>
            <a:normAutofit fontScale="70000" lnSpcReduction="20000"/>
          </a:bodyPr>
          <a:lstStyle/>
          <a:p>
            <a:r>
              <a:rPr lang="en-US" dirty="0"/>
              <a:t>Actor–Critic is a reinforcement learning method that combines </a:t>
            </a:r>
            <a:r>
              <a:rPr lang="en-US" b="1" dirty="0"/>
              <a:t>policy-based</a:t>
            </a:r>
            <a:r>
              <a:rPr lang="en-US" dirty="0"/>
              <a:t> and </a:t>
            </a:r>
            <a:r>
              <a:rPr lang="en-US" b="1" dirty="0"/>
              <a:t>value-based</a:t>
            </a:r>
            <a:r>
              <a:rPr lang="en-US" dirty="0"/>
              <a:t> ideas. Combination of decisive and evaluative learning. </a:t>
            </a:r>
          </a:p>
          <a:p>
            <a:endParaRPr lang="en-US" dirty="0"/>
          </a:p>
          <a:p>
            <a:r>
              <a:rPr lang="en-US" dirty="0"/>
              <a:t>If you only use a policy (like in REINFORCE), learning is:</a:t>
            </a:r>
          </a:p>
          <a:p>
            <a:pPr lvl="1"/>
            <a:r>
              <a:rPr lang="en-US" dirty="0"/>
              <a:t>very </a:t>
            </a:r>
            <a:r>
              <a:rPr lang="en-US" b="1" dirty="0"/>
              <a:t>noisy</a:t>
            </a:r>
            <a:endParaRPr lang="en-US" dirty="0"/>
          </a:p>
          <a:p>
            <a:pPr lvl="1"/>
            <a:r>
              <a:rPr lang="en-US" dirty="0"/>
              <a:t>high variance</a:t>
            </a:r>
          </a:p>
          <a:p>
            <a:pPr lvl="1"/>
            <a:r>
              <a:rPr lang="en-US" dirty="0"/>
              <a:t>So, we introduce a </a:t>
            </a:r>
            <a:r>
              <a:rPr lang="en-US" b="1" dirty="0"/>
              <a:t>Critic</a:t>
            </a:r>
            <a:r>
              <a:rPr lang="en-US" dirty="0"/>
              <a:t> to guide the Actor with better feedback.</a:t>
            </a:r>
          </a:p>
          <a:p>
            <a:endParaRPr lang="en-US" dirty="0"/>
          </a:p>
          <a:p>
            <a:r>
              <a:rPr lang="en-US" b="1" dirty="0"/>
              <a:t>Actor</a:t>
            </a:r>
            <a:r>
              <a:rPr lang="en-US" dirty="0"/>
              <a:t> → decides </a:t>
            </a:r>
            <a:r>
              <a:rPr lang="en-US" b="1" dirty="0"/>
              <a:t>what action to take</a:t>
            </a:r>
            <a:r>
              <a:rPr lang="en-US" dirty="0"/>
              <a:t> (policy: </a:t>
            </a:r>
            <a:r>
              <a:rPr lang="el-GR" dirty="0"/>
              <a:t>π)</a:t>
            </a:r>
            <a:r>
              <a:rPr lang="en-US" dirty="0"/>
              <a:t>, Initially: random decisions, After learning : parameters tuned so good actions get </a:t>
            </a:r>
            <a:r>
              <a:rPr lang="en-US"/>
              <a:t>higher probability. </a:t>
            </a:r>
            <a:endParaRPr lang="en-US" dirty="0"/>
          </a:p>
          <a:p>
            <a:r>
              <a:rPr lang="en-US" b="1" dirty="0"/>
              <a:t>Critic</a:t>
            </a:r>
            <a:r>
              <a:rPr lang="en-US" dirty="0"/>
              <a:t> → evaluates </a:t>
            </a:r>
            <a:r>
              <a:rPr lang="en-US" b="1" dirty="0"/>
              <a:t>how good that action was</a:t>
            </a:r>
            <a:r>
              <a:rPr lang="en-US" dirty="0"/>
              <a:t> (value function: V or Q)</a:t>
            </a:r>
          </a:p>
          <a:p>
            <a:r>
              <a:rPr lang="en-US" dirty="0"/>
              <a:t>They learn together.</a:t>
            </a:r>
          </a:p>
          <a:p>
            <a:endParaRPr lang="en-US" b="1"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3915252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DA27355-2802-1BEB-BA6C-3A385109C994}"/>
                  </a:ext>
                </a:extLst>
              </p:cNvPr>
              <p:cNvSpPr>
                <a:spLocks noGrp="1"/>
              </p:cNvSpPr>
              <p:nvPr>
                <p:ph idx="1"/>
              </p:nvPr>
            </p:nvSpPr>
            <p:spPr>
              <a:xfrm>
                <a:off x="352338" y="146807"/>
                <a:ext cx="5540928" cy="6030156"/>
              </a:xfrm>
            </p:spPr>
            <p:txBody>
              <a:bodyPr>
                <a:normAutofit fontScale="85000" lnSpcReduction="20000"/>
              </a:bodyPr>
              <a:lstStyle/>
              <a:p>
                <a:pPr marL="0" indent="0">
                  <a:buNone/>
                </a:pPr>
                <a:r>
                  <a:rPr lang="en-US" b="1" dirty="0"/>
                  <a:t>Working Principle of Actor – Critic : </a:t>
                </a:r>
              </a:p>
              <a:p>
                <a:pPr marL="0" indent="0">
                  <a:buNone/>
                </a:pPr>
                <a:endParaRPr lang="en-US" b="1" dirty="0"/>
              </a:p>
              <a:p>
                <a:pPr lvl="1"/>
                <a:r>
                  <a:rPr lang="en-US" dirty="0"/>
                  <a:t>At time step </a:t>
                </a:r>
                <a:r>
                  <a:rPr lang="en-US" i="1" dirty="0"/>
                  <a:t>t</a:t>
                </a:r>
                <a:r>
                  <a:rPr lang="en-US" dirty="0"/>
                  <a:t>:</a:t>
                </a:r>
              </a:p>
              <a:p>
                <a:pPr lvl="1"/>
                <a:r>
                  <a:rPr lang="en-US" dirty="0"/>
                  <a:t>Actor chooses action: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𝜋</m:t>
                    </m:r>
                    <m:d>
                      <m:dPr>
                        <m:ctrlPr>
                          <a:rPr lang="ar-AE" i="1">
                            <a:latin typeface="Cambria Math" panose="02040503050406030204" pitchFamily="18" charset="0"/>
                          </a:rPr>
                        </m:ctrlPr>
                      </m:dPr>
                      <m:e>
                        <m:r>
                          <a:rPr lang="ar-AE" i="1">
                            <a:latin typeface="Cambria Math" panose="02040503050406030204" pitchFamily="18" charset="0"/>
                          </a:rPr>
                          <m:t>𝑎</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d>
                  </m:oMath>
                </a14:m>
                <a:endParaRPr lang="ar-AE" dirty="0"/>
              </a:p>
              <a:p>
                <a:pPr lvl="1"/>
                <a:r>
                  <a:rPr lang="en-US" dirty="0"/>
                  <a:t>Environment returns:</a:t>
                </a:r>
              </a:p>
              <a:p>
                <a:pPr lvl="2"/>
                <a:r>
                  <a:rPr lang="en-US" dirty="0"/>
                  <a:t>reward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oMath>
                </a14:m>
                <a:endParaRPr lang="ar-AE" dirty="0"/>
              </a:p>
              <a:p>
                <a:pPr lvl="2"/>
                <a:r>
                  <a:rPr lang="en-US" dirty="0"/>
                  <a:t>next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ar-AE" dirty="0"/>
              </a:p>
              <a:p>
                <a:pPr lvl="1"/>
                <a:r>
                  <a:rPr lang="en-US" dirty="0"/>
                  <a:t>Critic computes </a:t>
                </a:r>
                <a:r>
                  <a:rPr lang="en-US" b="1" dirty="0"/>
                  <a:t>value estimates</a:t>
                </a:r>
                <a:r>
                  <a:rPr lang="en-US" dirty="0"/>
                  <a:t>: </a:t>
                </a:r>
                <a14:m>
                  <m:oMath xmlns:m="http://schemas.openxmlformats.org/officeDocument/2006/math">
                    <m:r>
                      <a:rPr lang="en-US" i="1">
                        <a:latin typeface="Cambria Math" panose="02040503050406030204" pitchFamily="18" charset="0"/>
                      </a:rPr>
                      <m:t>𝑉</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d>
                    <m:r>
                      <a:rPr lang="ar-AE">
                        <a:latin typeface="Cambria Math" panose="02040503050406030204" pitchFamily="18" charset="0"/>
                      </a:rPr>
                      <m:t>, </m:t>
                    </m:r>
                    <m:r>
                      <a:rPr lang="ar-AE" i="1">
                        <a:latin typeface="Cambria Math" panose="02040503050406030204" pitchFamily="18" charset="0"/>
                      </a:rPr>
                      <m:t>𝑉</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d>
                  </m:oMath>
                </a14:m>
                <a:endParaRPr lang="ar-AE" dirty="0"/>
              </a:p>
              <a:p>
                <a:pPr lvl="1"/>
                <a:r>
                  <a:rPr lang="en-US" dirty="0"/>
                  <a:t>Compute </a:t>
                </a:r>
                <a:r>
                  <a:rPr lang="en-US" b="1" dirty="0"/>
                  <a:t>TD Error (</a:t>
                </a:r>
                <a:r>
                  <a:rPr lang="el-GR" b="1" dirty="0"/>
                  <a:t>δ)</a:t>
                </a:r>
                <a:r>
                  <a:rPr lang="el-GR" dirty="0"/>
                  <a:t>:</a:t>
                </a:r>
                <a14:m>
                  <m:oMath xmlns:m="http://schemas.openxmlformats.org/officeDocument/2006/math">
                    <m:r>
                      <a:rPr lang="en-US" b="0" i="0" smtClean="0">
                        <a:latin typeface="Cambria Math" panose="02040503050406030204" pitchFamily="18" charset="0"/>
                      </a:rPr>
                      <m:t> </m:t>
                    </m:r>
                    <m:r>
                      <a:rPr lang="el-GR" i="1">
                        <a:latin typeface="Cambria Math" panose="02040503050406030204" pitchFamily="18" charset="0"/>
                      </a:rPr>
                      <m:t>𝛿</m:t>
                    </m:r>
                    <m:r>
                      <a:rPr lang="el-GR">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𝛾</m:t>
                    </m:r>
                    <m:r>
                      <a:rPr lang="ar-AE" i="1">
                        <a:latin typeface="Cambria Math" panose="02040503050406030204" pitchFamily="18" charset="0"/>
                      </a:rPr>
                      <m:t>𝑉</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d>
                    <m:r>
                      <a:rPr lang="ar-AE">
                        <a:latin typeface="Cambria Math" panose="02040503050406030204" pitchFamily="18" charset="0"/>
                      </a:rPr>
                      <m:t>−</m:t>
                    </m:r>
                    <m:r>
                      <a:rPr lang="ar-AE" i="1">
                        <a:latin typeface="Cambria Math" panose="02040503050406030204" pitchFamily="18" charset="0"/>
                      </a:rPr>
                      <m:t>𝑉</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d>
                  </m:oMath>
                </a14:m>
                <a:endParaRPr lang="en-US" dirty="0"/>
              </a:p>
              <a:p>
                <a:pPr lvl="1"/>
                <a:endParaRPr lang="ar-AE" dirty="0"/>
              </a:p>
              <a:p>
                <a:r>
                  <a:rPr lang="en-US" dirty="0"/>
                  <a:t>The Critic </a:t>
                </a:r>
                <a:r>
                  <a:rPr lang="en-US" b="1" dirty="0"/>
                  <a:t>learns a value function</a:t>
                </a:r>
                <a:r>
                  <a:rPr lang="en-US" dirty="0"/>
                  <a:t>: “How good is this state (or action)?”</a:t>
                </a:r>
              </a:p>
              <a:p>
                <a:endParaRPr lang="en-US" dirty="0"/>
              </a:p>
              <a:p>
                <a:pPr lvl="1"/>
                <a:r>
                  <a:rPr lang="en-US" dirty="0"/>
                  <a:t>either </a:t>
                </a:r>
                <a:r>
                  <a:rPr lang="en-US" b="1" dirty="0"/>
                  <a:t>state value</a:t>
                </a:r>
                <a:r>
                  <a:rPr lang="en-US" dirty="0"/>
                  <a:t> </a:t>
                </a:r>
                <a14:m>
                  <m:oMath xmlns:m="http://schemas.openxmlformats.org/officeDocument/2006/math">
                    <m:r>
                      <a:rPr lang="en-US" i="1">
                        <a:latin typeface="Cambria Math" panose="02040503050406030204" pitchFamily="18" charset="0"/>
                      </a:rPr>
                      <m:t>𝑉</m:t>
                    </m:r>
                    <m:d>
                      <m:dPr>
                        <m:ctrlPr>
                          <a:rPr lang="ar-AE" i="1">
                            <a:latin typeface="Cambria Math" panose="02040503050406030204" pitchFamily="18" charset="0"/>
                          </a:rPr>
                        </m:ctrlPr>
                      </m:dPr>
                      <m:e>
                        <m:r>
                          <a:rPr lang="ar-AE" i="1">
                            <a:latin typeface="Cambria Math" panose="02040503050406030204" pitchFamily="18" charset="0"/>
                          </a:rPr>
                          <m:t>𝑠</m:t>
                        </m:r>
                      </m:e>
                    </m:d>
                  </m:oMath>
                </a14:m>
                <a:r>
                  <a:rPr lang="en-US" dirty="0"/>
                  <a:t> or </a:t>
                </a:r>
                <a:r>
                  <a:rPr lang="en-US" b="1" dirty="0"/>
                  <a:t>action value</a:t>
                </a:r>
                <a:r>
                  <a:rPr lang="en-US" dirty="0"/>
                  <a:t> </a:t>
                </a:r>
                <a14:m>
                  <m:oMath xmlns:m="http://schemas.openxmlformats.org/officeDocument/2006/math">
                    <m:r>
                      <a:rPr lang="en-US"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oMath>
                </a14:m>
                <a:r>
                  <a:rPr lang="en-US" dirty="0"/>
                  <a:t>, So it approximates:</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𝑉</m:t>
                    </m:r>
                    <m:d>
                      <m:dPr>
                        <m:ctrlPr>
                          <a:rPr lang="ar-AE" i="1">
                            <a:latin typeface="Cambria Math" panose="02040503050406030204" pitchFamily="18" charset="0"/>
                          </a:rPr>
                        </m:ctrlPr>
                      </m:dPr>
                      <m:e>
                        <m:r>
                          <a:rPr lang="ar-AE" i="1">
                            <a:latin typeface="Cambria Math" panose="02040503050406030204" pitchFamily="18" charset="0"/>
                          </a:rPr>
                          <m:t>𝑠</m:t>
                        </m:r>
                      </m:e>
                    </m:d>
                    <m:r>
                      <a:rPr lang="ar-AE">
                        <a:latin typeface="Cambria Math" panose="02040503050406030204" pitchFamily="18" charset="0"/>
                      </a:rPr>
                      <m:t>=</m:t>
                    </m:r>
                    <m:r>
                      <a:rPr lang="ar-AE">
                        <a:latin typeface="Cambria Math" panose="02040503050406030204" pitchFamily="18" charset="0"/>
                      </a:rPr>
                      <m:t>𝔼</m:t>
                    </m:r>
                    <m:d>
                      <m:dPr>
                        <m:begChr m:val="["/>
                        <m:endChr m:val="]"/>
                        <m:ctrlPr>
                          <a:rPr lang="ar-AE" i="1">
                            <a:latin typeface="Cambria Math" panose="02040503050406030204" pitchFamily="18" charset="0"/>
                          </a:rPr>
                        </m:ctrlPr>
                      </m:dPr>
                      <m:e>
                        <m:r>
                          <m:rPr>
                            <m:nor/>
                          </m:rPr>
                          <a:rPr lang="en-US" i="1"/>
                          <m:t>future</m:t>
                        </m:r>
                        <m:r>
                          <m:rPr>
                            <m:nor/>
                          </m:rPr>
                          <a:rPr lang="en-US" i="1"/>
                          <m:t> </m:t>
                        </m:r>
                        <m:r>
                          <m:rPr>
                            <m:nor/>
                          </m:rPr>
                          <a:rPr lang="en-US" i="1"/>
                          <m:t>rewards</m:t>
                        </m:r>
                      </m:e>
                    </m:d>
                  </m:oMath>
                </a14:m>
                <a:endParaRPr lang="ar-AE" b="0" dirty="0"/>
              </a:p>
              <a:p>
                <a:pPr marL="0" indent="0">
                  <a:buNone/>
                </a:pPr>
                <a:br>
                  <a:rPr lang="en-US" dirty="0"/>
                </a:br>
                <a:endParaRPr lang="en-US" dirty="0"/>
              </a:p>
              <a:p>
                <a:endParaRPr lang="en-US" dirty="0"/>
              </a:p>
            </p:txBody>
          </p:sp>
        </mc:Choice>
        <mc:Fallback>
          <p:sp>
            <p:nvSpPr>
              <p:cNvPr id="3" name="Content Placeholder 2">
                <a:extLst>
                  <a:ext uri="{FF2B5EF4-FFF2-40B4-BE49-F238E27FC236}">
                    <a16:creationId xmlns:a16="http://schemas.microsoft.com/office/drawing/2014/main" id="{EDA27355-2802-1BEB-BA6C-3A385109C994}"/>
                  </a:ext>
                </a:extLst>
              </p:cNvPr>
              <p:cNvSpPr>
                <a:spLocks noGrp="1" noRot="1" noChangeAspect="1" noMove="1" noResize="1" noEditPoints="1" noAdjustHandles="1" noChangeArrowheads="1" noChangeShapeType="1" noTextEdit="1"/>
              </p:cNvSpPr>
              <p:nvPr>
                <p:ph idx="1"/>
              </p:nvPr>
            </p:nvSpPr>
            <p:spPr>
              <a:xfrm>
                <a:off x="352338" y="146807"/>
                <a:ext cx="5540928" cy="6030156"/>
              </a:xfrm>
              <a:blipFill>
                <a:blip r:embed="rId2"/>
                <a:stretch>
                  <a:fillRect l="-1760" t="-22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A3A3F22-72E8-F823-C55C-B73FC8148286}"/>
                  </a:ext>
                </a:extLst>
              </p:cNvPr>
              <p:cNvSpPr txBox="1"/>
              <p:nvPr/>
            </p:nvSpPr>
            <p:spPr>
              <a:xfrm>
                <a:off x="5829289" y="760309"/>
                <a:ext cx="6096698" cy="3416320"/>
              </a:xfrm>
              <a:prstGeom prst="rect">
                <a:avLst/>
              </a:prstGeom>
              <a:noFill/>
            </p:spPr>
            <p:txBody>
              <a:bodyPr wrap="square">
                <a:spAutoFit/>
              </a:bodyPr>
              <a:lstStyle/>
              <a:p>
                <a:r>
                  <a:rPr lang="en-US" dirty="0"/>
                  <a:t>The TD error </a:t>
                </a:r>
                <a14:m>
                  <m:oMath xmlns:m="http://schemas.openxmlformats.org/officeDocument/2006/math">
                    <m:r>
                      <a:rPr lang="en-US" i="1">
                        <a:latin typeface="Cambria Math" panose="02040503050406030204" pitchFamily="18" charset="0"/>
                      </a:rPr>
                      <m:t>𝛿</m:t>
                    </m:r>
                  </m:oMath>
                </a14:m>
                <a:r>
                  <a:rPr lang="en-US" dirty="0"/>
                  <a:t> tells us:</a:t>
                </a:r>
                <a:br>
                  <a:rPr lang="en-US" dirty="0"/>
                </a:br>
                <a:endParaRPr lang="en-US" dirty="0"/>
              </a:p>
              <a:p>
                <a:pPr lvl="1"/>
                <a:r>
                  <a:rPr lang="el-GR" b="1" dirty="0"/>
                  <a:t>δ &gt; 0</a:t>
                </a:r>
                <a:r>
                  <a:rPr lang="el-GR" dirty="0"/>
                  <a:t> → </a:t>
                </a:r>
                <a:r>
                  <a:rPr lang="en-US" dirty="0"/>
                  <a:t>better than expected → increase probability of action</a:t>
                </a:r>
              </a:p>
              <a:p>
                <a:pPr lvl="1"/>
                <a:r>
                  <a:rPr lang="el-GR" b="1" dirty="0"/>
                  <a:t>δ &lt; 0</a:t>
                </a:r>
                <a:r>
                  <a:rPr lang="el-GR" dirty="0"/>
                  <a:t> → </a:t>
                </a:r>
                <a:r>
                  <a:rPr lang="en-US" dirty="0"/>
                  <a:t>worse than expected → decrease probability</a:t>
                </a:r>
              </a:p>
              <a:p>
                <a:pPr marL="0" indent="0">
                  <a:buNone/>
                </a:pPr>
                <a:endParaRPr lang="en-US" dirty="0"/>
              </a:p>
              <a:p>
                <a:pPr marL="0" indent="0">
                  <a:buNone/>
                </a:pPr>
                <a:r>
                  <a:rPr lang="en-US" b="1" dirty="0"/>
                  <a:t> Critic Update (Value Learning)</a:t>
                </a:r>
              </a:p>
              <a:p>
                <a:pPr lvl="1"/>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𝑉</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d>
                      <m:r>
                        <a:rPr lang="ar-AE">
                          <a:latin typeface="Cambria Math" panose="02040503050406030204" pitchFamily="18" charset="0"/>
                        </a:rPr>
                        <m:t>←</m:t>
                      </m:r>
                      <m:r>
                        <a:rPr lang="ar-AE" i="1">
                          <a:latin typeface="Cambria Math" panose="02040503050406030204" pitchFamily="18" charset="0"/>
                        </a:rPr>
                        <m:t>𝑉</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d>
                      <m:r>
                        <a:rPr lang="ar-AE">
                          <a:latin typeface="Cambria Math" panose="02040503050406030204" pitchFamily="18" charset="0"/>
                        </a:rPr>
                        <m:t>+</m:t>
                      </m:r>
                      <m:r>
                        <a:rPr lang="ar-AE" i="1">
                          <a:latin typeface="Cambria Math" panose="02040503050406030204" pitchFamily="18" charset="0"/>
                        </a:rPr>
                        <m:t>𝛼</m:t>
                      </m:r>
                      <m:r>
                        <a:rPr lang="ar-AE">
                          <a:latin typeface="Cambria Math" panose="02040503050406030204" pitchFamily="18" charset="0"/>
                        </a:rPr>
                        <m:t>⋅</m:t>
                      </m:r>
                      <m:r>
                        <a:rPr lang="ar-AE" i="1">
                          <a:latin typeface="Cambria Math" panose="02040503050406030204" pitchFamily="18" charset="0"/>
                        </a:rPr>
                        <m:t>𝛿</m:t>
                      </m:r>
                    </m:oMath>
                  </m:oMathPara>
                </a14:m>
                <a:endParaRPr lang="en-US" dirty="0"/>
              </a:p>
              <a:p>
                <a:pPr marL="457200" lvl="1" indent="0">
                  <a:buNone/>
                </a:pPr>
                <a:endParaRPr lang="ar-AE" dirty="0"/>
              </a:p>
              <a:p>
                <a:r>
                  <a:rPr lang="en-US" b="1" dirty="0"/>
                  <a:t> Actor Update (Policy Learning)</a:t>
                </a:r>
              </a:p>
              <a:p>
                <a:pPr lvl="1"/>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𝜃</m:t>
                      </m:r>
                      <m:r>
                        <a:rPr lang="en-US">
                          <a:latin typeface="Cambria Math" panose="02040503050406030204" pitchFamily="18" charset="0"/>
                        </a:rPr>
                        <m:t>+</m:t>
                      </m:r>
                      <m:r>
                        <a:rPr lang="en-US" i="1">
                          <a:latin typeface="Cambria Math" panose="02040503050406030204" pitchFamily="18" charset="0"/>
                        </a:rPr>
                        <m:t>𝛼</m:t>
                      </m:r>
                      <m:r>
                        <a:rPr lang="en-US">
                          <a:latin typeface="Cambria Math" panose="02040503050406030204" pitchFamily="18" charset="0"/>
                        </a:rPr>
                        <m:t>⋅</m:t>
                      </m:r>
                      <m:r>
                        <a:rPr lang="en-US" i="1">
                          <a:latin typeface="Cambria Math" panose="02040503050406030204" pitchFamily="18" charset="0"/>
                        </a:rPr>
                        <m:t>𝛿</m:t>
                      </m:r>
                      <m:r>
                        <a:rPr lang="en-US">
                          <a:latin typeface="Cambria Math" panose="02040503050406030204" pitchFamily="18" charset="0"/>
                        </a:rPr>
                        <m:t>⋅</m:t>
                      </m:r>
                      <m:r>
                        <m:rPr>
                          <m:sty m:val="p"/>
                        </m:rPr>
                        <a:rPr lang="en-US">
                          <a:latin typeface="Cambria Math" panose="02040503050406030204" pitchFamily="18" charset="0"/>
                        </a:rPr>
                        <m:t>∇</m:t>
                      </m:r>
                      <m:func>
                        <m:funcPr>
                          <m:ctrlPr>
                            <a:rPr lang="ar-AE" i="1">
                              <a:latin typeface="Cambria Math" panose="02040503050406030204" pitchFamily="18" charset="0"/>
                            </a:rPr>
                          </m:ctrlPr>
                        </m:funcPr>
                        <m:fName>
                          <m:r>
                            <m:rPr>
                              <m:sty m:val="p"/>
                            </m:rPr>
                            <a:rPr lang="en-US">
                              <a:latin typeface="Cambria Math" panose="02040503050406030204" pitchFamily="18" charset="0"/>
                            </a:rPr>
                            <m:t>log</m:t>
                          </m:r>
                        </m:fName>
                        <m:e>
                          <m:r>
                            <a:rPr lang="ar-AE" i="1">
                              <a:latin typeface="Cambria Math" panose="02040503050406030204" pitchFamily="18" charset="0"/>
                            </a:rPr>
                            <m:t>𝜋</m:t>
                          </m:r>
                        </m:e>
                      </m:func>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e>
                      </m:d>
                    </m:oMath>
                  </m:oMathPara>
                </a14:m>
                <a:endParaRPr lang="en-US" dirty="0"/>
              </a:p>
              <a:p>
                <a:pPr lvl="1"/>
                <a:r>
                  <a:rPr lang="en-US" dirty="0"/>
                  <a:t> Actor uses </a:t>
                </a:r>
                <a:r>
                  <a:rPr lang="en-US" b="1" dirty="0"/>
                  <a:t>Critic’s feedback (</a:t>
                </a:r>
                <a:r>
                  <a:rPr lang="el-GR" b="1" dirty="0"/>
                  <a:t>δ)</a:t>
                </a:r>
                <a:r>
                  <a:rPr lang="el-GR" dirty="0"/>
                  <a:t> </a:t>
                </a:r>
                <a:r>
                  <a:rPr lang="en-US" dirty="0"/>
                  <a:t>to improve policy</a:t>
                </a:r>
              </a:p>
            </p:txBody>
          </p:sp>
        </mc:Choice>
        <mc:Fallback>
          <p:sp>
            <p:nvSpPr>
              <p:cNvPr id="9" name="TextBox 8">
                <a:extLst>
                  <a:ext uri="{FF2B5EF4-FFF2-40B4-BE49-F238E27FC236}">
                    <a16:creationId xmlns:a16="http://schemas.microsoft.com/office/drawing/2014/main" id="{AA3A3F22-72E8-F823-C55C-B73FC8148286}"/>
                  </a:ext>
                </a:extLst>
              </p:cNvPr>
              <p:cNvSpPr txBox="1">
                <a:spLocks noRot="1" noChangeAspect="1" noMove="1" noResize="1" noEditPoints="1" noAdjustHandles="1" noChangeArrowheads="1" noChangeShapeType="1" noTextEdit="1"/>
              </p:cNvSpPr>
              <p:nvPr/>
            </p:nvSpPr>
            <p:spPr>
              <a:xfrm>
                <a:off x="5829289" y="760309"/>
                <a:ext cx="6096698" cy="3416320"/>
              </a:xfrm>
              <a:prstGeom prst="rect">
                <a:avLst/>
              </a:prstGeom>
              <a:blipFill>
                <a:blip r:embed="rId3"/>
                <a:stretch>
                  <a:fillRect l="-800" t="-893" b="-2143"/>
                </a:stretch>
              </a:blipFill>
            </p:spPr>
            <p:txBody>
              <a:bodyPr/>
              <a:lstStyle/>
              <a:p>
                <a:r>
                  <a:rPr lang="en-US">
                    <a:noFill/>
                  </a:rPr>
                  <a:t> </a:t>
                </a:r>
              </a:p>
            </p:txBody>
          </p:sp>
        </mc:Fallback>
      </mc:AlternateContent>
    </p:spTree>
    <p:extLst>
      <p:ext uri="{BB962C8B-B14F-4D97-AF65-F5344CB8AC3E}">
        <p14:creationId xmlns:p14="http://schemas.microsoft.com/office/powerpoint/2010/main" val="1563112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FD610-E1D3-6117-C7E1-ACD270D7E6AD}"/>
              </a:ext>
            </a:extLst>
          </p:cNvPr>
          <p:cNvSpPr>
            <a:spLocks noGrp="1"/>
          </p:cNvSpPr>
          <p:nvPr>
            <p:ph type="title"/>
          </p:nvPr>
        </p:nvSpPr>
        <p:spPr/>
        <p:txBody>
          <a:bodyPr/>
          <a:lstStyle/>
          <a:p>
            <a:r>
              <a:rPr lang="en-US" dirty="0"/>
              <a:t>Actor Critic architecture </a:t>
            </a:r>
          </a:p>
        </p:txBody>
      </p:sp>
      <p:pic>
        <p:nvPicPr>
          <p:cNvPr id="5" name="Content Placeholder 4">
            <a:extLst>
              <a:ext uri="{FF2B5EF4-FFF2-40B4-BE49-F238E27FC236}">
                <a16:creationId xmlns:a16="http://schemas.microsoft.com/office/drawing/2014/main" id="{8D8EC310-D5C2-52F5-84BD-4572E3415B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215" y="1288730"/>
            <a:ext cx="5713725" cy="4351338"/>
          </a:xfrm>
          <a:prstGeom prst="rect">
            <a:avLst/>
          </a:prstGeom>
        </p:spPr>
      </p:pic>
      <p:sp>
        <p:nvSpPr>
          <p:cNvPr id="7" name="TextBox 6">
            <a:extLst>
              <a:ext uri="{FF2B5EF4-FFF2-40B4-BE49-F238E27FC236}">
                <a16:creationId xmlns:a16="http://schemas.microsoft.com/office/drawing/2014/main" id="{CA4E78F0-9CC2-2598-9B76-B1D2756302DD}"/>
              </a:ext>
            </a:extLst>
          </p:cNvPr>
          <p:cNvSpPr txBox="1"/>
          <p:nvPr/>
        </p:nvSpPr>
        <p:spPr>
          <a:xfrm>
            <a:off x="6547607" y="1859340"/>
            <a:ext cx="4971520" cy="2308324"/>
          </a:xfrm>
          <a:prstGeom prst="rect">
            <a:avLst/>
          </a:prstGeom>
          <a:noFill/>
        </p:spPr>
        <p:txBody>
          <a:bodyPr wrap="square">
            <a:spAutoFit/>
          </a:bodyPr>
          <a:lstStyle/>
          <a:p>
            <a:r>
              <a:rPr lang="en-US" dirty="0"/>
              <a:t>where V</a:t>
            </a:r>
            <a:r>
              <a:rPr lang="en-US" baseline="-25000" dirty="0"/>
              <a:t>t</a:t>
            </a:r>
            <a:r>
              <a:rPr lang="en-US" dirty="0"/>
              <a:t> is the value function implemented by the critic at time t. This TD error can be used to evaluate the action just selected, the action A</a:t>
            </a:r>
            <a:r>
              <a:rPr lang="en-US" baseline="-25000" dirty="0"/>
              <a:t>t</a:t>
            </a:r>
            <a:r>
              <a:rPr lang="en-US" dirty="0"/>
              <a:t> taken in state S</a:t>
            </a:r>
            <a:r>
              <a:rPr lang="en-US" baseline="-25000" dirty="0"/>
              <a:t>t</a:t>
            </a:r>
            <a:r>
              <a:rPr lang="en-US" dirty="0"/>
              <a:t> . If the TD error is positive, it suggests that the tendency to select A</a:t>
            </a:r>
            <a:r>
              <a:rPr lang="en-US" baseline="-25000" dirty="0"/>
              <a:t>t </a:t>
            </a:r>
            <a:r>
              <a:rPr lang="en-US" dirty="0"/>
              <a:t>should be strengthened for the future, whereas if the TD error is negative, it suggests the tendency should be weakened. </a:t>
            </a:r>
          </a:p>
        </p:txBody>
      </p:sp>
    </p:spTree>
    <p:extLst>
      <p:ext uri="{BB962C8B-B14F-4D97-AF65-F5344CB8AC3E}">
        <p14:creationId xmlns:p14="http://schemas.microsoft.com/office/powerpoint/2010/main" val="1320454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2E40-8C06-BCF4-4D2B-32465D4422A5}"/>
              </a:ext>
            </a:extLst>
          </p:cNvPr>
          <p:cNvSpPr>
            <a:spLocks noGrp="1"/>
          </p:cNvSpPr>
          <p:nvPr>
            <p:ph type="title"/>
          </p:nvPr>
        </p:nvSpPr>
        <p:spPr/>
        <p:txBody>
          <a:bodyPr/>
          <a:lstStyle/>
          <a:p>
            <a:r>
              <a:rPr lang="en-US" dirty="0"/>
              <a:t>Job Responsibilities of an RL agent engineer/ Robotics Engineer </a:t>
            </a:r>
          </a:p>
        </p:txBody>
      </p:sp>
      <p:sp>
        <p:nvSpPr>
          <p:cNvPr id="3" name="Content Placeholder 2">
            <a:extLst>
              <a:ext uri="{FF2B5EF4-FFF2-40B4-BE49-F238E27FC236}">
                <a16:creationId xmlns:a16="http://schemas.microsoft.com/office/drawing/2014/main" id="{CE638C41-D0BC-061F-0C14-DB662FC0091A}"/>
              </a:ext>
            </a:extLst>
          </p:cNvPr>
          <p:cNvSpPr>
            <a:spLocks noGrp="1"/>
          </p:cNvSpPr>
          <p:nvPr>
            <p:ph idx="1"/>
          </p:nvPr>
        </p:nvSpPr>
        <p:spPr>
          <a:xfrm>
            <a:off x="838200" y="1690688"/>
            <a:ext cx="10515600" cy="4486275"/>
          </a:xfrm>
        </p:spPr>
        <p:txBody>
          <a:bodyPr>
            <a:normAutofit fontScale="40000" lnSpcReduction="20000"/>
          </a:bodyPr>
          <a:lstStyle/>
          <a:p>
            <a:pPr fontAlgn="base"/>
            <a:r>
              <a:rPr lang="en-US" dirty="0"/>
              <a:t>The Lead Engineer, RL Scaling &amp; Procedural Scenario Generation is responsible for building scalable training pipelines and generating high-fidelity synthetic scenarios</a:t>
            </a:r>
          </a:p>
          <a:p>
            <a:pPr fontAlgn="base"/>
            <a:r>
              <a:rPr lang="en-US" dirty="0"/>
              <a:t>This role designs procedural simulation environments, creates diverse long-tail edge cases, and optimizes RL systems to train robust foundational models</a:t>
            </a:r>
          </a:p>
          <a:p>
            <a:pPr fontAlgn="base"/>
            <a:r>
              <a:rPr lang="en-US" dirty="0"/>
              <a:t>This role sits at the intersection of simulation, machine learning, distributed systems, and content generation and has a high impact on how quickly and safely agents learn in simulation</a:t>
            </a:r>
          </a:p>
          <a:p>
            <a:pPr fontAlgn="base"/>
            <a:r>
              <a:rPr lang="en-US" dirty="0"/>
              <a:t>Develop RL algorithms that can help with terrain intelligence and social navigation behaviors</a:t>
            </a:r>
          </a:p>
          <a:p>
            <a:pPr fontAlgn="base"/>
            <a:r>
              <a:rPr lang="en-US" dirty="0"/>
              <a:t>Design, build, and optimize large-scale RL training pipelines (distributed compute, GPU clusters, containerized workflows)</a:t>
            </a:r>
          </a:p>
          <a:p>
            <a:pPr fontAlgn="base"/>
            <a:r>
              <a:rPr lang="en-US" dirty="0"/>
              <a:t>Implement curriculum learning, domain randomization, and multi-agent RL strategies</a:t>
            </a:r>
          </a:p>
          <a:p>
            <a:pPr fontAlgn="base"/>
            <a:r>
              <a:rPr lang="en-US" dirty="0"/>
              <a:t>Optimize RL model performance, sample efficiency, and stability across thousands to millions of simulation steps</a:t>
            </a:r>
          </a:p>
          <a:p>
            <a:pPr fontAlgn="base"/>
            <a:r>
              <a:rPr lang="en-US" dirty="0"/>
              <a:t>Build automated tools for experiment orchestration, rollout collection, and metrics visualization</a:t>
            </a:r>
          </a:p>
          <a:p>
            <a:pPr fontAlgn="base"/>
            <a:r>
              <a:rPr lang="en-US" dirty="0"/>
              <a:t>Develop procedural generation pipelines for synthetic environments, agents, and dynamic behaviors</a:t>
            </a:r>
          </a:p>
          <a:p>
            <a:pPr fontAlgn="base"/>
            <a:r>
              <a:rPr lang="en-US" dirty="0"/>
              <a:t>Build tools to generate long-tail scenarios, sudden appearance of objects, traffic behaviors, rare events, and environmental variations</a:t>
            </a:r>
          </a:p>
          <a:p>
            <a:pPr fontAlgn="base"/>
            <a:r>
              <a:rPr lang="en-US" dirty="0"/>
              <a:t>Create systems for configuration, validation, and scoring of generated scenarios</a:t>
            </a:r>
          </a:p>
          <a:p>
            <a:pPr fontAlgn="base"/>
            <a:r>
              <a:rPr lang="en-US" dirty="0"/>
              <a:t>Collaborate with autonomy, ML, and safety teams to map real-world failures into repeatable synthetic simulation cases</a:t>
            </a:r>
          </a:p>
          <a:p>
            <a:pPr fontAlgn="base"/>
            <a:r>
              <a:rPr lang="en-US" dirty="0"/>
              <a:t>Design APIs to connect RL agents, scenario generators, planners, and environment simulators</a:t>
            </a:r>
          </a:p>
          <a:p>
            <a:pPr fontAlgn="base"/>
            <a:r>
              <a:rPr lang="en-US" dirty="0"/>
              <a:t>Debug and optimize simulation performance (real-time speed, determinism, reproducibility)</a:t>
            </a:r>
          </a:p>
          <a:p>
            <a:pPr fontAlgn="base"/>
            <a:r>
              <a:rPr lang="en-US" dirty="0"/>
              <a:t>Work with 3D assets, traffic models, mapping systems (e.g., Isaac Sim, CARLA, Unity, Gazebo)</a:t>
            </a:r>
          </a:p>
          <a:p>
            <a:pPr fontAlgn="base"/>
            <a:r>
              <a:rPr lang="en-US" dirty="0"/>
              <a:t>Partner with autonomy, data, and modeling teams to define training objectives and scenario requirements</a:t>
            </a:r>
          </a:p>
          <a:p>
            <a:pPr fontAlgn="base"/>
            <a:r>
              <a:rPr lang="en-US" dirty="0"/>
              <a:t>Translate real-world logs and edge cases into parameterized procedural content</a:t>
            </a:r>
          </a:p>
          <a:p>
            <a:pPr fontAlgn="base"/>
            <a:r>
              <a:rPr lang="en-US" dirty="0"/>
              <a:t>Document tools, frameworks, and workflows for internal users</a:t>
            </a:r>
          </a:p>
          <a:p>
            <a:endParaRPr lang="en-US" dirty="0"/>
          </a:p>
        </p:txBody>
      </p:sp>
    </p:spTree>
    <p:extLst>
      <p:ext uri="{BB962C8B-B14F-4D97-AF65-F5344CB8AC3E}">
        <p14:creationId xmlns:p14="http://schemas.microsoft.com/office/powerpoint/2010/main" val="247012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29A9A-74A1-8512-25E3-F22A13404E08}"/>
              </a:ext>
            </a:extLst>
          </p:cNvPr>
          <p:cNvSpPr>
            <a:spLocks noGrp="1"/>
          </p:cNvSpPr>
          <p:nvPr>
            <p:ph type="title"/>
          </p:nvPr>
        </p:nvSpPr>
        <p:spPr>
          <a:xfrm>
            <a:off x="838200" y="365126"/>
            <a:ext cx="10515600" cy="792556"/>
          </a:xfrm>
        </p:spPr>
        <p:txBody>
          <a:bodyPr/>
          <a:lstStyle/>
          <a:p>
            <a:r>
              <a:rPr lang="en-US" dirty="0"/>
              <a:t>What we learned so far ?</a:t>
            </a:r>
          </a:p>
        </p:txBody>
      </p:sp>
      <p:sp>
        <p:nvSpPr>
          <p:cNvPr id="3" name="Content Placeholder 2">
            <a:extLst>
              <a:ext uri="{FF2B5EF4-FFF2-40B4-BE49-F238E27FC236}">
                <a16:creationId xmlns:a16="http://schemas.microsoft.com/office/drawing/2014/main" id="{481CA090-36C7-A970-2597-6AC5C7E69560}"/>
              </a:ext>
            </a:extLst>
          </p:cNvPr>
          <p:cNvSpPr>
            <a:spLocks noGrp="1"/>
          </p:cNvSpPr>
          <p:nvPr>
            <p:ph idx="1"/>
          </p:nvPr>
        </p:nvSpPr>
        <p:spPr>
          <a:xfrm>
            <a:off x="838200" y="1212209"/>
            <a:ext cx="10515600" cy="4964754"/>
          </a:xfrm>
        </p:spPr>
        <p:txBody>
          <a:bodyPr/>
          <a:lstStyle/>
          <a:p>
            <a:r>
              <a:rPr lang="en-US" dirty="0"/>
              <a:t>State, Action, Types of  Environment -  Intelligent agents</a:t>
            </a:r>
          </a:p>
          <a:p>
            <a:r>
              <a:rPr lang="en-US" dirty="0"/>
              <a:t>Basics of Problem formulation using MDP, POMDP ?</a:t>
            </a:r>
          </a:p>
          <a:p>
            <a:r>
              <a:rPr lang="en-US" dirty="0"/>
              <a:t>Problem Solving and Execution. </a:t>
            </a:r>
          </a:p>
          <a:p>
            <a:r>
              <a:rPr lang="en-US" dirty="0"/>
              <a:t>Model based vs Model Free learning :</a:t>
            </a:r>
          </a:p>
          <a:p>
            <a:pPr lvl="1"/>
            <a:r>
              <a:rPr lang="en-US" dirty="0"/>
              <a:t>Model-based reinforcement learning involves building a model of the environment's dynamics. The agent uses this model to simulate experiences and make decisions.</a:t>
            </a:r>
          </a:p>
          <a:p>
            <a:pPr lvl="1"/>
            <a:r>
              <a:rPr lang="en-US" dirty="0"/>
              <a:t>In a model-free approach, the agent does not care about the underlying "why" or the specific probability distributions of the machines. It simply maps actions directly to expected rewards based on experience. </a:t>
            </a:r>
          </a:p>
          <a:p>
            <a:r>
              <a:rPr lang="en-US" dirty="0"/>
              <a:t>Q learning vs SarSa vs Value Iteration </a:t>
            </a:r>
          </a:p>
          <a:p>
            <a:pPr lvl="1"/>
            <a:endParaRPr lang="en-US" dirty="0"/>
          </a:p>
          <a:p>
            <a:endParaRPr lang="en-US" dirty="0"/>
          </a:p>
        </p:txBody>
      </p:sp>
    </p:spTree>
    <p:extLst>
      <p:ext uri="{BB962C8B-B14F-4D97-AF65-F5344CB8AC3E}">
        <p14:creationId xmlns:p14="http://schemas.microsoft.com/office/powerpoint/2010/main" val="2721950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6BF3-0771-33EA-60ED-53A8E1888CD0}"/>
              </a:ext>
            </a:extLst>
          </p:cNvPr>
          <p:cNvSpPr>
            <a:spLocks noGrp="1"/>
          </p:cNvSpPr>
          <p:nvPr>
            <p:ph type="title"/>
          </p:nvPr>
        </p:nvSpPr>
        <p:spPr/>
        <p:txBody>
          <a:bodyPr/>
          <a:lstStyle/>
          <a:p>
            <a:r>
              <a:rPr lang="en-US" dirty="0"/>
              <a:t>Problem statement : Use MDP to solve the Problem</a:t>
            </a:r>
          </a:p>
        </p:txBody>
      </p:sp>
      <p:sp>
        <p:nvSpPr>
          <p:cNvPr id="3" name="Content Placeholder 2">
            <a:extLst>
              <a:ext uri="{FF2B5EF4-FFF2-40B4-BE49-F238E27FC236}">
                <a16:creationId xmlns:a16="http://schemas.microsoft.com/office/drawing/2014/main" id="{1CB25D3D-9F79-9DE1-B05E-19106D584BD6}"/>
              </a:ext>
            </a:extLst>
          </p:cNvPr>
          <p:cNvSpPr>
            <a:spLocks noGrp="1"/>
          </p:cNvSpPr>
          <p:nvPr>
            <p:ph idx="1"/>
          </p:nvPr>
        </p:nvSpPr>
        <p:spPr/>
        <p:txBody>
          <a:bodyPr>
            <a:normAutofit/>
          </a:bodyPr>
          <a:lstStyle/>
          <a:p>
            <a:r>
              <a:rPr lang="en-US" dirty="0"/>
              <a:t>Goal: Efficiently assign tasks (pick, carry, deliver items) to multiple robots.</a:t>
            </a:r>
          </a:p>
          <a:p>
            <a:r>
              <a:rPr lang="en-US" dirty="0"/>
              <a:t>The Problem :</a:t>
            </a:r>
          </a:p>
          <a:p>
            <a:r>
              <a:rPr lang="en-US" dirty="0"/>
              <a:t>You have : 20 robots, 100 incoming tasks, Limited battery, time, and space</a:t>
            </a:r>
          </a:p>
          <a:p>
            <a:r>
              <a:rPr lang="en-US" dirty="0"/>
              <a:t>Challenges: Avoid collisions, Minimize travel time, Balance workload, Handle dynamic new orders</a:t>
            </a:r>
          </a:p>
          <a:p>
            <a:r>
              <a:rPr lang="en-US" dirty="0"/>
              <a:t>Predefined rules: “Nearest robot gets the task” </a:t>
            </a:r>
          </a:p>
          <a:p>
            <a:r>
              <a:rPr lang="en-US" dirty="0"/>
              <a:t>Problems: Traffic congestion, Some robots overloaded.</a:t>
            </a:r>
          </a:p>
        </p:txBody>
      </p:sp>
    </p:spTree>
    <p:extLst>
      <p:ext uri="{BB962C8B-B14F-4D97-AF65-F5344CB8AC3E}">
        <p14:creationId xmlns:p14="http://schemas.microsoft.com/office/powerpoint/2010/main" val="3492982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1064</Words>
  <Application>Microsoft Office PowerPoint</Application>
  <PresentationFormat>Widescreen</PresentationFormat>
  <Paragraphs>82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Cambria Math</vt:lpstr>
      <vt:lpstr>Wingdings</vt:lpstr>
      <vt:lpstr>Office Theme</vt:lpstr>
      <vt:lpstr>Actor – Critic Framework </vt:lpstr>
      <vt:lpstr>Working Principle of Actor – Critic  RL exclusively using NN</vt:lpstr>
      <vt:lpstr>PowerPoint Presentation</vt:lpstr>
      <vt:lpstr>Actor Critic architecture </vt:lpstr>
      <vt:lpstr>Job Responsibilities of an RL agent engineer/ Robotics Engineer </vt:lpstr>
      <vt:lpstr>What we learned so far ?</vt:lpstr>
      <vt:lpstr>Problem statement : Use MDP to solve the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Sayanti Roy</dc:creator>
  <cp:lastModifiedBy>Sayanti Roy</cp:lastModifiedBy>
  <cp:revision>1</cp:revision>
  <dcterms:created xsi:type="dcterms:W3CDTF">2026-02-26T18:18:22Z</dcterms:created>
  <dcterms:modified xsi:type="dcterms:W3CDTF">2026-02-26T20:15:01Z</dcterms:modified>
</cp:coreProperties>
</file>